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Open Sauce Bold" panose="020B0604020202020204" charset="0"/>
      <p:regular r:id="rId12"/>
    </p:embeddedFont>
    <p:embeddedFont>
      <p:font typeface="Open Sauce Semi-Bold" panose="020B0604020202020204" charset="0"/>
      <p:regular r:id="rId13"/>
    </p:embeddedFont>
    <p:embeddedFont>
      <p:font typeface="Roboto" panose="02000000000000000000" pitchFamily="2" charset="0"/>
      <p:regular r:id="rId14"/>
      <p:bold r:id="rId15"/>
      <p:italic r:id="rId16"/>
      <p:boldItalic r:id="rId17"/>
    </p:embeddedFont>
    <p:embeddedFont>
      <p:font typeface="Roboto Bold" panose="02000000000000000000" pitchFamily="2" charset="0"/>
      <p:regular r:id="rId18"/>
      <p:bold r:id="rId19"/>
    </p:embeddedFont>
    <p:embeddedFont>
      <p:font typeface="Roboto Italics"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275" autoAdjust="0"/>
  </p:normalViewPr>
  <p:slideViewPr>
    <p:cSldViewPr>
      <p:cViewPr varScale="1">
        <p:scale>
          <a:sx n="48" d="100"/>
          <a:sy n="48" d="100"/>
        </p:scale>
        <p:origin x="175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FCF3FF-0690-4940-AA7D-2477126BE0DA}" type="datetimeFigureOut">
              <a:rPr lang="en-IN" smtClean="0"/>
              <a:t>17-09-2026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80C04-2AFD-4768-AE4D-988B679223A3}" type="slidenum">
              <a:rPr lang="en-IN" smtClean="0"/>
              <a:t>‹#›</a:t>
            </a:fld>
            <a:endParaRPr lang="en-IN"/>
          </a:p>
        </p:txBody>
      </p:sp>
    </p:spTree>
    <p:extLst>
      <p:ext uri="{BB962C8B-B14F-4D97-AF65-F5344CB8AC3E}">
        <p14:creationId xmlns:p14="http://schemas.microsoft.com/office/powerpoint/2010/main" val="1895303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When a reliable direct report starts slipping, how you handle that first conversation makes all the difference. </a:t>
            </a:r>
          </a:p>
          <a:p>
            <a:r>
              <a:rPr lang="en-IN" dirty="0"/>
              <a:t>In this 8-to-10 minute microlearning experience, you will step into the manager's role, make real-time decisions, and build an actionable path forward. </a:t>
            </a:r>
          </a:p>
          <a:p>
            <a:endParaRPr lang="en-IN" dirty="0"/>
          </a:p>
          <a:p>
            <a:r>
              <a:rPr lang="en-IN" b="1" dirty="0"/>
              <a:t>Click ‘START SCENARIO' to begin.</a:t>
            </a:r>
          </a:p>
        </p:txBody>
      </p:sp>
      <p:sp>
        <p:nvSpPr>
          <p:cNvPr id="4" name="Slide Number Placeholder 3"/>
          <p:cNvSpPr>
            <a:spLocks noGrp="1"/>
          </p:cNvSpPr>
          <p:nvPr>
            <p:ph type="sldNum" sz="quarter" idx="5"/>
          </p:nvPr>
        </p:nvSpPr>
        <p:spPr/>
        <p:txBody>
          <a:bodyPr/>
          <a:lstStyle/>
          <a:p>
            <a:fld id="{CA480C04-2AFD-4768-AE4D-988B679223A3}" type="slidenum">
              <a:rPr lang="en-IN" smtClean="0"/>
              <a:t>1</a:t>
            </a:fld>
            <a:endParaRPr lang="en-IN"/>
          </a:p>
        </p:txBody>
      </p:sp>
    </p:spTree>
    <p:extLst>
      <p:ext uri="{BB962C8B-B14F-4D97-AF65-F5344CB8AC3E}">
        <p14:creationId xmlns:p14="http://schemas.microsoft.com/office/powerpoint/2010/main" val="1383492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are our target outcomes for this session: </a:t>
            </a:r>
          </a:p>
          <a:p>
            <a:pPr marL="171450" indent="-171450">
              <a:buFont typeface="Arial" panose="020B0604020202020204" pitchFamily="34" charset="0"/>
              <a:buChar char="•"/>
            </a:pPr>
            <a:r>
              <a:rPr lang="en-IN" dirty="0"/>
              <a:t>First, prepare using verifiable facts rather than assumptions. </a:t>
            </a:r>
          </a:p>
          <a:p>
            <a:pPr marL="171450" indent="-171450">
              <a:buFont typeface="Arial" panose="020B0604020202020204" pitchFamily="34" charset="0"/>
              <a:buChar char="•"/>
            </a:pPr>
            <a:r>
              <a:rPr lang="en-IN" dirty="0"/>
              <a:t>Second, navigate pushback with calm authority and empathy. </a:t>
            </a:r>
          </a:p>
          <a:p>
            <a:pPr marL="171450" indent="-171450">
              <a:buFont typeface="Arial" panose="020B0604020202020204" pitchFamily="34" charset="0"/>
              <a:buChar char="•"/>
            </a:pPr>
            <a:r>
              <a:rPr lang="en-IN" dirty="0"/>
              <a:t>And third, lock in clear milestone commitments that drive lasting change. </a:t>
            </a:r>
          </a:p>
          <a:p>
            <a:endParaRPr lang="en-IN" dirty="0"/>
          </a:p>
          <a:p>
            <a:r>
              <a:rPr lang="en-IN" b="1" dirty="0"/>
              <a:t>Click 'Proceed' to continue.</a:t>
            </a:r>
          </a:p>
        </p:txBody>
      </p:sp>
      <p:sp>
        <p:nvSpPr>
          <p:cNvPr id="4" name="Slide Number Placeholder 3"/>
          <p:cNvSpPr>
            <a:spLocks noGrp="1"/>
          </p:cNvSpPr>
          <p:nvPr>
            <p:ph type="sldNum" sz="quarter" idx="5"/>
          </p:nvPr>
        </p:nvSpPr>
        <p:spPr/>
        <p:txBody>
          <a:bodyPr/>
          <a:lstStyle/>
          <a:p>
            <a:fld id="{CA480C04-2AFD-4768-AE4D-988B679223A3}" type="slidenum">
              <a:rPr lang="en-IN" smtClean="0"/>
              <a:t>2</a:t>
            </a:fld>
            <a:endParaRPr lang="en-IN"/>
          </a:p>
        </p:txBody>
      </p:sp>
    </p:spTree>
    <p:extLst>
      <p:ext uri="{BB962C8B-B14F-4D97-AF65-F5344CB8AC3E}">
        <p14:creationId xmlns:p14="http://schemas.microsoft.com/office/powerpoint/2010/main" val="190404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Preparation makes or breaks difficult conversations. Review each layer: compile objective evidence, check your emotional mindset, and keep organizational support tools ready. Once all three are checked, enter the meeting room.</a:t>
            </a:r>
          </a:p>
        </p:txBody>
      </p:sp>
      <p:sp>
        <p:nvSpPr>
          <p:cNvPr id="4" name="Slide Number Placeholder 3"/>
          <p:cNvSpPr>
            <a:spLocks noGrp="1"/>
          </p:cNvSpPr>
          <p:nvPr>
            <p:ph type="sldNum" sz="quarter" idx="5"/>
          </p:nvPr>
        </p:nvSpPr>
        <p:spPr/>
        <p:txBody>
          <a:bodyPr/>
          <a:lstStyle/>
          <a:p>
            <a:fld id="{CA480C04-2AFD-4768-AE4D-988B679223A3}" type="slidenum">
              <a:rPr lang="en-IN" smtClean="0"/>
              <a:t>3</a:t>
            </a:fld>
            <a:endParaRPr lang="en-IN"/>
          </a:p>
        </p:txBody>
      </p:sp>
    </p:spTree>
    <p:extLst>
      <p:ext uri="{BB962C8B-B14F-4D97-AF65-F5344CB8AC3E}">
        <p14:creationId xmlns:p14="http://schemas.microsoft.com/office/powerpoint/2010/main" val="2946222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How you open the conversation sets the tone. Being overly aggressive triggers defensiveness; being too vague avoids the real issues. Choose the opening that maintains standards while preserving respect.</a:t>
            </a:r>
          </a:p>
        </p:txBody>
      </p:sp>
      <p:sp>
        <p:nvSpPr>
          <p:cNvPr id="4" name="Slide Number Placeholder 3"/>
          <p:cNvSpPr>
            <a:spLocks noGrp="1"/>
          </p:cNvSpPr>
          <p:nvPr>
            <p:ph type="sldNum" sz="quarter" idx="5"/>
          </p:nvPr>
        </p:nvSpPr>
        <p:spPr/>
        <p:txBody>
          <a:bodyPr/>
          <a:lstStyle/>
          <a:p>
            <a:fld id="{CA480C04-2AFD-4768-AE4D-988B679223A3}" type="slidenum">
              <a:rPr lang="en-IN" smtClean="0"/>
              <a:t>4</a:t>
            </a:fld>
            <a:endParaRPr lang="en-IN"/>
          </a:p>
        </p:txBody>
      </p:sp>
    </p:spTree>
    <p:extLst>
      <p:ext uri="{BB962C8B-B14F-4D97-AF65-F5344CB8AC3E}">
        <p14:creationId xmlns:p14="http://schemas.microsoft.com/office/powerpoint/2010/main" val="532099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When faced with defensiveness, our instinct is often to argue the facts. But effective leaders validate the real friction first, then pivot immediately to accountability and proactive communication. Choose your response.</a:t>
            </a:r>
          </a:p>
        </p:txBody>
      </p:sp>
      <p:sp>
        <p:nvSpPr>
          <p:cNvPr id="4" name="Slide Number Placeholder 3"/>
          <p:cNvSpPr>
            <a:spLocks noGrp="1"/>
          </p:cNvSpPr>
          <p:nvPr>
            <p:ph type="sldNum" sz="quarter" idx="5"/>
          </p:nvPr>
        </p:nvSpPr>
        <p:spPr/>
        <p:txBody>
          <a:bodyPr/>
          <a:lstStyle/>
          <a:p>
            <a:fld id="{CA480C04-2AFD-4768-AE4D-988B679223A3}" type="slidenum">
              <a:rPr lang="en-IN" smtClean="0"/>
              <a:t>5</a:t>
            </a:fld>
            <a:endParaRPr lang="en-IN"/>
          </a:p>
        </p:txBody>
      </p:sp>
    </p:spTree>
    <p:extLst>
      <p:ext uri="{BB962C8B-B14F-4D97-AF65-F5344CB8AC3E}">
        <p14:creationId xmlns:p14="http://schemas.microsoft.com/office/powerpoint/2010/main" val="323984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conversation without clear follow-up milestones is just an uncomfortable talk. Notice how this structure transfers ownership back to Alex, while setting clear review checkpoints at 7, 14, and 30 days. Both of you leave aligned on what success looks like.</a:t>
            </a:r>
          </a:p>
        </p:txBody>
      </p:sp>
      <p:sp>
        <p:nvSpPr>
          <p:cNvPr id="4" name="Slide Number Placeholder 3"/>
          <p:cNvSpPr>
            <a:spLocks noGrp="1"/>
          </p:cNvSpPr>
          <p:nvPr>
            <p:ph type="sldNum" sz="quarter" idx="5"/>
          </p:nvPr>
        </p:nvSpPr>
        <p:spPr/>
        <p:txBody>
          <a:bodyPr/>
          <a:lstStyle/>
          <a:p>
            <a:fld id="{CA480C04-2AFD-4768-AE4D-988B679223A3}" type="slidenum">
              <a:rPr lang="en-IN" smtClean="0"/>
              <a:t>6</a:t>
            </a:fld>
            <a:endParaRPr lang="en-IN"/>
          </a:p>
        </p:txBody>
      </p:sp>
    </p:spTree>
    <p:extLst>
      <p:ext uri="{BB962C8B-B14F-4D97-AF65-F5344CB8AC3E}">
        <p14:creationId xmlns:p14="http://schemas.microsoft.com/office/powerpoint/2010/main" val="4095491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let's test your judgment in a transfer scenario. How you respond when familiar friction resurfaces determines whether new habits stick.</a:t>
            </a:r>
          </a:p>
        </p:txBody>
      </p:sp>
      <p:sp>
        <p:nvSpPr>
          <p:cNvPr id="4" name="Slide Number Placeholder 3"/>
          <p:cNvSpPr>
            <a:spLocks noGrp="1"/>
          </p:cNvSpPr>
          <p:nvPr>
            <p:ph type="sldNum" sz="quarter" idx="5"/>
          </p:nvPr>
        </p:nvSpPr>
        <p:spPr/>
        <p:txBody>
          <a:bodyPr/>
          <a:lstStyle/>
          <a:p>
            <a:fld id="{CA480C04-2AFD-4768-AE4D-988B679223A3}" type="slidenum">
              <a:rPr lang="en-IN" smtClean="0"/>
              <a:t>7</a:t>
            </a:fld>
            <a:endParaRPr lang="en-IN"/>
          </a:p>
        </p:txBody>
      </p:sp>
    </p:spTree>
    <p:extLst>
      <p:ext uri="{BB962C8B-B14F-4D97-AF65-F5344CB8AC3E}">
        <p14:creationId xmlns:p14="http://schemas.microsoft.com/office/powerpoint/2010/main" val="955866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summarize the key takeaways from this framework: Ground every conversation in observable facts, acknowledge genuine friction with empathy, maintain clear performance standards, transfer solution ownership to the employee, and lock in firm 7, 14, and 30-day review milestones. </a:t>
            </a:r>
          </a:p>
          <a:p>
            <a:endParaRPr lang="en-IN" dirty="0"/>
          </a:p>
          <a:p>
            <a:r>
              <a:rPr lang="en-IN" b="1" dirty="0"/>
              <a:t>Click 'Continue to Wrap-Up' to conclude.</a:t>
            </a:r>
          </a:p>
        </p:txBody>
      </p:sp>
      <p:sp>
        <p:nvSpPr>
          <p:cNvPr id="4" name="Slide Number Placeholder 3"/>
          <p:cNvSpPr>
            <a:spLocks noGrp="1"/>
          </p:cNvSpPr>
          <p:nvPr>
            <p:ph type="sldNum" sz="quarter" idx="5"/>
          </p:nvPr>
        </p:nvSpPr>
        <p:spPr/>
        <p:txBody>
          <a:bodyPr/>
          <a:lstStyle/>
          <a:p>
            <a:fld id="{CA480C04-2AFD-4768-AE4D-988B679223A3}" type="slidenum">
              <a:rPr lang="en-IN" smtClean="0"/>
              <a:t>8</a:t>
            </a:fld>
            <a:endParaRPr lang="en-IN"/>
          </a:p>
        </p:txBody>
      </p:sp>
    </p:spTree>
    <p:extLst>
      <p:ext uri="{BB962C8B-B14F-4D97-AF65-F5344CB8AC3E}">
        <p14:creationId xmlns:p14="http://schemas.microsoft.com/office/powerpoint/2010/main" val="1612762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Congratulations on completing this module. Remember: clarity is kindness. By preparing with facts, addressing resistance calmly, and securing concrete milestones, you turn challenging discussions into opportunities for professional growth. Download your job aid, record your action commitment, and exit the module.</a:t>
            </a:r>
          </a:p>
        </p:txBody>
      </p:sp>
      <p:sp>
        <p:nvSpPr>
          <p:cNvPr id="4" name="Slide Number Placeholder 3"/>
          <p:cNvSpPr>
            <a:spLocks noGrp="1"/>
          </p:cNvSpPr>
          <p:nvPr>
            <p:ph type="sldNum" sz="quarter" idx="5"/>
          </p:nvPr>
        </p:nvSpPr>
        <p:spPr/>
        <p:txBody>
          <a:bodyPr/>
          <a:lstStyle/>
          <a:p>
            <a:fld id="{CA480C04-2AFD-4768-AE4D-988B679223A3}" type="slidenum">
              <a:rPr lang="en-IN" smtClean="0"/>
              <a:t>9</a:t>
            </a:fld>
            <a:endParaRPr lang="en-IN"/>
          </a:p>
        </p:txBody>
      </p:sp>
    </p:spTree>
    <p:extLst>
      <p:ext uri="{BB962C8B-B14F-4D97-AF65-F5344CB8AC3E}">
        <p14:creationId xmlns:p14="http://schemas.microsoft.com/office/powerpoint/2010/main" val="61475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7.png"/><Relationship Id="rId5" Type="http://schemas.openxmlformats.org/officeDocument/2006/relationships/image" Target="../media/image19.png"/><Relationship Id="rId10" Type="http://schemas.openxmlformats.org/officeDocument/2006/relationships/image" Target="../media/image6.png"/><Relationship Id="rId4" Type="http://schemas.openxmlformats.org/officeDocument/2006/relationships/image" Target="../media/image18.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26" Type="http://schemas.openxmlformats.org/officeDocument/2006/relationships/image" Target="../media/image47.png"/><Relationship Id="rId3" Type="http://schemas.openxmlformats.org/officeDocument/2006/relationships/image" Target="../media/image25.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image" Target="../media/image46.png"/><Relationship Id="rId2" Type="http://schemas.openxmlformats.org/officeDocument/2006/relationships/notesSlide" Target="../notesSlides/notesSlide3.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5.pn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 Id="rId27" Type="http://schemas.openxmlformats.org/officeDocument/2006/relationships/image" Target="../media/image48.png"/></Relationships>
</file>

<file path=ppt/slides/_rels/slide4.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26" Type="http://schemas.openxmlformats.org/officeDocument/2006/relationships/image" Target="../media/image96.pn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5" Type="http://schemas.openxmlformats.org/officeDocument/2006/relationships/image" Target="../media/image95.png"/><Relationship Id="rId2" Type="http://schemas.openxmlformats.org/officeDocument/2006/relationships/notesSlide" Target="../notesSlides/notesSlide6.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81.png"/><Relationship Id="rId24" Type="http://schemas.openxmlformats.org/officeDocument/2006/relationships/image" Target="../media/image94.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image" Target="../media/image93.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92.png"/><Relationship Id="rId27" Type="http://schemas.openxmlformats.org/officeDocument/2006/relationships/image" Target="../media/image64.png"/></Relationships>
</file>

<file path=ppt/slides/_rels/slide7.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18" Type="http://schemas.openxmlformats.org/officeDocument/2006/relationships/image" Target="../media/image112.png"/><Relationship Id="rId3" Type="http://schemas.openxmlformats.org/officeDocument/2006/relationships/image" Target="../media/image97.png"/><Relationship Id="rId21" Type="http://schemas.openxmlformats.org/officeDocument/2006/relationships/image" Target="../media/image115.png"/><Relationship Id="rId7" Type="http://schemas.openxmlformats.org/officeDocument/2006/relationships/image" Target="../media/image101.png"/><Relationship Id="rId12" Type="http://schemas.openxmlformats.org/officeDocument/2006/relationships/image" Target="../media/image106.png"/><Relationship Id="rId17" Type="http://schemas.openxmlformats.org/officeDocument/2006/relationships/image" Target="../media/image111.png"/><Relationship Id="rId25" Type="http://schemas.openxmlformats.org/officeDocument/2006/relationships/image" Target="../media/image64.png"/><Relationship Id="rId2" Type="http://schemas.openxmlformats.org/officeDocument/2006/relationships/notesSlide" Target="../notesSlides/notesSlide7.xml"/><Relationship Id="rId16" Type="http://schemas.openxmlformats.org/officeDocument/2006/relationships/image" Target="../media/image110.png"/><Relationship Id="rId20" Type="http://schemas.openxmlformats.org/officeDocument/2006/relationships/image" Target="../media/image114.png"/><Relationship Id="rId1" Type="http://schemas.openxmlformats.org/officeDocument/2006/relationships/slideLayout" Target="../slideLayouts/slideLayout7.xml"/><Relationship Id="rId6" Type="http://schemas.openxmlformats.org/officeDocument/2006/relationships/image" Target="../media/image100.png"/><Relationship Id="rId11" Type="http://schemas.openxmlformats.org/officeDocument/2006/relationships/image" Target="../media/image105.png"/><Relationship Id="rId24" Type="http://schemas.openxmlformats.org/officeDocument/2006/relationships/image" Target="../media/image118.png"/><Relationship Id="rId5" Type="http://schemas.openxmlformats.org/officeDocument/2006/relationships/image" Target="../media/image99.png"/><Relationship Id="rId15" Type="http://schemas.openxmlformats.org/officeDocument/2006/relationships/image" Target="../media/image109.png"/><Relationship Id="rId23" Type="http://schemas.openxmlformats.org/officeDocument/2006/relationships/image" Target="../media/image117.png"/><Relationship Id="rId10" Type="http://schemas.openxmlformats.org/officeDocument/2006/relationships/image" Target="../media/image104.png"/><Relationship Id="rId19" Type="http://schemas.openxmlformats.org/officeDocument/2006/relationships/image" Target="../media/image113.png"/><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image" Target="../media/image108.png"/><Relationship Id="rId22" Type="http://schemas.openxmlformats.org/officeDocument/2006/relationships/image" Target="../media/image116.png"/></Relationships>
</file>

<file path=ppt/slides/_rels/slide8.xml.rels><?xml version="1.0" encoding="UTF-8" standalone="yes"?>
<Relationships xmlns="http://schemas.openxmlformats.org/package/2006/relationships"><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2.png"/><Relationship Id="rId3" Type="http://schemas.openxmlformats.org/officeDocument/2006/relationships/image" Target="../media/image119.png"/><Relationship Id="rId21" Type="http://schemas.openxmlformats.org/officeDocument/2006/relationships/image" Target="../media/image137.png"/><Relationship Id="rId34" Type="http://schemas.openxmlformats.org/officeDocument/2006/relationships/image" Target="../media/image6.png"/><Relationship Id="rId7" Type="http://schemas.openxmlformats.org/officeDocument/2006/relationships/image" Target="../media/image123.png"/><Relationship Id="rId12" Type="http://schemas.openxmlformats.org/officeDocument/2006/relationships/image" Target="../media/image128.png"/><Relationship Id="rId17" Type="http://schemas.openxmlformats.org/officeDocument/2006/relationships/image" Target="../media/image133.png"/><Relationship Id="rId25" Type="http://schemas.openxmlformats.org/officeDocument/2006/relationships/image" Target="../media/image141.png"/><Relationship Id="rId33" Type="http://schemas.openxmlformats.org/officeDocument/2006/relationships/image" Target="../media/image149.png"/><Relationship Id="rId2" Type="http://schemas.openxmlformats.org/officeDocument/2006/relationships/notesSlide" Target="../notesSlides/notesSlide8.xml"/><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22.png"/><Relationship Id="rId11" Type="http://schemas.openxmlformats.org/officeDocument/2006/relationships/image" Target="../media/image127.png"/><Relationship Id="rId24" Type="http://schemas.openxmlformats.org/officeDocument/2006/relationships/image" Target="../media/image140.png"/><Relationship Id="rId32" Type="http://schemas.openxmlformats.org/officeDocument/2006/relationships/image" Target="../media/image148.png"/><Relationship Id="rId5" Type="http://schemas.openxmlformats.org/officeDocument/2006/relationships/image" Target="../media/image121.png"/><Relationship Id="rId15" Type="http://schemas.openxmlformats.org/officeDocument/2006/relationships/image" Target="../media/image131.png"/><Relationship Id="rId23" Type="http://schemas.openxmlformats.org/officeDocument/2006/relationships/image" Target="../media/image139.png"/><Relationship Id="rId28" Type="http://schemas.openxmlformats.org/officeDocument/2006/relationships/image" Target="../media/image144.png"/><Relationship Id="rId36" Type="http://schemas.openxmlformats.org/officeDocument/2006/relationships/image" Target="../media/image64.png"/><Relationship Id="rId10" Type="http://schemas.openxmlformats.org/officeDocument/2006/relationships/image" Target="../media/image126.png"/><Relationship Id="rId19" Type="http://schemas.openxmlformats.org/officeDocument/2006/relationships/image" Target="../media/image135.png"/><Relationship Id="rId31" Type="http://schemas.openxmlformats.org/officeDocument/2006/relationships/image" Target="../media/image147.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38.png"/><Relationship Id="rId27" Type="http://schemas.openxmlformats.org/officeDocument/2006/relationships/image" Target="../media/image143.png"/><Relationship Id="rId30" Type="http://schemas.openxmlformats.org/officeDocument/2006/relationships/image" Target="../media/image146.png"/><Relationship Id="rId35" Type="http://schemas.openxmlformats.org/officeDocument/2006/relationships/image" Target="../media/image7.png"/><Relationship Id="rId8" Type="http://schemas.openxmlformats.org/officeDocument/2006/relationships/image" Target="../media/image124.png"/></Relationships>
</file>

<file path=ppt/slides/_rels/slide9.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18" Type="http://schemas.openxmlformats.org/officeDocument/2006/relationships/image" Target="../media/image165.png"/><Relationship Id="rId3" Type="http://schemas.openxmlformats.org/officeDocument/2006/relationships/image" Target="../media/image150.png"/><Relationship Id="rId21" Type="http://schemas.openxmlformats.org/officeDocument/2006/relationships/image" Target="../media/image64.png"/><Relationship Id="rId7" Type="http://schemas.openxmlformats.org/officeDocument/2006/relationships/image" Target="../media/image154.png"/><Relationship Id="rId12" Type="http://schemas.openxmlformats.org/officeDocument/2006/relationships/image" Target="../media/image159.png"/><Relationship Id="rId17" Type="http://schemas.openxmlformats.org/officeDocument/2006/relationships/image" Target="../media/image164.png"/><Relationship Id="rId2" Type="http://schemas.openxmlformats.org/officeDocument/2006/relationships/notesSlide" Target="../notesSlides/notesSlide9.xml"/><Relationship Id="rId16" Type="http://schemas.openxmlformats.org/officeDocument/2006/relationships/image" Target="../media/image163.png"/><Relationship Id="rId20" Type="http://schemas.openxmlformats.org/officeDocument/2006/relationships/image" Target="../media/image167.png"/><Relationship Id="rId1" Type="http://schemas.openxmlformats.org/officeDocument/2006/relationships/slideLayout" Target="../slideLayouts/slideLayout7.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19" Type="http://schemas.openxmlformats.org/officeDocument/2006/relationships/image" Target="../media/image166.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1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3" name="Freeform 3"/>
          <p:cNvSpPr/>
          <p:nvPr/>
        </p:nvSpPr>
        <p:spPr>
          <a:xfrm>
            <a:off x="207818" y="207708"/>
            <a:ext cx="7853340" cy="9871584"/>
          </a:xfrm>
          <a:custGeom>
            <a:avLst/>
            <a:gdLst/>
            <a:ahLst/>
            <a:cxnLst/>
            <a:rect l="l" t="t" r="r" b="b"/>
            <a:pathLst>
              <a:path w="7853340" h="9871584">
                <a:moveTo>
                  <a:pt x="0" y="0"/>
                </a:moveTo>
                <a:lnTo>
                  <a:pt x="7853340" y="0"/>
                </a:lnTo>
                <a:lnTo>
                  <a:pt x="7853340" y="9871584"/>
                </a:lnTo>
                <a:lnTo>
                  <a:pt x="0" y="9871584"/>
                </a:lnTo>
                <a:lnTo>
                  <a:pt x="0" y="0"/>
                </a:lnTo>
                <a:close/>
              </a:path>
            </a:pathLst>
          </a:custGeom>
          <a:blipFill>
            <a:blip r:embed="rId4"/>
            <a:stretch>
              <a:fillRect/>
            </a:stretch>
          </a:blipFill>
        </p:spPr>
        <p:txBody>
          <a:bodyPr/>
          <a:lstStyle/>
          <a:p>
            <a:endParaRPr lang="en-IN"/>
          </a:p>
        </p:txBody>
      </p:sp>
      <p:sp>
        <p:nvSpPr>
          <p:cNvPr id="4" name="Freeform 4"/>
          <p:cNvSpPr/>
          <p:nvPr/>
        </p:nvSpPr>
        <p:spPr>
          <a:xfrm>
            <a:off x="864086" y="634055"/>
            <a:ext cx="2625072" cy="655919"/>
          </a:xfrm>
          <a:custGeom>
            <a:avLst/>
            <a:gdLst/>
            <a:ahLst/>
            <a:cxnLst/>
            <a:rect l="l" t="t" r="r" b="b"/>
            <a:pathLst>
              <a:path w="2625072" h="655919">
                <a:moveTo>
                  <a:pt x="0" y="0"/>
                </a:moveTo>
                <a:lnTo>
                  <a:pt x="2625072" y="0"/>
                </a:lnTo>
                <a:lnTo>
                  <a:pt x="2625072" y="655919"/>
                </a:lnTo>
                <a:lnTo>
                  <a:pt x="0" y="655919"/>
                </a:lnTo>
                <a:lnTo>
                  <a:pt x="0" y="0"/>
                </a:lnTo>
                <a:close/>
              </a:path>
            </a:pathLst>
          </a:custGeom>
          <a:blipFill>
            <a:blip r:embed="rId5"/>
            <a:stretch>
              <a:fillRect/>
            </a:stretch>
          </a:blipFill>
        </p:spPr>
        <p:txBody>
          <a:bodyPr/>
          <a:lstStyle/>
          <a:p>
            <a:endParaRPr lang="en-IN"/>
          </a:p>
        </p:txBody>
      </p:sp>
      <p:sp>
        <p:nvSpPr>
          <p:cNvPr id="5" name="TextBox 5"/>
          <p:cNvSpPr txBox="1"/>
          <p:nvPr/>
        </p:nvSpPr>
        <p:spPr>
          <a:xfrm>
            <a:off x="877824" y="1523381"/>
            <a:ext cx="5742432" cy="2867120"/>
          </a:xfrm>
          <a:prstGeom prst="rect">
            <a:avLst/>
          </a:prstGeom>
        </p:spPr>
        <p:txBody>
          <a:bodyPr lIns="0" tIns="0" rIns="0" bIns="0" rtlCol="0" anchor="t">
            <a:spAutoFit/>
          </a:bodyPr>
          <a:lstStyle/>
          <a:p>
            <a:pPr algn="l">
              <a:lnSpc>
                <a:spcPts val="7466"/>
              </a:lnSpc>
            </a:pPr>
            <a:r>
              <a:rPr lang="en-US" sz="7466" b="1">
                <a:solidFill>
                  <a:srgbClr val="FFFFFF"/>
                </a:solidFill>
                <a:latin typeface="Roboto Bold"/>
                <a:ea typeface="Roboto Bold"/>
                <a:cs typeface="Roboto Bold"/>
                <a:sym typeface="Roboto Bold"/>
              </a:rPr>
              <a:t>The Performance Dilemma</a:t>
            </a:r>
          </a:p>
        </p:txBody>
      </p:sp>
      <p:sp>
        <p:nvSpPr>
          <p:cNvPr id="6" name="Freeform 6"/>
          <p:cNvSpPr/>
          <p:nvPr/>
        </p:nvSpPr>
        <p:spPr>
          <a:xfrm>
            <a:off x="864086" y="4285339"/>
            <a:ext cx="3500096" cy="644987"/>
          </a:xfrm>
          <a:custGeom>
            <a:avLst/>
            <a:gdLst/>
            <a:ahLst/>
            <a:cxnLst/>
            <a:rect l="l" t="t" r="r" b="b"/>
            <a:pathLst>
              <a:path w="3500096" h="644987">
                <a:moveTo>
                  <a:pt x="0" y="0"/>
                </a:moveTo>
                <a:lnTo>
                  <a:pt x="3500096" y="0"/>
                </a:lnTo>
                <a:lnTo>
                  <a:pt x="3500096" y="644987"/>
                </a:lnTo>
                <a:lnTo>
                  <a:pt x="0" y="644987"/>
                </a:lnTo>
                <a:lnTo>
                  <a:pt x="0" y="0"/>
                </a:lnTo>
                <a:close/>
              </a:path>
            </a:pathLst>
          </a:custGeom>
          <a:blipFill>
            <a:blip r:embed="rId6"/>
            <a:stretch>
              <a:fillRect/>
            </a:stretch>
          </a:blipFill>
        </p:spPr>
        <p:txBody>
          <a:bodyPr/>
          <a:lstStyle/>
          <a:p>
            <a:endParaRPr lang="en-IN"/>
          </a:p>
        </p:txBody>
      </p:sp>
      <p:sp>
        <p:nvSpPr>
          <p:cNvPr id="7" name="TextBox 7"/>
          <p:cNvSpPr txBox="1"/>
          <p:nvPr/>
        </p:nvSpPr>
        <p:spPr>
          <a:xfrm>
            <a:off x="1060704" y="4547633"/>
            <a:ext cx="3054096" cy="291067"/>
          </a:xfrm>
          <a:prstGeom prst="rect">
            <a:avLst/>
          </a:prstGeom>
        </p:spPr>
        <p:txBody>
          <a:bodyPr lIns="0" tIns="0" rIns="0" bIns="0" rtlCol="0" anchor="t">
            <a:spAutoFit/>
          </a:bodyPr>
          <a:lstStyle/>
          <a:p>
            <a:pPr algn="l">
              <a:lnSpc>
                <a:spcPts val="2249"/>
              </a:lnSpc>
            </a:pPr>
            <a:r>
              <a:rPr lang="en-US" sz="1606" b="1" spc="80" dirty="0">
                <a:solidFill>
                  <a:srgbClr val="FFFFFF"/>
                </a:solidFill>
                <a:latin typeface="Roboto Bold"/>
                <a:ea typeface="Roboto Bold"/>
                <a:cs typeface="Roboto Bold"/>
                <a:sym typeface="Roboto Bold"/>
              </a:rPr>
              <a:t>BEHAVIOR-FIRST APPROACH</a:t>
            </a:r>
          </a:p>
        </p:txBody>
      </p:sp>
      <p:sp>
        <p:nvSpPr>
          <p:cNvPr id="8" name="Freeform 8"/>
          <p:cNvSpPr/>
          <p:nvPr/>
        </p:nvSpPr>
        <p:spPr>
          <a:xfrm>
            <a:off x="864086" y="5138034"/>
            <a:ext cx="885962" cy="229572"/>
          </a:xfrm>
          <a:custGeom>
            <a:avLst/>
            <a:gdLst/>
            <a:ahLst/>
            <a:cxnLst/>
            <a:rect l="l" t="t" r="r" b="b"/>
            <a:pathLst>
              <a:path w="885962" h="229572">
                <a:moveTo>
                  <a:pt x="0" y="0"/>
                </a:moveTo>
                <a:lnTo>
                  <a:pt x="885962" y="0"/>
                </a:lnTo>
                <a:lnTo>
                  <a:pt x="885962" y="229572"/>
                </a:lnTo>
                <a:lnTo>
                  <a:pt x="0" y="229572"/>
                </a:lnTo>
                <a:lnTo>
                  <a:pt x="0" y="0"/>
                </a:lnTo>
                <a:close/>
              </a:path>
            </a:pathLst>
          </a:custGeom>
          <a:blipFill>
            <a:blip r:embed="rId7"/>
            <a:stretch>
              <a:fillRect/>
            </a:stretch>
          </a:blipFill>
        </p:spPr>
        <p:txBody>
          <a:bodyPr/>
          <a:lstStyle/>
          <a:p>
            <a:endParaRPr lang="en-IN"/>
          </a:p>
        </p:txBody>
      </p:sp>
      <p:sp>
        <p:nvSpPr>
          <p:cNvPr id="9" name="TextBox 9"/>
          <p:cNvSpPr txBox="1"/>
          <p:nvPr/>
        </p:nvSpPr>
        <p:spPr>
          <a:xfrm>
            <a:off x="877824" y="5521588"/>
            <a:ext cx="5029200" cy="1086721"/>
          </a:xfrm>
          <a:prstGeom prst="rect">
            <a:avLst/>
          </a:prstGeom>
        </p:spPr>
        <p:txBody>
          <a:bodyPr lIns="0" tIns="0" rIns="0" bIns="0" rtlCol="0" anchor="t">
            <a:spAutoFit/>
          </a:bodyPr>
          <a:lstStyle/>
          <a:p>
            <a:pPr algn="l">
              <a:lnSpc>
                <a:spcPts val="2874"/>
              </a:lnSpc>
            </a:pPr>
            <a:r>
              <a:rPr lang="en-US" sz="2299" dirty="0">
                <a:solidFill>
                  <a:srgbClr val="FFFFFF"/>
                </a:solidFill>
                <a:latin typeface="Roboto"/>
                <a:ea typeface="Roboto"/>
                <a:cs typeface="Roboto"/>
                <a:sym typeface="Roboto"/>
              </a:rPr>
              <a:t>Alex has missed deadlines twice in the last month, and stakeholder feedback is slipping.</a:t>
            </a:r>
          </a:p>
        </p:txBody>
      </p:sp>
      <p:sp>
        <p:nvSpPr>
          <p:cNvPr id="10" name="TextBox 10"/>
          <p:cNvSpPr txBox="1"/>
          <p:nvPr/>
        </p:nvSpPr>
        <p:spPr>
          <a:xfrm>
            <a:off x="877824" y="6972300"/>
            <a:ext cx="4443984" cy="807913"/>
          </a:xfrm>
          <a:prstGeom prst="rect">
            <a:avLst/>
          </a:prstGeom>
        </p:spPr>
        <p:txBody>
          <a:bodyPr lIns="0" tIns="0" rIns="0" bIns="0" rtlCol="0" anchor="t">
            <a:spAutoFit/>
          </a:bodyPr>
          <a:lstStyle/>
          <a:p>
            <a:pPr algn="l">
              <a:lnSpc>
                <a:spcPts val="2107"/>
              </a:lnSpc>
            </a:pPr>
            <a:r>
              <a:rPr lang="en-US" dirty="0">
                <a:solidFill>
                  <a:srgbClr val="FFFFFF"/>
                </a:solidFill>
                <a:latin typeface="Roboto"/>
                <a:ea typeface="Roboto"/>
                <a:cs typeface="Roboto"/>
                <a:sym typeface="Roboto"/>
              </a:rPr>
              <a:t>You know the first conversation matters—what you say next sets everything in motion.</a:t>
            </a:r>
          </a:p>
        </p:txBody>
      </p:sp>
      <p:sp>
        <p:nvSpPr>
          <p:cNvPr id="11" name="Freeform 11"/>
          <p:cNvSpPr/>
          <p:nvPr/>
        </p:nvSpPr>
        <p:spPr>
          <a:xfrm>
            <a:off x="864086" y="7925691"/>
            <a:ext cx="6322048" cy="863627"/>
          </a:xfrm>
          <a:custGeom>
            <a:avLst/>
            <a:gdLst/>
            <a:ahLst/>
            <a:cxnLst/>
            <a:rect l="l" t="t" r="r" b="b"/>
            <a:pathLst>
              <a:path w="6322048" h="863627">
                <a:moveTo>
                  <a:pt x="0" y="0"/>
                </a:moveTo>
                <a:lnTo>
                  <a:pt x="6322048" y="0"/>
                </a:lnTo>
                <a:lnTo>
                  <a:pt x="6322048" y="863627"/>
                </a:lnTo>
                <a:lnTo>
                  <a:pt x="0" y="863627"/>
                </a:lnTo>
                <a:lnTo>
                  <a:pt x="0" y="0"/>
                </a:lnTo>
                <a:close/>
              </a:path>
            </a:pathLst>
          </a:custGeom>
          <a:blipFill>
            <a:blip r:embed="rId8"/>
            <a:stretch>
              <a:fillRect/>
            </a:stretch>
          </a:blipFill>
        </p:spPr>
        <p:txBody>
          <a:bodyPr/>
          <a:lstStyle/>
          <a:p>
            <a:endParaRPr lang="en-IN"/>
          </a:p>
        </p:txBody>
      </p:sp>
      <p:sp>
        <p:nvSpPr>
          <p:cNvPr id="12" name="TextBox 12"/>
          <p:cNvSpPr txBox="1"/>
          <p:nvPr/>
        </p:nvSpPr>
        <p:spPr>
          <a:xfrm>
            <a:off x="2267712" y="8221324"/>
            <a:ext cx="2523744" cy="412030"/>
          </a:xfrm>
          <a:prstGeom prst="rect">
            <a:avLst/>
          </a:prstGeom>
        </p:spPr>
        <p:txBody>
          <a:bodyPr lIns="0" tIns="0" rIns="0" bIns="0" rtlCol="0" anchor="t">
            <a:spAutoFit/>
          </a:bodyPr>
          <a:lstStyle/>
          <a:p>
            <a:pPr algn="ctr">
              <a:lnSpc>
                <a:spcPts val="3338"/>
              </a:lnSpc>
            </a:pPr>
            <a:r>
              <a:rPr lang="en-US" sz="2384" b="1" dirty="0">
                <a:solidFill>
                  <a:srgbClr val="FFFFFF"/>
                </a:solidFill>
                <a:latin typeface="Roboto Bold"/>
                <a:ea typeface="Roboto Bold"/>
                <a:cs typeface="Roboto Bold"/>
                <a:sym typeface="Roboto Bold"/>
              </a:rPr>
              <a:t>START SCENARIO</a:t>
            </a:r>
          </a:p>
        </p:txBody>
      </p:sp>
      <p:sp>
        <p:nvSpPr>
          <p:cNvPr id="13" name="Freeform 13"/>
          <p:cNvSpPr/>
          <p:nvPr/>
        </p:nvSpPr>
        <p:spPr>
          <a:xfrm>
            <a:off x="6311110" y="8133399"/>
            <a:ext cx="448450" cy="655919"/>
          </a:xfrm>
          <a:custGeom>
            <a:avLst/>
            <a:gdLst/>
            <a:ahLst/>
            <a:cxnLst/>
            <a:rect l="l" t="t" r="r" b="b"/>
            <a:pathLst>
              <a:path w="448450" h="655919">
                <a:moveTo>
                  <a:pt x="0" y="0"/>
                </a:moveTo>
                <a:lnTo>
                  <a:pt x="448450" y="0"/>
                </a:lnTo>
                <a:lnTo>
                  <a:pt x="448450" y="655919"/>
                </a:lnTo>
                <a:lnTo>
                  <a:pt x="0" y="655919"/>
                </a:lnTo>
                <a:lnTo>
                  <a:pt x="0" y="0"/>
                </a:lnTo>
                <a:close/>
              </a:path>
            </a:pathLst>
          </a:custGeom>
          <a:blipFill>
            <a:blip r:embed="rId9"/>
            <a:stretch>
              <a:fillRect/>
            </a:stretch>
          </a:blipFill>
        </p:spPr>
        <p:txBody>
          <a:bodyPr/>
          <a:lstStyle/>
          <a:p>
            <a:endParaRPr lang="en-IN"/>
          </a:p>
        </p:txBody>
      </p:sp>
      <p:sp>
        <p:nvSpPr>
          <p:cNvPr id="14" name="Freeform 14"/>
          <p:cNvSpPr/>
          <p:nvPr/>
        </p:nvSpPr>
        <p:spPr>
          <a:xfrm>
            <a:off x="864086" y="9204733"/>
            <a:ext cx="448450" cy="448211"/>
          </a:xfrm>
          <a:custGeom>
            <a:avLst/>
            <a:gdLst/>
            <a:ahLst/>
            <a:cxnLst/>
            <a:rect l="l" t="t" r="r" b="b"/>
            <a:pathLst>
              <a:path w="448450" h="448211">
                <a:moveTo>
                  <a:pt x="0" y="0"/>
                </a:moveTo>
                <a:lnTo>
                  <a:pt x="448450" y="0"/>
                </a:lnTo>
                <a:lnTo>
                  <a:pt x="448450" y="448212"/>
                </a:lnTo>
                <a:lnTo>
                  <a:pt x="0" y="448212"/>
                </a:lnTo>
                <a:lnTo>
                  <a:pt x="0" y="0"/>
                </a:lnTo>
                <a:close/>
              </a:path>
            </a:pathLst>
          </a:custGeom>
          <a:blipFill>
            <a:blip r:embed="rId10"/>
            <a:stretch>
              <a:fillRect/>
            </a:stretch>
          </a:blipFill>
        </p:spPr>
        <p:txBody>
          <a:bodyPr/>
          <a:lstStyle/>
          <a:p>
            <a:endParaRPr lang="en-IN"/>
          </a:p>
        </p:txBody>
      </p:sp>
      <p:sp>
        <p:nvSpPr>
          <p:cNvPr id="15" name="Freeform 15"/>
          <p:cNvSpPr/>
          <p:nvPr/>
        </p:nvSpPr>
        <p:spPr>
          <a:xfrm>
            <a:off x="2603196" y="9204733"/>
            <a:ext cx="229694" cy="448211"/>
          </a:xfrm>
          <a:custGeom>
            <a:avLst/>
            <a:gdLst/>
            <a:ahLst/>
            <a:cxnLst/>
            <a:rect l="l" t="t" r="r" b="b"/>
            <a:pathLst>
              <a:path w="229694" h="448211">
                <a:moveTo>
                  <a:pt x="0" y="0"/>
                </a:moveTo>
                <a:lnTo>
                  <a:pt x="229694" y="0"/>
                </a:lnTo>
                <a:lnTo>
                  <a:pt x="229694" y="448212"/>
                </a:lnTo>
                <a:lnTo>
                  <a:pt x="0" y="448212"/>
                </a:lnTo>
                <a:lnTo>
                  <a:pt x="0" y="0"/>
                </a:lnTo>
                <a:close/>
              </a:path>
            </a:pathLst>
          </a:custGeom>
          <a:blipFill>
            <a:blip r:embed="rId11"/>
            <a:stretch>
              <a:fillRect/>
            </a:stretch>
          </a:blipFill>
        </p:spPr>
        <p:txBody>
          <a:bodyPr/>
          <a:lstStyle/>
          <a:p>
            <a:endParaRPr lang="en-IN"/>
          </a:p>
        </p:txBody>
      </p:sp>
      <p:sp>
        <p:nvSpPr>
          <p:cNvPr id="16" name="Freeform 16"/>
          <p:cNvSpPr/>
          <p:nvPr/>
        </p:nvSpPr>
        <p:spPr>
          <a:xfrm>
            <a:off x="3040708" y="9204733"/>
            <a:ext cx="667206" cy="448211"/>
          </a:xfrm>
          <a:custGeom>
            <a:avLst/>
            <a:gdLst/>
            <a:ahLst/>
            <a:cxnLst/>
            <a:rect l="l" t="t" r="r" b="b"/>
            <a:pathLst>
              <a:path w="667206" h="448211">
                <a:moveTo>
                  <a:pt x="0" y="0"/>
                </a:moveTo>
                <a:lnTo>
                  <a:pt x="667206" y="0"/>
                </a:lnTo>
                <a:lnTo>
                  <a:pt x="667206" y="448212"/>
                </a:lnTo>
                <a:lnTo>
                  <a:pt x="0" y="448212"/>
                </a:lnTo>
                <a:lnTo>
                  <a:pt x="0" y="0"/>
                </a:lnTo>
                <a:close/>
              </a:path>
            </a:pathLst>
          </a:custGeom>
          <a:blipFill>
            <a:blip r:embed="rId12"/>
            <a:stretch>
              <a:fillRect/>
            </a:stretch>
          </a:blipFill>
        </p:spPr>
        <p:txBody>
          <a:bodyPr/>
          <a:lstStyle/>
          <a:p>
            <a:endParaRPr lang="en-IN"/>
          </a:p>
        </p:txBody>
      </p:sp>
      <p:sp>
        <p:nvSpPr>
          <p:cNvPr id="17" name="TextBox 17"/>
          <p:cNvSpPr txBox="1"/>
          <p:nvPr/>
        </p:nvSpPr>
        <p:spPr>
          <a:xfrm>
            <a:off x="3767328" y="9243259"/>
            <a:ext cx="1463040" cy="291067"/>
          </a:xfrm>
          <a:prstGeom prst="rect">
            <a:avLst/>
          </a:prstGeom>
        </p:spPr>
        <p:txBody>
          <a:bodyPr lIns="0" tIns="0" rIns="0" bIns="0" rtlCol="0" anchor="t">
            <a:spAutoFit/>
          </a:bodyPr>
          <a:lstStyle/>
          <a:p>
            <a:pPr algn="l">
              <a:lnSpc>
                <a:spcPts val="2249"/>
              </a:lnSpc>
            </a:pPr>
            <a:r>
              <a:rPr lang="en-US" sz="1606" b="1" spc="80">
                <a:solidFill>
                  <a:srgbClr val="FFFFFF"/>
                </a:solidFill>
                <a:latin typeface="Roboto Bold"/>
                <a:ea typeface="Roboto Bold"/>
                <a:cs typeface="Roboto Bold"/>
                <a:sym typeface="Roboto Bold"/>
              </a:rPr>
              <a:t>CAPTIONS ON</a:t>
            </a:r>
          </a:p>
        </p:txBody>
      </p:sp>
      <p:sp>
        <p:nvSpPr>
          <p:cNvPr id="18" name="Freeform 18"/>
          <p:cNvSpPr/>
          <p:nvPr/>
        </p:nvSpPr>
        <p:spPr>
          <a:xfrm>
            <a:off x="13278488" y="1497682"/>
            <a:ext cx="4364182" cy="1727254"/>
          </a:xfrm>
          <a:custGeom>
            <a:avLst/>
            <a:gdLst/>
            <a:ahLst/>
            <a:cxnLst/>
            <a:rect l="l" t="t" r="r" b="b"/>
            <a:pathLst>
              <a:path w="4364182" h="1727254">
                <a:moveTo>
                  <a:pt x="0" y="0"/>
                </a:moveTo>
                <a:lnTo>
                  <a:pt x="4364182" y="0"/>
                </a:lnTo>
                <a:lnTo>
                  <a:pt x="4364182" y="1727254"/>
                </a:lnTo>
                <a:lnTo>
                  <a:pt x="0" y="1727254"/>
                </a:lnTo>
                <a:lnTo>
                  <a:pt x="0" y="0"/>
                </a:lnTo>
                <a:close/>
              </a:path>
            </a:pathLst>
          </a:custGeom>
          <a:blipFill>
            <a:blip r:embed="rId13"/>
            <a:stretch>
              <a:fillRect/>
            </a:stretch>
          </a:blipFill>
        </p:spPr>
        <p:txBody>
          <a:bodyPr/>
          <a:lstStyle/>
          <a:p>
            <a:endParaRPr lang="en-IN"/>
          </a:p>
        </p:txBody>
      </p:sp>
      <p:sp>
        <p:nvSpPr>
          <p:cNvPr id="19" name="Freeform 19"/>
          <p:cNvSpPr/>
          <p:nvPr/>
        </p:nvSpPr>
        <p:spPr>
          <a:xfrm>
            <a:off x="13497244" y="1705390"/>
            <a:ext cx="1093780" cy="1082267"/>
          </a:xfrm>
          <a:custGeom>
            <a:avLst/>
            <a:gdLst/>
            <a:ahLst/>
            <a:cxnLst/>
            <a:rect l="l" t="t" r="r" b="b"/>
            <a:pathLst>
              <a:path w="1093780" h="1082267">
                <a:moveTo>
                  <a:pt x="0" y="0"/>
                </a:moveTo>
                <a:lnTo>
                  <a:pt x="1093780" y="0"/>
                </a:lnTo>
                <a:lnTo>
                  <a:pt x="1093780" y="1082267"/>
                </a:lnTo>
                <a:lnTo>
                  <a:pt x="0" y="1082267"/>
                </a:lnTo>
                <a:lnTo>
                  <a:pt x="0" y="0"/>
                </a:lnTo>
                <a:close/>
              </a:path>
            </a:pathLst>
          </a:custGeom>
          <a:blipFill>
            <a:blip r:embed="rId14"/>
            <a:stretch>
              <a:fillRect/>
            </a:stretch>
          </a:blipFill>
        </p:spPr>
        <p:txBody>
          <a:bodyPr/>
          <a:lstStyle/>
          <a:p>
            <a:endParaRPr lang="en-IN"/>
          </a:p>
        </p:txBody>
      </p:sp>
      <p:sp>
        <p:nvSpPr>
          <p:cNvPr id="20" name="TextBox 20"/>
          <p:cNvSpPr txBox="1"/>
          <p:nvPr/>
        </p:nvSpPr>
        <p:spPr>
          <a:xfrm>
            <a:off x="14557248" y="2247900"/>
            <a:ext cx="2011680" cy="500137"/>
          </a:xfrm>
          <a:prstGeom prst="rect">
            <a:avLst/>
          </a:prstGeom>
        </p:spPr>
        <p:txBody>
          <a:bodyPr lIns="0" tIns="0" rIns="0" bIns="0" rtlCol="0" anchor="t">
            <a:spAutoFit/>
          </a:bodyPr>
          <a:lstStyle/>
          <a:p>
            <a:pPr algn="l">
              <a:lnSpc>
                <a:spcPts val="2008"/>
              </a:lnSpc>
            </a:pPr>
            <a:r>
              <a:rPr lang="en-US" sz="1600" b="1" dirty="0">
                <a:solidFill>
                  <a:srgbClr val="001F4D"/>
                </a:solidFill>
                <a:latin typeface="Roboto Bold"/>
                <a:ea typeface="Roboto Bold"/>
                <a:cs typeface="Roboto Bold"/>
                <a:sym typeface="Roboto Bold"/>
              </a:rPr>
              <a:t>Project update was due 2 days ago</a:t>
            </a:r>
          </a:p>
        </p:txBody>
      </p:sp>
      <p:sp>
        <p:nvSpPr>
          <p:cNvPr id="21" name="Freeform 21"/>
          <p:cNvSpPr/>
          <p:nvPr/>
        </p:nvSpPr>
        <p:spPr>
          <a:xfrm>
            <a:off x="13278488" y="3214004"/>
            <a:ext cx="4364182" cy="1716322"/>
          </a:xfrm>
          <a:custGeom>
            <a:avLst/>
            <a:gdLst/>
            <a:ahLst/>
            <a:cxnLst/>
            <a:rect l="l" t="t" r="r" b="b"/>
            <a:pathLst>
              <a:path w="4364182" h="1716322">
                <a:moveTo>
                  <a:pt x="0" y="0"/>
                </a:moveTo>
                <a:lnTo>
                  <a:pt x="4364182" y="0"/>
                </a:lnTo>
                <a:lnTo>
                  <a:pt x="4364182" y="1716322"/>
                </a:lnTo>
                <a:lnTo>
                  <a:pt x="0" y="1716322"/>
                </a:lnTo>
                <a:lnTo>
                  <a:pt x="0" y="0"/>
                </a:lnTo>
                <a:close/>
              </a:path>
            </a:pathLst>
          </a:custGeom>
          <a:blipFill>
            <a:blip r:embed="rId15"/>
            <a:stretch>
              <a:fillRect/>
            </a:stretch>
          </a:blipFill>
        </p:spPr>
        <p:txBody>
          <a:bodyPr/>
          <a:lstStyle/>
          <a:p>
            <a:endParaRPr lang="en-IN"/>
          </a:p>
        </p:txBody>
      </p:sp>
      <p:sp>
        <p:nvSpPr>
          <p:cNvPr id="22" name="Freeform 22"/>
          <p:cNvSpPr/>
          <p:nvPr/>
        </p:nvSpPr>
        <p:spPr>
          <a:xfrm>
            <a:off x="13497244" y="3640352"/>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16"/>
            <a:stretch>
              <a:fillRect/>
            </a:stretch>
          </a:blipFill>
        </p:spPr>
        <p:txBody>
          <a:bodyPr/>
          <a:lstStyle/>
          <a:p>
            <a:endParaRPr lang="en-IN"/>
          </a:p>
        </p:txBody>
      </p:sp>
      <p:sp>
        <p:nvSpPr>
          <p:cNvPr id="23" name="TextBox 23"/>
          <p:cNvSpPr txBox="1"/>
          <p:nvPr/>
        </p:nvSpPr>
        <p:spPr>
          <a:xfrm>
            <a:off x="14557248" y="3993803"/>
            <a:ext cx="2706624" cy="692497"/>
          </a:xfrm>
          <a:prstGeom prst="rect">
            <a:avLst/>
          </a:prstGeom>
        </p:spPr>
        <p:txBody>
          <a:bodyPr lIns="0" tIns="0" rIns="0" bIns="0" rtlCol="0" anchor="t">
            <a:spAutoFit/>
          </a:bodyPr>
          <a:lstStyle/>
          <a:p>
            <a:pPr algn="l">
              <a:lnSpc>
                <a:spcPts val="1823"/>
              </a:lnSpc>
            </a:pPr>
            <a:r>
              <a:rPr lang="en-US" sz="1600" b="1" dirty="0">
                <a:solidFill>
                  <a:srgbClr val="001F4D"/>
                </a:solidFill>
                <a:latin typeface="Roboto Bold"/>
                <a:ea typeface="Roboto Bold"/>
                <a:cs typeface="Roboto Bold"/>
                <a:sym typeface="Roboto Bold"/>
              </a:rPr>
              <a:t>Concerns about responsiveness and follow-through</a:t>
            </a:r>
          </a:p>
        </p:txBody>
      </p:sp>
      <p:sp>
        <p:nvSpPr>
          <p:cNvPr id="24" name="Freeform 24"/>
          <p:cNvSpPr/>
          <p:nvPr/>
        </p:nvSpPr>
        <p:spPr>
          <a:xfrm>
            <a:off x="13278488" y="5138034"/>
            <a:ext cx="4364182" cy="1727254"/>
          </a:xfrm>
          <a:custGeom>
            <a:avLst/>
            <a:gdLst/>
            <a:ahLst/>
            <a:cxnLst/>
            <a:rect l="l" t="t" r="r" b="b"/>
            <a:pathLst>
              <a:path w="4364182" h="1727254">
                <a:moveTo>
                  <a:pt x="0" y="0"/>
                </a:moveTo>
                <a:lnTo>
                  <a:pt x="4364182" y="0"/>
                </a:lnTo>
                <a:lnTo>
                  <a:pt x="4364182" y="1727254"/>
                </a:lnTo>
                <a:lnTo>
                  <a:pt x="0" y="1727254"/>
                </a:lnTo>
                <a:lnTo>
                  <a:pt x="0" y="0"/>
                </a:lnTo>
                <a:close/>
              </a:path>
            </a:pathLst>
          </a:custGeom>
          <a:blipFill>
            <a:blip r:embed="rId17"/>
            <a:stretch>
              <a:fillRect/>
            </a:stretch>
          </a:blipFill>
        </p:spPr>
        <p:txBody>
          <a:bodyPr/>
          <a:lstStyle/>
          <a:p>
            <a:endParaRPr lang="en-IN"/>
          </a:p>
        </p:txBody>
      </p:sp>
      <p:sp>
        <p:nvSpPr>
          <p:cNvPr id="25" name="Freeform 25"/>
          <p:cNvSpPr/>
          <p:nvPr/>
        </p:nvSpPr>
        <p:spPr>
          <a:xfrm>
            <a:off x="13497244" y="5564382"/>
            <a:ext cx="1093780" cy="874559"/>
          </a:xfrm>
          <a:custGeom>
            <a:avLst/>
            <a:gdLst/>
            <a:ahLst/>
            <a:cxnLst/>
            <a:rect l="l" t="t" r="r" b="b"/>
            <a:pathLst>
              <a:path w="1093780" h="874559">
                <a:moveTo>
                  <a:pt x="0" y="0"/>
                </a:moveTo>
                <a:lnTo>
                  <a:pt x="1093780" y="0"/>
                </a:lnTo>
                <a:lnTo>
                  <a:pt x="1093780" y="874558"/>
                </a:lnTo>
                <a:lnTo>
                  <a:pt x="0" y="874558"/>
                </a:lnTo>
                <a:lnTo>
                  <a:pt x="0" y="0"/>
                </a:lnTo>
                <a:close/>
              </a:path>
            </a:pathLst>
          </a:custGeom>
          <a:blipFill>
            <a:blip r:embed="rId18"/>
            <a:stretch>
              <a:fillRect/>
            </a:stretch>
          </a:blipFill>
        </p:spPr>
        <p:txBody>
          <a:bodyPr/>
          <a:lstStyle/>
          <a:p>
            <a:endParaRPr lang="en-IN"/>
          </a:p>
        </p:txBody>
      </p:sp>
      <p:sp>
        <p:nvSpPr>
          <p:cNvPr id="26" name="TextBox 26"/>
          <p:cNvSpPr txBox="1"/>
          <p:nvPr/>
        </p:nvSpPr>
        <p:spPr>
          <a:xfrm>
            <a:off x="14557248" y="5905500"/>
            <a:ext cx="2450592" cy="730969"/>
          </a:xfrm>
          <a:prstGeom prst="rect">
            <a:avLst/>
          </a:prstGeom>
        </p:spPr>
        <p:txBody>
          <a:bodyPr lIns="0" tIns="0" rIns="0" bIns="0" rtlCol="0" anchor="t">
            <a:spAutoFit/>
          </a:bodyPr>
          <a:lstStyle/>
          <a:p>
            <a:pPr algn="l">
              <a:lnSpc>
                <a:spcPts val="1860"/>
              </a:lnSpc>
            </a:pPr>
            <a:r>
              <a:rPr lang="en-US" sz="1600" b="1" dirty="0">
                <a:solidFill>
                  <a:srgbClr val="001F4D"/>
                </a:solidFill>
                <a:latin typeface="Roboto Bold"/>
                <a:ea typeface="Roboto Bold"/>
                <a:cs typeface="Roboto Bold"/>
                <a:sym typeface="Roboto Bold"/>
              </a:rPr>
              <a:t>Address before performance continues to decline</a:t>
            </a:r>
          </a:p>
        </p:txBody>
      </p:sp>
      <p:sp>
        <p:nvSpPr>
          <p:cNvPr id="27" name="TextBox 27"/>
          <p:cNvSpPr txBox="1"/>
          <p:nvPr/>
        </p:nvSpPr>
        <p:spPr>
          <a:xfrm>
            <a:off x="1060704" y="797632"/>
            <a:ext cx="2194560" cy="291067"/>
          </a:xfrm>
          <a:prstGeom prst="rect">
            <a:avLst/>
          </a:prstGeom>
        </p:spPr>
        <p:txBody>
          <a:bodyPr lIns="0" tIns="0" rIns="0" bIns="0" rtlCol="0" anchor="t">
            <a:spAutoFit/>
          </a:bodyPr>
          <a:lstStyle/>
          <a:p>
            <a:pPr algn="l">
              <a:lnSpc>
                <a:spcPts val="2249"/>
              </a:lnSpc>
            </a:pPr>
            <a:r>
              <a:rPr lang="en-US" sz="1606" b="1" spc="80">
                <a:solidFill>
                  <a:srgbClr val="001F4D"/>
                </a:solidFill>
                <a:latin typeface="Roboto Bold"/>
                <a:ea typeface="Roboto Bold"/>
                <a:cs typeface="Roboto Bold"/>
                <a:sym typeface="Roboto Bold"/>
              </a:rPr>
              <a:t>20 MINUTE MODULE</a:t>
            </a:r>
          </a:p>
        </p:txBody>
      </p:sp>
      <p:sp>
        <p:nvSpPr>
          <p:cNvPr id="28" name="TextBox 28"/>
          <p:cNvSpPr txBox="1"/>
          <p:nvPr/>
        </p:nvSpPr>
        <p:spPr>
          <a:xfrm>
            <a:off x="1463040" y="9243259"/>
            <a:ext cx="1024128" cy="291067"/>
          </a:xfrm>
          <a:prstGeom prst="rect">
            <a:avLst/>
          </a:prstGeom>
        </p:spPr>
        <p:txBody>
          <a:bodyPr lIns="0" tIns="0" rIns="0" bIns="0" rtlCol="0" anchor="t">
            <a:spAutoFit/>
          </a:bodyPr>
          <a:lstStyle/>
          <a:p>
            <a:pPr algn="l">
              <a:lnSpc>
                <a:spcPts val="2249"/>
              </a:lnSpc>
            </a:pPr>
            <a:r>
              <a:rPr lang="en-US" sz="1606" b="1" spc="80">
                <a:solidFill>
                  <a:srgbClr val="FFFFFF"/>
                </a:solidFill>
                <a:latin typeface="Roboto Bold"/>
                <a:ea typeface="Roboto Bold"/>
                <a:cs typeface="Roboto Bold"/>
                <a:sym typeface="Roboto Bold"/>
              </a:rPr>
              <a:t>AUDIO ON</a:t>
            </a:r>
          </a:p>
        </p:txBody>
      </p:sp>
      <p:sp>
        <p:nvSpPr>
          <p:cNvPr id="29" name="TextBox 29"/>
          <p:cNvSpPr txBox="1"/>
          <p:nvPr/>
        </p:nvSpPr>
        <p:spPr>
          <a:xfrm>
            <a:off x="3255264" y="9243259"/>
            <a:ext cx="292608" cy="291067"/>
          </a:xfrm>
          <a:prstGeom prst="rect">
            <a:avLst/>
          </a:prstGeom>
        </p:spPr>
        <p:txBody>
          <a:bodyPr lIns="0" tIns="0" rIns="0" bIns="0" rtlCol="0" anchor="t">
            <a:spAutoFit/>
          </a:bodyPr>
          <a:lstStyle/>
          <a:p>
            <a:pPr algn="ctr">
              <a:lnSpc>
                <a:spcPts val="2249"/>
              </a:lnSpc>
            </a:pPr>
            <a:r>
              <a:rPr lang="en-US" sz="1606" b="1" spc="80">
                <a:solidFill>
                  <a:srgbClr val="FFFFFF"/>
                </a:solidFill>
                <a:latin typeface="Roboto Bold"/>
                <a:ea typeface="Roboto Bold"/>
                <a:cs typeface="Roboto Bold"/>
                <a:sym typeface="Roboto Bold"/>
              </a:rPr>
              <a:t>CC</a:t>
            </a:r>
          </a:p>
        </p:txBody>
      </p:sp>
      <p:sp>
        <p:nvSpPr>
          <p:cNvPr id="30" name="TextBox 30"/>
          <p:cNvSpPr txBox="1"/>
          <p:nvPr/>
        </p:nvSpPr>
        <p:spPr>
          <a:xfrm>
            <a:off x="14557248" y="1855656"/>
            <a:ext cx="1825752" cy="253274"/>
          </a:xfrm>
          <a:prstGeom prst="rect">
            <a:avLst/>
          </a:prstGeom>
        </p:spPr>
        <p:txBody>
          <a:bodyPr wrap="square" lIns="0" tIns="0" rIns="0" bIns="0" rtlCol="0" anchor="t">
            <a:spAutoFit/>
          </a:bodyPr>
          <a:lstStyle/>
          <a:p>
            <a:pPr algn="l">
              <a:lnSpc>
                <a:spcPts val="2057"/>
              </a:lnSpc>
            </a:pPr>
            <a:r>
              <a:rPr lang="en-US" sz="1600" b="1" dirty="0">
                <a:solidFill>
                  <a:srgbClr val="004AAD"/>
                </a:solidFill>
                <a:latin typeface="Roboto Bold"/>
                <a:ea typeface="Roboto Bold"/>
                <a:cs typeface="Roboto Bold"/>
                <a:sym typeface="Roboto Bold"/>
              </a:rPr>
              <a:t>DEADLINE MISSED</a:t>
            </a:r>
          </a:p>
        </p:txBody>
      </p:sp>
      <p:sp>
        <p:nvSpPr>
          <p:cNvPr id="31" name="TextBox 31"/>
          <p:cNvSpPr txBox="1"/>
          <p:nvPr/>
        </p:nvSpPr>
        <p:spPr>
          <a:xfrm>
            <a:off x="14557248" y="3595870"/>
            <a:ext cx="2706624" cy="253274"/>
          </a:xfrm>
          <a:prstGeom prst="rect">
            <a:avLst/>
          </a:prstGeom>
        </p:spPr>
        <p:txBody>
          <a:bodyPr wrap="square" lIns="0" tIns="0" rIns="0" bIns="0" rtlCol="0" anchor="t">
            <a:spAutoFit/>
          </a:bodyPr>
          <a:lstStyle/>
          <a:p>
            <a:pPr algn="l">
              <a:lnSpc>
                <a:spcPts val="2057"/>
              </a:lnSpc>
            </a:pPr>
            <a:r>
              <a:rPr lang="en-US" sz="1600" b="1" dirty="0">
                <a:solidFill>
                  <a:srgbClr val="00979D"/>
                </a:solidFill>
                <a:latin typeface="Roboto Bold"/>
                <a:ea typeface="Roboto Bold"/>
                <a:cs typeface="Roboto Bold"/>
                <a:sym typeface="Roboto Bold"/>
              </a:rPr>
              <a:t>STAKEHOLDER FEEDBACK</a:t>
            </a:r>
          </a:p>
        </p:txBody>
      </p:sp>
      <p:sp>
        <p:nvSpPr>
          <p:cNvPr id="32" name="TextBox 32"/>
          <p:cNvSpPr txBox="1"/>
          <p:nvPr/>
        </p:nvSpPr>
        <p:spPr>
          <a:xfrm>
            <a:off x="14557248" y="5524500"/>
            <a:ext cx="2282952" cy="253274"/>
          </a:xfrm>
          <a:prstGeom prst="rect">
            <a:avLst/>
          </a:prstGeom>
        </p:spPr>
        <p:txBody>
          <a:bodyPr wrap="square" lIns="0" tIns="0" rIns="0" bIns="0" rtlCol="0" anchor="t">
            <a:spAutoFit/>
          </a:bodyPr>
          <a:lstStyle/>
          <a:p>
            <a:pPr algn="l">
              <a:lnSpc>
                <a:spcPts val="2057"/>
              </a:lnSpc>
            </a:pPr>
            <a:r>
              <a:rPr lang="en-US" sz="1600" b="1" dirty="0">
                <a:solidFill>
                  <a:srgbClr val="004AAD"/>
                </a:solidFill>
                <a:latin typeface="Roboto Bold"/>
                <a:ea typeface="Roboto Bold"/>
                <a:cs typeface="Roboto Bold"/>
                <a:sym typeface="Roboto Bold"/>
              </a:rPr>
              <a:t>ACTION NEEDED</a:t>
            </a:r>
          </a:p>
        </p:txBody>
      </p:sp>
      <p:sp>
        <p:nvSpPr>
          <p:cNvPr id="33" name="Rectangle: Rounded Corners 32">
            <a:extLst>
              <a:ext uri="{FF2B5EF4-FFF2-40B4-BE49-F238E27FC236}">
                <a16:creationId xmlns:a16="http://schemas.microsoft.com/office/drawing/2014/main" id="{F8AF88B7-48C7-F6B5-0676-7A2AA891F94A}"/>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Split-screen modern dashboard layout (16:9).</a:t>
            </a:r>
          </a:p>
          <a:p>
            <a:r>
              <a:rPr lang="en-IN" sz="2000" dirty="0"/>
              <a:t>• Left Panel: Deep Navy card (#1E3A8A) with title, 8–10 min duration tag, and </a:t>
            </a:r>
            <a:r>
              <a:rPr lang="en-IN" sz="2000" dirty="0" err="1"/>
              <a:t>Behavior</a:t>
            </a:r>
            <a:r>
              <a:rPr lang="en-IN" sz="2000" dirty="0"/>
              <a:t>-First badge.</a:t>
            </a:r>
          </a:p>
          <a:p>
            <a:r>
              <a:rPr lang="en-IN" sz="2000" dirty="0"/>
              <a:t>• Right Panel: Character portrait of "Alex" at a workstation, looking overwhelmed next to missed deadline notifications.</a:t>
            </a:r>
          </a:p>
          <a:p>
            <a:r>
              <a:rPr lang="en-IN" sz="2000" dirty="0"/>
              <a:t>• UI Elements:</a:t>
            </a:r>
          </a:p>
          <a:p>
            <a:r>
              <a:rPr lang="en-IN" sz="2000" dirty="0"/>
              <a:t>  - Progress bar indicator (Slide 1 of 9).</a:t>
            </a:r>
          </a:p>
          <a:p>
            <a:r>
              <a:rPr lang="en-IN" sz="2000" dirty="0"/>
              <a:t>  - Primary CTA Button: [Start Scenario →] with hover effect.</a:t>
            </a:r>
          </a:p>
          <a:p>
            <a:r>
              <a:rPr lang="en-IN" sz="2000" dirty="0"/>
              <a:t>  - Audio and CC toggles at upper right.</a:t>
            </a:r>
          </a:p>
          <a:p>
            <a:pPr algn="ctr"/>
            <a:endParaRPr lang="en-IN" sz="2000" b="1" dirty="0"/>
          </a:p>
        </p:txBody>
      </p:sp>
      <p:sp>
        <p:nvSpPr>
          <p:cNvPr id="42" name="Flowchart: Connector 41">
            <a:extLst>
              <a:ext uri="{FF2B5EF4-FFF2-40B4-BE49-F238E27FC236}">
                <a16:creationId xmlns:a16="http://schemas.microsoft.com/office/drawing/2014/main" id="{F15C56BB-9BB9-5C4D-F603-C40C5764BB96}"/>
              </a:ext>
            </a:extLst>
          </p:cNvPr>
          <p:cNvSpPr/>
          <p:nvPr/>
        </p:nvSpPr>
        <p:spPr>
          <a:xfrm>
            <a:off x="9144000" y="4191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Connector 45">
            <a:extLst>
              <a:ext uri="{FF2B5EF4-FFF2-40B4-BE49-F238E27FC236}">
                <a16:creationId xmlns:a16="http://schemas.microsoft.com/office/drawing/2014/main" id="{B549E4BB-A2C8-6459-39DB-3543E7AADA45}"/>
              </a:ext>
            </a:extLst>
          </p:cNvPr>
          <p:cNvCxnSpPr>
            <a:cxnSpLocks/>
          </p:cNvCxnSpPr>
          <p:nvPr/>
        </p:nvCxnSpPr>
        <p:spPr>
          <a:xfrm>
            <a:off x="9372600" y="5233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8" name="Flowchart: Connector 47">
            <a:extLst>
              <a:ext uri="{FF2B5EF4-FFF2-40B4-BE49-F238E27FC236}">
                <a16:creationId xmlns:a16="http://schemas.microsoft.com/office/drawing/2014/main" id="{0A1A928B-C363-9B23-8A87-F1B483EC0A5C}"/>
              </a:ext>
            </a:extLst>
          </p:cNvPr>
          <p:cNvSpPr/>
          <p:nvPr/>
        </p:nvSpPr>
        <p:spPr>
          <a:xfrm>
            <a:off x="9525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lowchart: Connector 49">
            <a:extLst>
              <a:ext uri="{FF2B5EF4-FFF2-40B4-BE49-F238E27FC236}">
                <a16:creationId xmlns:a16="http://schemas.microsoft.com/office/drawing/2014/main" id="{B72CAB38-10D6-265F-FDB2-4AEE06CC1E7C}"/>
              </a:ext>
            </a:extLst>
          </p:cNvPr>
          <p:cNvSpPr/>
          <p:nvPr/>
        </p:nvSpPr>
        <p:spPr>
          <a:xfrm>
            <a:off x="9906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Flowchart: Connector 51">
            <a:extLst>
              <a:ext uri="{FF2B5EF4-FFF2-40B4-BE49-F238E27FC236}">
                <a16:creationId xmlns:a16="http://schemas.microsoft.com/office/drawing/2014/main" id="{77B683A0-9974-1E3F-830D-294318376C59}"/>
              </a:ext>
            </a:extLst>
          </p:cNvPr>
          <p:cNvSpPr/>
          <p:nvPr/>
        </p:nvSpPr>
        <p:spPr>
          <a:xfrm>
            <a:off x="10287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Flowchart: Connector 53">
            <a:extLst>
              <a:ext uri="{FF2B5EF4-FFF2-40B4-BE49-F238E27FC236}">
                <a16:creationId xmlns:a16="http://schemas.microsoft.com/office/drawing/2014/main" id="{EC6D19C6-121D-4940-1A0C-8320D7499342}"/>
              </a:ext>
            </a:extLst>
          </p:cNvPr>
          <p:cNvSpPr/>
          <p:nvPr/>
        </p:nvSpPr>
        <p:spPr>
          <a:xfrm>
            <a:off x="10668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lowchart: Connector 55">
            <a:extLst>
              <a:ext uri="{FF2B5EF4-FFF2-40B4-BE49-F238E27FC236}">
                <a16:creationId xmlns:a16="http://schemas.microsoft.com/office/drawing/2014/main" id="{B11625BB-2C26-0C49-F3FB-92A091192669}"/>
              </a:ext>
            </a:extLst>
          </p:cNvPr>
          <p:cNvSpPr/>
          <p:nvPr/>
        </p:nvSpPr>
        <p:spPr>
          <a:xfrm>
            <a:off x="11049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Connector 57">
            <a:extLst>
              <a:ext uri="{FF2B5EF4-FFF2-40B4-BE49-F238E27FC236}">
                <a16:creationId xmlns:a16="http://schemas.microsoft.com/office/drawing/2014/main" id="{C35E66CF-64AB-9922-50CE-E29D69922B82}"/>
              </a:ext>
            </a:extLst>
          </p:cNvPr>
          <p:cNvSpPr/>
          <p:nvPr/>
        </p:nvSpPr>
        <p:spPr>
          <a:xfrm>
            <a:off x="11430000" y="4191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a:extLst>
              <a:ext uri="{FF2B5EF4-FFF2-40B4-BE49-F238E27FC236}">
                <a16:creationId xmlns:a16="http://schemas.microsoft.com/office/drawing/2014/main" id="{CD5E4D2B-BB42-DEBD-2AF0-2326752552CE}"/>
              </a:ext>
            </a:extLst>
          </p:cNvPr>
          <p:cNvSpPr/>
          <p:nvPr/>
        </p:nvSpPr>
        <p:spPr>
          <a:xfrm>
            <a:off x="11811000" y="4327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Flowchart: Connector 61">
            <a:extLst>
              <a:ext uri="{FF2B5EF4-FFF2-40B4-BE49-F238E27FC236}">
                <a16:creationId xmlns:a16="http://schemas.microsoft.com/office/drawing/2014/main" id="{16482A91-A8CA-9DA4-8EC1-FD17623458B4}"/>
              </a:ext>
            </a:extLst>
          </p:cNvPr>
          <p:cNvSpPr/>
          <p:nvPr/>
        </p:nvSpPr>
        <p:spPr>
          <a:xfrm>
            <a:off x="12192000" y="4327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045464" y="342900"/>
            <a:ext cx="8631936" cy="1240724"/>
          </a:xfrm>
          <a:prstGeom prst="rect">
            <a:avLst/>
          </a:prstGeom>
        </p:spPr>
        <p:txBody>
          <a:bodyPr lIns="0" tIns="0" rIns="0" bIns="0" rtlCol="0" anchor="t">
            <a:spAutoFit/>
          </a:bodyPr>
          <a:lstStyle/>
          <a:p>
            <a:pPr algn="l">
              <a:lnSpc>
                <a:spcPts val="11122"/>
              </a:lnSpc>
            </a:pPr>
            <a:r>
              <a:rPr lang="en-US" sz="5400" b="1" spc="-158" dirty="0">
                <a:solidFill>
                  <a:srgbClr val="00234C"/>
                </a:solidFill>
                <a:latin typeface="Roboto Bold"/>
                <a:ea typeface="Roboto Bold"/>
                <a:cs typeface="Roboto Bold"/>
                <a:sym typeface="Roboto Bold"/>
              </a:rPr>
              <a:t>Learning Objectives</a:t>
            </a:r>
          </a:p>
        </p:txBody>
      </p:sp>
      <p:sp>
        <p:nvSpPr>
          <p:cNvPr id="5" name="TextBox 5"/>
          <p:cNvSpPr txBox="1"/>
          <p:nvPr/>
        </p:nvSpPr>
        <p:spPr>
          <a:xfrm>
            <a:off x="1298448" y="1866900"/>
            <a:ext cx="6949440" cy="468426"/>
          </a:xfrm>
          <a:prstGeom prst="rect">
            <a:avLst/>
          </a:prstGeom>
        </p:spPr>
        <p:txBody>
          <a:bodyPr lIns="0" tIns="0" rIns="0" bIns="0" rtlCol="0" anchor="t">
            <a:spAutoFit/>
          </a:bodyPr>
          <a:lstStyle/>
          <a:p>
            <a:pPr algn="l">
              <a:lnSpc>
                <a:spcPts val="3767"/>
              </a:lnSpc>
            </a:pPr>
            <a:r>
              <a:rPr lang="en-US" sz="2691" b="1" dirty="0">
                <a:solidFill>
                  <a:srgbClr val="00234C"/>
                </a:solidFill>
                <a:latin typeface="Roboto Bold"/>
                <a:ea typeface="Roboto Bold"/>
                <a:cs typeface="Roboto Bold"/>
                <a:sym typeface="Roboto Bold"/>
              </a:rPr>
              <a:t>By the end of this module, you will be able to:</a:t>
            </a:r>
          </a:p>
        </p:txBody>
      </p:sp>
      <p:sp>
        <p:nvSpPr>
          <p:cNvPr id="6" name="Freeform 6"/>
          <p:cNvSpPr/>
          <p:nvPr/>
        </p:nvSpPr>
        <p:spPr>
          <a:xfrm>
            <a:off x="1082842" y="2705100"/>
            <a:ext cx="5239206" cy="6438940"/>
          </a:xfrm>
          <a:custGeom>
            <a:avLst/>
            <a:gdLst/>
            <a:ahLst/>
            <a:cxnLst/>
            <a:rect l="l" t="t" r="r" b="b"/>
            <a:pathLst>
              <a:path w="5239206" h="6438940">
                <a:moveTo>
                  <a:pt x="0" y="0"/>
                </a:moveTo>
                <a:lnTo>
                  <a:pt x="5239206" y="0"/>
                </a:lnTo>
                <a:lnTo>
                  <a:pt x="5239206" y="6438941"/>
                </a:lnTo>
                <a:lnTo>
                  <a:pt x="0" y="6438941"/>
                </a:lnTo>
                <a:lnTo>
                  <a:pt x="0" y="0"/>
                </a:lnTo>
                <a:close/>
              </a:path>
            </a:pathLst>
          </a:custGeom>
          <a:blipFill>
            <a:blip r:embed="rId4"/>
            <a:stretch>
              <a:fillRect/>
            </a:stretch>
          </a:blipFill>
        </p:spPr>
        <p:txBody>
          <a:bodyPr/>
          <a:lstStyle/>
          <a:p>
            <a:endParaRPr lang="en-IN"/>
          </a:p>
        </p:txBody>
      </p:sp>
      <p:sp>
        <p:nvSpPr>
          <p:cNvPr id="7" name="Freeform 7"/>
          <p:cNvSpPr/>
          <p:nvPr/>
        </p:nvSpPr>
        <p:spPr>
          <a:xfrm>
            <a:off x="2603196" y="3131448"/>
            <a:ext cx="2187560" cy="2361309"/>
          </a:xfrm>
          <a:custGeom>
            <a:avLst/>
            <a:gdLst/>
            <a:ahLst/>
            <a:cxnLst/>
            <a:rect l="l" t="t" r="r" b="b"/>
            <a:pathLst>
              <a:path w="2187560" h="2361309">
                <a:moveTo>
                  <a:pt x="0" y="0"/>
                </a:moveTo>
                <a:lnTo>
                  <a:pt x="2187560" y="0"/>
                </a:lnTo>
                <a:lnTo>
                  <a:pt x="2187560" y="2361309"/>
                </a:lnTo>
                <a:lnTo>
                  <a:pt x="0" y="2361309"/>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1828800" y="5416665"/>
            <a:ext cx="3840480" cy="572130"/>
          </a:xfrm>
          <a:prstGeom prst="rect">
            <a:avLst/>
          </a:prstGeom>
        </p:spPr>
        <p:txBody>
          <a:bodyPr lIns="0" tIns="0" rIns="0" bIns="0" rtlCol="0" anchor="t">
            <a:spAutoFit/>
          </a:bodyPr>
          <a:lstStyle/>
          <a:p>
            <a:pPr algn="ctr">
              <a:lnSpc>
                <a:spcPts val="4525"/>
              </a:lnSpc>
            </a:pPr>
            <a:r>
              <a:rPr lang="en-US" sz="3232" b="1" spc="-64">
                <a:solidFill>
                  <a:srgbClr val="184CB2"/>
                </a:solidFill>
                <a:latin typeface="Roboto Bold"/>
                <a:ea typeface="Roboto Bold"/>
                <a:cs typeface="Roboto Bold"/>
                <a:sym typeface="Roboto Bold"/>
              </a:rPr>
              <a:t>Prepare with Purpose</a:t>
            </a:r>
          </a:p>
        </p:txBody>
      </p:sp>
      <p:sp>
        <p:nvSpPr>
          <p:cNvPr id="9" name="TextBox 9"/>
          <p:cNvSpPr txBox="1"/>
          <p:nvPr/>
        </p:nvSpPr>
        <p:spPr>
          <a:xfrm>
            <a:off x="1920240" y="6161397"/>
            <a:ext cx="3584448" cy="788022"/>
          </a:xfrm>
          <a:prstGeom prst="rect">
            <a:avLst/>
          </a:prstGeom>
        </p:spPr>
        <p:txBody>
          <a:bodyPr lIns="0" tIns="0" rIns="0" bIns="0" rtlCol="0" anchor="t">
            <a:spAutoFit/>
          </a:bodyPr>
          <a:lstStyle/>
          <a:p>
            <a:pPr algn="ctr">
              <a:lnSpc>
                <a:spcPts val="3101"/>
              </a:lnSpc>
            </a:pPr>
            <a:r>
              <a:rPr lang="en-US" sz="2215" dirty="0">
                <a:solidFill>
                  <a:srgbClr val="00234C"/>
                </a:solidFill>
                <a:latin typeface="Roboto"/>
                <a:ea typeface="Roboto"/>
                <a:cs typeface="Roboto"/>
                <a:sym typeface="Roboto"/>
              </a:rPr>
              <a:t>Plan conversations with clarity and confidence.</a:t>
            </a:r>
          </a:p>
        </p:txBody>
      </p:sp>
      <p:sp>
        <p:nvSpPr>
          <p:cNvPr id="10" name="TextBox 10"/>
          <p:cNvSpPr txBox="1"/>
          <p:nvPr/>
        </p:nvSpPr>
        <p:spPr>
          <a:xfrm>
            <a:off x="2029968" y="7087227"/>
            <a:ext cx="3346704" cy="788022"/>
          </a:xfrm>
          <a:prstGeom prst="rect">
            <a:avLst/>
          </a:prstGeom>
        </p:spPr>
        <p:txBody>
          <a:bodyPr lIns="0" tIns="0" rIns="0" bIns="0" rtlCol="0" anchor="t">
            <a:spAutoFit/>
          </a:bodyPr>
          <a:lstStyle/>
          <a:p>
            <a:pPr algn="ctr">
              <a:lnSpc>
                <a:spcPts val="3101"/>
              </a:lnSpc>
            </a:pPr>
            <a:r>
              <a:rPr lang="en-US" sz="2215" dirty="0">
                <a:solidFill>
                  <a:srgbClr val="00234C"/>
                </a:solidFill>
                <a:latin typeface="Roboto"/>
                <a:ea typeface="Roboto"/>
                <a:cs typeface="Roboto"/>
                <a:sym typeface="Roboto"/>
              </a:rPr>
              <a:t>Set goals, gather facts, and consider impact.</a:t>
            </a:r>
          </a:p>
        </p:txBody>
      </p:sp>
      <p:sp>
        <p:nvSpPr>
          <p:cNvPr id="11" name="Freeform 11"/>
          <p:cNvSpPr/>
          <p:nvPr/>
        </p:nvSpPr>
        <p:spPr>
          <a:xfrm>
            <a:off x="6529866" y="2705100"/>
            <a:ext cx="5228268" cy="6438940"/>
          </a:xfrm>
          <a:custGeom>
            <a:avLst/>
            <a:gdLst/>
            <a:ahLst/>
            <a:cxnLst/>
            <a:rect l="l" t="t" r="r" b="b"/>
            <a:pathLst>
              <a:path w="5228268" h="6438940">
                <a:moveTo>
                  <a:pt x="0" y="0"/>
                </a:moveTo>
                <a:lnTo>
                  <a:pt x="5228268" y="0"/>
                </a:lnTo>
                <a:lnTo>
                  <a:pt x="5228268" y="6438941"/>
                </a:lnTo>
                <a:lnTo>
                  <a:pt x="0" y="6438941"/>
                </a:lnTo>
                <a:lnTo>
                  <a:pt x="0" y="0"/>
                </a:lnTo>
                <a:close/>
              </a:path>
            </a:pathLst>
          </a:custGeom>
          <a:blipFill>
            <a:blip r:embed="rId6"/>
            <a:stretch>
              <a:fillRect/>
            </a:stretch>
          </a:blipFill>
        </p:spPr>
        <p:txBody>
          <a:bodyPr/>
          <a:lstStyle/>
          <a:p>
            <a:endParaRPr lang="en-IN"/>
          </a:p>
        </p:txBody>
      </p:sp>
      <p:sp>
        <p:nvSpPr>
          <p:cNvPr id="12" name="Freeform 12"/>
          <p:cNvSpPr/>
          <p:nvPr/>
        </p:nvSpPr>
        <p:spPr>
          <a:xfrm>
            <a:off x="8050220" y="3131448"/>
            <a:ext cx="2187560" cy="2361309"/>
          </a:xfrm>
          <a:custGeom>
            <a:avLst/>
            <a:gdLst/>
            <a:ahLst/>
            <a:cxnLst/>
            <a:rect l="l" t="t" r="r" b="b"/>
            <a:pathLst>
              <a:path w="2187560" h="2361309">
                <a:moveTo>
                  <a:pt x="0" y="0"/>
                </a:moveTo>
                <a:lnTo>
                  <a:pt x="2187560" y="0"/>
                </a:lnTo>
                <a:lnTo>
                  <a:pt x="2187560" y="2361309"/>
                </a:lnTo>
                <a:lnTo>
                  <a:pt x="0" y="2361309"/>
                </a:lnTo>
                <a:lnTo>
                  <a:pt x="0" y="0"/>
                </a:lnTo>
                <a:close/>
              </a:path>
            </a:pathLst>
          </a:custGeom>
          <a:blipFill>
            <a:blip r:embed="rId7"/>
            <a:stretch>
              <a:fillRect/>
            </a:stretch>
          </a:blipFill>
        </p:spPr>
        <p:txBody>
          <a:bodyPr/>
          <a:lstStyle/>
          <a:p>
            <a:endParaRPr lang="en-IN"/>
          </a:p>
        </p:txBody>
      </p:sp>
      <p:sp>
        <p:nvSpPr>
          <p:cNvPr id="13" name="TextBox 13"/>
          <p:cNvSpPr txBox="1"/>
          <p:nvPr/>
        </p:nvSpPr>
        <p:spPr>
          <a:xfrm>
            <a:off x="7242048" y="5416665"/>
            <a:ext cx="3657600" cy="572130"/>
          </a:xfrm>
          <a:prstGeom prst="rect">
            <a:avLst/>
          </a:prstGeom>
        </p:spPr>
        <p:txBody>
          <a:bodyPr lIns="0" tIns="0" rIns="0" bIns="0" rtlCol="0" anchor="t">
            <a:spAutoFit/>
          </a:bodyPr>
          <a:lstStyle/>
          <a:p>
            <a:pPr algn="ctr">
              <a:lnSpc>
                <a:spcPts val="4525"/>
              </a:lnSpc>
            </a:pPr>
            <a:r>
              <a:rPr lang="en-US" sz="3232" b="1" spc="-64">
                <a:solidFill>
                  <a:srgbClr val="23929F"/>
                </a:solidFill>
                <a:latin typeface="Roboto Bold"/>
                <a:ea typeface="Roboto Bold"/>
                <a:cs typeface="Roboto Bold"/>
                <a:sym typeface="Roboto Bold"/>
              </a:rPr>
              <a:t>Navigate Resistance</a:t>
            </a:r>
          </a:p>
        </p:txBody>
      </p:sp>
      <p:sp>
        <p:nvSpPr>
          <p:cNvPr id="14" name="TextBox 14"/>
          <p:cNvSpPr txBox="1"/>
          <p:nvPr/>
        </p:nvSpPr>
        <p:spPr>
          <a:xfrm>
            <a:off x="7187184" y="6191556"/>
            <a:ext cx="4096512" cy="763607"/>
          </a:xfrm>
          <a:prstGeom prst="rect">
            <a:avLst/>
          </a:prstGeom>
        </p:spPr>
        <p:txBody>
          <a:bodyPr wrap="square" lIns="0" tIns="0" rIns="0" bIns="0" rtlCol="0" anchor="t">
            <a:spAutoFit/>
          </a:bodyPr>
          <a:lstStyle/>
          <a:p>
            <a:pPr algn="ctr">
              <a:lnSpc>
                <a:spcPts val="3101"/>
              </a:lnSpc>
            </a:pPr>
            <a:r>
              <a:rPr lang="en-US" sz="2215" dirty="0">
                <a:solidFill>
                  <a:srgbClr val="00234C"/>
                </a:solidFill>
                <a:latin typeface="Roboto"/>
                <a:ea typeface="Roboto"/>
                <a:sym typeface="Roboto"/>
              </a:rPr>
              <a:t>Recognize and address common reactions with empathy.</a:t>
            </a:r>
          </a:p>
        </p:txBody>
      </p:sp>
      <p:sp>
        <p:nvSpPr>
          <p:cNvPr id="15" name="TextBox 15"/>
          <p:cNvSpPr txBox="1"/>
          <p:nvPr/>
        </p:nvSpPr>
        <p:spPr>
          <a:xfrm>
            <a:off x="6949440" y="7087227"/>
            <a:ext cx="4334256" cy="788022"/>
          </a:xfrm>
          <a:prstGeom prst="rect">
            <a:avLst/>
          </a:prstGeom>
        </p:spPr>
        <p:txBody>
          <a:bodyPr lIns="0" tIns="0" rIns="0" bIns="0" rtlCol="0" anchor="t">
            <a:spAutoFit/>
          </a:bodyPr>
          <a:lstStyle/>
          <a:p>
            <a:pPr algn="ctr">
              <a:lnSpc>
                <a:spcPts val="3101"/>
              </a:lnSpc>
            </a:pPr>
            <a:r>
              <a:rPr lang="en-US" sz="2215" dirty="0">
                <a:solidFill>
                  <a:srgbClr val="00234C"/>
                </a:solidFill>
                <a:latin typeface="Roboto"/>
                <a:ea typeface="Roboto"/>
                <a:sym typeface="Roboto"/>
              </a:rPr>
              <a:t>Stay calm, listen actively, and keep the conversation on track.</a:t>
            </a:r>
          </a:p>
        </p:txBody>
      </p:sp>
      <p:sp>
        <p:nvSpPr>
          <p:cNvPr id="16" name="Freeform 16"/>
          <p:cNvSpPr/>
          <p:nvPr/>
        </p:nvSpPr>
        <p:spPr>
          <a:xfrm>
            <a:off x="11965952" y="2705100"/>
            <a:ext cx="5239206" cy="6438940"/>
          </a:xfrm>
          <a:custGeom>
            <a:avLst/>
            <a:gdLst/>
            <a:ahLst/>
            <a:cxnLst/>
            <a:rect l="l" t="t" r="r" b="b"/>
            <a:pathLst>
              <a:path w="5239206" h="6438940">
                <a:moveTo>
                  <a:pt x="0" y="0"/>
                </a:moveTo>
                <a:lnTo>
                  <a:pt x="5239206" y="0"/>
                </a:lnTo>
                <a:lnTo>
                  <a:pt x="5239206" y="6438941"/>
                </a:lnTo>
                <a:lnTo>
                  <a:pt x="0" y="6438941"/>
                </a:lnTo>
                <a:lnTo>
                  <a:pt x="0" y="0"/>
                </a:lnTo>
                <a:close/>
              </a:path>
            </a:pathLst>
          </a:custGeom>
          <a:blipFill>
            <a:blip r:embed="rId8"/>
            <a:stretch>
              <a:fillRect/>
            </a:stretch>
          </a:blipFill>
        </p:spPr>
        <p:txBody>
          <a:bodyPr/>
          <a:lstStyle/>
          <a:p>
            <a:endParaRPr lang="en-IN"/>
          </a:p>
        </p:txBody>
      </p:sp>
      <p:sp>
        <p:nvSpPr>
          <p:cNvPr id="17" name="Freeform 17"/>
          <p:cNvSpPr/>
          <p:nvPr/>
        </p:nvSpPr>
        <p:spPr>
          <a:xfrm>
            <a:off x="13278488" y="3131448"/>
            <a:ext cx="2187560" cy="2361309"/>
          </a:xfrm>
          <a:custGeom>
            <a:avLst/>
            <a:gdLst/>
            <a:ahLst/>
            <a:cxnLst/>
            <a:rect l="l" t="t" r="r" b="b"/>
            <a:pathLst>
              <a:path w="2187560" h="2361309">
                <a:moveTo>
                  <a:pt x="0" y="0"/>
                </a:moveTo>
                <a:lnTo>
                  <a:pt x="2187560" y="0"/>
                </a:lnTo>
                <a:lnTo>
                  <a:pt x="2187560" y="2361309"/>
                </a:lnTo>
                <a:lnTo>
                  <a:pt x="0" y="2361309"/>
                </a:lnTo>
                <a:lnTo>
                  <a:pt x="0" y="0"/>
                </a:lnTo>
                <a:close/>
              </a:path>
            </a:pathLst>
          </a:custGeom>
          <a:blipFill>
            <a:blip r:embed="rId9"/>
            <a:stretch>
              <a:fillRect/>
            </a:stretch>
          </a:blipFill>
        </p:spPr>
        <p:txBody>
          <a:bodyPr/>
          <a:lstStyle/>
          <a:p>
            <a:endParaRPr lang="en-IN"/>
          </a:p>
        </p:txBody>
      </p:sp>
      <p:sp>
        <p:nvSpPr>
          <p:cNvPr id="18" name="TextBox 18"/>
          <p:cNvSpPr txBox="1"/>
          <p:nvPr/>
        </p:nvSpPr>
        <p:spPr>
          <a:xfrm>
            <a:off x="12893040" y="5416665"/>
            <a:ext cx="3346704" cy="572130"/>
          </a:xfrm>
          <a:prstGeom prst="rect">
            <a:avLst/>
          </a:prstGeom>
        </p:spPr>
        <p:txBody>
          <a:bodyPr lIns="0" tIns="0" rIns="0" bIns="0" rtlCol="0" anchor="t">
            <a:spAutoFit/>
          </a:bodyPr>
          <a:lstStyle/>
          <a:p>
            <a:pPr algn="ctr">
              <a:lnSpc>
                <a:spcPts val="4525"/>
              </a:lnSpc>
            </a:pPr>
            <a:r>
              <a:rPr lang="en-US" sz="3232" b="1" spc="-64">
                <a:solidFill>
                  <a:srgbClr val="00234C"/>
                </a:solidFill>
                <a:latin typeface="Roboto Bold"/>
                <a:ea typeface="Roboto Bold"/>
                <a:cs typeface="Roboto Bold"/>
                <a:sym typeface="Roboto Bold"/>
              </a:rPr>
              <a:t>Drive Commitment</a:t>
            </a:r>
          </a:p>
        </p:txBody>
      </p:sp>
      <p:sp>
        <p:nvSpPr>
          <p:cNvPr id="19" name="TextBox 19"/>
          <p:cNvSpPr txBox="1"/>
          <p:nvPr/>
        </p:nvSpPr>
        <p:spPr>
          <a:xfrm>
            <a:off x="12655296" y="6161397"/>
            <a:ext cx="3694176" cy="788022"/>
          </a:xfrm>
          <a:prstGeom prst="rect">
            <a:avLst/>
          </a:prstGeom>
        </p:spPr>
        <p:txBody>
          <a:bodyPr lIns="0" tIns="0" rIns="0" bIns="0" rtlCol="0" anchor="t">
            <a:spAutoFit/>
          </a:bodyPr>
          <a:lstStyle/>
          <a:p>
            <a:pPr algn="ctr">
              <a:lnSpc>
                <a:spcPts val="3101"/>
              </a:lnSpc>
            </a:pPr>
            <a:r>
              <a:rPr lang="en-US" sz="2215">
                <a:solidFill>
                  <a:srgbClr val="00234C"/>
                </a:solidFill>
                <a:latin typeface="Roboto"/>
                <a:ea typeface="Roboto"/>
                <a:cs typeface="Roboto"/>
                <a:sym typeface="Roboto"/>
              </a:rPr>
              <a:t>Collaborate on clear next steps and expectations.</a:t>
            </a:r>
          </a:p>
        </p:txBody>
      </p:sp>
      <p:sp>
        <p:nvSpPr>
          <p:cNvPr id="20" name="TextBox 20"/>
          <p:cNvSpPr txBox="1"/>
          <p:nvPr/>
        </p:nvSpPr>
        <p:spPr>
          <a:xfrm>
            <a:off x="12362688" y="7087227"/>
            <a:ext cx="4261104" cy="788022"/>
          </a:xfrm>
          <a:prstGeom prst="rect">
            <a:avLst/>
          </a:prstGeom>
        </p:spPr>
        <p:txBody>
          <a:bodyPr lIns="0" tIns="0" rIns="0" bIns="0" rtlCol="0" anchor="t">
            <a:spAutoFit/>
          </a:bodyPr>
          <a:lstStyle/>
          <a:p>
            <a:pPr algn="ctr">
              <a:lnSpc>
                <a:spcPts val="3101"/>
              </a:lnSpc>
            </a:pPr>
            <a:r>
              <a:rPr lang="en-US" sz="2215">
                <a:solidFill>
                  <a:srgbClr val="00234C"/>
                </a:solidFill>
                <a:latin typeface="Roboto"/>
                <a:ea typeface="Roboto"/>
                <a:cs typeface="Roboto"/>
                <a:sym typeface="Roboto"/>
              </a:rPr>
              <a:t>Build ownership and follow through to sustain performance.</a:t>
            </a:r>
          </a:p>
        </p:txBody>
      </p:sp>
      <p:sp>
        <p:nvSpPr>
          <p:cNvPr id="22" name="Rectangle: Rounded Corners 21">
            <a:extLst>
              <a:ext uri="{FF2B5EF4-FFF2-40B4-BE49-F238E27FC236}">
                <a16:creationId xmlns:a16="http://schemas.microsoft.com/office/drawing/2014/main" id="{522F8ED3-B0AE-78E3-2A1B-8AA9307F237D}"/>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Clean 3-card horizontal grid layout over a soft slate background.</a:t>
            </a:r>
          </a:p>
          <a:p>
            <a:r>
              <a:rPr lang="en-IN" sz="2000" dirty="0"/>
              <a:t>• Visuals: 3 distinct icon cards representing:</a:t>
            </a:r>
          </a:p>
          <a:p>
            <a:r>
              <a:rPr lang="en-IN" sz="2000" dirty="0"/>
              <a:t>  1. Target Icon: Objective Preparation</a:t>
            </a:r>
          </a:p>
          <a:p>
            <a:r>
              <a:rPr lang="en-IN" sz="2000" dirty="0"/>
              <a:t>  2. Dialogue Speech Bubbles: Real-time De-escalation</a:t>
            </a:r>
          </a:p>
          <a:p>
            <a:r>
              <a:rPr lang="en-IN" sz="2000" dirty="0"/>
              <a:t>  3. Clipboard Checklist: Action Commitment</a:t>
            </a:r>
          </a:p>
          <a:p>
            <a:r>
              <a:rPr lang="en-IN" sz="2000" dirty="0"/>
              <a:t>• UI Elements:</a:t>
            </a:r>
          </a:p>
          <a:p>
            <a:r>
              <a:rPr lang="en-IN" sz="2000" dirty="0"/>
              <a:t>  - Slide Progress: 2 of 9.</a:t>
            </a:r>
          </a:p>
          <a:p>
            <a:r>
              <a:rPr lang="en-IN" sz="2000" dirty="0"/>
              <a:t>  - Primary CTA Button: [Proceed →] at bottom right.</a:t>
            </a:r>
          </a:p>
          <a:p>
            <a:pPr algn="ctr"/>
            <a:endParaRPr lang="en-IN" sz="2000" b="1" dirty="0"/>
          </a:p>
        </p:txBody>
      </p:sp>
      <p:sp>
        <p:nvSpPr>
          <p:cNvPr id="24" name="Freeform 11">
            <a:extLst>
              <a:ext uri="{FF2B5EF4-FFF2-40B4-BE49-F238E27FC236}">
                <a16:creationId xmlns:a16="http://schemas.microsoft.com/office/drawing/2014/main" id="{A6A905DC-C50D-5925-97F3-A34EF8FB0D58}"/>
              </a:ext>
            </a:extLst>
          </p:cNvPr>
          <p:cNvSpPr/>
          <p:nvPr/>
        </p:nvSpPr>
        <p:spPr>
          <a:xfrm>
            <a:off x="15011400" y="9385273"/>
            <a:ext cx="3203544" cy="863627"/>
          </a:xfrm>
          <a:custGeom>
            <a:avLst/>
            <a:gdLst/>
            <a:ahLst/>
            <a:cxnLst/>
            <a:rect l="l" t="t" r="r" b="b"/>
            <a:pathLst>
              <a:path w="6322048" h="863627">
                <a:moveTo>
                  <a:pt x="0" y="0"/>
                </a:moveTo>
                <a:lnTo>
                  <a:pt x="6322048" y="0"/>
                </a:lnTo>
                <a:lnTo>
                  <a:pt x="6322048" y="863627"/>
                </a:lnTo>
                <a:lnTo>
                  <a:pt x="0" y="863627"/>
                </a:lnTo>
                <a:lnTo>
                  <a:pt x="0" y="0"/>
                </a:lnTo>
                <a:close/>
              </a:path>
            </a:pathLst>
          </a:custGeom>
          <a:blipFill>
            <a:blip r:embed="rId10"/>
            <a:stretch>
              <a:fillRect/>
            </a:stretch>
          </a:blipFill>
        </p:spPr>
        <p:txBody>
          <a:bodyPr/>
          <a:lstStyle/>
          <a:p>
            <a:pPr algn="ctr">
              <a:lnSpc>
                <a:spcPts val="3338"/>
              </a:lnSpc>
            </a:pPr>
            <a:endParaRPr lang="en-US" b="1" dirty="0">
              <a:solidFill>
                <a:srgbClr val="FFFFFF"/>
              </a:solidFill>
              <a:latin typeface="Roboto Bold"/>
              <a:ea typeface="Roboto Bold"/>
              <a:cs typeface="Roboto Bold"/>
              <a:sym typeface="Roboto Bold"/>
            </a:endParaRPr>
          </a:p>
        </p:txBody>
      </p:sp>
      <p:sp>
        <p:nvSpPr>
          <p:cNvPr id="28" name="Freeform 13">
            <a:extLst>
              <a:ext uri="{FF2B5EF4-FFF2-40B4-BE49-F238E27FC236}">
                <a16:creationId xmlns:a16="http://schemas.microsoft.com/office/drawing/2014/main" id="{497D72A2-818A-C19E-C163-77E17B8E722A}"/>
              </a:ext>
            </a:extLst>
          </p:cNvPr>
          <p:cNvSpPr/>
          <p:nvPr/>
        </p:nvSpPr>
        <p:spPr>
          <a:xfrm>
            <a:off x="17068800" y="9592981"/>
            <a:ext cx="404957" cy="655919"/>
          </a:xfrm>
          <a:custGeom>
            <a:avLst/>
            <a:gdLst/>
            <a:ahLst/>
            <a:cxnLst/>
            <a:rect l="l" t="t" r="r" b="b"/>
            <a:pathLst>
              <a:path w="448450" h="655919">
                <a:moveTo>
                  <a:pt x="0" y="0"/>
                </a:moveTo>
                <a:lnTo>
                  <a:pt x="448450" y="0"/>
                </a:lnTo>
                <a:lnTo>
                  <a:pt x="448450" y="655919"/>
                </a:lnTo>
                <a:lnTo>
                  <a:pt x="0" y="655919"/>
                </a:lnTo>
                <a:lnTo>
                  <a:pt x="0" y="0"/>
                </a:lnTo>
                <a:close/>
              </a:path>
            </a:pathLst>
          </a:custGeom>
          <a:blipFill>
            <a:blip r:embed="rId11"/>
            <a:stretch>
              <a:fillRect/>
            </a:stretch>
          </a:blipFill>
        </p:spPr>
        <p:txBody>
          <a:bodyPr/>
          <a:lstStyle/>
          <a:p>
            <a:endParaRPr lang="en-IN"/>
          </a:p>
        </p:txBody>
      </p:sp>
      <p:sp>
        <p:nvSpPr>
          <p:cNvPr id="36" name="TextBox 12">
            <a:extLst>
              <a:ext uri="{FF2B5EF4-FFF2-40B4-BE49-F238E27FC236}">
                <a16:creationId xmlns:a16="http://schemas.microsoft.com/office/drawing/2014/main" id="{248AB794-547D-F7A9-878A-563C10E5A6C2}"/>
              </a:ext>
            </a:extLst>
          </p:cNvPr>
          <p:cNvSpPr txBox="1"/>
          <p:nvPr/>
        </p:nvSpPr>
        <p:spPr>
          <a:xfrm>
            <a:off x="15011400" y="9688005"/>
            <a:ext cx="2523744" cy="393826"/>
          </a:xfrm>
          <a:prstGeom prst="rect">
            <a:avLst/>
          </a:prstGeom>
        </p:spPr>
        <p:txBody>
          <a:bodyPr lIns="0" tIns="0" rIns="0" bIns="0" rtlCol="0" anchor="t">
            <a:spAutoFit/>
          </a:bodyPr>
          <a:lstStyle/>
          <a:p>
            <a:pPr algn="ctr">
              <a:lnSpc>
                <a:spcPts val="3338"/>
              </a:lnSpc>
            </a:pPr>
            <a:r>
              <a:rPr lang="en-US" sz="2384" b="1" dirty="0">
                <a:solidFill>
                  <a:srgbClr val="FFFFFF"/>
                </a:solidFill>
                <a:latin typeface="Roboto Bold"/>
                <a:ea typeface="Roboto Bold"/>
                <a:cs typeface="Roboto Bold"/>
                <a:sym typeface="Roboto Bold"/>
              </a:rPr>
              <a:t>Proceed</a:t>
            </a:r>
          </a:p>
        </p:txBody>
      </p:sp>
      <p:sp>
        <p:nvSpPr>
          <p:cNvPr id="52" name="Flowchart: Connector 51">
            <a:extLst>
              <a:ext uri="{FF2B5EF4-FFF2-40B4-BE49-F238E27FC236}">
                <a16:creationId xmlns:a16="http://schemas.microsoft.com/office/drawing/2014/main" id="{A9CF935A-59B6-8F5A-315B-B12406553C65}"/>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3" name="Straight Connector 52">
            <a:extLst>
              <a:ext uri="{FF2B5EF4-FFF2-40B4-BE49-F238E27FC236}">
                <a16:creationId xmlns:a16="http://schemas.microsoft.com/office/drawing/2014/main" id="{DC57F20D-97A8-1218-9D67-8ECA2466AF4E}"/>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Flowchart: Connector 53">
            <a:extLst>
              <a:ext uri="{FF2B5EF4-FFF2-40B4-BE49-F238E27FC236}">
                <a16:creationId xmlns:a16="http://schemas.microsoft.com/office/drawing/2014/main" id="{1521E3A8-0E97-B8FA-31F4-BDC21B53D65A}"/>
              </a:ext>
            </a:extLst>
          </p:cNvPr>
          <p:cNvSpPr/>
          <p:nvPr/>
        </p:nvSpPr>
        <p:spPr>
          <a:xfrm>
            <a:off x="15011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Flowchart: Connector 54">
            <a:extLst>
              <a:ext uri="{FF2B5EF4-FFF2-40B4-BE49-F238E27FC236}">
                <a16:creationId xmlns:a16="http://schemas.microsoft.com/office/drawing/2014/main" id="{01828DCA-15EA-43FF-1BEF-391FA138719E}"/>
              </a:ext>
            </a:extLst>
          </p:cNvPr>
          <p:cNvSpPr/>
          <p:nvPr/>
        </p:nvSpPr>
        <p:spPr>
          <a:xfrm>
            <a:off x="15392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lowchart: Connector 55">
            <a:extLst>
              <a:ext uri="{FF2B5EF4-FFF2-40B4-BE49-F238E27FC236}">
                <a16:creationId xmlns:a16="http://schemas.microsoft.com/office/drawing/2014/main" id="{DE1AA436-2EB6-A83A-5D30-D9ECCA6D6A4D}"/>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lowchart: Connector 56">
            <a:extLst>
              <a:ext uri="{FF2B5EF4-FFF2-40B4-BE49-F238E27FC236}">
                <a16:creationId xmlns:a16="http://schemas.microsoft.com/office/drawing/2014/main" id="{B4A8EDFD-BD26-7C21-8652-719DA9159A59}"/>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Connector 57">
            <a:extLst>
              <a:ext uri="{FF2B5EF4-FFF2-40B4-BE49-F238E27FC236}">
                <a16:creationId xmlns:a16="http://schemas.microsoft.com/office/drawing/2014/main" id="{23C0E17A-A5A7-1A4B-29A6-90BAD5345C5D}"/>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lowchart: Connector 58">
            <a:extLst>
              <a:ext uri="{FF2B5EF4-FFF2-40B4-BE49-F238E27FC236}">
                <a16:creationId xmlns:a16="http://schemas.microsoft.com/office/drawing/2014/main" id="{7D40624A-C3A3-D56A-A131-BA41CDAC24A1}"/>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a:extLst>
              <a:ext uri="{FF2B5EF4-FFF2-40B4-BE49-F238E27FC236}">
                <a16:creationId xmlns:a16="http://schemas.microsoft.com/office/drawing/2014/main" id="{3CFD83A6-7BFE-3AFC-803C-6E4FBC6AB273}"/>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Flowchart: Connector 60">
            <a:extLst>
              <a:ext uri="{FF2B5EF4-FFF2-40B4-BE49-F238E27FC236}">
                <a16:creationId xmlns:a16="http://schemas.microsoft.com/office/drawing/2014/main" id="{99B0DBA1-7D57-454D-AAFB-8092BE5C7590}"/>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Flowchart: Connector 62">
            <a:extLst>
              <a:ext uri="{FF2B5EF4-FFF2-40B4-BE49-F238E27FC236}">
                <a16:creationId xmlns:a16="http://schemas.microsoft.com/office/drawing/2014/main" id="{534C2260-EDE1-F22F-F992-A82CAD54C52F}"/>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Freeform 3">
            <a:extLst>
              <a:ext uri="{FF2B5EF4-FFF2-40B4-BE49-F238E27FC236}">
                <a16:creationId xmlns:a16="http://schemas.microsoft.com/office/drawing/2014/main" id="{36B36F18-A5CA-BE45-830A-543979473C10}"/>
              </a:ext>
            </a:extLst>
          </p:cNvPr>
          <p:cNvSpPr/>
          <p:nvPr/>
        </p:nvSpPr>
        <p:spPr>
          <a:xfrm>
            <a:off x="426574" y="556033"/>
            <a:ext cx="448450" cy="1082267"/>
          </a:xfrm>
          <a:custGeom>
            <a:avLst/>
            <a:gdLst/>
            <a:ahLst/>
            <a:cxnLst/>
            <a:rect l="l" t="t" r="r" b="b"/>
            <a:pathLst>
              <a:path w="448450" h="1082267">
                <a:moveTo>
                  <a:pt x="0" y="0"/>
                </a:moveTo>
                <a:lnTo>
                  <a:pt x="448450" y="0"/>
                </a:lnTo>
                <a:lnTo>
                  <a:pt x="448450" y="1082266"/>
                </a:lnTo>
                <a:lnTo>
                  <a:pt x="0" y="1082266"/>
                </a:lnTo>
                <a:lnTo>
                  <a:pt x="0" y="0"/>
                </a:lnTo>
                <a:close/>
              </a:path>
            </a:pathLst>
          </a:custGeom>
          <a:blipFill>
            <a:blip r:embed="rId12"/>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3" name="Freeform 3"/>
          <p:cNvSpPr/>
          <p:nvPr/>
        </p:nvSpPr>
        <p:spPr>
          <a:xfrm>
            <a:off x="426574" y="426348"/>
            <a:ext cx="448450" cy="1082267"/>
          </a:xfrm>
          <a:custGeom>
            <a:avLst/>
            <a:gdLst/>
            <a:ahLst/>
            <a:cxnLst/>
            <a:rect l="l" t="t" r="r" b="b"/>
            <a:pathLst>
              <a:path w="448450" h="1082267">
                <a:moveTo>
                  <a:pt x="0" y="0"/>
                </a:moveTo>
                <a:lnTo>
                  <a:pt x="448450" y="0"/>
                </a:lnTo>
                <a:lnTo>
                  <a:pt x="448450" y="1082266"/>
                </a:lnTo>
                <a:lnTo>
                  <a:pt x="0" y="1082266"/>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1060704" y="168976"/>
            <a:ext cx="11356848" cy="1240724"/>
          </a:xfrm>
          <a:prstGeom prst="rect">
            <a:avLst/>
          </a:prstGeom>
        </p:spPr>
        <p:txBody>
          <a:bodyPr lIns="0" tIns="0" rIns="0" bIns="0" rtlCol="0" anchor="t">
            <a:spAutoFit/>
          </a:bodyPr>
          <a:lstStyle/>
          <a:p>
            <a:pPr>
              <a:lnSpc>
                <a:spcPts val="11122"/>
              </a:lnSpc>
            </a:pPr>
            <a:r>
              <a:rPr lang="en-US" sz="5400" b="1" spc="-158" dirty="0">
                <a:solidFill>
                  <a:srgbClr val="00234C"/>
                </a:solidFill>
                <a:latin typeface="Roboto Bold"/>
                <a:ea typeface="Roboto Bold"/>
                <a:sym typeface="Roboto Bold"/>
              </a:rPr>
              <a:t>Pre-Conversation Preparation</a:t>
            </a:r>
          </a:p>
        </p:txBody>
      </p:sp>
      <p:sp>
        <p:nvSpPr>
          <p:cNvPr id="5" name="TextBox 5"/>
          <p:cNvSpPr txBox="1"/>
          <p:nvPr/>
        </p:nvSpPr>
        <p:spPr>
          <a:xfrm>
            <a:off x="1133856" y="1672367"/>
            <a:ext cx="7607808" cy="359349"/>
          </a:xfrm>
          <a:prstGeom prst="rect">
            <a:avLst/>
          </a:prstGeom>
        </p:spPr>
        <p:txBody>
          <a:bodyPr lIns="0" tIns="0" rIns="0" bIns="0" rtlCol="0" anchor="t">
            <a:spAutoFit/>
          </a:bodyPr>
          <a:lstStyle/>
          <a:p>
            <a:pPr algn="l">
              <a:lnSpc>
                <a:spcPts val="2759"/>
              </a:lnSpc>
            </a:pPr>
            <a:r>
              <a:rPr lang="en-US" sz="2299" spc="-68">
                <a:solidFill>
                  <a:srgbClr val="003060"/>
                </a:solidFill>
                <a:latin typeface="Roboto"/>
                <a:ea typeface="Roboto"/>
                <a:cs typeface="Roboto"/>
                <a:sym typeface="Roboto"/>
              </a:rPr>
              <a:t>Check each item to reveal details and build your readiness.</a:t>
            </a:r>
          </a:p>
        </p:txBody>
      </p:sp>
      <p:sp>
        <p:nvSpPr>
          <p:cNvPr id="6" name="Freeform 6"/>
          <p:cNvSpPr/>
          <p:nvPr/>
        </p:nvSpPr>
        <p:spPr>
          <a:xfrm>
            <a:off x="426574" y="2350377"/>
            <a:ext cx="4364182" cy="6865288"/>
          </a:xfrm>
          <a:custGeom>
            <a:avLst/>
            <a:gdLst/>
            <a:ahLst/>
            <a:cxnLst/>
            <a:rect l="l" t="t" r="r" b="b"/>
            <a:pathLst>
              <a:path w="4364182" h="6865288">
                <a:moveTo>
                  <a:pt x="0" y="0"/>
                </a:moveTo>
                <a:lnTo>
                  <a:pt x="4364182" y="0"/>
                </a:lnTo>
                <a:lnTo>
                  <a:pt x="4364182" y="6865288"/>
                </a:lnTo>
                <a:lnTo>
                  <a:pt x="0" y="6865288"/>
                </a:lnTo>
                <a:lnTo>
                  <a:pt x="0" y="0"/>
                </a:lnTo>
                <a:close/>
              </a:path>
            </a:pathLst>
          </a:custGeom>
          <a:blipFill>
            <a:blip r:embed="rId5"/>
            <a:stretch>
              <a:fillRect/>
            </a:stretch>
          </a:blipFill>
        </p:spPr>
        <p:txBody>
          <a:bodyPr/>
          <a:lstStyle/>
          <a:p>
            <a:endParaRPr lang="en-IN"/>
          </a:p>
        </p:txBody>
      </p:sp>
      <p:sp>
        <p:nvSpPr>
          <p:cNvPr id="7" name="Freeform 7"/>
          <p:cNvSpPr/>
          <p:nvPr/>
        </p:nvSpPr>
        <p:spPr>
          <a:xfrm>
            <a:off x="426574" y="2350377"/>
            <a:ext cx="4364182" cy="874559"/>
          </a:xfrm>
          <a:custGeom>
            <a:avLst/>
            <a:gdLst/>
            <a:ahLst/>
            <a:cxnLst/>
            <a:rect l="l" t="t" r="r" b="b"/>
            <a:pathLst>
              <a:path w="4364182" h="874559">
                <a:moveTo>
                  <a:pt x="0" y="0"/>
                </a:moveTo>
                <a:lnTo>
                  <a:pt x="4364182" y="0"/>
                </a:lnTo>
                <a:lnTo>
                  <a:pt x="4364182" y="874559"/>
                </a:lnTo>
                <a:lnTo>
                  <a:pt x="0" y="874559"/>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1847088" y="2680493"/>
            <a:ext cx="1664208" cy="359349"/>
          </a:xfrm>
          <a:prstGeom prst="rect">
            <a:avLst/>
          </a:prstGeom>
        </p:spPr>
        <p:txBody>
          <a:bodyPr lIns="0" tIns="0" rIns="0" bIns="0" rtlCol="0" anchor="t">
            <a:spAutoFit/>
          </a:bodyPr>
          <a:lstStyle/>
          <a:p>
            <a:pPr algn="ctr">
              <a:lnSpc>
                <a:spcPts val="2759"/>
              </a:lnSpc>
            </a:pPr>
            <a:r>
              <a:rPr lang="en-US" sz="2299" b="1" spc="-68">
                <a:solidFill>
                  <a:srgbClr val="FFFFFF"/>
                </a:solidFill>
                <a:latin typeface="Roboto Bold"/>
                <a:ea typeface="Roboto Bold"/>
                <a:cs typeface="Roboto Bold"/>
                <a:sym typeface="Roboto Bold"/>
              </a:rPr>
              <a:t>MUST KNOW</a:t>
            </a:r>
          </a:p>
        </p:txBody>
      </p:sp>
      <p:sp>
        <p:nvSpPr>
          <p:cNvPr id="9" name="Freeform 9"/>
          <p:cNvSpPr/>
          <p:nvPr/>
        </p:nvSpPr>
        <p:spPr>
          <a:xfrm>
            <a:off x="645330" y="3421712"/>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7"/>
            <a:stretch>
              <a:fillRect/>
            </a:stretch>
          </a:blipFill>
        </p:spPr>
        <p:txBody>
          <a:bodyPr/>
          <a:lstStyle/>
          <a:p>
            <a:endParaRPr lang="en-IN"/>
          </a:p>
        </p:txBody>
      </p:sp>
      <p:sp>
        <p:nvSpPr>
          <p:cNvPr id="10" name="TextBox 10"/>
          <p:cNvSpPr txBox="1"/>
          <p:nvPr/>
        </p:nvSpPr>
        <p:spPr>
          <a:xfrm>
            <a:off x="1463040" y="3634620"/>
            <a:ext cx="2779776"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Clarify the performance gap</a:t>
            </a:r>
          </a:p>
        </p:txBody>
      </p:sp>
      <p:sp>
        <p:nvSpPr>
          <p:cNvPr id="11" name="TextBox 11"/>
          <p:cNvSpPr txBox="1"/>
          <p:nvPr/>
        </p:nvSpPr>
        <p:spPr>
          <a:xfrm>
            <a:off x="1463040" y="3634620"/>
            <a:ext cx="2779776"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Clarify the performance gap</a:t>
            </a:r>
          </a:p>
        </p:txBody>
      </p:sp>
      <p:sp>
        <p:nvSpPr>
          <p:cNvPr id="12" name="Freeform 12"/>
          <p:cNvSpPr/>
          <p:nvPr/>
        </p:nvSpPr>
        <p:spPr>
          <a:xfrm>
            <a:off x="1301598" y="3848060"/>
            <a:ext cx="3270402" cy="1300906"/>
          </a:xfrm>
          <a:custGeom>
            <a:avLst/>
            <a:gdLst/>
            <a:ahLst/>
            <a:cxnLst/>
            <a:rect l="l" t="t" r="r" b="b"/>
            <a:pathLst>
              <a:path w="3270402" h="1300906">
                <a:moveTo>
                  <a:pt x="0" y="0"/>
                </a:moveTo>
                <a:lnTo>
                  <a:pt x="3270402" y="0"/>
                </a:lnTo>
                <a:lnTo>
                  <a:pt x="3270402" y="1300906"/>
                </a:lnTo>
                <a:lnTo>
                  <a:pt x="0" y="1300906"/>
                </a:lnTo>
                <a:lnTo>
                  <a:pt x="0" y="0"/>
                </a:lnTo>
                <a:close/>
              </a:path>
            </a:pathLst>
          </a:custGeom>
          <a:blipFill>
            <a:blip r:embed="rId8"/>
            <a:stretch>
              <a:fillRect/>
            </a:stretch>
          </a:blipFill>
        </p:spPr>
        <p:txBody>
          <a:bodyPr/>
          <a:lstStyle/>
          <a:p>
            <a:endParaRPr lang="en-IN"/>
          </a:p>
        </p:txBody>
      </p:sp>
      <p:sp>
        <p:nvSpPr>
          <p:cNvPr id="13" name="TextBox 13"/>
          <p:cNvSpPr txBox="1"/>
          <p:nvPr/>
        </p:nvSpPr>
        <p:spPr>
          <a:xfrm>
            <a:off x="1572768" y="4174460"/>
            <a:ext cx="2901142" cy="596317"/>
          </a:xfrm>
          <a:prstGeom prst="rect">
            <a:avLst/>
          </a:prstGeom>
        </p:spPr>
        <p:txBody>
          <a:bodyPr wrap="square" lIns="0" tIns="0" rIns="0" bIns="0" rtlCol="0" anchor="t">
            <a:spAutoFit/>
          </a:bodyPr>
          <a:lstStyle/>
          <a:p>
            <a:pPr algn="l">
              <a:lnSpc>
                <a:spcPts val="2410"/>
              </a:lnSpc>
            </a:pPr>
            <a:r>
              <a:rPr lang="en-US" spc="-48" dirty="0">
                <a:solidFill>
                  <a:srgbClr val="003060"/>
                </a:solidFill>
                <a:latin typeface="Roboto"/>
                <a:ea typeface="Roboto"/>
                <a:cs typeface="Roboto"/>
                <a:sym typeface="Roboto"/>
              </a:rPr>
              <a:t>Be specific about what's not meeting expectations.</a:t>
            </a:r>
          </a:p>
        </p:txBody>
      </p:sp>
      <p:sp>
        <p:nvSpPr>
          <p:cNvPr id="14" name="Freeform 14"/>
          <p:cNvSpPr/>
          <p:nvPr/>
        </p:nvSpPr>
        <p:spPr>
          <a:xfrm>
            <a:off x="645330" y="5356674"/>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9"/>
            <a:stretch>
              <a:fillRect/>
            </a:stretch>
          </a:blipFill>
        </p:spPr>
        <p:txBody>
          <a:bodyPr/>
          <a:lstStyle/>
          <a:p>
            <a:endParaRPr lang="en-IN"/>
          </a:p>
        </p:txBody>
      </p:sp>
      <p:sp>
        <p:nvSpPr>
          <p:cNvPr id="15" name="Freeform 15"/>
          <p:cNvSpPr/>
          <p:nvPr/>
        </p:nvSpPr>
        <p:spPr>
          <a:xfrm>
            <a:off x="1301598" y="5783021"/>
            <a:ext cx="3270402" cy="1082267"/>
          </a:xfrm>
          <a:custGeom>
            <a:avLst/>
            <a:gdLst/>
            <a:ahLst/>
            <a:cxnLst/>
            <a:rect l="l" t="t" r="r" b="b"/>
            <a:pathLst>
              <a:path w="3270402" h="1082267">
                <a:moveTo>
                  <a:pt x="0" y="0"/>
                </a:moveTo>
                <a:lnTo>
                  <a:pt x="3270402" y="0"/>
                </a:lnTo>
                <a:lnTo>
                  <a:pt x="3270402" y="1082267"/>
                </a:lnTo>
                <a:lnTo>
                  <a:pt x="0" y="1082267"/>
                </a:lnTo>
                <a:lnTo>
                  <a:pt x="0" y="0"/>
                </a:lnTo>
                <a:close/>
              </a:path>
            </a:pathLst>
          </a:custGeom>
          <a:blipFill>
            <a:blip r:embed="rId10"/>
            <a:stretch>
              <a:fillRect/>
            </a:stretch>
          </a:blipFill>
        </p:spPr>
        <p:txBody>
          <a:bodyPr/>
          <a:lstStyle/>
          <a:p>
            <a:endParaRPr lang="en-IN"/>
          </a:p>
        </p:txBody>
      </p:sp>
      <p:sp>
        <p:nvSpPr>
          <p:cNvPr id="16" name="TextBox 16"/>
          <p:cNvSpPr txBox="1"/>
          <p:nvPr/>
        </p:nvSpPr>
        <p:spPr>
          <a:xfrm>
            <a:off x="1572768" y="6087842"/>
            <a:ext cx="2450592" cy="595817"/>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Collect facts, examples, and dates to reference.</a:t>
            </a:r>
          </a:p>
        </p:txBody>
      </p:sp>
      <p:sp>
        <p:nvSpPr>
          <p:cNvPr id="17" name="Freeform 17"/>
          <p:cNvSpPr/>
          <p:nvPr/>
        </p:nvSpPr>
        <p:spPr>
          <a:xfrm>
            <a:off x="645330" y="7280704"/>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11"/>
            <a:stretch>
              <a:fillRect/>
            </a:stretch>
          </a:blipFill>
        </p:spPr>
        <p:txBody>
          <a:bodyPr/>
          <a:lstStyle/>
          <a:p>
            <a:endParaRPr lang="en-IN"/>
          </a:p>
        </p:txBody>
      </p:sp>
      <p:sp>
        <p:nvSpPr>
          <p:cNvPr id="18" name="TextBox 18"/>
          <p:cNvSpPr txBox="1"/>
          <p:nvPr/>
        </p:nvSpPr>
        <p:spPr>
          <a:xfrm>
            <a:off x="1463040" y="7440810"/>
            <a:ext cx="2999232"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Understand past conversations</a:t>
            </a:r>
          </a:p>
        </p:txBody>
      </p:sp>
      <p:sp>
        <p:nvSpPr>
          <p:cNvPr id="19" name="TextBox 19"/>
          <p:cNvSpPr txBox="1"/>
          <p:nvPr/>
        </p:nvSpPr>
        <p:spPr>
          <a:xfrm>
            <a:off x="1463040" y="7440810"/>
            <a:ext cx="2999232"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Understand past conversations</a:t>
            </a:r>
          </a:p>
        </p:txBody>
      </p:sp>
      <p:sp>
        <p:nvSpPr>
          <p:cNvPr id="20" name="Freeform 20"/>
          <p:cNvSpPr/>
          <p:nvPr/>
        </p:nvSpPr>
        <p:spPr>
          <a:xfrm>
            <a:off x="1301598" y="7707051"/>
            <a:ext cx="3270402" cy="1082267"/>
          </a:xfrm>
          <a:custGeom>
            <a:avLst/>
            <a:gdLst/>
            <a:ahLst/>
            <a:cxnLst/>
            <a:rect l="l" t="t" r="r" b="b"/>
            <a:pathLst>
              <a:path w="3270402" h="1082267">
                <a:moveTo>
                  <a:pt x="0" y="0"/>
                </a:moveTo>
                <a:lnTo>
                  <a:pt x="3270402" y="0"/>
                </a:lnTo>
                <a:lnTo>
                  <a:pt x="3270402" y="1082267"/>
                </a:lnTo>
                <a:lnTo>
                  <a:pt x="0" y="1082267"/>
                </a:lnTo>
                <a:lnTo>
                  <a:pt x="0" y="0"/>
                </a:lnTo>
                <a:close/>
              </a:path>
            </a:pathLst>
          </a:custGeom>
          <a:blipFill>
            <a:blip r:embed="rId12"/>
            <a:stretch>
              <a:fillRect/>
            </a:stretch>
          </a:blipFill>
        </p:spPr>
        <p:txBody>
          <a:bodyPr/>
          <a:lstStyle/>
          <a:p>
            <a:endParaRPr lang="en-IN"/>
          </a:p>
        </p:txBody>
      </p:sp>
      <p:sp>
        <p:nvSpPr>
          <p:cNvPr id="21" name="TextBox 21"/>
          <p:cNvSpPr txBox="1"/>
          <p:nvPr/>
        </p:nvSpPr>
        <p:spPr>
          <a:xfrm>
            <a:off x="1572768" y="7980650"/>
            <a:ext cx="2670048" cy="595817"/>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Review prior feedback and any agreed action steps.</a:t>
            </a:r>
          </a:p>
        </p:txBody>
      </p:sp>
      <p:sp>
        <p:nvSpPr>
          <p:cNvPr id="23" name="Freeform 23"/>
          <p:cNvSpPr/>
          <p:nvPr/>
        </p:nvSpPr>
        <p:spPr>
          <a:xfrm>
            <a:off x="4779818" y="2350377"/>
            <a:ext cx="4364182" cy="6865288"/>
          </a:xfrm>
          <a:custGeom>
            <a:avLst/>
            <a:gdLst/>
            <a:ahLst/>
            <a:cxnLst/>
            <a:rect l="l" t="t" r="r" b="b"/>
            <a:pathLst>
              <a:path w="4364182" h="6865288">
                <a:moveTo>
                  <a:pt x="0" y="0"/>
                </a:moveTo>
                <a:lnTo>
                  <a:pt x="4364182" y="0"/>
                </a:lnTo>
                <a:lnTo>
                  <a:pt x="4364182" y="6865288"/>
                </a:lnTo>
                <a:lnTo>
                  <a:pt x="0" y="6865288"/>
                </a:lnTo>
                <a:lnTo>
                  <a:pt x="0" y="0"/>
                </a:lnTo>
                <a:close/>
              </a:path>
            </a:pathLst>
          </a:custGeom>
          <a:blipFill>
            <a:blip r:embed="rId13"/>
            <a:stretch>
              <a:fillRect/>
            </a:stretch>
          </a:blipFill>
        </p:spPr>
        <p:txBody>
          <a:bodyPr/>
          <a:lstStyle/>
          <a:p>
            <a:endParaRPr lang="en-IN"/>
          </a:p>
        </p:txBody>
      </p:sp>
      <p:sp>
        <p:nvSpPr>
          <p:cNvPr id="24" name="Freeform 24"/>
          <p:cNvSpPr/>
          <p:nvPr/>
        </p:nvSpPr>
        <p:spPr>
          <a:xfrm>
            <a:off x="4779818" y="2350377"/>
            <a:ext cx="4364182" cy="874559"/>
          </a:xfrm>
          <a:custGeom>
            <a:avLst/>
            <a:gdLst/>
            <a:ahLst/>
            <a:cxnLst/>
            <a:rect l="l" t="t" r="r" b="b"/>
            <a:pathLst>
              <a:path w="4364182" h="874559">
                <a:moveTo>
                  <a:pt x="0" y="0"/>
                </a:moveTo>
                <a:lnTo>
                  <a:pt x="4364182" y="0"/>
                </a:lnTo>
                <a:lnTo>
                  <a:pt x="4364182" y="874559"/>
                </a:lnTo>
                <a:lnTo>
                  <a:pt x="0" y="874559"/>
                </a:lnTo>
                <a:lnTo>
                  <a:pt x="0" y="0"/>
                </a:lnTo>
                <a:close/>
              </a:path>
            </a:pathLst>
          </a:custGeom>
          <a:blipFill>
            <a:blip r:embed="rId14"/>
            <a:stretch>
              <a:fillRect/>
            </a:stretch>
          </a:blipFill>
        </p:spPr>
        <p:txBody>
          <a:bodyPr/>
          <a:lstStyle/>
          <a:p>
            <a:endParaRPr lang="en-IN"/>
          </a:p>
        </p:txBody>
      </p:sp>
      <p:sp>
        <p:nvSpPr>
          <p:cNvPr id="25" name="TextBox 25"/>
          <p:cNvSpPr txBox="1"/>
          <p:nvPr/>
        </p:nvSpPr>
        <p:spPr>
          <a:xfrm>
            <a:off x="5998464" y="2680493"/>
            <a:ext cx="1993392" cy="359349"/>
          </a:xfrm>
          <a:prstGeom prst="rect">
            <a:avLst/>
          </a:prstGeom>
        </p:spPr>
        <p:txBody>
          <a:bodyPr lIns="0" tIns="0" rIns="0" bIns="0" rtlCol="0" anchor="t">
            <a:spAutoFit/>
          </a:bodyPr>
          <a:lstStyle/>
          <a:p>
            <a:pPr algn="ctr">
              <a:lnSpc>
                <a:spcPts val="2759"/>
              </a:lnSpc>
            </a:pPr>
            <a:r>
              <a:rPr lang="en-US" sz="2299" b="1" spc="-68">
                <a:solidFill>
                  <a:srgbClr val="FFFFFF"/>
                </a:solidFill>
                <a:latin typeface="Roboto Bold"/>
                <a:ea typeface="Roboto Bold"/>
                <a:cs typeface="Roboto Bold"/>
                <a:sym typeface="Roboto Bold"/>
              </a:rPr>
              <a:t>SHOULD KNOW</a:t>
            </a:r>
          </a:p>
        </p:txBody>
      </p:sp>
      <p:sp>
        <p:nvSpPr>
          <p:cNvPr id="26" name="Freeform 26"/>
          <p:cNvSpPr/>
          <p:nvPr/>
        </p:nvSpPr>
        <p:spPr>
          <a:xfrm>
            <a:off x="4998574" y="3421712"/>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15"/>
            <a:stretch>
              <a:fillRect/>
            </a:stretch>
          </a:blipFill>
        </p:spPr>
        <p:txBody>
          <a:bodyPr/>
          <a:lstStyle/>
          <a:p>
            <a:endParaRPr lang="en-IN"/>
          </a:p>
        </p:txBody>
      </p:sp>
      <p:sp>
        <p:nvSpPr>
          <p:cNvPr id="27" name="TextBox 27"/>
          <p:cNvSpPr txBox="1"/>
          <p:nvPr/>
        </p:nvSpPr>
        <p:spPr>
          <a:xfrm>
            <a:off x="5797296" y="3634620"/>
            <a:ext cx="248716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Explore possible reasons</a:t>
            </a:r>
          </a:p>
        </p:txBody>
      </p:sp>
      <p:sp>
        <p:nvSpPr>
          <p:cNvPr id="28" name="TextBox 28"/>
          <p:cNvSpPr txBox="1"/>
          <p:nvPr/>
        </p:nvSpPr>
        <p:spPr>
          <a:xfrm>
            <a:off x="5797296" y="3634620"/>
            <a:ext cx="248716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Explore possible reasons</a:t>
            </a:r>
          </a:p>
        </p:txBody>
      </p:sp>
      <p:sp>
        <p:nvSpPr>
          <p:cNvPr id="29" name="Freeform 29"/>
          <p:cNvSpPr/>
          <p:nvPr/>
        </p:nvSpPr>
        <p:spPr>
          <a:xfrm>
            <a:off x="5654842" y="3848060"/>
            <a:ext cx="3281340" cy="1300906"/>
          </a:xfrm>
          <a:custGeom>
            <a:avLst/>
            <a:gdLst/>
            <a:ahLst/>
            <a:cxnLst/>
            <a:rect l="l" t="t" r="r" b="b"/>
            <a:pathLst>
              <a:path w="3281340" h="1300906">
                <a:moveTo>
                  <a:pt x="0" y="0"/>
                </a:moveTo>
                <a:lnTo>
                  <a:pt x="3281340" y="0"/>
                </a:lnTo>
                <a:lnTo>
                  <a:pt x="3281340" y="1300906"/>
                </a:lnTo>
                <a:lnTo>
                  <a:pt x="0" y="1300906"/>
                </a:lnTo>
                <a:lnTo>
                  <a:pt x="0" y="0"/>
                </a:lnTo>
                <a:close/>
              </a:path>
            </a:pathLst>
          </a:custGeom>
          <a:blipFill>
            <a:blip r:embed="rId16"/>
            <a:stretch>
              <a:fillRect/>
            </a:stretch>
          </a:blipFill>
        </p:spPr>
        <p:txBody>
          <a:bodyPr/>
          <a:lstStyle/>
          <a:p>
            <a:endParaRPr lang="en-IN"/>
          </a:p>
        </p:txBody>
      </p:sp>
      <p:sp>
        <p:nvSpPr>
          <p:cNvPr id="30" name="TextBox 30"/>
          <p:cNvSpPr txBox="1"/>
          <p:nvPr/>
        </p:nvSpPr>
        <p:spPr>
          <a:xfrm>
            <a:off x="5907024" y="4174460"/>
            <a:ext cx="2834640" cy="596317"/>
          </a:xfrm>
          <a:prstGeom prst="rect">
            <a:avLst/>
          </a:prstGeom>
        </p:spPr>
        <p:txBody>
          <a:bodyPr wrap="square" lIns="0" tIns="0" rIns="0" bIns="0" rtlCol="0" anchor="t">
            <a:spAutoFit/>
          </a:bodyPr>
          <a:lstStyle/>
          <a:p>
            <a:pPr>
              <a:lnSpc>
                <a:spcPts val="2410"/>
              </a:lnSpc>
            </a:pPr>
            <a:r>
              <a:rPr lang="en-US" spc="-48" dirty="0">
                <a:solidFill>
                  <a:srgbClr val="003060"/>
                </a:solidFill>
                <a:latin typeface="Roboto"/>
                <a:ea typeface="Roboto"/>
                <a:sym typeface="Roboto"/>
              </a:rPr>
              <a:t>Consider context that may be impacting performance.</a:t>
            </a:r>
          </a:p>
        </p:txBody>
      </p:sp>
      <p:sp>
        <p:nvSpPr>
          <p:cNvPr id="31" name="Freeform 31"/>
          <p:cNvSpPr/>
          <p:nvPr/>
        </p:nvSpPr>
        <p:spPr>
          <a:xfrm>
            <a:off x="4998574" y="5356674"/>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17"/>
            <a:stretch>
              <a:fillRect/>
            </a:stretch>
          </a:blipFill>
        </p:spPr>
        <p:txBody>
          <a:bodyPr/>
          <a:lstStyle/>
          <a:p>
            <a:endParaRPr lang="en-IN"/>
          </a:p>
        </p:txBody>
      </p:sp>
      <p:sp>
        <p:nvSpPr>
          <p:cNvPr id="32" name="Freeform 32"/>
          <p:cNvSpPr/>
          <p:nvPr/>
        </p:nvSpPr>
        <p:spPr>
          <a:xfrm>
            <a:off x="5654842" y="5783021"/>
            <a:ext cx="3281340" cy="1082267"/>
          </a:xfrm>
          <a:custGeom>
            <a:avLst/>
            <a:gdLst/>
            <a:ahLst/>
            <a:cxnLst/>
            <a:rect l="l" t="t" r="r" b="b"/>
            <a:pathLst>
              <a:path w="3281340" h="1082267">
                <a:moveTo>
                  <a:pt x="0" y="0"/>
                </a:moveTo>
                <a:lnTo>
                  <a:pt x="3281340" y="0"/>
                </a:lnTo>
                <a:lnTo>
                  <a:pt x="3281340" y="1082267"/>
                </a:lnTo>
                <a:lnTo>
                  <a:pt x="0" y="1082267"/>
                </a:lnTo>
                <a:lnTo>
                  <a:pt x="0" y="0"/>
                </a:lnTo>
                <a:close/>
              </a:path>
            </a:pathLst>
          </a:custGeom>
          <a:blipFill>
            <a:blip r:embed="rId18"/>
            <a:stretch>
              <a:fillRect/>
            </a:stretch>
          </a:blipFill>
        </p:spPr>
        <p:txBody>
          <a:bodyPr/>
          <a:lstStyle/>
          <a:p>
            <a:endParaRPr lang="en-IN"/>
          </a:p>
        </p:txBody>
      </p:sp>
      <p:sp>
        <p:nvSpPr>
          <p:cNvPr id="33" name="TextBox 33"/>
          <p:cNvSpPr txBox="1"/>
          <p:nvPr/>
        </p:nvSpPr>
        <p:spPr>
          <a:xfrm>
            <a:off x="5907024" y="6087842"/>
            <a:ext cx="2670048" cy="595817"/>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Define what success looks like moving forward.</a:t>
            </a:r>
          </a:p>
        </p:txBody>
      </p:sp>
      <p:sp>
        <p:nvSpPr>
          <p:cNvPr id="34" name="Freeform 34"/>
          <p:cNvSpPr/>
          <p:nvPr/>
        </p:nvSpPr>
        <p:spPr>
          <a:xfrm>
            <a:off x="4998574" y="7280704"/>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19"/>
            <a:stretch>
              <a:fillRect/>
            </a:stretch>
          </a:blipFill>
        </p:spPr>
        <p:txBody>
          <a:bodyPr/>
          <a:lstStyle/>
          <a:p>
            <a:endParaRPr lang="en-IN"/>
          </a:p>
        </p:txBody>
      </p:sp>
      <p:sp>
        <p:nvSpPr>
          <p:cNvPr id="35" name="TextBox 35"/>
          <p:cNvSpPr txBox="1"/>
          <p:nvPr/>
        </p:nvSpPr>
        <p:spPr>
          <a:xfrm>
            <a:off x="5797296" y="7440810"/>
            <a:ext cx="267004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Plan support and resources</a:t>
            </a:r>
          </a:p>
        </p:txBody>
      </p:sp>
      <p:sp>
        <p:nvSpPr>
          <p:cNvPr id="36" name="TextBox 36"/>
          <p:cNvSpPr txBox="1"/>
          <p:nvPr/>
        </p:nvSpPr>
        <p:spPr>
          <a:xfrm>
            <a:off x="5797296" y="7440810"/>
            <a:ext cx="267004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Plan support and resources</a:t>
            </a:r>
          </a:p>
        </p:txBody>
      </p:sp>
      <p:sp>
        <p:nvSpPr>
          <p:cNvPr id="37" name="Freeform 37"/>
          <p:cNvSpPr/>
          <p:nvPr/>
        </p:nvSpPr>
        <p:spPr>
          <a:xfrm>
            <a:off x="5654842" y="7707051"/>
            <a:ext cx="3281340" cy="1082267"/>
          </a:xfrm>
          <a:custGeom>
            <a:avLst/>
            <a:gdLst/>
            <a:ahLst/>
            <a:cxnLst/>
            <a:rect l="l" t="t" r="r" b="b"/>
            <a:pathLst>
              <a:path w="3281340" h="1082267">
                <a:moveTo>
                  <a:pt x="0" y="0"/>
                </a:moveTo>
                <a:lnTo>
                  <a:pt x="3281340" y="0"/>
                </a:lnTo>
                <a:lnTo>
                  <a:pt x="3281340" y="1082267"/>
                </a:lnTo>
                <a:lnTo>
                  <a:pt x="0" y="1082267"/>
                </a:lnTo>
                <a:lnTo>
                  <a:pt x="0" y="0"/>
                </a:lnTo>
                <a:close/>
              </a:path>
            </a:pathLst>
          </a:custGeom>
          <a:blipFill>
            <a:blip r:embed="rId20"/>
            <a:stretch>
              <a:fillRect/>
            </a:stretch>
          </a:blipFill>
        </p:spPr>
        <p:txBody>
          <a:bodyPr/>
          <a:lstStyle/>
          <a:p>
            <a:endParaRPr lang="en-IN"/>
          </a:p>
        </p:txBody>
      </p:sp>
      <p:sp>
        <p:nvSpPr>
          <p:cNvPr id="39" name="TextBox 39"/>
          <p:cNvSpPr txBox="1"/>
          <p:nvPr/>
        </p:nvSpPr>
        <p:spPr>
          <a:xfrm>
            <a:off x="5907024" y="7973206"/>
            <a:ext cx="2670048" cy="904094"/>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Think through training, tools, or coaching that can help.</a:t>
            </a:r>
          </a:p>
        </p:txBody>
      </p:sp>
      <p:sp>
        <p:nvSpPr>
          <p:cNvPr id="40" name="Freeform 40"/>
          <p:cNvSpPr/>
          <p:nvPr/>
        </p:nvSpPr>
        <p:spPr>
          <a:xfrm>
            <a:off x="9144000" y="2350377"/>
            <a:ext cx="4364182" cy="6865288"/>
          </a:xfrm>
          <a:custGeom>
            <a:avLst/>
            <a:gdLst/>
            <a:ahLst/>
            <a:cxnLst/>
            <a:rect l="l" t="t" r="r" b="b"/>
            <a:pathLst>
              <a:path w="4364182" h="6865288">
                <a:moveTo>
                  <a:pt x="0" y="0"/>
                </a:moveTo>
                <a:lnTo>
                  <a:pt x="4364182" y="0"/>
                </a:lnTo>
                <a:lnTo>
                  <a:pt x="4364182" y="6865288"/>
                </a:lnTo>
                <a:lnTo>
                  <a:pt x="0" y="6865288"/>
                </a:lnTo>
                <a:lnTo>
                  <a:pt x="0" y="0"/>
                </a:lnTo>
                <a:close/>
              </a:path>
            </a:pathLst>
          </a:custGeom>
          <a:blipFill>
            <a:blip r:embed="rId21"/>
            <a:stretch>
              <a:fillRect/>
            </a:stretch>
          </a:blipFill>
        </p:spPr>
        <p:txBody>
          <a:bodyPr/>
          <a:lstStyle/>
          <a:p>
            <a:endParaRPr lang="en-IN"/>
          </a:p>
        </p:txBody>
      </p:sp>
      <p:sp>
        <p:nvSpPr>
          <p:cNvPr id="41" name="Freeform 41"/>
          <p:cNvSpPr/>
          <p:nvPr/>
        </p:nvSpPr>
        <p:spPr>
          <a:xfrm>
            <a:off x="9144000" y="2350377"/>
            <a:ext cx="4364182" cy="874559"/>
          </a:xfrm>
          <a:custGeom>
            <a:avLst/>
            <a:gdLst/>
            <a:ahLst/>
            <a:cxnLst/>
            <a:rect l="l" t="t" r="r" b="b"/>
            <a:pathLst>
              <a:path w="4364182" h="874559">
                <a:moveTo>
                  <a:pt x="0" y="0"/>
                </a:moveTo>
                <a:lnTo>
                  <a:pt x="4364182" y="0"/>
                </a:lnTo>
                <a:lnTo>
                  <a:pt x="4364182" y="874559"/>
                </a:lnTo>
                <a:lnTo>
                  <a:pt x="0" y="874559"/>
                </a:lnTo>
                <a:lnTo>
                  <a:pt x="0" y="0"/>
                </a:lnTo>
                <a:close/>
              </a:path>
            </a:pathLst>
          </a:custGeom>
          <a:blipFill>
            <a:blip r:embed="rId22"/>
            <a:stretch>
              <a:fillRect/>
            </a:stretch>
          </a:blipFill>
        </p:spPr>
        <p:txBody>
          <a:bodyPr/>
          <a:lstStyle/>
          <a:p>
            <a:endParaRPr lang="en-IN"/>
          </a:p>
        </p:txBody>
      </p:sp>
      <p:sp>
        <p:nvSpPr>
          <p:cNvPr id="42" name="TextBox 42"/>
          <p:cNvSpPr txBox="1"/>
          <p:nvPr/>
        </p:nvSpPr>
        <p:spPr>
          <a:xfrm>
            <a:off x="10570464" y="2680493"/>
            <a:ext cx="1517904" cy="359349"/>
          </a:xfrm>
          <a:prstGeom prst="rect">
            <a:avLst/>
          </a:prstGeom>
        </p:spPr>
        <p:txBody>
          <a:bodyPr lIns="0" tIns="0" rIns="0" bIns="0" rtlCol="0" anchor="t">
            <a:spAutoFit/>
          </a:bodyPr>
          <a:lstStyle/>
          <a:p>
            <a:pPr algn="ctr">
              <a:lnSpc>
                <a:spcPts val="2759"/>
              </a:lnSpc>
            </a:pPr>
            <a:r>
              <a:rPr lang="en-US" sz="2299" b="1" spc="-68">
                <a:solidFill>
                  <a:srgbClr val="FFFFFF"/>
                </a:solidFill>
                <a:latin typeface="Roboto Bold"/>
                <a:ea typeface="Roboto Bold"/>
                <a:cs typeface="Roboto Bold"/>
                <a:sym typeface="Roboto Bold"/>
              </a:rPr>
              <a:t>REFERENCE</a:t>
            </a:r>
          </a:p>
        </p:txBody>
      </p:sp>
      <p:sp>
        <p:nvSpPr>
          <p:cNvPr id="43" name="Freeform 43"/>
          <p:cNvSpPr/>
          <p:nvPr/>
        </p:nvSpPr>
        <p:spPr>
          <a:xfrm>
            <a:off x="9351818" y="3421712"/>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23"/>
            <a:stretch>
              <a:fillRect/>
            </a:stretch>
          </a:blipFill>
        </p:spPr>
        <p:txBody>
          <a:bodyPr/>
          <a:lstStyle/>
          <a:p>
            <a:endParaRPr lang="en-IN"/>
          </a:p>
        </p:txBody>
      </p:sp>
      <p:sp>
        <p:nvSpPr>
          <p:cNvPr id="44" name="TextBox 44"/>
          <p:cNvSpPr txBox="1"/>
          <p:nvPr/>
        </p:nvSpPr>
        <p:spPr>
          <a:xfrm>
            <a:off x="10094976" y="3634620"/>
            <a:ext cx="173736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Company policies</a:t>
            </a:r>
          </a:p>
        </p:txBody>
      </p:sp>
      <p:sp>
        <p:nvSpPr>
          <p:cNvPr id="45" name="TextBox 45"/>
          <p:cNvSpPr txBox="1"/>
          <p:nvPr/>
        </p:nvSpPr>
        <p:spPr>
          <a:xfrm>
            <a:off x="10094976" y="3634620"/>
            <a:ext cx="173736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Company policies</a:t>
            </a:r>
          </a:p>
        </p:txBody>
      </p:sp>
      <p:sp>
        <p:nvSpPr>
          <p:cNvPr id="46" name="Freeform 46"/>
          <p:cNvSpPr/>
          <p:nvPr/>
        </p:nvSpPr>
        <p:spPr>
          <a:xfrm>
            <a:off x="10008086" y="3848060"/>
            <a:ext cx="3281340" cy="1300906"/>
          </a:xfrm>
          <a:custGeom>
            <a:avLst/>
            <a:gdLst/>
            <a:ahLst/>
            <a:cxnLst/>
            <a:rect l="l" t="t" r="r" b="b"/>
            <a:pathLst>
              <a:path w="3281340" h="1300906">
                <a:moveTo>
                  <a:pt x="0" y="0"/>
                </a:moveTo>
                <a:lnTo>
                  <a:pt x="3281340" y="0"/>
                </a:lnTo>
                <a:lnTo>
                  <a:pt x="3281340" y="1300906"/>
                </a:lnTo>
                <a:lnTo>
                  <a:pt x="0" y="1300906"/>
                </a:lnTo>
                <a:lnTo>
                  <a:pt x="0" y="0"/>
                </a:lnTo>
                <a:close/>
              </a:path>
            </a:pathLst>
          </a:custGeom>
          <a:blipFill>
            <a:blip r:embed="rId24"/>
            <a:stretch>
              <a:fillRect/>
            </a:stretch>
          </a:blipFill>
        </p:spPr>
        <p:txBody>
          <a:bodyPr/>
          <a:lstStyle/>
          <a:p>
            <a:endParaRPr lang="en-IN"/>
          </a:p>
        </p:txBody>
      </p:sp>
      <p:sp>
        <p:nvSpPr>
          <p:cNvPr id="47" name="TextBox 47"/>
          <p:cNvSpPr txBox="1"/>
          <p:nvPr/>
        </p:nvSpPr>
        <p:spPr>
          <a:xfrm>
            <a:off x="10204704" y="4174460"/>
            <a:ext cx="2450592" cy="595817"/>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Review relevant policies and HR guidelines.</a:t>
            </a:r>
          </a:p>
        </p:txBody>
      </p:sp>
      <p:sp>
        <p:nvSpPr>
          <p:cNvPr id="48" name="Freeform 48"/>
          <p:cNvSpPr/>
          <p:nvPr/>
        </p:nvSpPr>
        <p:spPr>
          <a:xfrm>
            <a:off x="9351818" y="5356674"/>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25"/>
            <a:stretch>
              <a:fillRect/>
            </a:stretch>
          </a:blipFill>
        </p:spPr>
        <p:txBody>
          <a:bodyPr/>
          <a:lstStyle/>
          <a:p>
            <a:endParaRPr lang="en-IN"/>
          </a:p>
        </p:txBody>
      </p:sp>
      <p:sp>
        <p:nvSpPr>
          <p:cNvPr id="49" name="Freeform 49"/>
          <p:cNvSpPr/>
          <p:nvPr/>
        </p:nvSpPr>
        <p:spPr>
          <a:xfrm>
            <a:off x="10008086" y="5783021"/>
            <a:ext cx="3281340" cy="1082267"/>
          </a:xfrm>
          <a:custGeom>
            <a:avLst/>
            <a:gdLst/>
            <a:ahLst/>
            <a:cxnLst/>
            <a:rect l="l" t="t" r="r" b="b"/>
            <a:pathLst>
              <a:path w="3281340" h="1082267">
                <a:moveTo>
                  <a:pt x="0" y="0"/>
                </a:moveTo>
                <a:lnTo>
                  <a:pt x="3281340" y="0"/>
                </a:lnTo>
                <a:lnTo>
                  <a:pt x="3281340" y="1082267"/>
                </a:lnTo>
                <a:lnTo>
                  <a:pt x="0" y="1082267"/>
                </a:lnTo>
                <a:lnTo>
                  <a:pt x="0" y="0"/>
                </a:lnTo>
                <a:close/>
              </a:path>
            </a:pathLst>
          </a:custGeom>
          <a:blipFill>
            <a:blip r:embed="rId26"/>
            <a:stretch>
              <a:fillRect/>
            </a:stretch>
          </a:blipFill>
        </p:spPr>
        <p:txBody>
          <a:bodyPr/>
          <a:lstStyle/>
          <a:p>
            <a:endParaRPr lang="en-IN"/>
          </a:p>
        </p:txBody>
      </p:sp>
      <p:sp>
        <p:nvSpPr>
          <p:cNvPr id="50" name="TextBox 50"/>
          <p:cNvSpPr txBox="1"/>
          <p:nvPr/>
        </p:nvSpPr>
        <p:spPr>
          <a:xfrm>
            <a:off x="10204704" y="6087842"/>
            <a:ext cx="2725612" cy="596317"/>
          </a:xfrm>
          <a:prstGeom prst="rect">
            <a:avLst/>
          </a:prstGeom>
        </p:spPr>
        <p:txBody>
          <a:bodyPr wrap="square" lIns="0" tIns="0" rIns="0" bIns="0" rtlCol="0" anchor="t">
            <a:spAutoFit/>
          </a:bodyPr>
          <a:lstStyle/>
          <a:p>
            <a:pPr>
              <a:lnSpc>
                <a:spcPts val="2410"/>
              </a:lnSpc>
            </a:pPr>
            <a:r>
              <a:rPr lang="en-US" spc="-48" dirty="0">
                <a:solidFill>
                  <a:srgbClr val="003060"/>
                </a:solidFill>
                <a:latin typeface="Roboto"/>
                <a:ea typeface="Roboto"/>
                <a:sym typeface="Roboto"/>
              </a:rPr>
              <a:t>Check job description and key responsibilities.</a:t>
            </a:r>
          </a:p>
        </p:txBody>
      </p:sp>
      <p:sp>
        <p:nvSpPr>
          <p:cNvPr id="51" name="Freeform 51"/>
          <p:cNvSpPr/>
          <p:nvPr/>
        </p:nvSpPr>
        <p:spPr>
          <a:xfrm>
            <a:off x="9351818" y="7280704"/>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27"/>
            <a:stretch>
              <a:fillRect/>
            </a:stretch>
          </a:blipFill>
        </p:spPr>
        <p:txBody>
          <a:bodyPr/>
          <a:lstStyle/>
          <a:p>
            <a:endParaRPr lang="en-IN"/>
          </a:p>
        </p:txBody>
      </p:sp>
      <p:sp>
        <p:nvSpPr>
          <p:cNvPr id="52" name="TextBox 52"/>
          <p:cNvSpPr txBox="1"/>
          <p:nvPr/>
        </p:nvSpPr>
        <p:spPr>
          <a:xfrm>
            <a:off x="10094976" y="7440810"/>
            <a:ext cx="248716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Team and project context</a:t>
            </a:r>
          </a:p>
        </p:txBody>
      </p:sp>
      <p:sp>
        <p:nvSpPr>
          <p:cNvPr id="53" name="TextBox 53"/>
          <p:cNvSpPr txBox="1"/>
          <p:nvPr/>
        </p:nvSpPr>
        <p:spPr>
          <a:xfrm>
            <a:off x="10094976" y="7440810"/>
            <a:ext cx="2487168"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Team and project context</a:t>
            </a:r>
          </a:p>
        </p:txBody>
      </p:sp>
      <p:sp>
        <p:nvSpPr>
          <p:cNvPr id="54" name="Freeform 54"/>
          <p:cNvSpPr/>
          <p:nvPr/>
        </p:nvSpPr>
        <p:spPr>
          <a:xfrm>
            <a:off x="10008086" y="7707051"/>
            <a:ext cx="3281340" cy="1082267"/>
          </a:xfrm>
          <a:custGeom>
            <a:avLst/>
            <a:gdLst/>
            <a:ahLst/>
            <a:cxnLst/>
            <a:rect l="l" t="t" r="r" b="b"/>
            <a:pathLst>
              <a:path w="3281340" h="1082267">
                <a:moveTo>
                  <a:pt x="0" y="0"/>
                </a:moveTo>
                <a:lnTo>
                  <a:pt x="3281340" y="0"/>
                </a:lnTo>
                <a:lnTo>
                  <a:pt x="3281340" y="1082267"/>
                </a:lnTo>
                <a:lnTo>
                  <a:pt x="0" y="1082267"/>
                </a:lnTo>
                <a:lnTo>
                  <a:pt x="0" y="0"/>
                </a:lnTo>
                <a:close/>
              </a:path>
            </a:pathLst>
          </a:custGeom>
          <a:blipFill>
            <a:blip r:embed="rId28"/>
            <a:stretch>
              <a:fillRect/>
            </a:stretch>
          </a:blipFill>
        </p:spPr>
        <p:txBody>
          <a:bodyPr/>
          <a:lstStyle/>
          <a:p>
            <a:endParaRPr lang="en-IN"/>
          </a:p>
        </p:txBody>
      </p:sp>
      <p:sp>
        <p:nvSpPr>
          <p:cNvPr id="56" name="TextBox 56"/>
          <p:cNvSpPr txBox="1"/>
          <p:nvPr/>
        </p:nvSpPr>
        <p:spPr>
          <a:xfrm>
            <a:off x="10204704" y="8052883"/>
            <a:ext cx="2523744" cy="595817"/>
          </a:xfrm>
          <a:prstGeom prst="rect">
            <a:avLst/>
          </a:prstGeom>
        </p:spPr>
        <p:txBody>
          <a:bodyPr lIns="0" tIns="0" rIns="0" bIns="0" rtlCol="0" anchor="t">
            <a:spAutoFit/>
          </a:bodyPr>
          <a:lstStyle/>
          <a:p>
            <a:pPr>
              <a:lnSpc>
                <a:spcPts val="2410"/>
              </a:lnSpc>
            </a:pPr>
            <a:r>
              <a:rPr lang="en-US" spc="-48" dirty="0">
                <a:solidFill>
                  <a:srgbClr val="003060"/>
                </a:solidFill>
                <a:latin typeface="Roboto"/>
                <a:ea typeface="Roboto"/>
                <a:sym typeface="Roboto"/>
              </a:rPr>
              <a:t>Understand current priorities and deadlines.</a:t>
            </a:r>
          </a:p>
        </p:txBody>
      </p:sp>
      <p:sp>
        <p:nvSpPr>
          <p:cNvPr id="57" name="TextBox 57"/>
          <p:cNvSpPr txBox="1"/>
          <p:nvPr/>
        </p:nvSpPr>
        <p:spPr>
          <a:xfrm>
            <a:off x="14813280" y="2680493"/>
            <a:ext cx="1938528" cy="359349"/>
          </a:xfrm>
          <a:prstGeom prst="rect">
            <a:avLst/>
          </a:prstGeom>
        </p:spPr>
        <p:txBody>
          <a:bodyPr lIns="0" tIns="0" rIns="0" bIns="0" rtlCol="0" anchor="t">
            <a:spAutoFit/>
          </a:bodyPr>
          <a:lstStyle/>
          <a:p>
            <a:pPr algn="ctr">
              <a:lnSpc>
                <a:spcPts val="2759"/>
              </a:lnSpc>
            </a:pPr>
            <a:r>
              <a:rPr lang="en-US" sz="2299" b="1" spc="-68">
                <a:solidFill>
                  <a:srgbClr val="003060"/>
                </a:solidFill>
                <a:latin typeface="Roboto Bold"/>
                <a:ea typeface="Roboto Bold"/>
                <a:cs typeface="Roboto Bold"/>
                <a:sym typeface="Roboto Bold"/>
              </a:rPr>
              <a:t>Your readiness</a:t>
            </a:r>
          </a:p>
        </p:txBody>
      </p:sp>
      <p:sp>
        <p:nvSpPr>
          <p:cNvPr id="58" name="TextBox 58"/>
          <p:cNvSpPr txBox="1"/>
          <p:nvPr/>
        </p:nvSpPr>
        <p:spPr>
          <a:xfrm>
            <a:off x="14941296" y="4370940"/>
            <a:ext cx="548640" cy="1039915"/>
          </a:xfrm>
          <a:prstGeom prst="rect">
            <a:avLst/>
          </a:prstGeom>
        </p:spPr>
        <p:txBody>
          <a:bodyPr lIns="0" tIns="0" rIns="0" bIns="0" rtlCol="0" anchor="t">
            <a:spAutoFit/>
          </a:bodyPr>
          <a:lstStyle/>
          <a:p>
            <a:pPr algn="ctr">
              <a:lnSpc>
                <a:spcPts val="7835"/>
              </a:lnSpc>
            </a:pPr>
            <a:r>
              <a:rPr lang="en-US" sz="7835" b="1" spc="-235" dirty="0">
                <a:solidFill>
                  <a:srgbClr val="0097B2"/>
                </a:solidFill>
                <a:latin typeface="Roboto Bold"/>
                <a:ea typeface="Roboto Bold"/>
                <a:cs typeface="Roboto Bold"/>
                <a:sym typeface="Roboto Bold"/>
              </a:rPr>
              <a:t>3</a:t>
            </a:r>
          </a:p>
        </p:txBody>
      </p:sp>
      <p:sp>
        <p:nvSpPr>
          <p:cNvPr id="59" name="TextBox 59"/>
          <p:cNvSpPr txBox="1"/>
          <p:nvPr/>
        </p:nvSpPr>
        <p:spPr>
          <a:xfrm>
            <a:off x="16130016" y="4370940"/>
            <a:ext cx="475488" cy="1039915"/>
          </a:xfrm>
          <a:prstGeom prst="rect">
            <a:avLst/>
          </a:prstGeom>
        </p:spPr>
        <p:txBody>
          <a:bodyPr lIns="0" tIns="0" rIns="0" bIns="0" rtlCol="0" anchor="t">
            <a:spAutoFit/>
          </a:bodyPr>
          <a:lstStyle/>
          <a:p>
            <a:pPr algn="ctr">
              <a:lnSpc>
                <a:spcPts val="7835"/>
              </a:lnSpc>
            </a:pPr>
            <a:r>
              <a:rPr lang="en-US" sz="7835" b="1" spc="-235">
                <a:solidFill>
                  <a:srgbClr val="0097B2"/>
                </a:solidFill>
                <a:latin typeface="Roboto Bold"/>
                <a:ea typeface="Roboto Bold"/>
                <a:cs typeface="Roboto Bold"/>
                <a:sym typeface="Roboto Bold"/>
              </a:rPr>
              <a:t>9</a:t>
            </a:r>
          </a:p>
        </p:txBody>
      </p:sp>
      <p:sp>
        <p:nvSpPr>
          <p:cNvPr id="60" name="TextBox 60"/>
          <p:cNvSpPr txBox="1"/>
          <p:nvPr/>
        </p:nvSpPr>
        <p:spPr>
          <a:xfrm>
            <a:off x="15672816" y="4890142"/>
            <a:ext cx="329184" cy="369936"/>
          </a:xfrm>
          <a:prstGeom prst="rect">
            <a:avLst/>
          </a:prstGeom>
        </p:spPr>
        <p:txBody>
          <a:bodyPr lIns="0" tIns="0" rIns="0" bIns="0" rtlCol="0" anchor="t">
            <a:spAutoFit/>
          </a:bodyPr>
          <a:lstStyle/>
          <a:p>
            <a:pPr algn="ctr">
              <a:lnSpc>
                <a:spcPts val="2723"/>
              </a:lnSpc>
            </a:pPr>
            <a:r>
              <a:rPr lang="en-US" sz="2723" b="1" spc="-81">
                <a:solidFill>
                  <a:srgbClr val="0097B2"/>
                </a:solidFill>
                <a:latin typeface="Roboto Bold"/>
                <a:ea typeface="Roboto Bold"/>
                <a:cs typeface="Roboto Bold"/>
                <a:sym typeface="Roboto Bold"/>
              </a:rPr>
              <a:t>of</a:t>
            </a:r>
          </a:p>
        </p:txBody>
      </p:sp>
      <p:sp>
        <p:nvSpPr>
          <p:cNvPr id="61" name="TextBox 61"/>
          <p:cNvSpPr txBox="1"/>
          <p:nvPr/>
        </p:nvSpPr>
        <p:spPr>
          <a:xfrm>
            <a:off x="14794992" y="6465141"/>
            <a:ext cx="1975104" cy="392145"/>
          </a:xfrm>
          <a:prstGeom prst="rect">
            <a:avLst/>
          </a:prstGeom>
        </p:spPr>
        <p:txBody>
          <a:bodyPr lIns="0" tIns="0" rIns="0" bIns="0" rtlCol="0" anchor="t">
            <a:spAutoFit/>
          </a:bodyPr>
          <a:lstStyle/>
          <a:p>
            <a:pPr algn="ctr">
              <a:lnSpc>
                <a:spcPts val="3064"/>
              </a:lnSpc>
            </a:pPr>
            <a:r>
              <a:rPr lang="en-US" sz="2554" b="1" spc="-76">
                <a:solidFill>
                  <a:srgbClr val="0097B2"/>
                </a:solidFill>
                <a:latin typeface="Roboto Bold"/>
                <a:ea typeface="Roboto Bold"/>
                <a:cs typeface="Roboto Bold"/>
                <a:sym typeface="Roboto Bold"/>
              </a:rPr>
              <a:t>33% complete</a:t>
            </a:r>
          </a:p>
        </p:txBody>
      </p:sp>
      <p:sp>
        <p:nvSpPr>
          <p:cNvPr id="62" name="TextBox 62"/>
          <p:cNvSpPr txBox="1"/>
          <p:nvPr/>
        </p:nvSpPr>
        <p:spPr>
          <a:xfrm>
            <a:off x="14484096" y="6994566"/>
            <a:ext cx="2615184" cy="675177"/>
          </a:xfrm>
          <a:prstGeom prst="rect">
            <a:avLst/>
          </a:prstGeom>
        </p:spPr>
        <p:txBody>
          <a:bodyPr lIns="0" tIns="0" rIns="0" bIns="0" rtlCol="0" anchor="t">
            <a:spAutoFit/>
          </a:bodyPr>
          <a:lstStyle/>
          <a:p>
            <a:pPr algn="ctr">
              <a:lnSpc>
                <a:spcPts val="2729"/>
              </a:lnSpc>
            </a:pPr>
            <a:r>
              <a:rPr lang="en-US" sz="1819" spc="-54">
                <a:solidFill>
                  <a:srgbClr val="003060"/>
                </a:solidFill>
                <a:latin typeface="Roboto"/>
                <a:ea typeface="Roboto"/>
                <a:cs typeface="Roboto"/>
                <a:sym typeface="Roboto"/>
              </a:rPr>
              <a:t>Check all items to unlock your conversation.</a:t>
            </a:r>
          </a:p>
        </p:txBody>
      </p:sp>
      <p:sp>
        <p:nvSpPr>
          <p:cNvPr id="63" name="TextBox 63"/>
          <p:cNvSpPr txBox="1"/>
          <p:nvPr/>
        </p:nvSpPr>
        <p:spPr>
          <a:xfrm>
            <a:off x="15069312" y="8244792"/>
            <a:ext cx="1426464" cy="392145"/>
          </a:xfrm>
          <a:prstGeom prst="rect">
            <a:avLst/>
          </a:prstGeom>
        </p:spPr>
        <p:txBody>
          <a:bodyPr lIns="0" tIns="0" rIns="0" bIns="0" rtlCol="0" anchor="t">
            <a:spAutoFit/>
          </a:bodyPr>
          <a:lstStyle/>
          <a:p>
            <a:pPr algn="ctr">
              <a:lnSpc>
                <a:spcPts val="3064"/>
              </a:lnSpc>
            </a:pPr>
            <a:r>
              <a:rPr lang="en-US" sz="2554" b="1" spc="-76">
                <a:solidFill>
                  <a:srgbClr val="FFFFFF"/>
                </a:solidFill>
                <a:latin typeface="Roboto Bold"/>
                <a:ea typeface="Roboto Bold"/>
                <a:cs typeface="Roboto Bold"/>
                <a:sym typeface="Roboto Bold"/>
              </a:rPr>
              <a:t>Meet Alex</a:t>
            </a:r>
          </a:p>
        </p:txBody>
      </p:sp>
      <p:sp>
        <p:nvSpPr>
          <p:cNvPr id="64" name="TextBox 64"/>
          <p:cNvSpPr txBox="1"/>
          <p:nvPr/>
        </p:nvSpPr>
        <p:spPr>
          <a:xfrm>
            <a:off x="1463040" y="5548002"/>
            <a:ext cx="2523744"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Gather objective evidence</a:t>
            </a:r>
          </a:p>
        </p:txBody>
      </p:sp>
      <p:sp>
        <p:nvSpPr>
          <p:cNvPr id="65" name="TextBox 65"/>
          <p:cNvSpPr txBox="1"/>
          <p:nvPr/>
        </p:nvSpPr>
        <p:spPr>
          <a:xfrm>
            <a:off x="5797296" y="5548002"/>
            <a:ext cx="256032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Identify desired outcomes</a:t>
            </a:r>
          </a:p>
        </p:txBody>
      </p:sp>
      <p:sp>
        <p:nvSpPr>
          <p:cNvPr id="66" name="TextBox 66"/>
          <p:cNvSpPr txBox="1"/>
          <p:nvPr/>
        </p:nvSpPr>
        <p:spPr>
          <a:xfrm>
            <a:off x="10094976" y="5548002"/>
            <a:ext cx="173736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Role expectations</a:t>
            </a:r>
          </a:p>
        </p:txBody>
      </p:sp>
      <p:sp>
        <p:nvSpPr>
          <p:cNvPr id="67" name="TextBox 67"/>
          <p:cNvSpPr txBox="1"/>
          <p:nvPr/>
        </p:nvSpPr>
        <p:spPr>
          <a:xfrm>
            <a:off x="1463040" y="5548002"/>
            <a:ext cx="2523744"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Gather objective evidence</a:t>
            </a:r>
          </a:p>
        </p:txBody>
      </p:sp>
      <p:sp>
        <p:nvSpPr>
          <p:cNvPr id="68" name="TextBox 68"/>
          <p:cNvSpPr txBox="1"/>
          <p:nvPr/>
        </p:nvSpPr>
        <p:spPr>
          <a:xfrm>
            <a:off x="5797296" y="5548002"/>
            <a:ext cx="256032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Identify desired outcomes</a:t>
            </a:r>
          </a:p>
        </p:txBody>
      </p:sp>
      <p:sp>
        <p:nvSpPr>
          <p:cNvPr id="69" name="TextBox 69"/>
          <p:cNvSpPr txBox="1"/>
          <p:nvPr/>
        </p:nvSpPr>
        <p:spPr>
          <a:xfrm>
            <a:off x="10094976" y="5548002"/>
            <a:ext cx="1737360" cy="271893"/>
          </a:xfrm>
          <a:prstGeom prst="rect">
            <a:avLst/>
          </a:prstGeom>
        </p:spPr>
        <p:txBody>
          <a:bodyPr lIns="0" tIns="0" rIns="0" bIns="0" rtlCol="0" anchor="t">
            <a:spAutoFit/>
          </a:bodyPr>
          <a:lstStyle/>
          <a:p>
            <a:pPr algn="l">
              <a:lnSpc>
                <a:spcPts val="2138"/>
              </a:lnSpc>
            </a:pPr>
            <a:r>
              <a:rPr lang="en-US" sz="1781" b="1" spc="-53">
                <a:solidFill>
                  <a:srgbClr val="003060"/>
                </a:solidFill>
                <a:latin typeface="Roboto Bold"/>
                <a:ea typeface="Roboto Bold"/>
                <a:cs typeface="Roboto Bold"/>
                <a:sym typeface="Roboto Bold"/>
              </a:rPr>
              <a:t>Role expectations</a:t>
            </a:r>
          </a:p>
        </p:txBody>
      </p:sp>
      <p:sp>
        <p:nvSpPr>
          <p:cNvPr id="70" name="TextBox 70"/>
          <p:cNvSpPr txBox="1"/>
          <p:nvPr/>
        </p:nvSpPr>
        <p:spPr>
          <a:xfrm>
            <a:off x="4005072" y="9667418"/>
            <a:ext cx="10351008" cy="325146"/>
          </a:xfrm>
          <a:prstGeom prst="rect">
            <a:avLst/>
          </a:prstGeom>
        </p:spPr>
        <p:txBody>
          <a:bodyPr lIns="0" tIns="0" rIns="0" bIns="0" rtlCol="0" anchor="t">
            <a:spAutoFit/>
          </a:bodyPr>
          <a:lstStyle/>
          <a:p>
            <a:pPr algn="ctr">
              <a:lnSpc>
                <a:spcPts val="2428"/>
              </a:lnSpc>
            </a:pPr>
            <a:r>
              <a:rPr lang="en-US" sz="2023" i="1" spc="-60">
                <a:solidFill>
                  <a:srgbClr val="003060"/>
                </a:solidFill>
                <a:latin typeface="Roboto Italics"/>
                <a:ea typeface="Roboto Italics"/>
                <a:cs typeface="Roboto Italics"/>
                <a:sym typeface="Roboto Italics"/>
              </a:rPr>
              <a:t>Thorough preparation builds confidence and sets the stage for a productive conversation.</a:t>
            </a:r>
          </a:p>
        </p:txBody>
      </p:sp>
      <p:sp>
        <p:nvSpPr>
          <p:cNvPr id="72" name="Rectangle: Rounded Corners 71">
            <a:extLst>
              <a:ext uri="{FF2B5EF4-FFF2-40B4-BE49-F238E27FC236}">
                <a16:creationId xmlns:a16="http://schemas.microsoft.com/office/drawing/2014/main" id="{8F2A03DD-C59F-F4B2-CE7A-1F6FFB6A6699}"/>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3-column interactive card deck:</a:t>
            </a:r>
          </a:p>
          <a:p>
            <a:r>
              <a:rPr lang="en-IN" sz="2000" dirty="0"/>
              <a:t>  - Card 1: MUST KNOW (Data &amp; Facts)</a:t>
            </a:r>
          </a:p>
          <a:p>
            <a:r>
              <a:rPr lang="en-IN" sz="2000" dirty="0"/>
              <a:t>  - Card 2: SHOULD KNOW (Emotional Mindset)</a:t>
            </a:r>
          </a:p>
          <a:p>
            <a:r>
              <a:rPr lang="en-IN" sz="2000" dirty="0"/>
              <a:t>  - Card 3: REFERENCE (Policy &amp; Support)</a:t>
            </a:r>
          </a:p>
          <a:p>
            <a:r>
              <a:rPr lang="en-IN" sz="2000" dirty="0"/>
              <a:t>• Interactive Dial: Circular "Readiness Gauge" (0% → 100%).</a:t>
            </a:r>
          </a:p>
          <a:p>
            <a:r>
              <a:rPr lang="en-IN" sz="2000" dirty="0"/>
              <a:t>• Micro-interactions: Checkboxes expand accordion details on click.</a:t>
            </a:r>
          </a:p>
          <a:p>
            <a:r>
              <a:rPr lang="en-IN" sz="2000" dirty="0"/>
              <a:t>• Bottom Bar: [Meet Alex →] (Disabled until all 3 cards are visited).</a:t>
            </a:r>
          </a:p>
          <a:p>
            <a:pPr algn="ctr"/>
            <a:endParaRPr lang="en-IN" sz="2000" b="1" dirty="0"/>
          </a:p>
        </p:txBody>
      </p:sp>
      <p:sp>
        <p:nvSpPr>
          <p:cNvPr id="73" name="Flowchart: Connector 72">
            <a:extLst>
              <a:ext uri="{FF2B5EF4-FFF2-40B4-BE49-F238E27FC236}">
                <a16:creationId xmlns:a16="http://schemas.microsoft.com/office/drawing/2014/main" id="{BB572967-AA70-CB18-BE2C-6FEADAC6CCF7}"/>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4" name="Straight Connector 73">
            <a:extLst>
              <a:ext uri="{FF2B5EF4-FFF2-40B4-BE49-F238E27FC236}">
                <a16:creationId xmlns:a16="http://schemas.microsoft.com/office/drawing/2014/main" id="{B8EB0403-2BBD-DD97-C11C-AB149343AE37}"/>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5" name="Flowchart: Connector 74">
            <a:extLst>
              <a:ext uri="{FF2B5EF4-FFF2-40B4-BE49-F238E27FC236}">
                <a16:creationId xmlns:a16="http://schemas.microsoft.com/office/drawing/2014/main" id="{F77DA46F-98C6-E5C2-A4BA-F8BBC008E986}"/>
              </a:ext>
            </a:extLst>
          </p:cNvPr>
          <p:cNvSpPr/>
          <p:nvPr/>
        </p:nvSpPr>
        <p:spPr>
          <a:xfrm>
            <a:off x="15392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Flowchart: Connector 75">
            <a:extLst>
              <a:ext uri="{FF2B5EF4-FFF2-40B4-BE49-F238E27FC236}">
                <a16:creationId xmlns:a16="http://schemas.microsoft.com/office/drawing/2014/main" id="{FFD96BAD-7963-46C8-CFEB-C9539B0BB62B}"/>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Flowchart: Connector 76">
            <a:extLst>
              <a:ext uri="{FF2B5EF4-FFF2-40B4-BE49-F238E27FC236}">
                <a16:creationId xmlns:a16="http://schemas.microsoft.com/office/drawing/2014/main" id="{781FBE95-A26E-46B2-4E3B-83FB79774202}"/>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Flowchart: Connector 77">
            <a:extLst>
              <a:ext uri="{FF2B5EF4-FFF2-40B4-BE49-F238E27FC236}">
                <a16:creationId xmlns:a16="http://schemas.microsoft.com/office/drawing/2014/main" id="{5EDF32C5-703A-9DEB-2956-B76A1CFDEFB8}"/>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Flowchart: Connector 78">
            <a:extLst>
              <a:ext uri="{FF2B5EF4-FFF2-40B4-BE49-F238E27FC236}">
                <a16:creationId xmlns:a16="http://schemas.microsoft.com/office/drawing/2014/main" id="{71E6F5B8-ED19-3434-7BEC-80F36C62D823}"/>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Flowchart: Connector 79">
            <a:extLst>
              <a:ext uri="{FF2B5EF4-FFF2-40B4-BE49-F238E27FC236}">
                <a16:creationId xmlns:a16="http://schemas.microsoft.com/office/drawing/2014/main" id="{9C29D9E0-051A-FFC4-EDF1-76BA86120199}"/>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Flowchart: Connector 80">
            <a:extLst>
              <a:ext uri="{FF2B5EF4-FFF2-40B4-BE49-F238E27FC236}">
                <a16:creationId xmlns:a16="http://schemas.microsoft.com/office/drawing/2014/main" id="{2A16A751-E93F-2E58-29FF-6428C2E7C03D}"/>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Flowchart: Connector 81">
            <a:extLst>
              <a:ext uri="{FF2B5EF4-FFF2-40B4-BE49-F238E27FC236}">
                <a16:creationId xmlns:a16="http://schemas.microsoft.com/office/drawing/2014/main" id="{B3CB412E-BEE1-C91F-5CB7-0C53590ECFF9}"/>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Flowchart: Connector 83">
            <a:extLst>
              <a:ext uri="{FF2B5EF4-FFF2-40B4-BE49-F238E27FC236}">
                <a16:creationId xmlns:a16="http://schemas.microsoft.com/office/drawing/2014/main" id="{0927FDFE-5387-69CC-C719-A530840F3CF0}"/>
              </a:ext>
            </a:extLst>
          </p:cNvPr>
          <p:cNvSpPr/>
          <p:nvPr/>
        </p:nvSpPr>
        <p:spPr>
          <a:xfrm>
            <a:off x="15392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3" name="Freeform 3"/>
          <p:cNvSpPr/>
          <p:nvPr/>
        </p:nvSpPr>
        <p:spPr>
          <a:xfrm>
            <a:off x="0" y="0"/>
            <a:ext cx="11976890" cy="9434305"/>
          </a:xfrm>
          <a:custGeom>
            <a:avLst/>
            <a:gdLst/>
            <a:ahLst/>
            <a:cxnLst/>
            <a:rect l="l" t="t" r="r" b="b"/>
            <a:pathLst>
              <a:path w="11976890" h="9434305">
                <a:moveTo>
                  <a:pt x="0" y="0"/>
                </a:moveTo>
                <a:lnTo>
                  <a:pt x="11976890" y="0"/>
                </a:lnTo>
                <a:lnTo>
                  <a:pt x="11976890" y="9434305"/>
                </a:lnTo>
                <a:lnTo>
                  <a:pt x="0" y="9434305"/>
                </a:lnTo>
                <a:lnTo>
                  <a:pt x="0" y="0"/>
                </a:lnTo>
                <a:close/>
              </a:path>
            </a:pathLst>
          </a:custGeom>
          <a:blipFill>
            <a:blip r:embed="rId4"/>
            <a:stretch>
              <a:fillRect/>
            </a:stretch>
          </a:blipFill>
        </p:spPr>
        <p:txBody>
          <a:bodyPr/>
          <a:lstStyle/>
          <a:p>
            <a:endParaRPr lang="en-IN"/>
          </a:p>
        </p:txBody>
      </p:sp>
      <p:sp>
        <p:nvSpPr>
          <p:cNvPr id="4" name="Freeform 4"/>
          <p:cNvSpPr/>
          <p:nvPr/>
        </p:nvSpPr>
        <p:spPr>
          <a:xfrm>
            <a:off x="0" y="9204733"/>
            <a:ext cx="11976890" cy="1082267"/>
          </a:xfrm>
          <a:custGeom>
            <a:avLst/>
            <a:gdLst/>
            <a:ahLst/>
            <a:cxnLst/>
            <a:rect l="l" t="t" r="r" b="b"/>
            <a:pathLst>
              <a:path w="11976890" h="1082267">
                <a:moveTo>
                  <a:pt x="0" y="0"/>
                </a:moveTo>
                <a:lnTo>
                  <a:pt x="11976890" y="0"/>
                </a:lnTo>
                <a:lnTo>
                  <a:pt x="11976890" y="1082267"/>
                </a:lnTo>
                <a:lnTo>
                  <a:pt x="0" y="1082267"/>
                </a:lnTo>
                <a:lnTo>
                  <a:pt x="0" y="0"/>
                </a:lnTo>
                <a:close/>
              </a:path>
            </a:pathLst>
          </a:custGeom>
          <a:blipFill>
            <a:blip r:embed="rId5"/>
            <a:stretch>
              <a:fillRect/>
            </a:stretch>
          </a:blipFill>
        </p:spPr>
        <p:txBody>
          <a:bodyPr/>
          <a:lstStyle/>
          <a:p>
            <a:endParaRPr lang="en-IN"/>
          </a:p>
        </p:txBody>
      </p:sp>
      <p:sp>
        <p:nvSpPr>
          <p:cNvPr id="5" name="Freeform 5"/>
          <p:cNvSpPr/>
          <p:nvPr/>
        </p:nvSpPr>
        <p:spPr>
          <a:xfrm>
            <a:off x="11747196" y="0"/>
            <a:ext cx="6540804" cy="10287000"/>
          </a:xfrm>
          <a:custGeom>
            <a:avLst/>
            <a:gdLst/>
            <a:ahLst/>
            <a:cxnLst/>
            <a:rect l="l" t="t" r="r" b="b"/>
            <a:pathLst>
              <a:path w="6540804" h="10287000">
                <a:moveTo>
                  <a:pt x="0" y="0"/>
                </a:moveTo>
                <a:lnTo>
                  <a:pt x="6540804" y="0"/>
                </a:lnTo>
                <a:lnTo>
                  <a:pt x="6540804" y="10287000"/>
                </a:lnTo>
                <a:lnTo>
                  <a:pt x="0" y="10287000"/>
                </a:lnTo>
                <a:lnTo>
                  <a:pt x="0" y="0"/>
                </a:lnTo>
                <a:close/>
              </a:path>
            </a:pathLst>
          </a:custGeom>
          <a:blipFill>
            <a:blip r:embed="rId6"/>
            <a:stretch>
              <a:fillRect/>
            </a:stretch>
          </a:blipFill>
        </p:spPr>
        <p:txBody>
          <a:bodyPr/>
          <a:lstStyle/>
          <a:p>
            <a:endParaRPr lang="en-IN"/>
          </a:p>
        </p:txBody>
      </p:sp>
      <p:sp>
        <p:nvSpPr>
          <p:cNvPr id="6" name="TextBox 6"/>
          <p:cNvSpPr txBox="1"/>
          <p:nvPr/>
        </p:nvSpPr>
        <p:spPr>
          <a:xfrm>
            <a:off x="819912" y="495300"/>
            <a:ext cx="9162288" cy="1283557"/>
          </a:xfrm>
          <a:prstGeom prst="rect">
            <a:avLst/>
          </a:prstGeom>
        </p:spPr>
        <p:txBody>
          <a:bodyPr lIns="0" tIns="0" rIns="0" bIns="0" rtlCol="0" anchor="t">
            <a:spAutoFit/>
          </a:bodyPr>
          <a:lstStyle/>
          <a:p>
            <a:pPr>
              <a:lnSpc>
                <a:spcPts val="11122"/>
              </a:lnSpc>
            </a:pPr>
            <a:r>
              <a:rPr lang="en-US" sz="5400" b="1" spc="-158" dirty="0">
                <a:solidFill>
                  <a:srgbClr val="00234C"/>
                </a:solidFill>
                <a:latin typeface="Roboto Bold"/>
                <a:ea typeface="Roboto Bold"/>
                <a:sym typeface="Roboto Bold"/>
              </a:rPr>
              <a:t>Opening the Conversation</a:t>
            </a:r>
          </a:p>
        </p:txBody>
      </p:sp>
      <p:sp>
        <p:nvSpPr>
          <p:cNvPr id="7" name="TextBox 7"/>
          <p:cNvSpPr txBox="1"/>
          <p:nvPr/>
        </p:nvSpPr>
        <p:spPr>
          <a:xfrm>
            <a:off x="694944" y="1991465"/>
            <a:ext cx="6693408" cy="393616"/>
          </a:xfrm>
          <a:prstGeom prst="rect">
            <a:avLst/>
          </a:prstGeom>
        </p:spPr>
        <p:txBody>
          <a:bodyPr lIns="0" tIns="0" rIns="0" bIns="0" rtlCol="0" anchor="t">
            <a:spAutoFit/>
          </a:bodyPr>
          <a:lstStyle/>
          <a:p>
            <a:pPr algn="l">
              <a:lnSpc>
                <a:spcPts val="3148"/>
              </a:lnSpc>
            </a:pPr>
            <a:r>
              <a:rPr lang="en-US" sz="2248">
                <a:solidFill>
                  <a:srgbClr val="000001"/>
                </a:solidFill>
                <a:latin typeface="Roboto"/>
                <a:ea typeface="Roboto"/>
                <a:cs typeface="Roboto"/>
                <a:sym typeface="Roboto"/>
              </a:rPr>
              <a:t>Your opening sets the tone. Choose how you'll begin.</a:t>
            </a:r>
          </a:p>
        </p:txBody>
      </p:sp>
      <p:sp>
        <p:nvSpPr>
          <p:cNvPr id="8" name="TextBox 8"/>
          <p:cNvSpPr txBox="1"/>
          <p:nvPr/>
        </p:nvSpPr>
        <p:spPr>
          <a:xfrm>
            <a:off x="694944" y="3077328"/>
            <a:ext cx="2761488" cy="318915"/>
          </a:xfrm>
          <a:prstGeom prst="rect">
            <a:avLst/>
          </a:prstGeom>
        </p:spPr>
        <p:txBody>
          <a:bodyPr lIns="0" tIns="0" rIns="0" bIns="0" rtlCol="0" anchor="t">
            <a:spAutoFit/>
          </a:bodyPr>
          <a:lstStyle/>
          <a:p>
            <a:pPr algn="l">
              <a:lnSpc>
                <a:spcPts val="2599"/>
              </a:lnSpc>
            </a:pPr>
            <a:r>
              <a:rPr lang="en-US" sz="1857" b="1">
                <a:solidFill>
                  <a:srgbClr val="004A98"/>
                </a:solidFill>
                <a:latin typeface="Roboto Bold"/>
                <a:ea typeface="Roboto Bold"/>
                <a:cs typeface="Roboto Bold"/>
                <a:sym typeface="Roboto Bold"/>
              </a:rPr>
              <a:t>YOUR OPENING CHOICE</a:t>
            </a:r>
          </a:p>
        </p:txBody>
      </p:sp>
      <p:sp>
        <p:nvSpPr>
          <p:cNvPr id="9" name="Freeform 9"/>
          <p:cNvSpPr/>
          <p:nvPr/>
        </p:nvSpPr>
        <p:spPr>
          <a:xfrm>
            <a:off x="645330" y="3421712"/>
            <a:ext cx="6322048" cy="1727254"/>
          </a:xfrm>
          <a:custGeom>
            <a:avLst/>
            <a:gdLst/>
            <a:ahLst/>
            <a:cxnLst/>
            <a:rect l="l" t="t" r="r" b="b"/>
            <a:pathLst>
              <a:path w="6322048" h="1727254">
                <a:moveTo>
                  <a:pt x="0" y="0"/>
                </a:moveTo>
                <a:lnTo>
                  <a:pt x="6322048" y="0"/>
                </a:lnTo>
                <a:lnTo>
                  <a:pt x="6322048" y="1727254"/>
                </a:lnTo>
                <a:lnTo>
                  <a:pt x="0" y="1727254"/>
                </a:lnTo>
                <a:lnTo>
                  <a:pt x="0" y="0"/>
                </a:lnTo>
                <a:close/>
              </a:path>
            </a:pathLst>
          </a:custGeom>
          <a:blipFill>
            <a:blip r:embed="rId7"/>
            <a:stretch>
              <a:fillRect/>
            </a:stretch>
          </a:blipFill>
        </p:spPr>
        <p:txBody>
          <a:bodyPr/>
          <a:lstStyle/>
          <a:p>
            <a:endParaRPr lang="en-IN"/>
          </a:p>
        </p:txBody>
      </p:sp>
      <p:sp>
        <p:nvSpPr>
          <p:cNvPr id="10" name="Freeform 10"/>
          <p:cNvSpPr/>
          <p:nvPr/>
        </p:nvSpPr>
        <p:spPr>
          <a:xfrm>
            <a:off x="645330" y="3421712"/>
            <a:ext cx="229694" cy="1727254"/>
          </a:xfrm>
          <a:custGeom>
            <a:avLst/>
            <a:gdLst/>
            <a:ahLst/>
            <a:cxnLst/>
            <a:rect l="l" t="t" r="r" b="b"/>
            <a:pathLst>
              <a:path w="229694" h="1727254">
                <a:moveTo>
                  <a:pt x="0" y="0"/>
                </a:moveTo>
                <a:lnTo>
                  <a:pt x="229694" y="0"/>
                </a:lnTo>
                <a:lnTo>
                  <a:pt x="229694" y="1727254"/>
                </a:lnTo>
                <a:lnTo>
                  <a:pt x="0" y="1727254"/>
                </a:lnTo>
                <a:lnTo>
                  <a:pt x="0" y="0"/>
                </a:lnTo>
                <a:close/>
              </a:path>
            </a:pathLst>
          </a:custGeom>
          <a:blipFill>
            <a:blip r:embed="rId8"/>
            <a:stretch>
              <a:fillRect/>
            </a:stretch>
          </a:blipFill>
        </p:spPr>
        <p:txBody>
          <a:bodyPr/>
          <a:lstStyle/>
          <a:p>
            <a:endParaRPr lang="en-IN"/>
          </a:p>
        </p:txBody>
      </p:sp>
      <p:sp>
        <p:nvSpPr>
          <p:cNvPr id="11" name="TextBox 11"/>
          <p:cNvSpPr txBox="1"/>
          <p:nvPr/>
        </p:nvSpPr>
        <p:spPr>
          <a:xfrm>
            <a:off x="1078992" y="3863262"/>
            <a:ext cx="4572000" cy="383442"/>
          </a:xfrm>
          <a:prstGeom prst="rect">
            <a:avLst/>
          </a:prstGeom>
        </p:spPr>
        <p:txBody>
          <a:bodyPr lIns="0" tIns="0" rIns="0" bIns="0" rtlCol="0" anchor="t">
            <a:spAutoFit/>
          </a:bodyPr>
          <a:lstStyle/>
          <a:p>
            <a:pPr algn="l">
              <a:lnSpc>
                <a:spcPts val="3183"/>
              </a:lnSpc>
            </a:pPr>
            <a:r>
              <a:rPr lang="en-US" sz="2274" b="1">
                <a:solidFill>
                  <a:srgbClr val="004A98"/>
                </a:solidFill>
                <a:latin typeface="Roboto Bold"/>
                <a:ea typeface="Roboto Bold"/>
                <a:cs typeface="Roboto Bold"/>
                <a:sym typeface="Roboto Bold"/>
              </a:rPr>
              <a:t>Let's talk about your performance.</a:t>
            </a:r>
          </a:p>
        </p:txBody>
      </p:sp>
      <p:sp>
        <p:nvSpPr>
          <p:cNvPr id="12" name="TextBox 12"/>
          <p:cNvSpPr txBox="1"/>
          <p:nvPr/>
        </p:nvSpPr>
        <p:spPr>
          <a:xfrm>
            <a:off x="1078992" y="4410101"/>
            <a:ext cx="2359152" cy="318465"/>
          </a:xfrm>
          <a:prstGeom prst="rect">
            <a:avLst/>
          </a:prstGeom>
        </p:spPr>
        <p:txBody>
          <a:bodyPr lIns="0" tIns="0" rIns="0" bIns="0" rtlCol="0" anchor="t">
            <a:spAutoFit/>
          </a:bodyPr>
          <a:lstStyle/>
          <a:p>
            <a:pPr algn="l">
              <a:lnSpc>
                <a:spcPts val="2547"/>
              </a:lnSpc>
            </a:pPr>
            <a:r>
              <a:rPr lang="en-US" sz="1819">
                <a:solidFill>
                  <a:srgbClr val="000001"/>
                </a:solidFill>
                <a:latin typeface="Roboto"/>
                <a:ea typeface="Roboto"/>
                <a:cs typeface="Roboto"/>
                <a:sym typeface="Roboto"/>
              </a:rPr>
              <a:t>Direct and to the point.</a:t>
            </a:r>
          </a:p>
        </p:txBody>
      </p:sp>
      <p:sp>
        <p:nvSpPr>
          <p:cNvPr id="13" name="Freeform 13"/>
          <p:cNvSpPr/>
          <p:nvPr/>
        </p:nvSpPr>
        <p:spPr>
          <a:xfrm>
            <a:off x="645330" y="5138034"/>
            <a:ext cx="6322048" cy="1727254"/>
          </a:xfrm>
          <a:custGeom>
            <a:avLst/>
            <a:gdLst/>
            <a:ahLst/>
            <a:cxnLst/>
            <a:rect l="l" t="t" r="r" b="b"/>
            <a:pathLst>
              <a:path w="6322048" h="1727254">
                <a:moveTo>
                  <a:pt x="0" y="0"/>
                </a:moveTo>
                <a:lnTo>
                  <a:pt x="6322048" y="0"/>
                </a:lnTo>
                <a:lnTo>
                  <a:pt x="6322048" y="1727254"/>
                </a:lnTo>
                <a:lnTo>
                  <a:pt x="0" y="1727254"/>
                </a:lnTo>
                <a:lnTo>
                  <a:pt x="0" y="0"/>
                </a:lnTo>
                <a:close/>
              </a:path>
            </a:pathLst>
          </a:custGeom>
          <a:blipFill>
            <a:blip r:embed="rId9"/>
            <a:stretch>
              <a:fillRect/>
            </a:stretch>
          </a:blipFill>
        </p:spPr>
        <p:txBody>
          <a:bodyPr/>
          <a:lstStyle/>
          <a:p>
            <a:endParaRPr lang="en-IN"/>
          </a:p>
        </p:txBody>
      </p:sp>
      <p:sp>
        <p:nvSpPr>
          <p:cNvPr id="14" name="Freeform 14"/>
          <p:cNvSpPr/>
          <p:nvPr/>
        </p:nvSpPr>
        <p:spPr>
          <a:xfrm>
            <a:off x="645330" y="5138034"/>
            <a:ext cx="229694" cy="1727254"/>
          </a:xfrm>
          <a:custGeom>
            <a:avLst/>
            <a:gdLst/>
            <a:ahLst/>
            <a:cxnLst/>
            <a:rect l="l" t="t" r="r" b="b"/>
            <a:pathLst>
              <a:path w="229694" h="1727254">
                <a:moveTo>
                  <a:pt x="0" y="0"/>
                </a:moveTo>
                <a:lnTo>
                  <a:pt x="229694" y="0"/>
                </a:lnTo>
                <a:lnTo>
                  <a:pt x="229694" y="1727254"/>
                </a:lnTo>
                <a:lnTo>
                  <a:pt x="0" y="1727254"/>
                </a:lnTo>
                <a:lnTo>
                  <a:pt x="0" y="0"/>
                </a:lnTo>
                <a:close/>
              </a:path>
            </a:pathLst>
          </a:custGeom>
          <a:blipFill>
            <a:blip r:embed="rId10"/>
            <a:stretch>
              <a:fillRect/>
            </a:stretch>
          </a:blipFill>
        </p:spPr>
        <p:txBody>
          <a:bodyPr/>
          <a:lstStyle/>
          <a:p>
            <a:endParaRPr lang="en-IN"/>
          </a:p>
        </p:txBody>
      </p:sp>
      <p:sp>
        <p:nvSpPr>
          <p:cNvPr id="15" name="TextBox 15"/>
          <p:cNvSpPr txBox="1"/>
          <p:nvPr/>
        </p:nvSpPr>
        <p:spPr>
          <a:xfrm>
            <a:off x="1078992" y="5581191"/>
            <a:ext cx="4992624" cy="383442"/>
          </a:xfrm>
          <a:prstGeom prst="rect">
            <a:avLst/>
          </a:prstGeom>
        </p:spPr>
        <p:txBody>
          <a:bodyPr lIns="0" tIns="0" rIns="0" bIns="0" rtlCol="0" anchor="t">
            <a:spAutoFit/>
          </a:bodyPr>
          <a:lstStyle/>
          <a:p>
            <a:pPr algn="l">
              <a:lnSpc>
                <a:spcPts val="3183"/>
              </a:lnSpc>
            </a:pPr>
            <a:r>
              <a:rPr lang="en-US" sz="2274" b="1">
                <a:solidFill>
                  <a:srgbClr val="2C959F"/>
                </a:solidFill>
                <a:latin typeface="Roboto Bold"/>
                <a:ea typeface="Roboto Bold"/>
                <a:cs typeface="Roboto Bold"/>
                <a:sym typeface="Roboto Bold"/>
              </a:rPr>
              <a:t>How are things going with your work?</a:t>
            </a:r>
          </a:p>
        </p:txBody>
      </p:sp>
      <p:sp>
        <p:nvSpPr>
          <p:cNvPr id="16" name="TextBox 16"/>
          <p:cNvSpPr txBox="1"/>
          <p:nvPr/>
        </p:nvSpPr>
        <p:spPr>
          <a:xfrm>
            <a:off x="1078992" y="6142854"/>
            <a:ext cx="2633472" cy="318915"/>
          </a:xfrm>
          <a:prstGeom prst="rect">
            <a:avLst/>
          </a:prstGeom>
        </p:spPr>
        <p:txBody>
          <a:bodyPr lIns="0" tIns="0" rIns="0" bIns="0" rtlCol="0" anchor="t">
            <a:spAutoFit/>
          </a:bodyPr>
          <a:lstStyle/>
          <a:p>
            <a:pPr algn="l">
              <a:lnSpc>
                <a:spcPts val="2599"/>
              </a:lnSpc>
            </a:pPr>
            <a:r>
              <a:rPr lang="en-US" sz="1857">
                <a:solidFill>
                  <a:srgbClr val="000001"/>
                </a:solidFill>
                <a:latin typeface="Roboto"/>
                <a:ea typeface="Roboto"/>
                <a:cs typeface="Roboto"/>
                <a:sym typeface="Roboto"/>
              </a:rPr>
              <a:t>Open-ended and curious.</a:t>
            </a:r>
          </a:p>
        </p:txBody>
      </p:sp>
      <p:sp>
        <p:nvSpPr>
          <p:cNvPr id="17" name="Freeform 17"/>
          <p:cNvSpPr/>
          <p:nvPr/>
        </p:nvSpPr>
        <p:spPr>
          <a:xfrm>
            <a:off x="645330" y="6854356"/>
            <a:ext cx="6322048" cy="1727254"/>
          </a:xfrm>
          <a:custGeom>
            <a:avLst/>
            <a:gdLst/>
            <a:ahLst/>
            <a:cxnLst/>
            <a:rect l="l" t="t" r="r" b="b"/>
            <a:pathLst>
              <a:path w="6322048" h="1727254">
                <a:moveTo>
                  <a:pt x="0" y="0"/>
                </a:moveTo>
                <a:lnTo>
                  <a:pt x="6322048" y="0"/>
                </a:lnTo>
                <a:lnTo>
                  <a:pt x="6322048" y="1727254"/>
                </a:lnTo>
                <a:lnTo>
                  <a:pt x="0" y="1727254"/>
                </a:lnTo>
                <a:lnTo>
                  <a:pt x="0" y="0"/>
                </a:lnTo>
                <a:close/>
              </a:path>
            </a:pathLst>
          </a:custGeom>
          <a:blipFill>
            <a:blip r:embed="rId11"/>
            <a:stretch>
              <a:fillRect/>
            </a:stretch>
          </a:blipFill>
        </p:spPr>
        <p:txBody>
          <a:bodyPr/>
          <a:lstStyle/>
          <a:p>
            <a:endParaRPr lang="en-IN"/>
          </a:p>
        </p:txBody>
      </p:sp>
      <p:sp>
        <p:nvSpPr>
          <p:cNvPr id="18" name="Freeform 18"/>
          <p:cNvSpPr/>
          <p:nvPr/>
        </p:nvSpPr>
        <p:spPr>
          <a:xfrm>
            <a:off x="645330" y="6854356"/>
            <a:ext cx="229694" cy="1727254"/>
          </a:xfrm>
          <a:custGeom>
            <a:avLst/>
            <a:gdLst/>
            <a:ahLst/>
            <a:cxnLst/>
            <a:rect l="l" t="t" r="r" b="b"/>
            <a:pathLst>
              <a:path w="229694" h="1727254">
                <a:moveTo>
                  <a:pt x="0" y="0"/>
                </a:moveTo>
                <a:lnTo>
                  <a:pt x="229694" y="0"/>
                </a:lnTo>
                <a:lnTo>
                  <a:pt x="229694" y="1727254"/>
                </a:lnTo>
                <a:lnTo>
                  <a:pt x="0" y="1727254"/>
                </a:lnTo>
                <a:lnTo>
                  <a:pt x="0" y="0"/>
                </a:lnTo>
                <a:close/>
              </a:path>
            </a:pathLst>
          </a:custGeom>
          <a:blipFill>
            <a:blip r:embed="rId12"/>
            <a:stretch>
              <a:fillRect/>
            </a:stretch>
          </a:blipFill>
        </p:spPr>
        <p:txBody>
          <a:bodyPr/>
          <a:lstStyle/>
          <a:p>
            <a:endParaRPr lang="en-IN"/>
          </a:p>
        </p:txBody>
      </p:sp>
      <p:sp>
        <p:nvSpPr>
          <p:cNvPr id="19" name="TextBox 19"/>
          <p:cNvSpPr txBox="1"/>
          <p:nvPr/>
        </p:nvSpPr>
        <p:spPr>
          <a:xfrm>
            <a:off x="1078992" y="7299120"/>
            <a:ext cx="3803904" cy="383442"/>
          </a:xfrm>
          <a:prstGeom prst="rect">
            <a:avLst/>
          </a:prstGeom>
        </p:spPr>
        <p:txBody>
          <a:bodyPr lIns="0" tIns="0" rIns="0" bIns="0" rtlCol="0" anchor="t">
            <a:spAutoFit/>
          </a:bodyPr>
          <a:lstStyle/>
          <a:p>
            <a:pPr algn="l">
              <a:lnSpc>
                <a:spcPts val="3183"/>
              </a:lnSpc>
            </a:pPr>
            <a:r>
              <a:rPr lang="en-US" sz="2274" b="1">
                <a:solidFill>
                  <a:srgbClr val="004A98"/>
                </a:solidFill>
                <a:latin typeface="Roboto Bold"/>
                <a:ea typeface="Roboto Bold"/>
                <a:cs typeface="Roboto Bold"/>
                <a:sym typeface="Roboto Bold"/>
              </a:rPr>
              <a:t>I need to address a concern.</a:t>
            </a:r>
          </a:p>
        </p:txBody>
      </p:sp>
      <p:sp>
        <p:nvSpPr>
          <p:cNvPr id="20" name="Freeform 20"/>
          <p:cNvSpPr/>
          <p:nvPr/>
        </p:nvSpPr>
        <p:spPr>
          <a:xfrm>
            <a:off x="7175196" y="2776725"/>
            <a:ext cx="4156364" cy="874559"/>
          </a:xfrm>
          <a:custGeom>
            <a:avLst/>
            <a:gdLst/>
            <a:ahLst/>
            <a:cxnLst/>
            <a:rect l="l" t="t" r="r" b="b"/>
            <a:pathLst>
              <a:path w="4156364" h="874559">
                <a:moveTo>
                  <a:pt x="0" y="0"/>
                </a:moveTo>
                <a:lnTo>
                  <a:pt x="4156364" y="0"/>
                </a:lnTo>
                <a:lnTo>
                  <a:pt x="4156364" y="874559"/>
                </a:lnTo>
                <a:lnTo>
                  <a:pt x="0" y="874559"/>
                </a:lnTo>
                <a:lnTo>
                  <a:pt x="0" y="0"/>
                </a:lnTo>
                <a:close/>
              </a:path>
            </a:pathLst>
          </a:custGeom>
          <a:blipFill>
            <a:blip r:embed="rId13"/>
            <a:stretch>
              <a:fillRect/>
            </a:stretch>
          </a:blipFill>
        </p:spPr>
        <p:txBody>
          <a:bodyPr/>
          <a:lstStyle/>
          <a:p>
            <a:endParaRPr lang="en-IN"/>
          </a:p>
        </p:txBody>
      </p:sp>
      <p:sp>
        <p:nvSpPr>
          <p:cNvPr id="21" name="Freeform 21"/>
          <p:cNvSpPr/>
          <p:nvPr/>
        </p:nvSpPr>
        <p:spPr>
          <a:xfrm>
            <a:off x="7175196" y="3421712"/>
            <a:ext cx="4156364" cy="3443576"/>
          </a:xfrm>
          <a:custGeom>
            <a:avLst/>
            <a:gdLst/>
            <a:ahLst/>
            <a:cxnLst/>
            <a:rect l="l" t="t" r="r" b="b"/>
            <a:pathLst>
              <a:path w="4156364" h="3443576">
                <a:moveTo>
                  <a:pt x="0" y="0"/>
                </a:moveTo>
                <a:lnTo>
                  <a:pt x="4156364" y="0"/>
                </a:lnTo>
                <a:lnTo>
                  <a:pt x="4156364" y="3443576"/>
                </a:lnTo>
                <a:lnTo>
                  <a:pt x="0" y="3443576"/>
                </a:lnTo>
                <a:lnTo>
                  <a:pt x="0" y="0"/>
                </a:lnTo>
                <a:close/>
              </a:path>
            </a:pathLst>
          </a:custGeom>
          <a:blipFill>
            <a:blip r:embed="rId14"/>
            <a:stretch>
              <a:fillRect/>
            </a:stretch>
          </a:blipFill>
        </p:spPr>
        <p:txBody>
          <a:bodyPr/>
          <a:lstStyle/>
          <a:p>
            <a:endParaRPr lang="en-IN"/>
          </a:p>
        </p:txBody>
      </p:sp>
      <p:sp>
        <p:nvSpPr>
          <p:cNvPr id="22" name="TextBox 22"/>
          <p:cNvSpPr txBox="1"/>
          <p:nvPr/>
        </p:nvSpPr>
        <p:spPr>
          <a:xfrm>
            <a:off x="7644384" y="3077328"/>
            <a:ext cx="1170432" cy="318915"/>
          </a:xfrm>
          <a:prstGeom prst="rect">
            <a:avLst/>
          </a:prstGeom>
        </p:spPr>
        <p:txBody>
          <a:bodyPr lIns="0" tIns="0" rIns="0" bIns="0" rtlCol="0" anchor="t">
            <a:spAutoFit/>
          </a:bodyPr>
          <a:lstStyle/>
          <a:p>
            <a:pPr algn="l">
              <a:lnSpc>
                <a:spcPts val="2599"/>
              </a:lnSpc>
            </a:pPr>
            <a:r>
              <a:rPr lang="en-US" sz="1857" b="1">
                <a:solidFill>
                  <a:srgbClr val="FFFFFF"/>
                </a:solidFill>
                <a:latin typeface="Roboto Bold"/>
                <a:ea typeface="Roboto Bold"/>
                <a:cs typeface="Roboto Bold"/>
                <a:sym typeface="Roboto Bold"/>
              </a:rPr>
              <a:t>FEEDBACK</a:t>
            </a:r>
          </a:p>
        </p:txBody>
      </p:sp>
      <p:sp>
        <p:nvSpPr>
          <p:cNvPr id="23" name="TextBox 23"/>
          <p:cNvSpPr txBox="1"/>
          <p:nvPr/>
        </p:nvSpPr>
        <p:spPr>
          <a:xfrm>
            <a:off x="7644384" y="3863262"/>
            <a:ext cx="1773936" cy="383442"/>
          </a:xfrm>
          <a:prstGeom prst="rect">
            <a:avLst/>
          </a:prstGeom>
        </p:spPr>
        <p:txBody>
          <a:bodyPr lIns="0" tIns="0" rIns="0" bIns="0" rtlCol="0" anchor="t">
            <a:spAutoFit/>
          </a:bodyPr>
          <a:lstStyle/>
          <a:p>
            <a:pPr algn="l">
              <a:lnSpc>
                <a:spcPts val="3183"/>
              </a:lnSpc>
            </a:pPr>
            <a:r>
              <a:rPr lang="en-US" sz="2274" b="1">
                <a:solidFill>
                  <a:srgbClr val="2C959F"/>
                </a:solidFill>
                <a:latin typeface="Roboto Bold"/>
                <a:ea typeface="Roboto Bold"/>
                <a:cs typeface="Roboto Bold"/>
                <a:sym typeface="Roboto Bold"/>
              </a:rPr>
              <a:t>Best practice</a:t>
            </a:r>
          </a:p>
        </p:txBody>
      </p:sp>
      <p:sp>
        <p:nvSpPr>
          <p:cNvPr id="24" name="TextBox 24"/>
          <p:cNvSpPr txBox="1"/>
          <p:nvPr/>
        </p:nvSpPr>
        <p:spPr>
          <a:xfrm>
            <a:off x="7644384" y="4498777"/>
            <a:ext cx="3072384" cy="1945147"/>
          </a:xfrm>
          <a:prstGeom prst="rect">
            <a:avLst/>
          </a:prstGeom>
        </p:spPr>
        <p:txBody>
          <a:bodyPr lIns="0" tIns="0" rIns="0" bIns="0" rtlCol="0" anchor="t">
            <a:spAutoFit/>
          </a:bodyPr>
          <a:lstStyle/>
          <a:p>
            <a:pPr algn="l">
              <a:lnSpc>
                <a:spcPts val="3156"/>
              </a:lnSpc>
            </a:pPr>
            <a:r>
              <a:rPr lang="en-US" sz="1857">
                <a:solidFill>
                  <a:srgbClr val="000001"/>
                </a:solidFill>
                <a:latin typeface="Roboto"/>
                <a:ea typeface="Roboto"/>
                <a:cs typeface="Roboto"/>
                <a:sym typeface="Roboto"/>
              </a:rPr>
              <a:t>Open with curiosity to invite honest dialogue and lower defensiveness. It builds trust and keeps the conversation collaborative.</a:t>
            </a:r>
          </a:p>
        </p:txBody>
      </p:sp>
      <p:sp>
        <p:nvSpPr>
          <p:cNvPr id="25" name="Freeform 25"/>
          <p:cNvSpPr/>
          <p:nvPr/>
        </p:nvSpPr>
        <p:spPr>
          <a:xfrm>
            <a:off x="7175196" y="6635716"/>
            <a:ext cx="4156364" cy="2372241"/>
          </a:xfrm>
          <a:custGeom>
            <a:avLst/>
            <a:gdLst/>
            <a:ahLst/>
            <a:cxnLst/>
            <a:rect l="l" t="t" r="r" b="b"/>
            <a:pathLst>
              <a:path w="4156364" h="2372241">
                <a:moveTo>
                  <a:pt x="0" y="0"/>
                </a:moveTo>
                <a:lnTo>
                  <a:pt x="4156364" y="0"/>
                </a:lnTo>
                <a:lnTo>
                  <a:pt x="4156364" y="2372241"/>
                </a:lnTo>
                <a:lnTo>
                  <a:pt x="0" y="2372241"/>
                </a:lnTo>
                <a:lnTo>
                  <a:pt x="0" y="0"/>
                </a:lnTo>
                <a:close/>
              </a:path>
            </a:pathLst>
          </a:custGeom>
          <a:blipFill>
            <a:blip r:embed="rId15"/>
            <a:stretch>
              <a:fillRect/>
            </a:stretch>
          </a:blipFill>
        </p:spPr>
        <p:txBody>
          <a:bodyPr/>
          <a:lstStyle/>
          <a:p>
            <a:endParaRPr lang="en-IN"/>
          </a:p>
        </p:txBody>
      </p:sp>
      <p:sp>
        <p:nvSpPr>
          <p:cNvPr id="26" name="TextBox 26"/>
          <p:cNvSpPr txBox="1"/>
          <p:nvPr/>
        </p:nvSpPr>
        <p:spPr>
          <a:xfrm>
            <a:off x="7644384" y="7087678"/>
            <a:ext cx="786384" cy="280927"/>
          </a:xfrm>
          <a:prstGeom prst="rect">
            <a:avLst/>
          </a:prstGeom>
        </p:spPr>
        <p:txBody>
          <a:bodyPr lIns="0" tIns="0" rIns="0" bIns="0" rtlCol="0" anchor="t">
            <a:spAutoFit/>
          </a:bodyPr>
          <a:lstStyle/>
          <a:p>
            <a:pPr algn="l">
              <a:lnSpc>
                <a:spcPts val="2283"/>
              </a:lnSpc>
            </a:pPr>
            <a:r>
              <a:rPr lang="en-US" sz="1630" b="1">
                <a:solidFill>
                  <a:srgbClr val="2C959F"/>
                </a:solidFill>
                <a:latin typeface="Roboto Bold"/>
                <a:ea typeface="Roboto Bold"/>
                <a:cs typeface="Roboto Bold"/>
                <a:sym typeface="Roboto Bold"/>
              </a:rPr>
              <a:t>IMPACT</a:t>
            </a:r>
          </a:p>
        </p:txBody>
      </p:sp>
      <p:sp>
        <p:nvSpPr>
          <p:cNvPr id="27" name="TextBox 27"/>
          <p:cNvSpPr txBox="1"/>
          <p:nvPr/>
        </p:nvSpPr>
        <p:spPr>
          <a:xfrm>
            <a:off x="1078992" y="7860783"/>
            <a:ext cx="2852928" cy="318915"/>
          </a:xfrm>
          <a:prstGeom prst="rect">
            <a:avLst/>
          </a:prstGeom>
        </p:spPr>
        <p:txBody>
          <a:bodyPr lIns="0" tIns="0" rIns="0" bIns="0" rtlCol="0" anchor="t">
            <a:spAutoFit/>
          </a:bodyPr>
          <a:lstStyle/>
          <a:p>
            <a:pPr algn="l">
              <a:lnSpc>
                <a:spcPts val="2599"/>
              </a:lnSpc>
            </a:pPr>
            <a:r>
              <a:rPr lang="en-US" sz="1857">
                <a:solidFill>
                  <a:srgbClr val="000001"/>
                </a:solidFill>
                <a:latin typeface="Roboto"/>
                <a:ea typeface="Roboto"/>
                <a:cs typeface="Roboto"/>
                <a:sym typeface="Roboto"/>
              </a:rPr>
              <a:t>Signals a problem up front.</a:t>
            </a:r>
          </a:p>
        </p:txBody>
      </p:sp>
      <p:sp>
        <p:nvSpPr>
          <p:cNvPr id="28" name="TextBox 28"/>
          <p:cNvSpPr txBox="1"/>
          <p:nvPr/>
        </p:nvSpPr>
        <p:spPr>
          <a:xfrm>
            <a:off x="7644384" y="7417559"/>
            <a:ext cx="2596896" cy="1127640"/>
          </a:xfrm>
          <a:prstGeom prst="rect">
            <a:avLst/>
          </a:prstGeom>
        </p:spPr>
        <p:txBody>
          <a:bodyPr lIns="0" tIns="0" rIns="0" bIns="0" rtlCol="0" anchor="t">
            <a:spAutoFit/>
          </a:bodyPr>
          <a:lstStyle/>
          <a:p>
            <a:pPr algn="l">
              <a:lnSpc>
                <a:spcPts val="3092"/>
              </a:lnSpc>
            </a:pPr>
            <a:r>
              <a:rPr lang="en-US" sz="1819">
                <a:solidFill>
                  <a:srgbClr val="000001"/>
                </a:solidFill>
                <a:latin typeface="Roboto"/>
                <a:ea typeface="Roboto"/>
                <a:cs typeface="Roboto"/>
                <a:sym typeface="Roboto"/>
              </a:rPr>
              <a:t>Builds trust</a:t>
            </a:r>
          </a:p>
          <a:p>
            <a:pPr algn="l">
              <a:lnSpc>
                <a:spcPts val="3092"/>
              </a:lnSpc>
            </a:pPr>
            <a:r>
              <a:rPr lang="en-US" sz="1819">
                <a:solidFill>
                  <a:srgbClr val="000001"/>
                </a:solidFill>
                <a:latin typeface="Roboto"/>
                <a:ea typeface="Roboto"/>
                <a:cs typeface="Roboto"/>
                <a:sym typeface="Roboto"/>
              </a:rPr>
              <a:t>Encourages openness</a:t>
            </a:r>
          </a:p>
          <a:p>
            <a:pPr algn="l">
              <a:lnSpc>
                <a:spcPts val="3092"/>
              </a:lnSpc>
            </a:pPr>
            <a:r>
              <a:rPr lang="en-US" sz="1819">
                <a:solidFill>
                  <a:srgbClr val="000001"/>
                </a:solidFill>
                <a:latin typeface="Roboto"/>
                <a:ea typeface="Roboto"/>
                <a:cs typeface="Roboto"/>
                <a:sym typeface="Roboto"/>
              </a:rPr>
              <a:t>Creates a shared agenda</a:t>
            </a:r>
          </a:p>
        </p:txBody>
      </p:sp>
      <p:sp>
        <p:nvSpPr>
          <p:cNvPr id="29" name="Flowchart: Connector 28">
            <a:extLst>
              <a:ext uri="{FF2B5EF4-FFF2-40B4-BE49-F238E27FC236}">
                <a16:creationId xmlns:a16="http://schemas.microsoft.com/office/drawing/2014/main" id="{CB4A3240-3DC5-4191-1C3C-9E516DC64146}"/>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Connector 29">
            <a:extLst>
              <a:ext uri="{FF2B5EF4-FFF2-40B4-BE49-F238E27FC236}">
                <a16:creationId xmlns:a16="http://schemas.microsoft.com/office/drawing/2014/main" id="{29C83BB5-BBB6-0A7F-16A2-80D623F80306}"/>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1" name="Flowchart: Connector 30">
            <a:extLst>
              <a:ext uri="{FF2B5EF4-FFF2-40B4-BE49-F238E27FC236}">
                <a16:creationId xmlns:a16="http://schemas.microsoft.com/office/drawing/2014/main" id="{5FA24E0D-BC84-28AE-83DB-EEAD5A02DEB2}"/>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Connector 31">
            <a:extLst>
              <a:ext uri="{FF2B5EF4-FFF2-40B4-BE49-F238E27FC236}">
                <a16:creationId xmlns:a16="http://schemas.microsoft.com/office/drawing/2014/main" id="{ABF745D5-4894-18B1-2727-873A35011382}"/>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Connector 32">
            <a:extLst>
              <a:ext uri="{FF2B5EF4-FFF2-40B4-BE49-F238E27FC236}">
                <a16:creationId xmlns:a16="http://schemas.microsoft.com/office/drawing/2014/main" id="{85D104F8-24D2-F8AD-B68B-05B3849E51CC}"/>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Flowchart: Connector 33">
            <a:extLst>
              <a:ext uri="{FF2B5EF4-FFF2-40B4-BE49-F238E27FC236}">
                <a16:creationId xmlns:a16="http://schemas.microsoft.com/office/drawing/2014/main" id="{EAC97EC3-A5E6-7A06-91D6-F78E810B596B}"/>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lowchart: Connector 34">
            <a:extLst>
              <a:ext uri="{FF2B5EF4-FFF2-40B4-BE49-F238E27FC236}">
                <a16:creationId xmlns:a16="http://schemas.microsoft.com/office/drawing/2014/main" id="{6482A9BD-7DF7-B3B7-8C9F-55FD460B6417}"/>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lowchart: Connector 35">
            <a:extLst>
              <a:ext uri="{FF2B5EF4-FFF2-40B4-BE49-F238E27FC236}">
                <a16:creationId xmlns:a16="http://schemas.microsoft.com/office/drawing/2014/main" id="{DDD17367-66DD-7358-90DD-EC5BC453B56E}"/>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Flowchart: Connector 36">
            <a:extLst>
              <a:ext uri="{FF2B5EF4-FFF2-40B4-BE49-F238E27FC236}">
                <a16:creationId xmlns:a16="http://schemas.microsoft.com/office/drawing/2014/main" id="{2D6CD2FE-B619-BB29-124C-23308A8DA8B3}"/>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Flowchart: Connector 37">
            <a:extLst>
              <a:ext uri="{FF2B5EF4-FFF2-40B4-BE49-F238E27FC236}">
                <a16:creationId xmlns:a16="http://schemas.microsoft.com/office/drawing/2014/main" id="{85D3135A-3879-CAC4-555D-B88C491BCC9B}"/>
              </a:ext>
            </a:extLst>
          </p:cNvPr>
          <p:cNvSpPr/>
          <p:nvPr/>
        </p:nvSpPr>
        <p:spPr>
          <a:xfrm>
            <a:off x="15392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6340965A-8CEA-EBB7-E266-F7499F179BD0}"/>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First-person point-of-view meeting setup across an office desk.</a:t>
            </a:r>
          </a:p>
          <a:p>
            <a:r>
              <a:rPr lang="en-IN" sz="2000" dirty="0"/>
              <a:t>• Character Expression: Alex is seated across, displaying neutral, guarded body language.</a:t>
            </a:r>
          </a:p>
          <a:p>
            <a:r>
              <a:rPr lang="en-IN" sz="2000" dirty="0"/>
              <a:t>• Bottom UI: 3 clickable dialogue choice cards (Options A, B, and C).</a:t>
            </a:r>
          </a:p>
          <a:p>
            <a:r>
              <a:rPr lang="en-IN" sz="2000" dirty="0"/>
              <a:t>• Feedback Drawer: Slides in from the bottom upon selection with immediate scoring impact.</a:t>
            </a:r>
          </a:p>
          <a:p>
            <a:pPr algn="ctr"/>
            <a:endParaRPr lang="en-IN" sz="2000" b="1" dirty="0"/>
          </a:p>
        </p:txBody>
      </p:sp>
      <p:sp>
        <p:nvSpPr>
          <p:cNvPr id="42" name="Flowchart: Connector 41">
            <a:extLst>
              <a:ext uri="{FF2B5EF4-FFF2-40B4-BE49-F238E27FC236}">
                <a16:creationId xmlns:a16="http://schemas.microsoft.com/office/drawing/2014/main" id="{8C46821F-B7C8-DA88-7FB5-C39911511EC6}"/>
              </a:ext>
            </a:extLst>
          </p:cNvPr>
          <p:cNvSpPr/>
          <p:nvPr/>
        </p:nvSpPr>
        <p:spPr>
          <a:xfrm>
            <a:off x="15773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reeform 3">
            <a:extLst>
              <a:ext uri="{FF2B5EF4-FFF2-40B4-BE49-F238E27FC236}">
                <a16:creationId xmlns:a16="http://schemas.microsoft.com/office/drawing/2014/main" id="{A7EE969B-FB2C-0C09-3F4B-04429D3C86DB}"/>
              </a:ext>
            </a:extLst>
          </p:cNvPr>
          <p:cNvSpPr/>
          <p:nvPr/>
        </p:nvSpPr>
        <p:spPr>
          <a:xfrm>
            <a:off x="228600" y="784633"/>
            <a:ext cx="448450" cy="1082267"/>
          </a:xfrm>
          <a:custGeom>
            <a:avLst/>
            <a:gdLst/>
            <a:ahLst/>
            <a:cxnLst/>
            <a:rect l="l" t="t" r="r" b="b"/>
            <a:pathLst>
              <a:path w="448450" h="1082267">
                <a:moveTo>
                  <a:pt x="0" y="0"/>
                </a:moveTo>
                <a:lnTo>
                  <a:pt x="448450" y="0"/>
                </a:lnTo>
                <a:lnTo>
                  <a:pt x="448450" y="1082266"/>
                </a:lnTo>
                <a:lnTo>
                  <a:pt x="0" y="1082266"/>
                </a:lnTo>
                <a:lnTo>
                  <a:pt x="0" y="0"/>
                </a:lnTo>
                <a:close/>
              </a:path>
            </a:pathLst>
          </a:custGeom>
          <a:blipFill>
            <a:blip r:embed="rId16"/>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3" name="Freeform 3"/>
          <p:cNvSpPr/>
          <p:nvPr/>
        </p:nvSpPr>
        <p:spPr>
          <a:xfrm>
            <a:off x="426574" y="634055"/>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4"/>
            <a:stretch>
              <a:fillRect/>
            </a:stretch>
          </a:blipFill>
        </p:spPr>
        <p:txBody>
          <a:bodyPr/>
          <a:lstStyle/>
          <a:p>
            <a:endParaRPr lang="en-IN"/>
          </a:p>
        </p:txBody>
      </p:sp>
      <p:sp>
        <p:nvSpPr>
          <p:cNvPr id="4" name="TextBox 4"/>
          <p:cNvSpPr txBox="1"/>
          <p:nvPr/>
        </p:nvSpPr>
        <p:spPr>
          <a:xfrm>
            <a:off x="914400" y="321376"/>
            <a:ext cx="14740128" cy="1240724"/>
          </a:xfrm>
          <a:prstGeom prst="rect">
            <a:avLst/>
          </a:prstGeom>
        </p:spPr>
        <p:txBody>
          <a:bodyPr lIns="0" tIns="0" rIns="0" bIns="0" rtlCol="0" anchor="t">
            <a:spAutoFit/>
          </a:bodyPr>
          <a:lstStyle/>
          <a:p>
            <a:pPr>
              <a:lnSpc>
                <a:spcPts val="11122"/>
              </a:lnSpc>
            </a:pPr>
            <a:r>
              <a:rPr lang="en-US" sz="5400" b="1" spc="-158" dirty="0">
                <a:solidFill>
                  <a:srgbClr val="00234C"/>
                </a:solidFill>
                <a:latin typeface="Roboto Bold"/>
                <a:ea typeface="Roboto Bold"/>
                <a:sym typeface="Roboto Bold"/>
              </a:rPr>
              <a:t>Navigating Resistance and Pushback</a:t>
            </a:r>
          </a:p>
        </p:txBody>
      </p:sp>
      <p:sp>
        <p:nvSpPr>
          <p:cNvPr id="5" name="TextBox 5"/>
          <p:cNvSpPr txBox="1"/>
          <p:nvPr/>
        </p:nvSpPr>
        <p:spPr>
          <a:xfrm>
            <a:off x="1170432" y="1938861"/>
            <a:ext cx="10643616" cy="392145"/>
          </a:xfrm>
          <a:prstGeom prst="rect">
            <a:avLst/>
          </a:prstGeom>
        </p:spPr>
        <p:txBody>
          <a:bodyPr lIns="0" tIns="0" rIns="0" bIns="0" rtlCol="0" anchor="t">
            <a:spAutoFit/>
          </a:bodyPr>
          <a:lstStyle/>
          <a:p>
            <a:pPr algn="l">
              <a:lnSpc>
                <a:spcPts val="3064"/>
              </a:lnSpc>
            </a:pPr>
            <a:r>
              <a:rPr lang="en-US" sz="2554">
                <a:solidFill>
                  <a:srgbClr val="222222"/>
                </a:solidFill>
                <a:latin typeface="Roboto"/>
                <a:ea typeface="Roboto"/>
                <a:cs typeface="Roboto"/>
                <a:sym typeface="Roboto"/>
              </a:rPr>
              <a:t>Choose the response that validates, redirects, and drives accountability.</a:t>
            </a:r>
          </a:p>
        </p:txBody>
      </p:sp>
      <p:sp>
        <p:nvSpPr>
          <p:cNvPr id="6" name="Freeform 6"/>
          <p:cNvSpPr/>
          <p:nvPr/>
        </p:nvSpPr>
        <p:spPr>
          <a:xfrm>
            <a:off x="0" y="2569017"/>
            <a:ext cx="8061158" cy="7291635"/>
          </a:xfrm>
          <a:custGeom>
            <a:avLst/>
            <a:gdLst/>
            <a:ahLst/>
            <a:cxnLst/>
            <a:rect l="l" t="t" r="r" b="b"/>
            <a:pathLst>
              <a:path w="8061158" h="7291635">
                <a:moveTo>
                  <a:pt x="0" y="0"/>
                </a:moveTo>
                <a:lnTo>
                  <a:pt x="8061158" y="0"/>
                </a:lnTo>
                <a:lnTo>
                  <a:pt x="8061158" y="7291635"/>
                </a:lnTo>
                <a:lnTo>
                  <a:pt x="0" y="7291635"/>
                </a:lnTo>
                <a:lnTo>
                  <a:pt x="0" y="0"/>
                </a:lnTo>
                <a:close/>
              </a:path>
            </a:pathLst>
          </a:custGeom>
          <a:blipFill>
            <a:blip r:embed="rId5"/>
            <a:stretch>
              <a:fillRect/>
            </a:stretch>
          </a:blipFill>
        </p:spPr>
        <p:txBody>
          <a:bodyPr/>
          <a:lstStyle/>
          <a:p>
            <a:endParaRPr lang="en-IN"/>
          </a:p>
        </p:txBody>
      </p:sp>
      <p:sp>
        <p:nvSpPr>
          <p:cNvPr id="7" name="Freeform 7"/>
          <p:cNvSpPr/>
          <p:nvPr/>
        </p:nvSpPr>
        <p:spPr>
          <a:xfrm>
            <a:off x="4134488" y="3421712"/>
            <a:ext cx="3489158" cy="3224936"/>
          </a:xfrm>
          <a:custGeom>
            <a:avLst/>
            <a:gdLst/>
            <a:ahLst/>
            <a:cxnLst/>
            <a:rect l="l" t="t" r="r" b="b"/>
            <a:pathLst>
              <a:path w="3489158" h="3224936">
                <a:moveTo>
                  <a:pt x="0" y="0"/>
                </a:moveTo>
                <a:lnTo>
                  <a:pt x="3489158" y="0"/>
                </a:lnTo>
                <a:lnTo>
                  <a:pt x="3489158" y="3224936"/>
                </a:lnTo>
                <a:lnTo>
                  <a:pt x="0" y="3224936"/>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4700016" y="4306647"/>
            <a:ext cx="2596896" cy="1815057"/>
          </a:xfrm>
          <a:prstGeom prst="rect">
            <a:avLst/>
          </a:prstGeom>
        </p:spPr>
        <p:txBody>
          <a:bodyPr lIns="0" tIns="0" rIns="0" bIns="0" rtlCol="0" anchor="t">
            <a:spAutoFit/>
          </a:bodyPr>
          <a:lstStyle/>
          <a:p>
            <a:pPr algn="l">
              <a:lnSpc>
                <a:spcPts val="3679"/>
              </a:lnSpc>
            </a:pPr>
            <a:r>
              <a:rPr lang="en-US" sz="2299">
                <a:solidFill>
                  <a:srgbClr val="222222"/>
                </a:solidFill>
                <a:latin typeface="Roboto"/>
                <a:ea typeface="Roboto"/>
                <a:cs typeface="Roboto"/>
                <a:sym typeface="Roboto"/>
              </a:rPr>
              <a:t>“I already have too much on my plate. These expectations aren’t realistic.”</a:t>
            </a:r>
          </a:p>
        </p:txBody>
      </p:sp>
      <p:sp>
        <p:nvSpPr>
          <p:cNvPr id="9" name="Freeform 9"/>
          <p:cNvSpPr/>
          <p:nvPr/>
        </p:nvSpPr>
        <p:spPr>
          <a:xfrm>
            <a:off x="8050220" y="2569017"/>
            <a:ext cx="4801694" cy="6646648"/>
          </a:xfrm>
          <a:custGeom>
            <a:avLst/>
            <a:gdLst/>
            <a:ahLst/>
            <a:cxnLst/>
            <a:rect l="l" t="t" r="r" b="b"/>
            <a:pathLst>
              <a:path w="4801694" h="6646648">
                <a:moveTo>
                  <a:pt x="0" y="0"/>
                </a:moveTo>
                <a:lnTo>
                  <a:pt x="4801694" y="0"/>
                </a:lnTo>
                <a:lnTo>
                  <a:pt x="4801694" y="6646648"/>
                </a:lnTo>
                <a:lnTo>
                  <a:pt x="0" y="6646648"/>
                </a:lnTo>
                <a:lnTo>
                  <a:pt x="0" y="0"/>
                </a:lnTo>
                <a:close/>
              </a:path>
            </a:pathLst>
          </a:custGeom>
          <a:blipFill>
            <a:blip r:embed="rId7"/>
            <a:stretch>
              <a:fillRect/>
            </a:stretch>
          </a:blipFill>
        </p:spPr>
        <p:txBody>
          <a:bodyPr/>
          <a:lstStyle/>
          <a:p>
            <a:endParaRPr lang="en-IN"/>
          </a:p>
        </p:txBody>
      </p:sp>
      <p:sp>
        <p:nvSpPr>
          <p:cNvPr id="10" name="Freeform 10"/>
          <p:cNvSpPr/>
          <p:nvPr/>
        </p:nvSpPr>
        <p:spPr>
          <a:xfrm>
            <a:off x="8050220" y="2569017"/>
            <a:ext cx="4801694" cy="863627"/>
          </a:xfrm>
          <a:custGeom>
            <a:avLst/>
            <a:gdLst/>
            <a:ahLst/>
            <a:cxnLst/>
            <a:rect l="l" t="t" r="r" b="b"/>
            <a:pathLst>
              <a:path w="4801694" h="863627">
                <a:moveTo>
                  <a:pt x="0" y="0"/>
                </a:moveTo>
                <a:lnTo>
                  <a:pt x="4801694" y="0"/>
                </a:lnTo>
                <a:lnTo>
                  <a:pt x="4801694" y="863627"/>
                </a:lnTo>
                <a:lnTo>
                  <a:pt x="0" y="863627"/>
                </a:lnTo>
                <a:lnTo>
                  <a:pt x="0" y="0"/>
                </a:lnTo>
                <a:close/>
              </a:path>
            </a:pathLst>
          </a:custGeom>
          <a:blipFill>
            <a:blip r:embed="rId8"/>
            <a:stretch>
              <a:fillRect/>
            </a:stretch>
          </a:blipFill>
        </p:spPr>
        <p:txBody>
          <a:bodyPr/>
          <a:lstStyle/>
          <a:p>
            <a:endParaRPr lang="en-IN"/>
          </a:p>
        </p:txBody>
      </p:sp>
      <p:sp>
        <p:nvSpPr>
          <p:cNvPr id="11" name="TextBox 11"/>
          <p:cNvSpPr txBox="1"/>
          <p:nvPr/>
        </p:nvSpPr>
        <p:spPr>
          <a:xfrm>
            <a:off x="8887968" y="3780234"/>
            <a:ext cx="3145536" cy="392145"/>
          </a:xfrm>
          <a:prstGeom prst="rect">
            <a:avLst/>
          </a:prstGeom>
        </p:spPr>
        <p:txBody>
          <a:bodyPr lIns="0" tIns="0" rIns="0" bIns="0" rtlCol="0" anchor="t">
            <a:spAutoFit/>
          </a:bodyPr>
          <a:lstStyle/>
          <a:p>
            <a:pPr algn="ctr">
              <a:lnSpc>
                <a:spcPts val="3064"/>
              </a:lnSpc>
            </a:pPr>
            <a:r>
              <a:rPr lang="en-US" sz="2554" b="1">
                <a:solidFill>
                  <a:srgbClr val="004AAD"/>
                </a:solidFill>
                <a:latin typeface="Roboto Bold"/>
                <a:ea typeface="Roboto Bold"/>
                <a:cs typeface="Roboto Bold"/>
                <a:sym typeface="Roboto Bold"/>
              </a:rPr>
              <a:t>Validate and redirect</a:t>
            </a:r>
          </a:p>
        </p:txBody>
      </p:sp>
      <p:sp>
        <p:nvSpPr>
          <p:cNvPr id="12" name="TextBox 12"/>
          <p:cNvSpPr txBox="1"/>
          <p:nvPr/>
        </p:nvSpPr>
        <p:spPr>
          <a:xfrm>
            <a:off x="8833104" y="4366988"/>
            <a:ext cx="3255264" cy="1570931"/>
          </a:xfrm>
          <a:prstGeom prst="rect">
            <a:avLst/>
          </a:prstGeom>
        </p:spPr>
        <p:txBody>
          <a:bodyPr lIns="0" tIns="0" rIns="0" bIns="0" rtlCol="0" anchor="t">
            <a:spAutoFit/>
          </a:bodyPr>
          <a:lstStyle/>
          <a:p>
            <a:pPr algn="ctr">
              <a:lnSpc>
                <a:spcPts val="3104"/>
              </a:lnSpc>
            </a:pPr>
            <a:r>
              <a:rPr lang="en-US" sz="1940" dirty="0">
                <a:solidFill>
                  <a:srgbClr val="222222"/>
                </a:solidFill>
                <a:latin typeface="Roboto"/>
                <a:ea typeface="Roboto"/>
                <a:cs typeface="Roboto"/>
                <a:sym typeface="Roboto"/>
              </a:rPr>
              <a:t>“I hear that your workload is heavy. Let’s review priorities together and focus on what matters most.”</a:t>
            </a:r>
          </a:p>
        </p:txBody>
      </p:sp>
      <p:sp>
        <p:nvSpPr>
          <p:cNvPr id="13" name="Freeform 13"/>
          <p:cNvSpPr/>
          <p:nvPr/>
        </p:nvSpPr>
        <p:spPr>
          <a:xfrm>
            <a:off x="8487732" y="6209369"/>
            <a:ext cx="3926670" cy="229572"/>
          </a:xfrm>
          <a:custGeom>
            <a:avLst/>
            <a:gdLst/>
            <a:ahLst/>
            <a:cxnLst/>
            <a:rect l="l" t="t" r="r" b="b"/>
            <a:pathLst>
              <a:path w="3926670" h="229572">
                <a:moveTo>
                  <a:pt x="0" y="0"/>
                </a:moveTo>
                <a:lnTo>
                  <a:pt x="3926670" y="0"/>
                </a:lnTo>
                <a:lnTo>
                  <a:pt x="3926670" y="229571"/>
                </a:lnTo>
                <a:lnTo>
                  <a:pt x="0" y="229571"/>
                </a:lnTo>
                <a:lnTo>
                  <a:pt x="0" y="0"/>
                </a:lnTo>
                <a:close/>
              </a:path>
            </a:pathLst>
          </a:custGeom>
          <a:blipFill>
            <a:blip r:embed="rId9"/>
            <a:stretch>
              <a:fillRect/>
            </a:stretch>
          </a:blipFill>
        </p:spPr>
        <p:txBody>
          <a:bodyPr/>
          <a:lstStyle/>
          <a:p>
            <a:endParaRPr lang="en-IN"/>
          </a:p>
        </p:txBody>
      </p:sp>
      <p:sp>
        <p:nvSpPr>
          <p:cNvPr id="14" name="TextBox 14"/>
          <p:cNvSpPr txBox="1"/>
          <p:nvPr/>
        </p:nvSpPr>
        <p:spPr>
          <a:xfrm>
            <a:off x="8613648" y="6720720"/>
            <a:ext cx="1389888" cy="271893"/>
          </a:xfrm>
          <a:prstGeom prst="rect">
            <a:avLst/>
          </a:prstGeom>
        </p:spPr>
        <p:txBody>
          <a:bodyPr lIns="0" tIns="0" rIns="0" bIns="0" rtlCol="0" anchor="t">
            <a:spAutoFit/>
          </a:bodyPr>
          <a:lstStyle/>
          <a:p>
            <a:pPr algn="l">
              <a:lnSpc>
                <a:spcPts val="2128"/>
              </a:lnSpc>
            </a:pPr>
            <a:r>
              <a:rPr lang="en-US" sz="1773" b="1">
                <a:solidFill>
                  <a:srgbClr val="004AAD"/>
                </a:solidFill>
                <a:latin typeface="Roboto Bold"/>
                <a:ea typeface="Roboto Bold"/>
                <a:cs typeface="Roboto Bold"/>
                <a:sym typeface="Roboto Bold"/>
              </a:rPr>
              <a:t>Why it works</a:t>
            </a:r>
          </a:p>
        </p:txBody>
      </p:sp>
      <p:sp>
        <p:nvSpPr>
          <p:cNvPr id="15" name="Freeform 15"/>
          <p:cNvSpPr/>
          <p:nvPr/>
        </p:nvSpPr>
        <p:spPr>
          <a:xfrm>
            <a:off x="12840976" y="2569017"/>
            <a:ext cx="4801694" cy="6646648"/>
          </a:xfrm>
          <a:custGeom>
            <a:avLst/>
            <a:gdLst/>
            <a:ahLst/>
            <a:cxnLst/>
            <a:rect l="l" t="t" r="r" b="b"/>
            <a:pathLst>
              <a:path w="4801694" h="6646648">
                <a:moveTo>
                  <a:pt x="0" y="0"/>
                </a:moveTo>
                <a:lnTo>
                  <a:pt x="4801694" y="0"/>
                </a:lnTo>
                <a:lnTo>
                  <a:pt x="4801694" y="6646648"/>
                </a:lnTo>
                <a:lnTo>
                  <a:pt x="0" y="6646648"/>
                </a:lnTo>
                <a:lnTo>
                  <a:pt x="0" y="0"/>
                </a:lnTo>
                <a:close/>
              </a:path>
            </a:pathLst>
          </a:custGeom>
          <a:blipFill>
            <a:blip r:embed="rId10"/>
            <a:stretch>
              <a:fillRect/>
            </a:stretch>
          </a:blipFill>
        </p:spPr>
        <p:txBody>
          <a:bodyPr/>
          <a:lstStyle/>
          <a:p>
            <a:endParaRPr lang="en-IN"/>
          </a:p>
        </p:txBody>
      </p:sp>
      <p:sp>
        <p:nvSpPr>
          <p:cNvPr id="16" name="Freeform 16"/>
          <p:cNvSpPr/>
          <p:nvPr/>
        </p:nvSpPr>
        <p:spPr>
          <a:xfrm>
            <a:off x="12840976" y="2569017"/>
            <a:ext cx="4801694" cy="863627"/>
          </a:xfrm>
          <a:custGeom>
            <a:avLst/>
            <a:gdLst/>
            <a:ahLst/>
            <a:cxnLst/>
            <a:rect l="l" t="t" r="r" b="b"/>
            <a:pathLst>
              <a:path w="4801694" h="863627">
                <a:moveTo>
                  <a:pt x="0" y="0"/>
                </a:moveTo>
                <a:lnTo>
                  <a:pt x="4801694" y="0"/>
                </a:lnTo>
                <a:lnTo>
                  <a:pt x="4801694" y="863627"/>
                </a:lnTo>
                <a:lnTo>
                  <a:pt x="0" y="863627"/>
                </a:lnTo>
                <a:lnTo>
                  <a:pt x="0" y="0"/>
                </a:lnTo>
                <a:close/>
              </a:path>
            </a:pathLst>
          </a:custGeom>
          <a:blipFill>
            <a:blip r:embed="rId11"/>
            <a:stretch>
              <a:fillRect/>
            </a:stretch>
          </a:blipFill>
        </p:spPr>
        <p:txBody>
          <a:bodyPr/>
          <a:lstStyle/>
          <a:p>
            <a:endParaRPr lang="en-IN"/>
          </a:p>
        </p:txBody>
      </p:sp>
      <p:sp>
        <p:nvSpPr>
          <p:cNvPr id="17" name="TextBox 17"/>
          <p:cNvSpPr txBox="1"/>
          <p:nvPr/>
        </p:nvSpPr>
        <p:spPr>
          <a:xfrm>
            <a:off x="13789152" y="3780234"/>
            <a:ext cx="2980944" cy="392145"/>
          </a:xfrm>
          <a:prstGeom prst="rect">
            <a:avLst/>
          </a:prstGeom>
        </p:spPr>
        <p:txBody>
          <a:bodyPr lIns="0" tIns="0" rIns="0" bIns="0" rtlCol="0" anchor="t">
            <a:spAutoFit/>
          </a:bodyPr>
          <a:lstStyle/>
          <a:p>
            <a:pPr algn="ctr">
              <a:lnSpc>
                <a:spcPts val="3064"/>
              </a:lnSpc>
            </a:pPr>
            <a:r>
              <a:rPr lang="en-US" sz="2554" b="1">
                <a:solidFill>
                  <a:srgbClr val="3799A8"/>
                </a:solidFill>
                <a:latin typeface="Roboto Bold"/>
                <a:ea typeface="Roboto Bold"/>
                <a:cs typeface="Roboto Bold"/>
                <a:sym typeface="Roboto Bold"/>
              </a:rPr>
              <a:t>Dismiss and defend</a:t>
            </a:r>
          </a:p>
        </p:txBody>
      </p:sp>
      <p:sp>
        <p:nvSpPr>
          <p:cNvPr id="18" name="TextBox 18"/>
          <p:cNvSpPr txBox="1"/>
          <p:nvPr/>
        </p:nvSpPr>
        <p:spPr>
          <a:xfrm>
            <a:off x="13642848" y="4358024"/>
            <a:ext cx="3255264" cy="1177380"/>
          </a:xfrm>
          <a:prstGeom prst="rect">
            <a:avLst/>
          </a:prstGeom>
        </p:spPr>
        <p:txBody>
          <a:bodyPr lIns="0" tIns="0" rIns="0" bIns="0" rtlCol="0" anchor="t">
            <a:spAutoFit/>
          </a:bodyPr>
          <a:lstStyle/>
          <a:p>
            <a:pPr algn="ctr">
              <a:lnSpc>
                <a:spcPts val="3104"/>
              </a:lnSpc>
            </a:pPr>
            <a:r>
              <a:rPr lang="en-US" sz="1940" dirty="0">
                <a:solidFill>
                  <a:srgbClr val="222222"/>
                </a:solidFill>
                <a:latin typeface="Roboto"/>
                <a:ea typeface="Roboto"/>
                <a:cs typeface="Roboto"/>
                <a:sym typeface="Roboto"/>
              </a:rPr>
              <a:t>“These are the expectations. You need to figure out how to make it work.”</a:t>
            </a:r>
          </a:p>
        </p:txBody>
      </p:sp>
      <p:sp>
        <p:nvSpPr>
          <p:cNvPr id="19" name="Freeform 19"/>
          <p:cNvSpPr/>
          <p:nvPr/>
        </p:nvSpPr>
        <p:spPr>
          <a:xfrm>
            <a:off x="13278488" y="6209369"/>
            <a:ext cx="3926670" cy="229572"/>
          </a:xfrm>
          <a:custGeom>
            <a:avLst/>
            <a:gdLst/>
            <a:ahLst/>
            <a:cxnLst/>
            <a:rect l="l" t="t" r="r" b="b"/>
            <a:pathLst>
              <a:path w="3926670" h="229572">
                <a:moveTo>
                  <a:pt x="0" y="0"/>
                </a:moveTo>
                <a:lnTo>
                  <a:pt x="3926670" y="0"/>
                </a:lnTo>
                <a:lnTo>
                  <a:pt x="3926670" y="229571"/>
                </a:lnTo>
                <a:lnTo>
                  <a:pt x="0" y="229571"/>
                </a:lnTo>
                <a:lnTo>
                  <a:pt x="0" y="0"/>
                </a:lnTo>
                <a:close/>
              </a:path>
            </a:pathLst>
          </a:custGeom>
          <a:blipFill>
            <a:blip r:embed="rId12"/>
            <a:stretch>
              <a:fillRect/>
            </a:stretch>
          </a:blipFill>
        </p:spPr>
        <p:txBody>
          <a:bodyPr/>
          <a:lstStyle/>
          <a:p>
            <a:endParaRPr lang="en-IN"/>
          </a:p>
        </p:txBody>
      </p:sp>
      <p:sp>
        <p:nvSpPr>
          <p:cNvPr id="20" name="TextBox 20"/>
          <p:cNvSpPr txBox="1"/>
          <p:nvPr/>
        </p:nvSpPr>
        <p:spPr>
          <a:xfrm>
            <a:off x="13368528" y="6720720"/>
            <a:ext cx="1426464" cy="271893"/>
          </a:xfrm>
          <a:prstGeom prst="rect">
            <a:avLst/>
          </a:prstGeom>
        </p:spPr>
        <p:txBody>
          <a:bodyPr lIns="0" tIns="0" rIns="0" bIns="0" rtlCol="0" anchor="t">
            <a:spAutoFit/>
          </a:bodyPr>
          <a:lstStyle/>
          <a:p>
            <a:pPr algn="l">
              <a:lnSpc>
                <a:spcPts val="2128"/>
              </a:lnSpc>
            </a:pPr>
            <a:r>
              <a:rPr lang="en-US" sz="1773" b="1">
                <a:solidFill>
                  <a:srgbClr val="3799A8"/>
                </a:solidFill>
                <a:latin typeface="Roboto Bold"/>
                <a:ea typeface="Roboto Bold"/>
                <a:cs typeface="Roboto Bold"/>
                <a:sym typeface="Roboto Bold"/>
              </a:rPr>
              <a:t>Why it’s risky</a:t>
            </a:r>
          </a:p>
        </p:txBody>
      </p:sp>
      <p:sp>
        <p:nvSpPr>
          <p:cNvPr id="21" name="TextBox 21"/>
          <p:cNvSpPr txBox="1"/>
          <p:nvPr/>
        </p:nvSpPr>
        <p:spPr>
          <a:xfrm>
            <a:off x="13368528" y="7154230"/>
            <a:ext cx="3529584" cy="690574"/>
          </a:xfrm>
          <a:prstGeom prst="rect">
            <a:avLst/>
          </a:prstGeom>
        </p:spPr>
        <p:txBody>
          <a:bodyPr wrap="square" lIns="0" tIns="0" rIns="0" bIns="0" rtlCol="0" anchor="t">
            <a:spAutoFit/>
          </a:bodyPr>
          <a:lstStyle/>
          <a:p>
            <a:pPr algn="l">
              <a:lnSpc>
                <a:spcPts val="2837"/>
              </a:lnSpc>
            </a:pPr>
            <a:r>
              <a:rPr lang="en-US" sz="1940" dirty="0">
                <a:solidFill>
                  <a:srgbClr val="222222"/>
                </a:solidFill>
                <a:latin typeface="Roboto"/>
                <a:ea typeface="Roboto"/>
                <a:sym typeface="Roboto"/>
              </a:rPr>
              <a:t>Can increase defensiveness and frustration</a:t>
            </a:r>
          </a:p>
        </p:txBody>
      </p:sp>
      <p:sp>
        <p:nvSpPr>
          <p:cNvPr id="22" name="TextBox 22"/>
          <p:cNvSpPr txBox="1"/>
          <p:nvPr/>
        </p:nvSpPr>
        <p:spPr>
          <a:xfrm>
            <a:off x="13368528" y="8028625"/>
            <a:ext cx="2761488" cy="1049646"/>
          </a:xfrm>
          <a:prstGeom prst="rect">
            <a:avLst/>
          </a:prstGeom>
        </p:spPr>
        <p:txBody>
          <a:bodyPr lIns="0" tIns="0" rIns="0" bIns="0" rtlCol="0" anchor="t">
            <a:spAutoFit/>
          </a:bodyPr>
          <a:lstStyle/>
          <a:p>
            <a:pPr>
              <a:lnSpc>
                <a:spcPts val="2837"/>
              </a:lnSpc>
            </a:pPr>
            <a:r>
              <a:rPr lang="en-US" sz="1940" dirty="0">
                <a:solidFill>
                  <a:srgbClr val="222222"/>
                </a:solidFill>
                <a:latin typeface="Roboto"/>
                <a:ea typeface="Roboto"/>
                <a:sym typeface="Roboto"/>
              </a:rPr>
              <a:t>Keeps the focus on blame instead of solutions</a:t>
            </a:r>
          </a:p>
        </p:txBody>
      </p:sp>
      <p:sp>
        <p:nvSpPr>
          <p:cNvPr id="23" name="TextBox 23"/>
          <p:cNvSpPr txBox="1"/>
          <p:nvPr/>
        </p:nvSpPr>
        <p:spPr>
          <a:xfrm>
            <a:off x="8266176" y="9358687"/>
            <a:ext cx="4279392" cy="371870"/>
          </a:xfrm>
          <a:prstGeom prst="rect">
            <a:avLst/>
          </a:prstGeom>
        </p:spPr>
        <p:txBody>
          <a:bodyPr lIns="0" tIns="0" rIns="0" bIns="0" rtlCol="0" anchor="t">
            <a:spAutoFit/>
          </a:bodyPr>
          <a:lstStyle/>
          <a:p>
            <a:pPr algn="l">
              <a:lnSpc>
                <a:spcPts val="3040"/>
              </a:lnSpc>
            </a:pPr>
            <a:r>
              <a:rPr lang="en-US" sz="1900">
                <a:solidFill>
                  <a:srgbClr val="222222"/>
                </a:solidFill>
                <a:latin typeface="Roboto"/>
                <a:ea typeface="Roboto"/>
                <a:cs typeface="Roboto"/>
                <a:sym typeface="Roboto"/>
              </a:rPr>
              <a:t>Select the response you would choose.</a:t>
            </a:r>
          </a:p>
        </p:txBody>
      </p:sp>
      <p:sp>
        <p:nvSpPr>
          <p:cNvPr id="24" name="TextBox 24"/>
          <p:cNvSpPr txBox="1"/>
          <p:nvPr/>
        </p:nvSpPr>
        <p:spPr>
          <a:xfrm>
            <a:off x="12710160" y="9358687"/>
            <a:ext cx="2670048" cy="371870"/>
          </a:xfrm>
          <a:prstGeom prst="rect">
            <a:avLst/>
          </a:prstGeom>
        </p:spPr>
        <p:txBody>
          <a:bodyPr lIns="0" tIns="0" rIns="0" bIns="0" rtlCol="0" anchor="t">
            <a:spAutoFit/>
          </a:bodyPr>
          <a:lstStyle/>
          <a:p>
            <a:pPr algn="l">
              <a:lnSpc>
                <a:spcPts val="3040"/>
              </a:lnSpc>
            </a:pPr>
            <a:r>
              <a:rPr lang="en-US" sz="1900" b="1">
                <a:solidFill>
                  <a:srgbClr val="004AAD"/>
                </a:solidFill>
                <a:latin typeface="Roboto Bold"/>
                <a:ea typeface="Roboto Bold"/>
                <a:cs typeface="Roboto Bold"/>
                <a:sym typeface="Roboto Bold"/>
              </a:rPr>
              <a:t>Think about the impact.</a:t>
            </a:r>
          </a:p>
        </p:txBody>
      </p:sp>
      <p:sp>
        <p:nvSpPr>
          <p:cNvPr id="25" name="TextBox 25"/>
          <p:cNvSpPr txBox="1"/>
          <p:nvPr/>
        </p:nvSpPr>
        <p:spPr>
          <a:xfrm>
            <a:off x="4700016" y="3777026"/>
            <a:ext cx="1280160" cy="326553"/>
          </a:xfrm>
          <a:prstGeom prst="rect">
            <a:avLst/>
          </a:prstGeom>
        </p:spPr>
        <p:txBody>
          <a:bodyPr lIns="0" tIns="0" rIns="0" bIns="0" rtlCol="0" anchor="t">
            <a:spAutoFit/>
          </a:bodyPr>
          <a:lstStyle/>
          <a:p>
            <a:pPr algn="l">
              <a:lnSpc>
                <a:spcPts val="2556"/>
              </a:lnSpc>
            </a:pPr>
            <a:r>
              <a:rPr lang="en-US" sz="2130" b="1">
                <a:solidFill>
                  <a:srgbClr val="004AAD"/>
                </a:solidFill>
                <a:latin typeface="Roboto Bold"/>
                <a:ea typeface="Roboto Bold"/>
                <a:cs typeface="Roboto Bold"/>
                <a:sym typeface="Roboto Bold"/>
              </a:rPr>
              <a:t>Alex says:</a:t>
            </a:r>
          </a:p>
        </p:txBody>
      </p:sp>
      <p:sp>
        <p:nvSpPr>
          <p:cNvPr id="26" name="TextBox 26"/>
          <p:cNvSpPr txBox="1"/>
          <p:nvPr/>
        </p:nvSpPr>
        <p:spPr>
          <a:xfrm>
            <a:off x="8266176" y="7149119"/>
            <a:ext cx="4148226" cy="360355"/>
          </a:xfrm>
          <a:prstGeom prst="rect">
            <a:avLst/>
          </a:prstGeom>
        </p:spPr>
        <p:txBody>
          <a:bodyPr wrap="square" lIns="0" tIns="0" rIns="0" bIns="0" rtlCol="0" anchor="t">
            <a:spAutoFit/>
          </a:bodyPr>
          <a:lstStyle>
            <a:defPPr>
              <a:defRPr lang="en-US"/>
            </a:defPPr>
            <a:lvl1pPr algn="ctr">
              <a:lnSpc>
                <a:spcPts val="3104"/>
              </a:lnSpc>
              <a:defRPr sz="1940">
                <a:solidFill>
                  <a:srgbClr val="222222"/>
                </a:solidFill>
                <a:latin typeface="Roboto"/>
                <a:ea typeface="Roboto"/>
                <a:cs typeface="Roboto"/>
              </a:defRPr>
            </a:lvl1pPr>
          </a:lstStyle>
          <a:p>
            <a:r>
              <a:rPr lang="en-US" dirty="0">
                <a:sym typeface="Roboto"/>
              </a:rPr>
              <a:t>Shows empathy and understanding</a:t>
            </a:r>
          </a:p>
        </p:txBody>
      </p:sp>
      <p:sp>
        <p:nvSpPr>
          <p:cNvPr id="27" name="TextBox 27"/>
          <p:cNvSpPr txBox="1"/>
          <p:nvPr/>
        </p:nvSpPr>
        <p:spPr>
          <a:xfrm>
            <a:off x="8577772" y="7689154"/>
            <a:ext cx="3617874" cy="753411"/>
          </a:xfrm>
          <a:prstGeom prst="rect">
            <a:avLst/>
          </a:prstGeom>
        </p:spPr>
        <p:txBody>
          <a:bodyPr wrap="square" lIns="0" tIns="0" rIns="0" bIns="0" rtlCol="0" anchor="t">
            <a:spAutoFit/>
          </a:bodyPr>
          <a:lstStyle/>
          <a:p>
            <a:pPr algn="ctr">
              <a:lnSpc>
                <a:spcPts val="3104"/>
              </a:lnSpc>
            </a:pPr>
            <a:r>
              <a:rPr lang="en-US" sz="1940" dirty="0">
                <a:solidFill>
                  <a:srgbClr val="222222"/>
                </a:solidFill>
                <a:latin typeface="Roboto"/>
                <a:ea typeface="Roboto"/>
                <a:sym typeface="Roboto"/>
              </a:rPr>
              <a:t>Shifts the focus to priorities and solutions</a:t>
            </a:r>
          </a:p>
        </p:txBody>
      </p:sp>
      <p:sp>
        <p:nvSpPr>
          <p:cNvPr id="28" name="TextBox 28"/>
          <p:cNvSpPr txBox="1"/>
          <p:nvPr/>
        </p:nvSpPr>
        <p:spPr>
          <a:xfrm>
            <a:off x="9838944" y="2943779"/>
            <a:ext cx="1243584" cy="326553"/>
          </a:xfrm>
          <a:prstGeom prst="rect">
            <a:avLst/>
          </a:prstGeom>
        </p:spPr>
        <p:txBody>
          <a:bodyPr lIns="0" tIns="0" rIns="0" bIns="0" rtlCol="0" anchor="t">
            <a:spAutoFit/>
          </a:bodyPr>
          <a:lstStyle/>
          <a:p>
            <a:pPr algn="ctr">
              <a:lnSpc>
                <a:spcPts val="2556"/>
              </a:lnSpc>
            </a:pPr>
            <a:r>
              <a:rPr lang="en-US" sz="2130" b="1">
                <a:solidFill>
                  <a:srgbClr val="FFFFFF"/>
                </a:solidFill>
                <a:latin typeface="Roboto Bold"/>
                <a:ea typeface="Roboto Bold"/>
                <a:cs typeface="Roboto Bold"/>
                <a:sym typeface="Roboto Bold"/>
              </a:rPr>
              <a:t>OPTION 1</a:t>
            </a:r>
          </a:p>
        </p:txBody>
      </p:sp>
      <p:sp>
        <p:nvSpPr>
          <p:cNvPr id="29" name="TextBox 29"/>
          <p:cNvSpPr txBox="1"/>
          <p:nvPr/>
        </p:nvSpPr>
        <p:spPr>
          <a:xfrm>
            <a:off x="14666976" y="2943779"/>
            <a:ext cx="1243584" cy="326553"/>
          </a:xfrm>
          <a:prstGeom prst="rect">
            <a:avLst/>
          </a:prstGeom>
        </p:spPr>
        <p:txBody>
          <a:bodyPr lIns="0" tIns="0" rIns="0" bIns="0" rtlCol="0" anchor="t">
            <a:spAutoFit/>
          </a:bodyPr>
          <a:lstStyle/>
          <a:p>
            <a:pPr algn="ctr">
              <a:lnSpc>
                <a:spcPts val="2556"/>
              </a:lnSpc>
            </a:pPr>
            <a:r>
              <a:rPr lang="en-US" sz="2130" b="1">
                <a:solidFill>
                  <a:srgbClr val="FFFFFF"/>
                </a:solidFill>
                <a:latin typeface="Roboto Bold"/>
                <a:ea typeface="Roboto Bold"/>
                <a:cs typeface="Roboto Bold"/>
                <a:sym typeface="Roboto Bold"/>
              </a:rPr>
              <a:t>OPTION 2</a:t>
            </a:r>
          </a:p>
        </p:txBody>
      </p:sp>
      <p:sp>
        <p:nvSpPr>
          <p:cNvPr id="30" name="Flowchart: Connector 29">
            <a:extLst>
              <a:ext uri="{FF2B5EF4-FFF2-40B4-BE49-F238E27FC236}">
                <a16:creationId xmlns:a16="http://schemas.microsoft.com/office/drawing/2014/main" id="{732AD67E-CDDF-7E13-EAFA-889F4BA7EB84}"/>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Connector 30">
            <a:extLst>
              <a:ext uri="{FF2B5EF4-FFF2-40B4-BE49-F238E27FC236}">
                <a16:creationId xmlns:a16="http://schemas.microsoft.com/office/drawing/2014/main" id="{9815448D-E318-4A6F-C738-6E8E5DDBA29C}"/>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2" name="Flowchart: Connector 31">
            <a:extLst>
              <a:ext uri="{FF2B5EF4-FFF2-40B4-BE49-F238E27FC236}">
                <a16:creationId xmlns:a16="http://schemas.microsoft.com/office/drawing/2014/main" id="{36859C96-04AD-7D31-0B85-4374CC77DC2B}"/>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Connector 32">
            <a:extLst>
              <a:ext uri="{FF2B5EF4-FFF2-40B4-BE49-F238E27FC236}">
                <a16:creationId xmlns:a16="http://schemas.microsoft.com/office/drawing/2014/main" id="{42AFFB5A-FE49-9987-8BFD-AB0A22E1E9B2}"/>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Flowchart: Connector 33">
            <a:extLst>
              <a:ext uri="{FF2B5EF4-FFF2-40B4-BE49-F238E27FC236}">
                <a16:creationId xmlns:a16="http://schemas.microsoft.com/office/drawing/2014/main" id="{48AA5FB3-8A38-27D4-3900-5A042CD0CE1A}"/>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lowchart: Connector 34">
            <a:extLst>
              <a:ext uri="{FF2B5EF4-FFF2-40B4-BE49-F238E27FC236}">
                <a16:creationId xmlns:a16="http://schemas.microsoft.com/office/drawing/2014/main" id="{80D73DCB-A3DF-A83E-6A6E-65362B405F70}"/>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lowchart: Connector 35">
            <a:extLst>
              <a:ext uri="{FF2B5EF4-FFF2-40B4-BE49-F238E27FC236}">
                <a16:creationId xmlns:a16="http://schemas.microsoft.com/office/drawing/2014/main" id="{4C537558-06C3-7CB5-22B2-2486FD0E86FC}"/>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Flowchart: Connector 36">
            <a:extLst>
              <a:ext uri="{FF2B5EF4-FFF2-40B4-BE49-F238E27FC236}">
                <a16:creationId xmlns:a16="http://schemas.microsoft.com/office/drawing/2014/main" id="{46C3F0CB-19BE-2E62-F338-3B7AB455C718}"/>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Flowchart: Connector 37">
            <a:extLst>
              <a:ext uri="{FF2B5EF4-FFF2-40B4-BE49-F238E27FC236}">
                <a16:creationId xmlns:a16="http://schemas.microsoft.com/office/drawing/2014/main" id="{50CDED1D-C000-D9D0-8A18-9A3474740A07}"/>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Flowchart: Connector 38">
            <a:extLst>
              <a:ext uri="{FF2B5EF4-FFF2-40B4-BE49-F238E27FC236}">
                <a16:creationId xmlns:a16="http://schemas.microsoft.com/office/drawing/2014/main" id="{C0E4A4C9-35E4-6AC4-66FB-0B570EB388E2}"/>
              </a:ext>
            </a:extLst>
          </p:cNvPr>
          <p:cNvSpPr/>
          <p:nvPr/>
        </p:nvSpPr>
        <p:spPr>
          <a:xfrm>
            <a:off x="15392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9AB26548-9185-4335-0EB9-00F013E767B8}"/>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Split dialogue view with speech callout over Alex, who displays visible frustration.</a:t>
            </a:r>
          </a:p>
          <a:p>
            <a:r>
              <a:rPr lang="en-IN" sz="2000" dirty="0"/>
              <a:t>• Right Panel: 2 Manager response choice cards.</a:t>
            </a:r>
          </a:p>
          <a:p>
            <a:r>
              <a:rPr lang="en-IN" sz="2000" dirty="0"/>
              <a:t>• Comparison Panel: Displays immediate </a:t>
            </a:r>
            <a:r>
              <a:rPr lang="en-IN" sz="2000" dirty="0" err="1"/>
              <a:t>behavioral</a:t>
            </a:r>
            <a:r>
              <a:rPr lang="en-IN" sz="2000" dirty="0"/>
              <a:t> trajectory: "Arguing the Blocker" vs. "Validating Pressure &amp; Refocusing on Communication".</a:t>
            </a:r>
          </a:p>
          <a:p>
            <a:pPr algn="ctr"/>
            <a:endParaRPr lang="en-IN" sz="2000" b="1" dirty="0"/>
          </a:p>
        </p:txBody>
      </p:sp>
      <p:sp>
        <p:nvSpPr>
          <p:cNvPr id="43" name="Flowchart: Connector 42">
            <a:extLst>
              <a:ext uri="{FF2B5EF4-FFF2-40B4-BE49-F238E27FC236}">
                <a16:creationId xmlns:a16="http://schemas.microsoft.com/office/drawing/2014/main" id="{FB902815-945F-DE6D-9A01-E285A19DFEC3}"/>
              </a:ext>
            </a:extLst>
          </p:cNvPr>
          <p:cNvSpPr/>
          <p:nvPr/>
        </p:nvSpPr>
        <p:spPr>
          <a:xfrm>
            <a:off x="15773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lowchart: Connector 44">
            <a:extLst>
              <a:ext uri="{FF2B5EF4-FFF2-40B4-BE49-F238E27FC236}">
                <a16:creationId xmlns:a16="http://schemas.microsoft.com/office/drawing/2014/main" id="{58E0765C-6325-AFAA-3739-2E08CA9AB30B}"/>
              </a:ext>
            </a:extLst>
          </p:cNvPr>
          <p:cNvSpPr/>
          <p:nvPr/>
        </p:nvSpPr>
        <p:spPr>
          <a:xfrm>
            <a:off x="16154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r>
              <a:rPr lang="en-US" b="1">
                <a:solidFill>
                  <a:srgbClr val="FFFFFF"/>
                </a:solidFill>
                <a:latin typeface="Roboto Bold"/>
                <a:ea typeface="Roboto Bold"/>
                <a:cs typeface="Roboto Bold"/>
                <a:sym typeface="Roboto Bold"/>
              </a:rPr>
              <a:t>2</a:t>
            </a:r>
            <a:endParaRPr lang="en-IN"/>
          </a:p>
        </p:txBody>
      </p:sp>
      <p:sp>
        <p:nvSpPr>
          <p:cNvPr id="3" name="Freeform 3"/>
          <p:cNvSpPr/>
          <p:nvPr/>
        </p:nvSpPr>
        <p:spPr>
          <a:xfrm>
            <a:off x="0" y="0"/>
            <a:ext cx="1323474" cy="1716322"/>
          </a:xfrm>
          <a:custGeom>
            <a:avLst/>
            <a:gdLst/>
            <a:ahLst/>
            <a:cxnLst/>
            <a:rect l="l" t="t" r="r" b="b"/>
            <a:pathLst>
              <a:path w="1323474" h="1716322">
                <a:moveTo>
                  <a:pt x="0" y="0"/>
                </a:moveTo>
                <a:lnTo>
                  <a:pt x="1323474" y="0"/>
                </a:lnTo>
                <a:lnTo>
                  <a:pt x="1323474" y="1716322"/>
                </a:lnTo>
                <a:lnTo>
                  <a:pt x="0" y="1716322"/>
                </a:lnTo>
                <a:lnTo>
                  <a:pt x="0" y="0"/>
                </a:lnTo>
                <a:close/>
              </a:path>
            </a:pathLst>
          </a:custGeom>
          <a:blipFill>
            <a:blip r:embed="rId4"/>
            <a:stretch>
              <a:fillRect/>
            </a:stretch>
          </a:blipFill>
        </p:spPr>
        <p:txBody>
          <a:bodyPr/>
          <a:lstStyle/>
          <a:p>
            <a:endParaRPr lang="en-IN"/>
          </a:p>
        </p:txBody>
      </p:sp>
      <p:sp>
        <p:nvSpPr>
          <p:cNvPr id="4" name="Freeform 4"/>
          <p:cNvSpPr/>
          <p:nvPr/>
        </p:nvSpPr>
        <p:spPr>
          <a:xfrm>
            <a:off x="218756" y="426348"/>
            <a:ext cx="885962" cy="863627"/>
          </a:xfrm>
          <a:custGeom>
            <a:avLst/>
            <a:gdLst/>
            <a:ahLst/>
            <a:cxnLst/>
            <a:rect l="l" t="t" r="r" b="b"/>
            <a:pathLst>
              <a:path w="885962" h="863627">
                <a:moveTo>
                  <a:pt x="0" y="0"/>
                </a:moveTo>
                <a:lnTo>
                  <a:pt x="885962" y="0"/>
                </a:lnTo>
                <a:lnTo>
                  <a:pt x="885962" y="863626"/>
                </a:lnTo>
                <a:lnTo>
                  <a:pt x="0" y="863626"/>
                </a:lnTo>
                <a:lnTo>
                  <a:pt x="0" y="0"/>
                </a:lnTo>
                <a:close/>
              </a:path>
            </a:pathLst>
          </a:custGeom>
          <a:blipFill>
            <a:blip r:embed="rId5"/>
            <a:stretch>
              <a:fillRect/>
            </a:stretch>
          </a:blipFill>
        </p:spPr>
        <p:txBody>
          <a:bodyPr/>
          <a:lstStyle/>
          <a:p>
            <a:endParaRPr lang="en-IN"/>
          </a:p>
        </p:txBody>
      </p:sp>
      <p:sp>
        <p:nvSpPr>
          <p:cNvPr id="5" name="TextBox 5"/>
          <p:cNvSpPr txBox="1"/>
          <p:nvPr/>
        </p:nvSpPr>
        <p:spPr>
          <a:xfrm>
            <a:off x="1664208" y="433313"/>
            <a:ext cx="8979408" cy="1590179"/>
          </a:xfrm>
          <a:prstGeom prst="rect">
            <a:avLst/>
          </a:prstGeom>
        </p:spPr>
        <p:txBody>
          <a:bodyPr wrap="square" lIns="0" tIns="0" rIns="0" bIns="0" rtlCol="0" anchor="t">
            <a:spAutoFit/>
          </a:bodyPr>
          <a:lstStyle/>
          <a:p>
            <a:pPr algn="l">
              <a:lnSpc>
                <a:spcPts val="6158"/>
              </a:lnSpc>
            </a:pPr>
            <a:r>
              <a:rPr lang="en-US" sz="5132" dirty="0">
                <a:solidFill>
                  <a:srgbClr val="0A2352"/>
                </a:solidFill>
                <a:latin typeface="Roboto"/>
                <a:ea typeface="Roboto"/>
                <a:cs typeface="Roboto"/>
                <a:sym typeface="Roboto"/>
              </a:rPr>
              <a:t> </a:t>
            </a:r>
            <a:r>
              <a:rPr lang="en-US" sz="5400" b="1" spc="-158" dirty="0">
                <a:solidFill>
                  <a:srgbClr val="00234C"/>
                </a:solidFill>
                <a:latin typeface="Roboto Bold"/>
                <a:ea typeface="Roboto Bold"/>
                <a:sym typeface="Roboto Bold"/>
              </a:rPr>
              <a:t>Building the Way Forward: Performance Commitment</a:t>
            </a:r>
          </a:p>
        </p:txBody>
      </p:sp>
      <p:sp>
        <p:nvSpPr>
          <p:cNvPr id="6" name="TextBox 6"/>
          <p:cNvSpPr txBox="1"/>
          <p:nvPr/>
        </p:nvSpPr>
        <p:spPr>
          <a:xfrm>
            <a:off x="1664208" y="2125640"/>
            <a:ext cx="6620256" cy="337485"/>
          </a:xfrm>
          <a:prstGeom prst="rect">
            <a:avLst/>
          </a:prstGeom>
        </p:spPr>
        <p:txBody>
          <a:bodyPr lIns="0" tIns="0" rIns="0" bIns="0" rtlCol="0" anchor="t">
            <a:spAutoFit/>
          </a:bodyPr>
          <a:lstStyle/>
          <a:p>
            <a:pPr algn="l">
              <a:lnSpc>
                <a:spcPts val="2667"/>
              </a:lnSpc>
            </a:pPr>
            <a:r>
              <a:rPr lang="en-US" sz="2223">
                <a:solidFill>
                  <a:srgbClr val="0A2352"/>
                </a:solidFill>
                <a:latin typeface="Roboto"/>
                <a:ea typeface="Roboto"/>
                <a:cs typeface="Roboto"/>
                <a:sym typeface="Roboto"/>
              </a:rPr>
              <a:t>Structure an actionable, milestone-based agreement.</a:t>
            </a:r>
          </a:p>
        </p:txBody>
      </p:sp>
      <p:sp>
        <p:nvSpPr>
          <p:cNvPr id="7" name="Freeform 7"/>
          <p:cNvSpPr/>
          <p:nvPr/>
        </p:nvSpPr>
        <p:spPr>
          <a:xfrm>
            <a:off x="11747196" y="0"/>
            <a:ext cx="6540804" cy="3006296"/>
          </a:xfrm>
          <a:custGeom>
            <a:avLst/>
            <a:gdLst/>
            <a:ahLst/>
            <a:cxnLst/>
            <a:rect l="l" t="t" r="r" b="b"/>
            <a:pathLst>
              <a:path w="6540804" h="3006296">
                <a:moveTo>
                  <a:pt x="0" y="0"/>
                </a:moveTo>
                <a:lnTo>
                  <a:pt x="6540804" y="0"/>
                </a:lnTo>
                <a:lnTo>
                  <a:pt x="6540804" y="3006296"/>
                </a:lnTo>
                <a:lnTo>
                  <a:pt x="0" y="3006296"/>
                </a:lnTo>
                <a:lnTo>
                  <a:pt x="0" y="0"/>
                </a:lnTo>
                <a:close/>
              </a:path>
            </a:pathLst>
          </a:custGeom>
          <a:blipFill>
            <a:blip r:embed="rId6"/>
            <a:stretch>
              <a:fillRect/>
            </a:stretch>
          </a:blipFill>
        </p:spPr>
        <p:txBody>
          <a:bodyPr/>
          <a:lstStyle/>
          <a:p>
            <a:endParaRPr lang="en-IN"/>
          </a:p>
        </p:txBody>
      </p:sp>
      <p:sp>
        <p:nvSpPr>
          <p:cNvPr id="9" name="Freeform 9"/>
          <p:cNvSpPr/>
          <p:nvPr/>
        </p:nvSpPr>
        <p:spPr>
          <a:xfrm>
            <a:off x="645330" y="3214004"/>
            <a:ext cx="4145426" cy="1289974"/>
          </a:xfrm>
          <a:custGeom>
            <a:avLst/>
            <a:gdLst/>
            <a:ahLst/>
            <a:cxnLst/>
            <a:rect l="l" t="t" r="r" b="b"/>
            <a:pathLst>
              <a:path w="4145426" h="1289974">
                <a:moveTo>
                  <a:pt x="0" y="0"/>
                </a:moveTo>
                <a:lnTo>
                  <a:pt x="4145426" y="0"/>
                </a:lnTo>
                <a:lnTo>
                  <a:pt x="4145426" y="1289975"/>
                </a:lnTo>
                <a:lnTo>
                  <a:pt x="0" y="1289975"/>
                </a:lnTo>
                <a:lnTo>
                  <a:pt x="0" y="0"/>
                </a:lnTo>
                <a:close/>
              </a:path>
            </a:pathLst>
          </a:custGeom>
          <a:blipFill>
            <a:blip r:embed="rId7"/>
            <a:stretch>
              <a:fillRect/>
            </a:stretch>
          </a:blipFill>
        </p:spPr>
        <p:txBody>
          <a:bodyPr/>
          <a:lstStyle/>
          <a:p>
            <a:endParaRPr lang="en-IN"/>
          </a:p>
        </p:txBody>
      </p:sp>
      <p:sp>
        <p:nvSpPr>
          <p:cNvPr id="10" name="Freeform 10"/>
          <p:cNvSpPr/>
          <p:nvPr/>
        </p:nvSpPr>
        <p:spPr>
          <a:xfrm>
            <a:off x="864086" y="3421712"/>
            <a:ext cx="1104718" cy="874559"/>
          </a:xfrm>
          <a:custGeom>
            <a:avLst/>
            <a:gdLst/>
            <a:ahLst/>
            <a:cxnLst/>
            <a:rect l="l" t="t" r="r" b="b"/>
            <a:pathLst>
              <a:path w="1104718" h="874559">
                <a:moveTo>
                  <a:pt x="0" y="0"/>
                </a:moveTo>
                <a:lnTo>
                  <a:pt x="1104718" y="0"/>
                </a:lnTo>
                <a:lnTo>
                  <a:pt x="1104718" y="874559"/>
                </a:lnTo>
                <a:lnTo>
                  <a:pt x="0" y="874559"/>
                </a:lnTo>
                <a:lnTo>
                  <a:pt x="0" y="0"/>
                </a:lnTo>
                <a:close/>
              </a:path>
            </a:pathLst>
          </a:custGeom>
          <a:blipFill>
            <a:blip r:embed="rId8"/>
            <a:stretch>
              <a:fillRect/>
            </a:stretch>
          </a:blipFill>
        </p:spPr>
        <p:txBody>
          <a:bodyPr/>
          <a:lstStyle/>
          <a:p>
            <a:endParaRPr lang="en-IN"/>
          </a:p>
        </p:txBody>
      </p:sp>
      <p:sp>
        <p:nvSpPr>
          <p:cNvPr id="11" name="Freeform 11"/>
          <p:cNvSpPr/>
          <p:nvPr/>
        </p:nvSpPr>
        <p:spPr>
          <a:xfrm>
            <a:off x="4514394" y="3214004"/>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9"/>
            <a:stretch>
              <a:fillRect/>
            </a:stretch>
          </a:blipFill>
        </p:spPr>
        <p:txBody>
          <a:bodyPr/>
          <a:lstStyle/>
          <a:p>
            <a:endParaRPr lang="en-IN"/>
          </a:p>
        </p:txBody>
      </p:sp>
      <p:sp>
        <p:nvSpPr>
          <p:cNvPr id="12" name="Freeform 12"/>
          <p:cNvSpPr/>
          <p:nvPr/>
        </p:nvSpPr>
        <p:spPr>
          <a:xfrm>
            <a:off x="4998574" y="3214004"/>
            <a:ext cx="4145426" cy="1289974"/>
          </a:xfrm>
          <a:custGeom>
            <a:avLst/>
            <a:gdLst/>
            <a:ahLst/>
            <a:cxnLst/>
            <a:rect l="l" t="t" r="r" b="b"/>
            <a:pathLst>
              <a:path w="4145426" h="1289974">
                <a:moveTo>
                  <a:pt x="0" y="0"/>
                </a:moveTo>
                <a:lnTo>
                  <a:pt x="4145426" y="0"/>
                </a:lnTo>
                <a:lnTo>
                  <a:pt x="4145426" y="1289975"/>
                </a:lnTo>
                <a:lnTo>
                  <a:pt x="0" y="1289975"/>
                </a:lnTo>
                <a:lnTo>
                  <a:pt x="0" y="0"/>
                </a:lnTo>
                <a:close/>
              </a:path>
            </a:pathLst>
          </a:custGeom>
          <a:blipFill>
            <a:blip r:embed="rId10"/>
            <a:stretch>
              <a:fillRect/>
            </a:stretch>
          </a:blipFill>
        </p:spPr>
        <p:txBody>
          <a:bodyPr/>
          <a:lstStyle/>
          <a:p>
            <a:endParaRPr lang="en-IN"/>
          </a:p>
        </p:txBody>
      </p:sp>
      <p:sp>
        <p:nvSpPr>
          <p:cNvPr id="13" name="Freeform 13"/>
          <p:cNvSpPr/>
          <p:nvPr/>
        </p:nvSpPr>
        <p:spPr>
          <a:xfrm>
            <a:off x="5217330" y="3421712"/>
            <a:ext cx="1104718" cy="874559"/>
          </a:xfrm>
          <a:custGeom>
            <a:avLst/>
            <a:gdLst/>
            <a:ahLst/>
            <a:cxnLst/>
            <a:rect l="l" t="t" r="r" b="b"/>
            <a:pathLst>
              <a:path w="1104718" h="874559">
                <a:moveTo>
                  <a:pt x="0" y="0"/>
                </a:moveTo>
                <a:lnTo>
                  <a:pt x="1104718" y="0"/>
                </a:lnTo>
                <a:lnTo>
                  <a:pt x="1104718" y="874559"/>
                </a:lnTo>
                <a:lnTo>
                  <a:pt x="0" y="874559"/>
                </a:lnTo>
                <a:lnTo>
                  <a:pt x="0" y="0"/>
                </a:lnTo>
                <a:close/>
              </a:path>
            </a:pathLst>
          </a:custGeom>
          <a:blipFill>
            <a:blip r:embed="rId11"/>
            <a:stretch>
              <a:fillRect/>
            </a:stretch>
          </a:blipFill>
        </p:spPr>
        <p:txBody>
          <a:bodyPr/>
          <a:lstStyle/>
          <a:p>
            <a:endParaRPr lang="en-IN"/>
          </a:p>
        </p:txBody>
      </p:sp>
      <p:sp>
        <p:nvSpPr>
          <p:cNvPr id="14" name="Freeform 14"/>
          <p:cNvSpPr/>
          <p:nvPr/>
        </p:nvSpPr>
        <p:spPr>
          <a:xfrm>
            <a:off x="8915400" y="3214004"/>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12"/>
            <a:stretch>
              <a:fillRect/>
            </a:stretch>
          </a:blipFill>
        </p:spPr>
        <p:txBody>
          <a:bodyPr/>
          <a:lstStyle/>
          <a:p>
            <a:endParaRPr lang="en-IN"/>
          </a:p>
        </p:txBody>
      </p:sp>
      <p:sp>
        <p:nvSpPr>
          <p:cNvPr id="15" name="Freeform 15"/>
          <p:cNvSpPr/>
          <p:nvPr/>
        </p:nvSpPr>
        <p:spPr>
          <a:xfrm>
            <a:off x="9351818" y="3214004"/>
            <a:ext cx="4156364" cy="1289974"/>
          </a:xfrm>
          <a:custGeom>
            <a:avLst/>
            <a:gdLst/>
            <a:ahLst/>
            <a:cxnLst/>
            <a:rect l="l" t="t" r="r" b="b"/>
            <a:pathLst>
              <a:path w="4156364" h="1289974">
                <a:moveTo>
                  <a:pt x="0" y="0"/>
                </a:moveTo>
                <a:lnTo>
                  <a:pt x="4156364" y="0"/>
                </a:lnTo>
                <a:lnTo>
                  <a:pt x="4156364" y="1289975"/>
                </a:lnTo>
                <a:lnTo>
                  <a:pt x="0" y="1289975"/>
                </a:lnTo>
                <a:lnTo>
                  <a:pt x="0" y="0"/>
                </a:lnTo>
                <a:close/>
              </a:path>
            </a:pathLst>
          </a:custGeom>
          <a:blipFill>
            <a:blip r:embed="rId13"/>
            <a:stretch>
              <a:fillRect/>
            </a:stretch>
          </a:blipFill>
        </p:spPr>
        <p:txBody>
          <a:bodyPr/>
          <a:lstStyle/>
          <a:p>
            <a:endParaRPr lang="en-IN"/>
          </a:p>
        </p:txBody>
      </p:sp>
      <p:sp>
        <p:nvSpPr>
          <p:cNvPr id="16" name="Freeform 16"/>
          <p:cNvSpPr/>
          <p:nvPr/>
        </p:nvSpPr>
        <p:spPr>
          <a:xfrm>
            <a:off x="9789330" y="3421712"/>
            <a:ext cx="885962" cy="874559"/>
          </a:xfrm>
          <a:custGeom>
            <a:avLst/>
            <a:gdLst/>
            <a:ahLst/>
            <a:cxnLst/>
            <a:rect l="l" t="t" r="r" b="b"/>
            <a:pathLst>
              <a:path w="885962" h="874559">
                <a:moveTo>
                  <a:pt x="0" y="0"/>
                </a:moveTo>
                <a:lnTo>
                  <a:pt x="885962" y="0"/>
                </a:lnTo>
                <a:lnTo>
                  <a:pt x="885962" y="874559"/>
                </a:lnTo>
                <a:lnTo>
                  <a:pt x="0" y="874559"/>
                </a:lnTo>
                <a:lnTo>
                  <a:pt x="0" y="0"/>
                </a:lnTo>
                <a:close/>
              </a:path>
            </a:pathLst>
          </a:custGeom>
          <a:blipFill>
            <a:blip r:embed="rId14"/>
            <a:stretch>
              <a:fillRect/>
            </a:stretch>
          </a:blipFill>
        </p:spPr>
        <p:txBody>
          <a:bodyPr/>
          <a:lstStyle/>
          <a:p>
            <a:endParaRPr lang="en-IN"/>
          </a:p>
        </p:txBody>
      </p:sp>
      <p:sp>
        <p:nvSpPr>
          <p:cNvPr id="17" name="Freeform 17"/>
          <p:cNvSpPr/>
          <p:nvPr/>
        </p:nvSpPr>
        <p:spPr>
          <a:xfrm>
            <a:off x="13507088" y="3214004"/>
            <a:ext cx="437512" cy="644987"/>
          </a:xfrm>
          <a:custGeom>
            <a:avLst/>
            <a:gdLst/>
            <a:ahLst/>
            <a:cxnLst/>
            <a:rect l="l" t="t" r="r" b="b"/>
            <a:pathLst>
              <a:path w="437512" h="644987">
                <a:moveTo>
                  <a:pt x="0" y="0"/>
                </a:moveTo>
                <a:lnTo>
                  <a:pt x="437512" y="0"/>
                </a:lnTo>
                <a:lnTo>
                  <a:pt x="437512" y="644987"/>
                </a:lnTo>
                <a:lnTo>
                  <a:pt x="0" y="644987"/>
                </a:lnTo>
                <a:lnTo>
                  <a:pt x="0" y="0"/>
                </a:lnTo>
                <a:close/>
              </a:path>
            </a:pathLst>
          </a:custGeom>
          <a:blipFill>
            <a:blip r:embed="rId15"/>
            <a:stretch>
              <a:fillRect/>
            </a:stretch>
          </a:blipFill>
        </p:spPr>
        <p:txBody>
          <a:bodyPr/>
          <a:lstStyle/>
          <a:p>
            <a:endParaRPr lang="en-IN"/>
          </a:p>
        </p:txBody>
      </p:sp>
      <p:sp>
        <p:nvSpPr>
          <p:cNvPr id="18" name="Freeform 18"/>
          <p:cNvSpPr/>
          <p:nvPr/>
        </p:nvSpPr>
        <p:spPr>
          <a:xfrm>
            <a:off x="13923818" y="3214004"/>
            <a:ext cx="4156364" cy="1289974"/>
          </a:xfrm>
          <a:custGeom>
            <a:avLst/>
            <a:gdLst/>
            <a:ahLst/>
            <a:cxnLst/>
            <a:rect l="l" t="t" r="r" b="b"/>
            <a:pathLst>
              <a:path w="4156364" h="1289974">
                <a:moveTo>
                  <a:pt x="0" y="0"/>
                </a:moveTo>
                <a:lnTo>
                  <a:pt x="4156364" y="0"/>
                </a:lnTo>
                <a:lnTo>
                  <a:pt x="4156364" y="1289975"/>
                </a:lnTo>
                <a:lnTo>
                  <a:pt x="0" y="1289975"/>
                </a:lnTo>
                <a:lnTo>
                  <a:pt x="0" y="0"/>
                </a:lnTo>
                <a:close/>
              </a:path>
            </a:pathLst>
          </a:custGeom>
          <a:blipFill>
            <a:blip r:embed="rId16"/>
            <a:stretch>
              <a:fillRect/>
            </a:stretch>
          </a:blipFill>
        </p:spPr>
        <p:txBody>
          <a:bodyPr/>
          <a:lstStyle/>
          <a:p>
            <a:endParaRPr lang="en-IN"/>
          </a:p>
        </p:txBody>
      </p:sp>
      <p:sp>
        <p:nvSpPr>
          <p:cNvPr id="19" name="Freeform 19"/>
          <p:cNvSpPr/>
          <p:nvPr/>
        </p:nvSpPr>
        <p:spPr>
          <a:xfrm>
            <a:off x="14142574" y="3421712"/>
            <a:ext cx="885962" cy="874559"/>
          </a:xfrm>
          <a:custGeom>
            <a:avLst/>
            <a:gdLst/>
            <a:ahLst/>
            <a:cxnLst/>
            <a:rect l="l" t="t" r="r" b="b"/>
            <a:pathLst>
              <a:path w="885962" h="874559">
                <a:moveTo>
                  <a:pt x="0" y="0"/>
                </a:moveTo>
                <a:lnTo>
                  <a:pt x="885962" y="0"/>
                </a:lnTo>
                <a:lnTo>
                  <a:pt x="885962" y="874559"/>
                </a:lnTo>
                <a:lnTo>
                  <a:pt x="0" y="874559"/>
                </a:lnTo>
                <a:lnTo>
                  <a:pt x="0" y="0"/>
                </a:lnTo>
                <a:close/>
              </a:path>
            </a:pathLst>
          </a:custGeom>
          <a:blipFill>
            <a:blip r:embed="rId17"/>
            <a:stretch>
              <a:fillRect/>
            </a:stretch>
          </a:blipFill>
        </p:spPr>
        <p:txBody>
          <a:bodyPr/>
          <a:lstStyle/>
          <a:p>
            <a:endParaRPr lang="en-IN"/>
          </a:p>
        </p:txBody>
      </p:sp>
      <p:sp>
        <p:nvSpPr>
          <p:cNvPr id="20" name="Freeform 20"/>
          <p:cNvSpPr/>
          <p:nvPr/>
        </p:nvSpPr>
        <p:spPr>
          <a:xfrm>
            <a:off x="645330" y="4919394"/>
            <a:ext cx="885962" cy="874559"/>
          </a:xfrm>
          <a:custGeom>
            <a:avLst/>
            <a:gdLst/>
            <a:ahLst/>
            <a:cxnLst/>
            <a:rect l="l" t="t" r="r" b="b"/>
            <a:pathLst>
              <a:path w="885962" h="874559">
                <a:moveTo>
                  <a:pt x="0" y="0"/>
                </a:moveTo>
                <a:lnTo>
                  <a:pt x="885962" y="0"/>
                </a:lnTo>
                <a:lnTo>
                  <a:pt x="885962" y="874559"/>
                </a:lnTo>
                <a:lnTo>
                  <a:pt x="0" y="874559"/>
                </a:lnTo>
                <a:lnTo>
                  <a:pt x="0" y="0"/>
                </a:lnTo>
                <a:close/>
              </a:path>
            </a:pathLst>
          </a:custGeom>
          <a:blipFill>
            <a:blip r:embed="rId18"/>
            <a:stretch>
              <a:fillRect/>
            </a:stretch>
          </a:blipFill>
        </p:spPr>
        <p:txBody>
          <a:bodyPr/>
          <a:lstStyle/>
          <a:p>
            <a:endParaRPr lang="en-IN"/>
          </a:p>
        </p:txBody>
      </p:sp>
      <p:sp>
        <p:nvSpPr>
          <p:cNvPr id="21" name="TextBox 21"/>
          <p:cNvSpPr txBox="1"/>
          <p:nvPr/>
        </p:nvSpPr>
        <p:spPr>
          <a:xfrm>
            <a:off x="1664208" y="5108220"/>
            <a:ext cx="5449824" cy="596317"/>
          </a:xfrm>
          <a:prstGeom prst="rect">
            <a:avLst/>
          </a:prstGeom>
        </p:spPr>
        <p:txBody>
          <a:bodyPr lIns="0" tIns="0" rIns="0" bIns="0" rtlCol="0" anchor="t">
            <a:spAutoFit/>
          </a:bodyPr>
          <a:lstStyle/>
          <a:p>
            <a:pPr algn="l">
              <a:lnSpc>
                <a:spcPts val="2441"/>
              </a:lnSpc>
            </a:pPr>
            <a:r>
              <a:rPr lang="en-US" b="1" dirty="0">
                <a:solidFill>
                  <a:srgbClr val="0A2352"/>
                </a:solidFill>
                <a:latin typeface="Roboto Bold"/>
                <a:ea typeface="Roboto Bold"/>
                <a:cs typeface="Roboto Bold"/>
                <a:sym typeface="Roboto Bold"/>
              </a:rPr>
              <a:t>Click all milestone cards to inspect review parameters.</a:t>
            </a:r>
          </a:p>
        </p:txBody>
      </p:sp>
      <p:sp>
        <p:nvSpPr>
          <p:cNvPr id="22" name="Freeform 22"/>
          <p:cNvSpPr/>
          <p:nvPr/>
        </p:nvSpPr>
        <p:spPr>
          <a:xfrm>
            <a:off x="426574" y="5783021"/>
            <a:ext cx="3500096" cy="2798589"/>
          </a:xfrm>
          <a:custGeom>
            <a:avLst/>
            <a:gdLst/>
            <a:ahLst/>
            <a:cxnLst/>
            <a:rect l="l" t="t" r="r" b="b"/>
            <a:pathLst>
              <a:path w="3500096" h="2798589">
                <a:moveTo>
                  <a:pt x="0" y="0"/>
                </a:moveTo>
                <a:lnTo>
                  <a:pt x="3500096" y="0"/>
                </a:lnTo>
                <a:lnTo>
                  <a:pt x="3500096" y="2798589"/>
                </a:lnTo>
                <a:lnTo>
                  <a:pt x="0" y="2798589"/>
                </a:lnTo>
                <a:lnTo>
                  <a:pt x="0" y="0"/>
                </a:lnTo>
                <a:close/>
              </a:path>
            </a:pathLst>
          </a:custGeom>
          <a:blipFill>
            <a:blip r:embed="rId19"/>
            <a:stretch>
              <a:fillRect/>
            </a:stretch>
          </a:blipFill>
        </p:spPr>
        <p:txBody>
          <a:bodyPr/>
          <a:lstStyle/>
          <a:p>
            <a:endParaRPr lang="en-IN"/>
          </a:p>
        </p:txBody>
      </p:sp>
      <p:sp>
        <p:nvSpPr>
          <p:cNvPr id="23" name="Freeform 23"/>
          <p:cNvSpPr/>
          <p:nvPr/>
        </p:nvSpPr>
        <p:spPr>
          <a:xfrm>
            <a:off x="864086" y="5990729"/>
            <a:ext cx="667206" cy="874559"/>
          </a:xfrm>
          <a:custGeom>
            <a:avLst/>
            <a:gdLst/>
            <a:ahLst/>
            <a:cxnLst/>
            <a:rect l="l" t="t" r="r" b="b"/>
            <a:pathLst>
              <a:path w="667206" h="874559">
                <a:moveTo>
                  <a:pt x="0" y="0"/>
                </a:moveTo>
                <a:lnTo>
                  <a:pt x="667206" y="0"/>
                </a:lnTo>
                <a:lnTo>
                  <a:pt x="667206" y="874559"/>
                </a:lnTo>
                <a:lnTo>
                  <a:pt x="0" y="874559"/>
                </a:lnTo>
                <a:lnTo>
                  <a:pt x="0" y="0"/>
                </a:lnTo>
                <a:close/>
              </a:path>
            </a:pathLst>
          </a:custGeom>
          <a:blipFill>
            <a:blip r:embed="rId20"/>
            <a:stretch>
              <a:fillRect/>
            </a:stretch>
          </a:blipFill>
        </p:spPr>
        <p:txBody>
          <a:bodyPr/>
          <a:lstStyle/>
          <a:p>
            <a:endParaRPr lang="en-IN"/>
          </a:p>
        </p:txBody>
      </p:sp>
      <p:sp>
        <p:nvSpPr>
          <p:cNvPr id="24" name="TextBox 24"/>
          <p:cNvSpPr txBox="1"/>
          <p:nvPr/>
        </p:nvSpPr>
        <p:spPr>
          <a:xfrm>
            <a:off x="1664208" y="6265352"/>
            <a:ext cx="1499616" cy="615553"/>
          </a:xfrm>
          <a:prstGeom prst="rect">
            <a:avLst/>
          </a:prstGeom>
        </p:spPr>
        <p:txBody>
          <a:bodyPr lIns="0" tIns="0" rIns="0" bIns="0" rtlCol="0" anchor="t">
            <a:spAutoFit/>
          </a:bodyPr>
          <a:lstStyle/>
          <a:p>
            <a:pPr algn="l">
              <a:lnSpc>
                <a:spcPts val="2388"/>
              </a:lnSpc>
            </a:pPr>
            <a:r>
              <a:rPr lang="en-US" sz="2000" b="1" dirty="0">
                <a:solidFill>
                  <a:srgbClr val="008F9D"/>
                </a:solidFill>
                <a:latin typeface="Roboto Bold"/>
                <a:ea typeface="Roboto Bold"/>
                <a:cs typeface="Roboto Bold"/>
                <a:sym typeface="Roboto Bold"/>
              </a:rPr>
              <a:t>Day 7 Check-in</a:t>
            </a:r>
          </a:p>
        </p:txBody>
      </p:sp>
      <p:sp>
        <p:nvSpPr>
          <p:cNvPr id="25" name="TextBox 25"/>
          <p:cNvSpPr txBox="1"/>
          <p:nvPr/>
        </p:nvSpPr>
        <p:spPr>
          <a:xfrm>
            <a:off x="932688" y="7174120"/>
            <a:ext cx="2523744" cy="868828"/>
          </a:xfrm>
          <a:prstGeom prst="rect">
            <a:avLst/>
          </a:prstGeom>
        </p:spPr>
        <p:txBody>
          <a:bodyPr lIns="0" tIns="0" rIns="0" bIns="0" rtlCol="0" anchor="t">
            <a:spAutoFit/>
          </a:bodyPr>
          <a:lstStyle/>
          <a:p>
            <a:pPr algn="l">
              <a:lnSpc>
                <a:spcPts val="2321"/>
              </a:lnSpc>
            </a:pPr>
            <a:r>
              <a:rPr lang="en-US" dirty="0">
                <a:solidFill>
                  <a:srgbClr val="0A2352"/>
                </a:solidFill>
                <a:latin typeface="Roboto"/>
                <a:ea typeface="Roboto"/>
                <a:cs typeface="Roboto"/>
                <a:sym typeface="Roboto"/>
              </a:rPr>
              <a:t>Zero unreported blockers; next milestone delivered on schedule.</a:t>
            </a:r>
          </a:p>
        </p:txBody>
      </p:sp>
      <p:sp>
        <p:nvSpPr>
          <p:cNvPr id="26" name="Freeform 26"/>
          <p:cNvSpPr/>
          <p:nvPr/>
        </p:nvSpPr>
        <p:spPr>
          <a:xfrm>
            <a:off x="4134488" y="5783021"/>
            <a:ext cx="3489158" cy="2798589"/>
          </a:xfrm>
          <a:custGeom>
            <a:avLst/>
            <a:gdLst/>
            <a:ahLst/>
            <a:cxnLst/>
            <a:rect l="l" t="t" r="r" b="b"/>
            <a:pathLst>
              <a:path w="3489158" h="2798589">
                <a:moveTo>
                  <a:pt x="0" y="0"/>
                </a:moveTo>
                <a:lnTo>
                  <a:pt x="3489158" y="0"/>
                </a:lnTo>
                <a:lnTo>
                  <a:pt x="3489158" y="2798589"/>
                </a:lnTo>
                <a:lnTo>
                  <a:pt x="0" y="2798589"/>
                </a:lnTo>
                <a:lnTo>
                  <a:pt x="0" y="0"/>
                </a:lnTo>
                <a:close/>
              </a:path>
            </a:pathLst>
          </a:custGeom>
          <a:blipFill>
            <a:blip r:embed="rId21"/>
            <a:stretch>
              <a:fillRect/>
            </a:stretch>
          </a:blipFill>
        </p:spPr>
        <p:txBody>
          <a:bodyPr/>
          <a:lstStyle/>
          <a:p>
            <a:endParaRPr lang="en-IN"/>
          </a:p>
        </p:txBody>
      </p:sp>
      <p:sp>
        <p:nvSpPr>
          <p:cNvPr id="27" name="Freeform 27"/>
          <p:cNvSpPr/>
          <p:nvPr/>
        </p:nvSpPr>
        <p:spPr>
          <a:xfrm>
            <a:off x="4353244" y="5990729"/>
            <a:ext cx="656268" cy="874559"/>
          </a:xfrm>
          <a:custGeom>
            <a:avLst/>
            <a:gdLst/>
            <a:ahLst/>
            <a:cxnLst/>
            <a:rect l="l" t="t" r="r" b="b"/>
            <a:pathLst>
              <a:path w="656268" h="874559">
                <a:moveTo>
                  <a:pt x="0" y="0"/>
                </a:moveTo>
                <a:lnTo>
                  <a:pt x="656268" y="0"/>
                </a:lnTo>
                <a:lnTo>
                  <a:pt x="656268" y="874559"/>
                </a:lnTo>
                <a:lnTo>
                  <a:pt x="0" y="874559"/>
                </a:lnTo>
                <a:lnTo>
                  <a:pt x="0" y="0"/>
                </a:lnTo>
                <a:close/>
              </a:path>
            </a:pathLst>
          </a:custGeom>
          <a:blipFill>
            <a:blip r:embed="rId22"/>
            <a:stretch>
              <a:fillRect/>
            </a:stretch>
          </a:blipFill>
        </p:spPr>
        <p:txBody>
          <a:bodyPr/>
          <a:lstStyle/>
          <a:p>
            <a:endParaRPr lang="en-IN"/>
          </a:p>
        </p:txBody>
      </p:sp>
      <p:sp>
        <p:nvSpPr>
          <p:cNvPr id="28" name="TextBox 28"/>
          <p:cNvSpPr txBox="1"/>
          <p:nvPr/>
        </p:nvSpPr>
        <p:spPr>
          <a:xfrm>
            <a:off x="4480560" y="7166839"/>
            <a:ext cx="2596896" cy="904094"/>
          </a:xfrm>
          <a:prstGeom prst="rect">
            <a:avLst/>
          </a:prstGeom>
        </p:spPr>
        <p:txBody>
          <a:bodyPr lIns="0" tIns="0" rIns="0" bIns="0" rtlCol="0" anchor="t">
            <a:spAutoFit/>
          </a:bodyPr>
          <a:lstStyle/>
          <a:p>
            <a:pPr algn="l">
              <a:lnSpc>
                <a:spcPts val="2366"/>
              </a:lnSpc>
            </a:pPr>
            <a:r>
              <a:rPr lang="en-US">
                <a:solidFill>
                  <a:srgbClr val="0A2352"/>
                </a:solidFill>
                <a:latin typeface="Roboto"/>
                <a:ea typeface="Roboto"/>
                <a:cs typeface="Roboto"/>
                <a:sym typeface="Roboto"/>
              </a:rPr>
              <a:t>Quality sync with QA lead; defect rate under 2%.</a:t>
            </a:r>
          </a:p>
        </p:txBody>
      </p:sp>
      <p:sp>
        <p:nvSpPr>
          <p:cNvPr id="29" name="Freeform 29"/>
          <p:cNvSpPr/>
          <p:nvPr/>
        </p:nvSpPr>
        <p:spPr>
          <a:xfrm>
            <a:off x="7831464" y="5783021"/>
            <a:ext cx="3500096" cy="2798589"/>
          </a:xfrm>
          <a:custGeom>
            <a:avLst/>
            <a:gdLst/>
            <a:ahLst/>
            <a:cxnLst/>
            <a:rect l="l" t="t" r="r" b="b"/>
            <a:pathLst>
              <a:path w="3500096" h="2798589">
                <a:moveTo>
                  <a:pt x="0" y="0"/>
                </a:moveTo>
                <a:lnTo>
                  <a:pt x="3500096" y="0"/>
                </a:lnTo>
                <a:lnTo>
                  <a:pt x="3500096" y="2798589"/>
                </a:lnTo>
                <a:lnTo>
                  <a:pt x="0" y="2798589"/>
                </a:lnTo>
                <a:lnTo>
                  <a:pt x="0" y="0"/>
                </a:lnTo>
                <a:close/>
              </a:path>
            </a:pathLst>
          </a:custGeom>
          <a:blipFill>
            <a:blip r:embed="rId23"/>
            <a:stretch>
              <a:fillRect/>
            </a:stretch>
          </a:blipFill>
        </p:spPr>
        <p:txBody>
          <a:bodyPr/>
          <a:lstStyle/>
          <a:p>
            <a:endParaRPr lang="en-IN"/>
          </a:p>
        </p:txBody>
      </p:sp>
      <p:sp>
        <p:nvSpPr>
          <p:cNvPr id="30" name="Freeform 30"/>
          <p:cNvSpPr/>
          <p:nvPr/>
        </p:nvSpPr>
        <p:spPr>
          <a:xfrm>
            <a:off x="8050220" y="5990729"/>
            <a:ext cx="667206" cy="874559"/>
          </a:xfrm>
          <a:custGeom>
            <a:avLst/>
            <a:gdLst/>
            <a:ahLst/>
            <a:cxnLst/>
            <a:rect l="l" t="t" r="r" b="b"/>
            <a:pathLst>
              <a:path w="667206" h="874559">
                <a:moveTo>
                  <a:pt x="0" y="0"/>
                </a:moveTo>
                <a:lnTo>
                  <a:pt x="667206" y="0"/>
                </a:lnTo>
                <a:lnTo>
                  <a:pt x="667206" y="874559"/>
                </a:lnTo>
                <a:lnTo>
                  <a:pt x="0" y="874559"/>
                </a:lnTo>
                <a:lnTo>
                  <a:pt x="0" y="0"/>
                </a:lnTo>
                <a:close/>
              </a:path>
            </a:pathLst>
          </a:custGeom>
          <a:blipFill>
            <a:blip r:embed="rId24"/>
            <a:stretch>
              <a:fillRect/>
            </a:stretch>
          </a:blipFill>
        </p:spPr>
        <p:txBody>
          <a:bodyPr/>
          <a:lstStyle/>
          <a:p>
            <a:endParaRPr lang="en-IN"/>
          </a:p>
        </p:txBody>
      </p:sp>
      <p:sp>
        <p:nvSpPr>
          <p:cNvPr id="31" name="TextBox 31"/>
          <p:cNvSpPr txBox="1"/>
          <p:nvPr/>
        </p:nvSpPr>
        <p:spPr>
          <a:xfrm>
            <a:off x="8814816" y="6260843"/>
            <a:ext cx="1499616" cy="625171"/>
          </a:xfrm>
          <a:prstGeom prst="rect">
            <a:avLst/>
          </a:prstGeom>
        </p:spPr>
        <p:txBody>
          <a:bodyPr lIns="0" tIns="0" rIns="0" bIns="0" rtlCol="0" anchor="t">
            <a:spAutoFit/>
          </a:bodyPr>
          <a:lstStyle/>
          <a:p>
            <a:pPr algn="l">
              <a:lnSpc>
                <a:spcPts val="2494"/>
              </a:lnSpc>
            </a:pPr>
            <a:r>
              <a:rPr lang="en-US" sz="2000" b="1" dirty="0">
                <a:solidFill>
                  <a:srgbClr val="008F9D"/>
                </a:solidFill>
                <a:latin typeface="Roboto Bold"/>
                <a:ea typeface="Roboto Bold"/>
                <a:cs typeface="Roboto Bold"/>
                <a:sym typeface="Roboto Bold"/>
              </a:rPr>
              <a:t>Day 30 Review</a:t>
            </a:r>
          </a:p>
        </p:txBody>
      </p:sp>
      <p:sp>
        <p:nvSpPr>
          <p:cNvPr id="32" name="TextBox 32"/>
          <p:cNvSpPr txBox="1"/>
          <p:nvPr/>
        </p:nvSpPr>
        <p:spPr>
          <a:xfrm>
            <a:off x="8138160" y="7166839"/>
            <a:ext cx="2048256" cy="596317"/>
          </a:xfrm>
          <a:prstGeom prst="rect">
            <a:avLst/>
          </a:prstGeom>
        </p:spPr>
        <p:txBody>
          <a:bodyPr lIns="0" tIns="0" rIns="0" bIns="0" rtlCol="0" anchor="t">
            <a:spAutoFit/>
          </a:bodyPr>
          <a:lstStyle/>
          <a:p>
            <a:pPr algn="l">
              <a:lnSpc>
                <a:spcPts val="2366"/>
              </a:lnSpc>
            </a:pPr>
            <a:r>
              <a:rPr lang="en-US">
                <a:solidFill>
                  <a:srgbClr val="0A2352"/>
                </a:solidFill>
                <a:latin typeface="Roboto"/>
                <a:ea typeface="Roboto"/>
                <a:cs typeface="Roboto"/>
                <a:sym typeface="Roboto"/>
              </a:rPr>
              <a:t>Full sprint autonomy restored.</a:t>
            </a:r>
          </a:p>
        </p:txBody>
      </p:sp>
      <p:sp>
        <p:nvSpPr>
          <p:cNvPr id="33" name="Freeform 33"/>
          <p:cNvSpPr/>
          <p:nvPr/>
        </p:nvSpPr>
        <p:spPr>
          <a:xfrm>
            <a:off x="12184708" y="5138034"/>
            <a:ext cx="1104718" cy="863627"/>
          </a:xfrm>
          <a:custGeom>
            <a:avLst/>
            <a:gdLst/>
            <a:ahLst/>
            <a:cxnLst/>
            <a:rect l="l" t="t" r="r" b="b"/>
            <a:pathLst>
              <a:path w="1104718" h="863627">
                <a:moveTo>
                  <a:pt x="0" y="0"/>
                </a:moveTo>
                <a:lnTo>
                  <a:pt x="1104718" y="0"/>
                </a:lnTo>
                <a:lnTo>
                  <a:pt x="1104718" y="863627"/>
                </a:lnTo>
                <a:lnTo>
                  <a:pt x="0" y="863627"/>
                </a:lnTo>
                <a:lnTo>
                  <a:pt x="0" y="0"/>
                </a:lnTo>
                <a:close/>
              </a:path>
            </a:pathLst>
          </a:custGeom>
          <a:blipFill>
            <a:blip r:embed="rId25"/>
            <a:stretch>
              <a:fillRect/>
            </a:stretch>
          </a:blipFill>
        </p:spPr>
        <p:txBody>
          <a:bodyPr/>
          <a:lstStyle/>
          <a:p>
            <a:endParaRPr lang="en-IN"/>
          </a:p>
        </p:txBody>
      </p:sp>
      <p:sp>
        <p:nvSpPr>
          <p:cNvPr id="34" name="TextBox 34"/>
          <p:cNvSpPr txBox="1"/>
          <p:nvPr/>
        </p:nvSpPr>
        <p:spPr>
          <a:xfrm>
            <a:off x="13295376" y="5112730"/>
            <a:ext cx="2157984" cy="290902"/>
          </a:xfrm>
          <a:prstGeom prst="rect">
            <a:avLst/>
          </a:prstGeom>
        </p:spPr>
        <p:txBody>
          <a:bodyPr lIns="0" tIns="0" rIns="0" bIns="0" rtlCol="0" anchor="t">
            <a:spAutoFit/>
          </a:bodyPr>
          <a:lstStyle/>
          <a:p>
            <a:pPr algn="l">
              <a:lnSpc>
                <a:spcPts val="2336"/>
              </a:lnSpc>
            </a:pPr>
            <a:r>
              <a:rPr lang="en-US" sz="1668" b="1">
                <a:solidFill>
                  <a:srgbClr val="008F9D"/>
                </a:solidFill>
                <a:latin typeface="Roboto Bold"/>
                <a:ea typeface="Roboto Bold"/>
                <a:cs typeface="Roboto Bold"/>
                <a:sym typeface="Roboto Bold"/>
              </a:rPr>
              <a:t>AGREED ROOT CAUSE</a:t>
            </a:r>
          </a:p>
        </p:txBody>
      </p:sp>
      <p:sp>
        <p:nvSpPr>
          <p:cNvPr id="35" name="TextBox 35"/>
          <p:cNvSpPr txBox="1"/>
          <p:nvPr/>
        </p:nvSpPr>
        <p:spPr>
          <a:xfrm>
            <a:off x="13295376" y="5474042"/>
            <a:ext cx="2834640" cy="512396"/>
          </a:xfrm>
          <a:prstGeom prst="rect">
            <a:avLst/>
          </a:prstGeom>
        </p:spPr>
        <p:txBody>
          <a:bodyPr lIns="0" tIns="0" rIns="0" bIns="0" rtlCol="0" anchor="t">
            <a:spAutoFit/>
          </a:bodyPr>
          <a:lstStyle/>
          <a:p>
            <a:pPr algn="l">
              <a:lnSpc>
                <a:spcPts val="2028"/>
              </a:lnSpc>
            </a:pPr>
            <a:r>
              <a:rPr lang="en-US" b="1">
                <a:solidFill>
                  <a:srgbClr val="0A2352"/>
                </a:solidFill>
                <a:latin typeface="Roboto Bold"/>
                <a:ea typeface="Roboto Bold"/>
                <a:cs typeface="Roboto Bold"/>
                <a:sym typeface="Roboto Bold"/>
              </a:rPr>
              <a:t>QA bottleneck combined with late escalation</a:t>
            </a:r>
          </a:p>
        </p:txBody>
      </p:sp>
      <p:sp>
        <p:nvSpPr>
          <p:cNvPr id="36" name="Freeform 36"/>
          <p:cNvSpPr/>
          <p:nvPr/>
        </p:nvSpPr>
        <p:spPr>
          <a:xfrm>
            <a:off x="12184708" y="6428009"/>
            <a:ext cx="1104718" cy="863627"/>
          </a:xfrm>
          <a:custGeom>
            <a:avLst/>
            <a:gdLst/>
            <a:ahLst/>
            <a:cxnLst/>
            <a:rect l="l" t="t" r="r" b="b"/>
            <a:pathLst>
              <a:path w="1104718" h="863627">
                <a:moveTo>
                  <a:pt x="0" y="0"/>
                </a:moveTo>
                <a:lnTo>
                  <a:pt x="1104718" y="0"/>
                </a:lnTo>
                <a:lnTo>
                  <a:pt x="1104718" y="863626"/>
                </a:lnTo>
                <a:lnTo>
                  <a:pt x="0" y="863626"/>
                </a:lnTo>
                <a:lnTo>
                  <a:pt x="0" y="0"/>
                </a:lnTo>
                <a:close/>
              </a:path>
            </a:pathLst>
          </a:custGeom>
          <a:blipFill>
            <a:blip r:embed="rId26"/>
            <a:stretch>
              <a:fillRect/>
            </a:stretch>
          </a:blipFill>
        </p:spPr>
        <p:txBody>
          <a:bodyPr/>
          <a:lstStyle/>
          <a:p>
            <a:endParaRPr lang="en-IN"/>
          </a:p>
        </p:txBody>
      </p:sp>
      <p:sp>
        <p:nvSpPr>
          <p:cNvPr id="37" name="TextBox 37"/>
          <p:cNvSpPr txBox="1"/>
          <p:nvPr/>
        </p:nvSpPr>
        <p:spPr>
          <a:xfrm>
            <a:off x="13295376" y="6440231"/>
            <a:ext cx="1207008" cy="289946"/>
          </a:xfrm>
          <a:prstGeom prst="rect">
            <a:avLst/>
          </a:prstGeom>
        </p:spPr>
        <p:txBody>
          <a:bodyPr lIns="0" tIns="0" rIns="0" bIns="0" rtlCol="0" anchor="t">
            <a:spAutoFit/>
          </a:bodyPr>
          <a:lstStyle/>
          <a:p>
            <a:pPr algn="l">
              <a:lnSpc>
                <a:spcPts val="2388"/>
              </a:lnSpc>
            </a:pPr>
            <a:r>
              <a:rPr lang="en-US" sz="1706" b="1">
                <a:solidFill>
                  <a:srgbClr val="008F9D"/>
                </a:solidFill>
                <a:latin typeface="Roboto Bold"/>
                <a:ea typeface="Roboto Bold"/>
                <a:cs typeface="Roboto Bold"/>
                <a:sym typeface="Roboto Bold"/>
              </a:rPr>
              <a:t>AGREED FIX</a:t>
            </a:r>
          </a:p>
        </p:txBody>
      </p:sp>
      <p:sp>
        <p:nvSpPr>
          <p:cNvPr id="39" name="TextBox 39"/>
          <p:cNvSpPr txBox="1"/>
          <p:nvPr/>
        </p:nvSpPr>
        <p:spPr>
          <a:xfrm>
            <a:off x="4782064" y="3356343"/>
            <a:ext cx="164592" cy="325146"/>
          </a:xfrm>
          <a:prstGeom prst="rect">
            <a:avLst/>
          </a:prstGeom>
        </p:spPr>
        <p:txBody>
          <a:bodyPr lIns="0" tIns="0" rIns="0" bIns="0" rtlCol="0" anchor="t">
            <a:spAutoFit/>
          </a:bodyPr>
          <a:lstStyle/>
          <a:p>
            <a:pPr algn="ctr">
              <a:lnSpc>
                <a:spcPts val="2428"/>
              </a:lnSpc>
            </a:pPr>
            <a:r>
              <a:rPr lang="en-US" sz="2023" b="1" dirty="0">
                <a:solidFill>
                  <a:srgbClr val="FFFFFF"/>
                </a:solidFill>
                <a:latin typeface="Roboto Bold"/>
                <a:ea typeface="Roboto Bold"/>
                <a:cs typeface="Roboto Bold"/>
                <a:sym typeface="Roboto Bold"/>
              </a:rPr>
              <a:t>2</a:t>
            </a:r>
          </a:p>
        </p:txBody>
      </p:sp>
      <p:sp>
        <p:nvSpPr>
          <p:cNvPr id="40" name="TextBox 40"/>
          <p:cNvSpPr txBox="1"/>
          <p:nvPr/>
        </p:nvSpPr>
        <p:spPr>
          <a:xfrm>
            <a:off x="9244584" y="3356343"/>
            <a:ext cx="164592" cy="325146"/>
          </a:xfrm>
          <a:prstGeom prst="rect">
            <a:avLst/>
          </a:prstGeom>
        </p:spPr>
        <p:txBody>
          <a:bodyPr lIns="0" tIns="0" rIns="0" bIns="0" rtlCol="0" anchor="t">
            <a:spAutoFit/>
          </a:bodyPr>
          <a:lstStyle/>
          <a:p>
            <a:pPr algn="ctr">
              <a:lnSpc>
                <a:spcPts val="2428"/>
              </a:lnSpc>
            </a:pPr>
            <a:r>
              <a:rPr lang="en-US" sz="2023" b="1" dirty="0">
                <a:solidFill>
                  <a:srgbClr val="FFFFFF"/>
                </a:solidFill>
                <a:latin typeface="Roboto Bold"/>
                <a:ea typeface="Roboto Bold"/>
                <a:cs typeface="Roboto Bold"/>
                <a:sym typeface="Roboto Bold"/>
              </a:rPr>
              <a:t>3</a:t>
            </a:r>
          </a:p>
        </p:txBody>
      </p:sp>
      <p:sp>
        <p:nvSpPr>
          <p:cNvPr id="41" name="TextBox 41"/>
          <p:cNvSpPr txBox="1"/>
          <p:nvPr/>
        </p:nvSpPr>
        <p:spPr>
          <a:xfrm>
            <a:off x="13635104" y="3356343"/>
            <a:ext cx="164592" cy="325146"/>
          </a:xfrm>
          <a:prstGeom prst="rect">
            <a:avLst/>
          </a:prstGeom>
        </p:spPr>
        <p:txBody>
          <a:bodyPr lIns="0" tIns="0" rIns="0" bIns="0" rtlCol="0" anchor="t">
            <a:spAutoFit/>
          </a:bodyPr>
          <a:lstStyle/>
          <a:p>
            <a:pPr algn="ctr">
              <a:lnSpc>
                <a:spcPts val="2428"/>
              </a:lnSpc>
            </a:pPr>
            <a:r>
              <a:rPr lang="en-US" sz="2023" b="1">
                <a:solidFill>
                  <a:srgbClr val="FFFFFF"/>
                </a:solidFill>
                <a:latin typeface="Roboto Bold"/>
                <a:ea typeface="Roboto Bold"/>
                <a:cs typeface="Roboto Bold"/>
                <a:sym typeface="Roboto Bold"/>
              </a:rPr>
              <a:t>4</a:t>
            </a:r>
          </a:p>
        </p:txBody>
      </p:sp>
      <p:sp>
        <p:nvSpPr>
          <p:cNvPr id="42" name="TextBox 42"/>
          <p:cNvSpPr txBox="1"/>
          <p:nvPr/>
        </p:nvSpPr>
        <p:spPr>
          <a:xfrm>
            <a:off x="1993392" y="3607013"/>
            <a:ext cx="2322576" cy="807913"/>
          </a:xfrm>
          <a:prstGeom prst="rect">
            <a:avLst/>
          </a:prstGeom>
        </p:spPr>
        <p:txBody>
          <a:bodyPr lIns="0" tIns="0" rIns="0" bIns="0" rtlCol="0" anchor="t">
            <a:spAutoFit/>
          </a:bodyPr>
          <a:lstStyle/>
          <a:p>
            <a:pPr algn="l">
              <a:lnSpc>
                <a:spcPts val="2094"/>
              </a:lnSpc>
            </a:pPr>
            <a:r>
              <a:rPr lang="en-US" sz="2000" b="1" dirty="0">
                <a:solidFill>
                  <a:srgbClr val="008F9D"/>
                </a:solidFill>
                <a:latin typeface="Roboto Bold"/>
                <a:ea typeface="Roboto Bold"/>
                <a:cs typeface="Roboto Bold"/>
                <a:sym typeface="Roboto Bold"/>
              </a:rPr>
              <a:t>Identify Root Cause </a:t>
            </a:r>
          </a:p>
          <a:p>
            <a:pPr algn="l">
              <a:lnSpc>
                <a:spcPts val="2094"/>
              </a:lnSpc>
            </a:pPr>
            <a:r>
              <a:rPr lang="en-US" dirty="0">
                <a:solidFill>
                  <a:srgbClr val="0A2352"/>
                </a:solidFill>
                <a:latin typeface="Roboto"/>
                <a:ea typeface="Roboto"/>
                <a:cs typeface="Roboto"/>
                <a:sym typeface="Roboto"/>
              </a:rPr>
              <a:t>(Process &amp; Escalation Gap)</a:t>
            </a:r>
          </a:p>
        </p:txBody>
      </p:sp>
      <p:sp>
        <p:nvSpPr>
          <p:cNvPr id="43" name="TextBox 43"/>
          <p:cNvSpPr txBox="1"/>
          <p:nvPr/>
        </p:nvSpPr>
        <p:spPr>
          <a:xfrm>
            <a:off x="6400800" y="3607423"/>
            <a:ext cx="2513506" cy="538609"/>
          </a:xfrm>
          <a:prstGeom prst="rect">
            <a:avLst/>
          </a:prstGeom>
        </p:spPr>
        <p:txBody>
          <a:bodyPr wrap="square" lIns="0" tIns="0" rIns="0" bIns="0" rtlCol="0" anchor="t">
            <a:spAutoFit/>
          </a:bodyPr>
          <a:lstStyle/>
          <a:p>
            <a:pPr>
              <a:lnSpc>
                <a:spcPts val="2094"/>
              </a:lnSpc>
            </a:pPr>
            <a:r>
              <a:rPr lang="en-US" sz="2000" b="1" dirty="0">
                <a:solidFill>
                  <a:srgbClr val="008F9D"/>
                </a:solidFill>
                <a:latin typeface="Roboto Bold"/>
                <a:ea typeface="Roboto Bold"/>
                <a:sym typeface="Roboto Bold"/>
              </a:rPr>
              <a:t>Co-Design Solution </a:t>
            </a:r>
          </a:p>
          <a:p>
            <a:pPr algn="l">
              <a:lnSpc>
                <a:spcPts val="2140"/>
              </a:lnSpc>
            </a:pPr>
            <a:r>
              <a:rPr lang="en-US" dirty="0">
                <a:solidFill>
                  <a:srgbClr val="0A2352"/>
                </a:solidFill>
                <a:latin typeface="Roboto"/>
                <a:ea typeface="Roboto"/>
                <a:cs typeface="Roboto"/>
                <a:sym typeface="Roboto"/>
              </a:rPr>
              <a:t>(Daily Slack Check-in)</a:t>
            </a:r>
          </a:p>
        </p:txBody>
      </p:sp>
      <p:sp>
        <p:nvSpPr>
          <p:cNvPr id="44" name="TextBox 44"/>
          <p:cNvSpPr txBox="1"/>
          <p:nvPr/>
        </p:nvSpPr>
        <p:spPr>
          <a:xfrm>
            <a:off x="10826496" y="3576676"/>
            <a:ext cx="2299300" cy="823623"/>
          </a:xfrm>
          <a:prstGeom prst="rect">
            <a:avLst/>
          </a:prstGeom>
        </p:spPr>
        <p:txBody>
          <a:bodyPr wrap="square" lIns="0" tIns="0" rIns="0" bIns="0" rtlCol="0" anchor="t">
            <a:spAutoFit/>
          </a:bodyPr>
          <a:lstStyle/>
          <a:p>
            <a:pPr>
              <a:lnSpc>
                <a:spcPts val="2094"/>
              </a:lnSpc>
            </a:pPr>
            <a:r>
              <a:rPr lang="en-US" sz="2000" b="1" dirty="0">
                <a:solidFill>
                  <a:srgbClr val="008F9D"/>
                </a:solidFill>
                <a:latin typeface="Roboto Bold"/>
                <a:ea typeface="Roboto Bold"/>
                <a:sym typeface="Roboto Bold"/>
              </a:rPr>
              <a:t>Establish Milestones </a:t>
            </a:r>
          </a:p>
          <a:p>
            <a:pPr algn="l">
              <a:lnSpc>
                <a:spcPts val="2366"/>
              </a:lnSpc>
            </a:pPr>
            <a:r>
              <a:rPr lang="en-US" dirty="0">
                <a:solidFill>
                  <a:srgbClr val="0A2352"/>
                </a:solidFill>
                <a:latin typeface="Roboto"/>
                <a:ea typeface="Roboto"/>
                <a:cs typeface="Roboto"/>
                <a:sym typeface="Roboto"/>
              </a:rPr>
              <a:t>(Day 7, 14, 30)</a:t>
            </a:r>
          </a:p>
        </p:txBody>
      </p:sp>
      <p:sp>
        <p:nvSpPr>
          <p:cNvPr id="45" name="TextBox 45"/>
          <p:cNvSpPr txBox="1"/>
          <p:nvPr/>
        </p:nvSpPr>
        <p:spPr>
          <a:xfrm>
            <a:off x="15233904" y="3576676"/>
            <a:ext cx="2408766" cy="554319"/>
          </a:xfrm>
          <a:prstGeom prst="rect">
            <a:avLst/>
          </a:prstGeom>
        </p:spPr>
        <p:txBody>
          <a:bodyPr wrap="square" lIns="0" tIns="0" rIns="0" bIns="0" rtlCol="0" anchor="t">
            <a:spAutoFit/>
          </a:bodyPr>
          <a:lstStyle/>
          <a:p>
            <a:pPr>
              <a:lnSpc>
                <a:spcPts val="2094"/>
              </a:lnSpc>
            </a:pPr>
            <a:r>
              <a:rPr lang="en-US" sz="2000" b="1" dirty="0">
                <a:solidFill>
                  <a:srgbClr val="008F9D"/>
                </a:solidFill>
                <a:latin typeface="Roboto Bold"/>
                <a:ea typeface="Roboto Bold"/>
                <a:sym typeface="Roboto Bold"/>
              </a:rPr>
              <a:t>Mutual Confirmation </a:t>
            </a:r>
          </a:p>
          <a:p>
            <a:pPr algn="l">
              <a:lnSpc>
                <a:spcPts val="2366"/>
              </a:lnSpc>
            </a:pPr>
            <a:r>
              <a:rPr lang="en-US" dirty="0">
                <a:solidFill>
                  <a:srgbClr val="0A2352"/>
                </a:solidFill>
                <a:latin typeface="Roboto"/>
                <a:ea typeface="Roboto"/>
                <a:cs typeface="Roboto"/>
                <a:sym typeface="Roboto"/>
              </a:rPr>
              <a:t>(Written Summary)</a:t>
            </a:r>
          </a:p>
        </p:txBody>
      </p:sp>
      <p:sp>
        <p:nvSpPr>
          <p:cNvPr id="46" name="TextBox 46"/>
          <p:cNvSpPr txBox="1"/>
          <p:nvPr/>
        </p:nvSpPr>
        <p:spPr>
          <a:xfrm>
            <a:off x="5193792" y="6265352"/>
            <a:ext cx="1609344" cy="615553"/>
          </a:xfrm>
          <a:prstGeom prst="rect">
            <a:avLst/>
          </a:prstGeom>
        </p:spPr>
        <p:txBody>
          <a:bodyPr lIns="0" tIns="0" rIns="0" bIns="0" rtlCol="0" anchor="t">
            <a:spAutoFit/>
          </a:bodyPr>
          <a:lstStyle/>
          <a:p>
            <a:pPr algn="l">
              <a:lnSpc>
                <a:spcPts val="2388"/>
              </a:lnSpc>
            </a:pPr>
            <a:r>
              <a:rPr lang="en-US" sz="2000" b="1" dirty="0">
                <a:solidFill>
                  <a:srgbClr val="008F9D"/>
                </a:solidFill>
                <a:latin typeface="Roboto Bold"/>
                <a:ea typeface="Roboto Bold"/>
                <a:cs typeface="Roboto Bold"/>
                <a:sym typeface="Roboto Bold"/>
              </a:rPr>
              <a:t>Day 14 Check-in</a:t>
            </a:r>
          </a:p>
        </p:txBody>
      </p:sp>
      <p:sp>
        <p:nvSpPr>
          <p:cNvPr id="47" name="TextBox 47"/>
          <p:cNvSpPr txBox="1"/>
          <p:nvPr/>
        </p:nvSpPr>
        <p:spPr>
          <a:xfrm>
            <a:off x="13295376" y="6801065"/>
            <a:ext cx="2834640" cy="769441"/>
          </a:xfrm>
          <a:prstGeom prst="rect">
            <a:avLst/>
          </a:prstGeom>
        </p:spPr>
        <p:txBody>
          <a:bodyPr lIns="0" tIns="0" rIns="0" bIns="0" rtlCol="0" anchor="t">
            <a:spAutoFit/>
          </a:bodyPr>
          <a:lstStyle/>
          <a:p>
            <a:pPr algn="l">
              <a:lnSpc>
                <a:spcPts val="2028"/>
              </a:lnSpc>
            </a:pPr>
            <a:r>
              <a:rPr lang="en-US" b="1">
                <a:solidFill>
                  <a:srgbClr val="0A2352"/>
                </a:solidFill>
                <a:latin typeface="Roboto Bold"/>
                <a:ea typeface="Roboto Bold"/>
                <a:cs typeface="Roboto Bold"/>
                <a:sym typeface="Roboto Bold"/>
              </a:rPr>
              <a:t>Daily 5-minute asynchronous Slack blocker check-in</a:t>
            </a:r>
          </a:p>
        </p:txBody>
      </p:sp>
      <p:sp>
        <p:nvSpPr>
          <p:cNvPr id="48" name="TextBox 48"/>
          <p:cNvSpPr txBox="1"/>
          <p:nvPr/>
        </p:nvSpPr>
        <p:spPr>
          <a:xfrm>
            <a:off x="13295376" y="7766776"/>
            <a:ext cx="1865376" cy="290902"/>
          </a:xfrm>
          <a:prstGeom prst="rect">
            <a:avLst/>
          </a:prstGeom>
        </p:spPr>
        <p:txBody>
          <a:bodyPr lIns="0" tIns="0" rIns="0" bIns="0" rtlCol="0" anchor="t">
            <a:spAutoFit/>
          </a:bodyPr>
          <a:lstStyle/>
          <a:p>
            <a:pPr algn="l">
              <a:lnSpc>
                <a:spcPts val="2336"/>
              </a:lnSpc>
            </a:pPr>
            <a:r>
              <a:rPr lang="en-US" sz="1668" b="1">
                <a:solidFill>
                  <a:srgbClr val="008F9D"/>
                </a:solidFill>
                <a:latin typeface="Roboto Bold"/>
                <a:ea typeface="Roboto Bold"/>
                <a:cs typeface="Roboto Bold"/>
                <a:sym typeface="Roboto Bold"/>
              </a:rPr>
              <a:t>MUTUAL SIGN-OFF</a:t>
            </a:r>
          </a:p>
        </p:txBody>
      </p:sp>
      <p:sp>
        <p:nvSpPr>
          <p:cNvPr id="49" name="TextBox 49"/>
          <p:cNvSpPr txBox="1"/>
          <p:nvPr/>
        </p:nvSpPr>
        <p:spPr>
          <a:xfrm>
            <a:off x="13295376" y="8128088"/>
            <a:ext cx="2450592" cy="769441"/>
          </a:xfrm>
          <a:prstGeom prst="rect">
            <a:avLst/>
          </a:prstGeom>
        </p:spPr>
        <p:txBody>
          <a:bodyPr lIns="0" tIns="0" rIns="0" bIns="0" rtlCol="0" anchor="t">
            <a:spAutoFit/>
          </a:bodyPr>
          <a:lstStyle/>
          <a:p>
            <a:pPr algn="l">
              <a:lnSpc>
                <a:spcPts val="2028"/>
              </a:lnSpc>
            </a:pPr>
            <a:r>
              <a:rPr lang="en-US" b="1">
                <a:solidFill>
                  <a:srgbClr val="0A2352"/>
                </a:solidFill>
                <a:latin typeface="Roboto Bold"/>
                <a:ea typeface="Roboto Bold"/>
                <a:cs typeface="Roboto Bold"/>
                <a:sym typeface="Roboto Bold"/>
              </a:rPr>
              <a:t>Summary emailed within 2 hours of the meeting</a:t>
            </a:r>
          </a:p>
        </p:txBody>
      </p:sp>
      <p:sp>
        <p:nvSpPr>
          <p:cNvPr id="50" name="TextBox 50"/>
          <p:cNvSpPr txBox="1"/>
          <p:nvPr/>
        </p:nvSpPr>
        <p:spPr>
          <a:xfrm>
            <a:off x="16733520" y="9559727"/>
            <a:ext cx="658368" cy="314214"/>
          </a:xfrm>
          <a:prstGeom prst="rect">
            <a:avLst/>
          </a:prstGeom>
        </p:spPr>
        <p:txBody>
          <a:bodyPr lIns="0" tIns="0" rIns="0" bIns="0" rtlCol="0" anchor="t">
            <a:spAutoFit/>
          </a:bodyPr>
          <a:lstStyle/>
          <a:p>
            <a:pPr algn="ctr">
              <a:lnSpc>
                <a:spcPts val="2328"/>
              </a:lnSpc>
            </a:pPr>
            <a:r>
              <a:rPr lang="en-US" sz="1940" b="1">
                <a:solidFill>
                  <a:srgbClr val="FFFFFF"/>
                </a:solidFill>
                <a:latin typeface="Roboto Bold"/>
                <a:ea typeface="Roboto Bold"/>
                <a:cs typeface="Roboto Bold"/>
                <a:sym typeface="Roboto Bold"/>
              </a:rPr>
              <a:t>6 of 9</a:t>
            </a:r>
          </a:p>
        </p:txBody>
      </p:sp>
      <p:sp>
        <p:nvSpPr>
          <p:cNvPr id="51" name="TextBox 51"/>
          <p:cNvSpPr txBox="1"/>
          <p:nvPr/>
        </p:nvSpPr>
        <p:spPr>
          <a:xfrm>
            <a:off x="7132320" y="9337266"/>
            <a:ext cx="3712464" cy="357942"/>
          </a:xfrm>
          <a:prstGeom prst="rect">
            <a:avLst/>
          </a:prstGeom>
        </p:spPr>
        <p:txBody>
          <a:bodyPr lIns="0" tIns="0" rIns="0" bIns="0" rtlCol="0" anchor="t">
            <a:spAutoFit/>
          </a:bodyPr>
          <a:lstStyle/>
          <a:p>
            <a:pPr algn="ctr">
              <a:lnSpc>
                <a:spcPts val="2709"/>
              </a:lnSpc>
            </a:pPr>
            <a:r>
              <a:rPr lang="en-US" sz="2258" b="1">
                <a:solidFill>
                  <a:srgbClr val="FFFFFF"/>
                </a:solidFill>
                <a:latin typeface="Roboto Bold"/>
                <a:ea typeface="Roboto Bold"/>
                <a:cs typeface="Roboto Bold"/>
                <a:sym typeface="Roboto Bold"/>
              </a:rPr>
              <a:t>Take the Manager Challenge</a:t>
            </a:r>
          </a:p>
        </p:txBody>
      </p:sp>
      <p:sp>
        <p:nvSpPr>
          <p:cNvPr id="52" name="Flowchart: Connector 51">
            <a:extLst>
              <a:ext uri="{FF2B5EF4-FFF2-40B4-BE49-F238E27FC236}">
                <a16:creationId xmlns:a16="http://schemas.microsoft.com/office/drawing/2014/main" id="{B060B636-DD49-59C1-0939-6DA87DE56E99}"/>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3" name="Straight Connector 52">
            <a:extLst>
              <a:ext uri="{FF2B5EF4-FFF2-40B4-BE49-F238E27FC236}">
                <a16:creationId xmlns:a16="http://schemas.microsoft.com/office/drawing/2014/main" id="{7622A790-3154-5D98-27B1-E88F6AB229B8}"/>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Flowchart: Connector 53">
            <a:extLst>
              <a:ext uri="{FF2B5EF4-FFF2-40B4-BE49-F238E27FC236}">
                <a16:creationId xmlns:a16="http://schemas.microsoft.com/office/drawing/2014/main" id="{D4D7D82B-7B61-38FE-1053-BBDE8A2E5919}"/>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Flowchart: Connector 54">
            <a:extLst>
              <a:ext uri="{FF2B5EF4-FFF2-40B4-BE49-F238E27FC236}">
                <a16:creationId xmlns:a16="http://schemas.microsoft.com/office/drawing/2014/main" id="{612ECD14-886A-42A2-B0CE-CED70EE122FA}"/>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lowchart: Connector 55">
            <a:extLst>
              <a:ext uri="{FF2B5EF4-FFF2-40B4-BE49-F238E27FC236}">
                <a16:creationId xmlns:a16="http://schemas.microsoft.com/office/drawing/2014/main" id="{6F4D5D84-CCFA-65ED-8590-775C476570F3}"/>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lowchart: Connector 56">
            <a:extLst>
              <a:ext uri="{FF2B5EF4-FFF2-40B4-BE49-F238E27FC236}">
                <a16:creationId xmlns:a16="http://schemas.microsoft.com/office/drawing/2014/main" id="{81140527-CA29-D465-67E5-D40857C4FFDE}"/>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Connector 57">
            <a:extLst>
              <a:ext uri="{FF2B5EF4-FFF2-40B4-BE49-F238E27FC236}">
                <a16:creationId xmlns:a16="http://schemas.microsoft.com/office/drawing/2014/main" id="{09109C70-1D33-75ED-E287-298966263F68}"/>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lowchart: Connector 58">
            <a:extLst>
              <a:ext uri="{FF2B5EF4-FFF2-40B4-BE49-F238E27FC236}">
                <a16:creationId xmlns:a16="http://schemas.microsoft.com/office/drawing/2014/main" id="{8D48909B-0894-39BF-DD02-65A0E056D890}"/>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a:extLst>
              <a:ext uri="{FF2B5EF4-FFF2-40B4-BE49-F238E27FC236}">
                <a16:creationId xmlns:a16="http://schemas.microsoft.com/office/drawing/2014/main" id="{31AE7E8E-1971-4650-94DB-DAD9A1CEE7FD}"/>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Flowchart: Connector 60">
            <a:extLst>
              <a:ext uri="{FF2B5EF4-FFF2-40B4-BE49-F238E27FC236}">
                <a16:creationId xmlns:a16="http://schemas.microsoft.com/office/drawing/2014/main" id="{07D29781-C6E3-0338-8860-28307C3FBEB8}"/>
              </a:ext>
            </a:extLst>
          </p:cNvPr>
          <p:cNvSpPr/>
          <p:nvPr/>
        </p:nvSpPr>
        <p:spPr>
          <a:xfrm>
            <a:off x="15392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Rounded Corners 62">
            <a:extLst>
              <a:ext uri="{FF2B5EF4-FFF2-40B4-BE49-F238E27FC236}">
                <a16:creationId xmlns:a16="http://schemas.microsoft.com/office/drawing/2014/main" id="{91EBEF84-00D7-460A-617B-4873777695CE}"/>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Horizontal 4-step Action Commitment Stepper:</a:t>
            </a:r>
          </a:p>
          <a:p>
            <a:r>
              <a:rPr lang="en-IN" sz="2000" dirty="0"/>
              <a:t>  1. Identify Root Cause (Process &amp; Escalation Gap)</a:t>
            </a:r>
          </a:p>
          <a:p>
            <a:r>
              <a:rPr lang="en-IN" sz="2000" dirty="0"/>
              <a:t>  2. Co-Design Solution (Daily Slack Check-in)</a:t>
            </a:r>
          </a:p>
          <a:p>
            <a:r>
              <a:rPr lang="en-IN" sz="2000" dirty="0"/>
              <a:t>  3. Establish Milestones (Day 7, 14, 30)</a:t>
            </a:r>
          </a:p>
          <a:p>
            <a:r>
              <a:rPr lang="en-IN" sz="2000" dirty="0"/>
              <a:t>  4. Mutual Confirmation (Written Summary)</a:t>
            </a:r>
          </a:p>
          <a:p>
            <a:r>
              <a:rPr lang="en-IN" sz="2000" dirty="0"/>
              <a:t>• Interactive Cards: Click each milestone marker to reveal follow-up criteria.</a:t>
            </a:r>
          </a:p>
          <a:p>
            <a:pPr algn="ctr"/>
            <a:endParaRPr lang="en-IN" sz="2000" b="1" dirty="0"/>
          </a:p>
        </p:txBody>
      </p:sp>
      <p:sp>
        <p:nvSpPr>
          <p:cNvPr id="69" name="Flowchart: Connector 68">
            <a:extLst>
              <a:ext uri="{FF2B5EF4-FFF2-40B4-BE49-F238E27FC236}">
                <a16:creationId xmlns:a16="http://schemas.microsoft.com/office/drawing/2014/main" id="{19A006E6-DD0C-091E-FF10-930059E25E25}"/>
              </a:ext>
            </a:extLst>
          </p:cNvPr>
          <p:cNvSpPr/>
          <p:nvPr/>
        </p:nvSpPr>
        <p:spPr>
          <a:xfrm>
            <a:off x="15773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Flowchart: Connector 70">
            <a:extLst>
              <a:ext uri="{FF2B5EF4-FFF2-40B4-BE49-F238E27FC236}">
                <a16:creationId xmlns:a16="http://schemas.microsoft.com/office/drawing/2014/main" id="{F3BF6AEC-1DDD-9716-806E-47D2BA706E94}"/>
              </a:ext>
            </a:extLst>
          </p:cNvPr>
          <p:cNvSpPr/>
          <p:nvPr/>
        </p:nvSpPr>
        <p:spPr>
          <a:xfrm>
            <a:off x="16154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Flowchart: Connector 72">
            <a:extLst>
              <a:ext uri="{FF2B5EF4-FFF2-40B4-BE49-F238E27FC236}">
                <a16:creationId xmlns:a16="http://schemas.microsoft.com/office/drawing/2014/main" id="{DD9EE2F5-3EEC-0452-CF6C-17E0FF85B609}"/>
              </a:ext>
            </a:extLst>
          </p:cNvPr>
          <p:cNvSpPr/>
          <p:nvPr/>
        </p:nvSpPr>
        <p:spPr>
          <a:xfrm>
            <a:off x="16535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Freeform 14">
            <a:extLst>
              <a:ext uri="{FF2B5EF4-FFF2-40B4-BE49-F238E27FC236}">
                <a16:creationId xmlns:a16="http://schemas.microsoft.com/office/drawing/2014/main" id="{55B2B473-EABC-1E07-119F-6079DCBF15E6}"/>
              </a:ext>
            </a:extLst>
          </p:cNvPr>
          <p:cNvSpPr/>
          <p:nvPr/>
        </p:nvSpPr>
        <p:spPr>
          <a:xfrm>
            <a:off x="17172" y="316230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12"/>
            <a:stretch>
              <a:fillRect/>
            </a:stretch>
          </a:blipFill>
        </p:spPr>
        <p:txBody>
          <a:bodyPr/>
          <a:lstStyle/>
          <a:p>
            <a:r>
              <a:rPr lang="en-GB" dirty="0"/>
              <a:t>     </a:t>
            </a:r>
            <a:r>
              <a:rPr lang="en-GB" sz="2023" b="1" dirty="0">
                <a:solidFill>
                  <a:srgbClr val="FFFFFF"/>
                </a:solidFill>
                <a:latin typeface="Roboto Bold"/>
                <a:ea typeface="Roboto Bold"/>
              </a:rPr>
              <a:t>1</a:t>
            </a:r>
            <a:endParaRPr lang="en-IN" sz="2023" b="1" dirty="0">
              <a:solidFill>
                <a:srgbClr val="FFFFFF"/>
              </a:solidFill>
              <a:latin typeface="Roboto Bold"/>
              <a:ea typeface="Roboto Bold"/>
            </a:endParaRPr>
          </a:p>
        </p:txBody>
      </p:sp>
      <p:sp>
        <p:nvSpPr>
          <p:cNvPr id="77" name="Freeform 3">
            <a:extLst>
              <a:ext uri="{FF2B5EF4-FFF2-40B4-BE49-F238E27FC236}">
                <a16:creationId xmlns:a16="http://schemas.microsoft.com/office/drawing/2014/main" id="{7BD8C1C1-E4A4-82B4-5917-E27E9F299B72}"/>
              </a:ext>
            </a:extLst>
          </p:cNvPr>
          <p:cNvSpPr/>
          <p:nvPr/>
        </p:nvSpPr>
        <p:spPr>
          <a:xfrm>
            <a:off x="1227950" y="342900"/>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27"/>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914400" y="-190500"/>
            <a:ext cx="15764256" cy="1240724"/>
          </a:xfrm>
          <a:prstGeom prst="rect">
            <a:avLst/>
          </a:prstGeom>
        </p:spPr>
        <p:txBody>
          <a:bodyPr wrap="square" lIns="0" tIns="0" rIns="0" bIns="0" rtlCol="0" anchor="t">
            <a:spAutoFit/>
          </a:bodyPr>
          <a:lstStyle/>
          <a:p>
            <a:pPr>
              <a:lnSpc>
                <a:spcPts val="11122"/>
              </a:lnSpc>
            </a:pPr>
            <a:r>
              <a:rPr lang="en-US" sz="4800" b="1" spc="-158" dirty="0">
                <a:solidFill>
                  <a:srgbClr val="00234C"/>
                </a:solidFill>
                <a:latin typeface="Roboto Bold"/>
                <a:ea typeface="Roboto Bold"/>
                <a:sym typeface="Roboto Bold"/>
              </a:rPr>
              <a:t>The Manager Challenge: Application Under Pressure</a:t>
            </a:r>
          </a:p>
        </p:txBody>
      </p:sp>
      <p:sp>
        <p:nvSpPr>
          <p:cNvPr id="5" name="TextBox 5"/>
          <p:cNvSpPr txBox="1"/>
          <p:nvPr/>
        </p:nvSpPr>
        <p:spPr>
          <a:xfrm>
            <a:off x="1280160" y="1010247"/>
            <a:ext cx="5394960" cy="318465"/>
          </a:xfrm>
          <a:prstGeom prst="rect">
            <a:avLst/>
          </a:prstGeom>
        </p:spPr>
        <p:txBody>
          <a:bodyPr lIns="0" tIns="0" rIns="0" bIns="0" rtlCol="0" anchor="t">
            <a:spAutoFit/>
          </a:bodyPr>
          <a:lstStyle/>
          <a:p>
            <a:pPr algn="l">
              <a:lnSpc>
                <a:spcPts val="2547"/>
              </a:lnSpc>
            </a:pPr>
            <a:r>
              <a:rPr lang="en-US" sz="1819">
                <a:solidFill>
                  <a:srgbClr val="1A3E70"/>
                </a:solidFill>
                <a:latin typeface="Roboto"/>
                <a:ea typeface="Roboto"/>
                <a:cs typeface="Roboto"/>
                <a:sym typeface="Roboto"/>
              </a:rPr>
              <a:t>The scenario below and choose the best response.</a:t>
            </a:r>
          </a:p>
        </p:txBody>
      </p:sp>
      <p:sp>
        <p:nvSpPr>
          <p:cNvPr id="7" name="Freeform 7"/>
          <p:cNvSpPr/>
          <p:nvPr/>
        </p:nvSpPr>
        <p:spPr>
          <a:xfrm>
            <a:off x="16078200" y="495300"/>
            <a:ext cx="1760986" cy="874559"/>
          </a:xfrm>
          <a:custGeom>
            <a:avLst/>
            <a:gdLst/>
            <a:ahLst/>
            <a:cxnLst/>
            <a:rect l="l" t="t" r="r" b="b"/>
            <a:pathLst>
              <a:path w="1760986" h="874559">
                <a:moveTo>
                  <a:pt x="0" y="0"/>
                </a:moveTo>
                <a:lnTo>
                  <a:pt x="1760986" y="0"/>
                </a:lnTo>
                <a:lnTo>
                  <a:pt x="1760986" y="874559"/>
                </a:lnTo>
                <a:lnTo>
                  <a:pt x="0" y="874559"/>
                </a:lnTo>
                <a:lnTo>
                  <a:pt x="0" y="0"/>
                </a:lnTo>
                <a:close/>
              </a:path>
            </a:pathLst>
          </a:custGeom>
          <a:blipFill>
            <a:blip r:embed="rId4"/>
            <a:stretch>
              <a:fillRect/>
            </a:stretch>
          </a:blipFill>
        </p:spPr>
        <p:txBody>
          <a:bodyPr/>
          <a:lstStyle/>
          <a:p>
            <a:endParaRPr lang="en-IN"/>
          </a:p>
        </p:txBody>
      </p:sp>
      <p:sp>
        <p:nvSpPr>
          <p:cNvPr id="8" name="Freeform 8"/>
          <p:cNvSpPr/>
          <p:nvPr/>
        </p:nvSpPr>
        <p:spPr>
          <a:xfrm>
            <a:off x="16296956" y="713940"/>
            <a:ext cx="448450" cy="655919"/>
          </a:xfrm>
          <a:custGeom>
            <a:avLst/>
            <a:gdLst/>
            <a:ahLst/>
            <a:cxnLst/>
            <a:rect l="l" t="t" r="r" b="b"/>
            <a:pathLst>
              <a:path w="448450" h="655919">
                <a:moveTo>
                  <a:pt x="0" y="0"/>
                </a:moveTo>
                <a:lnTo>
                  <a:pt x="448450" y="0"/>
                </a:lnTo>
                <a:lnTo>
                  <a:pt x="448450" y="655919"/>
                </a:lnTo>
                <a:lnTo>
                  <a:pt x="0" y="655919"/>
                </a:lnTo>
                <a:lnTo>
                  <a:pt x="0" y="0"/>
                </a:lnTo>
                <a:close/>
              </a:path>
            </a:pathLst>
          </a:custGeom>
          <a:blipFill>
            <a:blip r:embed="rId5"/>
            <a:stretch>
              <a:fillRect/>
            </a:stretch>
          </a:blipFill>
        </p:spPr>
        <p:txBody>
          <a:bodyPr/>
          <a:lstStyle/>
          <a:p>
            <a:endParaRPr lang="en-IN"/>
          </a:p>
        </p:txBody>
      </p:sp>
      <p:sp>
        <p:nvSpPr>
          <p:cNvPr id="9" name="Freeform 9"/>
          <p:cNvSpPr/>
          <p:nvPr/>
        </p:nvSpPr>
        <p:spPr>
          <a:xfrm>
            <a:off x="207818" y="1497682"/>
            <a:ext cx="3062584" cy="6084218"/>
          </a:xfrm>
          <a:custGeom>
            <a:avLst/>
            <a:gdLst/>
            <a:ahLst/>
            <a:cxnLst/>
            <a:rect l="l" t="t" r="r" b="b"/>
            <a:pathLst>
              <a:path w="3062584" h="4941258">
                <a:moveTo>
                  <a:pt x="0" y="0"/>
                </a:moveTo>
                <a:lnTo>
                  <a:pt x="3062584" y="0"/>
                </a:lnTo>
                <a:lnTo>
                  <a:pt x="3062584" y="4941258"/>
                </a:lnTo>
                <a:lnTo>
                  <a:pt x="0" y="4941258"/>
                </a:lnTo>
                <a:lnTo>
                  <a:pt x="0" y="0"/>
                </a:lnTo>
                <a:close/>
              </a:path>
            </a:pathLst>
          </a:custGeom>
          <a:blipFill>
            <a:blip r:embed="rId6"/>
            <a:stretch>
              <a:fillRect/>
            </a:stretch>
          </a:blipFill>
        </p:spPr>
        <p:txBody>
          <a:bodyPr/>
          <a:lstStyle/>
          <a:p>
            <a:endParaRPr lang="en-IN"/>
          </a:p>
        </p:txBody>
      </p:sp>
      <p:sp>
        <p:nvSpPr>
          <p:cNvPr id="10" name="Freeform 10"/>
          <p:cNvSpPr/>
          <p:nvPr/>
        </p:nvSpPr>
        <p:spPr>
          <a:xfrm>
            <a:off x="645330" y="1705390"/>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7"/>
            <a:stretch>
              <a:fillRect/>
            </a:stretch>
          </a:blipFill>
        </p:spPr>
        <p:txBody>
          <a:bodyPr/>
          <a:lstStyle/>
          <a:p>
            <a:endParaRPr lang="en-IN"/>
          </a:p>
        </p:txBody>
      </p:sp>
      <p:sp>
        <p:nvSpPr>
          <p:cNvPr id="11" name="TextBox 11"/>
          <p:cNvSpPr txBox="1"/>
          <p:nvPr/>
        </p:nvSpPr>
        <p:spPr>
          <a:xfrm>
            <a:off x="1243584" y="1802916"/>
            <a:ext cx="1005840" cy="524589"/>
          </a:xfrm>
          <a:prstGeom prst="rect">
            <a:avLst/>
          </a:prstGeom>
        </p:spPr>
        <p:txBody>
          <a:bodyPr lIns="0" tIns="0" rIns="0" bIns="0" rtlCol="0" anchor="t">
            <a:spAutoFit/>
          </a:bodyPr>
          <a:lstStyle/>
          <a:p>
            <a:pPr algn="l">
              <a:lnSpc>
                <a:spcPts val="4287"/>
              </a:lnSpc>
            </a:pPr>
            <a:r>
              <a:rPr lang="en-US" sz="3062" b="1">
                <a:solidFill>
                  <a:srgbClr val="FFFFFF"/>
                </a:solidFill>
                <a:latin typeface="Roboto Bold"/>
                <a:ea typeface="Roboto Bold"/>
                <a:cs typeface="Roboto Bold"/>
                <a:sym typeface="Roboto Bold"/>
              </a:rPr>
              <a:t>slack</a:t>
            </a:r>
          </a:p>
        </p:txBody>
      </p:sp>
      <p:sp>
        <p:nvSpPr>
          <p:cNvPr id="12" name="TextBox 12"/>
          <p:cNvSpPr txBox="1"/>
          <p:nvPr/>
        </p:nvSpPr>
        <p:spPr>
          <a:xfrm>
            <a:off x="731520" y="3127817"/>
            <a:ext cx="1481328" cy="289946"/>
          </a:xfrm>
          <a:prstGeom prst="rect">
            <a:avLst/>
          </a:prstGeom>
        </p:spPr>
        <p:txBody>
          <a:bodyPr lIns="0" tIns="0" rIns="0" bIns="0" rtlCol="0" anchor="t">
            <a:spAutoFit/>
          </a:bodyPr>
          <a:lstStyle/>
          <a:p>
            <a:pPr algn="l">
              <a:lnSpc>
                <a:spcPts val="2388"/>
              </a:lnSpc>
            </a:pPr>
            <a:r>
              <a:rPr lang="en-US" sz="1706">
                <a:solidFill>
                  <a:srgbClr val="FFFFFF"/>
                </a:solidFill>
                <a:latin typeface="Roboto"/>
                <a:ea typeface="Roboto"/>
                <a:cs typeface="Roboto"/>
                <a:sym typeface="Roboto"/>
              </a:rPr>
              <a:t># team-general</a:t>
            </a:r>
          </a:p>
        </p:txBody>
      </p:sp>
      <p:sp>
        <p:nvSpPr>
          <p:cNvPr id="13" name="TextBox 13"/>
          <p:cNvSpPr txBox="1"/>
          <p:nvPr/>
        </p:nvSpPr>
        <p:spPr>
          <a:xfrm>
            <a:off x="731520" y="3539297"/>
            <a:ext cx="1792224" cy="289946"/>
          </a:xfrm>
          <a:prstGeom prst="rect">
            <a:avLst/>
          </a:prstGeom>
        </p:spPr>
        <p:txBody>
          <a:bodyPr lIns="0" tIns="0" rIns="0" bIns="0" rtlCol="0" anchor="t">
            <a:spAutoFit/>
          </a:bodyPr>
          <a:lstStyle/>
          <a:p>
            <a:pPr algn="l">
              <a:lnSpc>
                <a:spcPts val="2388"/>
              </a:lnSpc>
            </a:pPr>
            <a:r>
              <a:rPr lang="en-US" sz="1706">
                <a:solidFill>
                  <a:srgbClr val="FFFFFF"/>
                </a:solidFill>
                <a:latin typeface="Roboto"/>
                <a:ea typeface="Roboto"/>
                <a:cs typeface="Roboto"/>
                <a:sym typeface="Roboto"/>
              </a:rPr>
              <a:t># product-updates</a:t>
            </a:r>
          </a:p>
        </p:txBody>
      </p:sp>
      <p:sp>
        <p:nvSpPr>
          <p:cNvPr id="14" name="Freeform 14"/>
          <p:cNvSpPr/>
          <p:nvPr/>
        </p:nvSpPr>
        <p:spPr>
          <a:xfrm>
            <a:off x="426574" y="3848060"/>
            <a:ext cx="2625072" cy="448211"/>
          </a:xfrm>
          <a:custGeom>
            <a:avLst/>
            <a:gdLst/>
            <a:ahLst/>
            <a:cxnLst/>
            <a:rect l="l" t="t" r="r" b="b"/>
            <a:pathLst>
              <a:path w="2625072" h="448211">
                <a:moveTo>
                  <a:pt x="0" y="0"/>
                </a:moveTo>
                <a:lnTo>
                  <a:pt x="2625072" y="0"/>
                </a:lnTo>
                <a:lnTo>
                  <a:pt x="2625072" y="448211"/>
                </a:lnTo>
                <a:lnTo>
                  <a:pt x="0" y="448211"/>
                </a:lnTo>
                <a:lnTo>
                  <a:pt x="0" y="0"/>
                </a:lnTo>
                <a:close/>
              </a:path>
            </a:pathLst>
          </a:custGeom>
          <a:blipFill>
            <a:blip r:embed="rId8"/>
            <a:stretch>
              <a:fillRect/>
            </a:stretch>
          </a:blipFill>
        </p:spPr>
        <p:txBody>
          <a:bodyPr/>
          <a:lstStyle/>
          <a:p>
            <a:endParaRPr lang="en-IN"/>
          </a:p>
        </p:txBody>
      </p:sp>
      <p:sp>
        <p:nvSpPr>
          <p:cNvPr id="15" name="TextBox 15"/>
          <p:cNvSpPr txBox="1"/>
          <p:nvPr/>
        </p:nvSpPr>
        <p:spPr>
          <a:xfrm>
            <a:off x="731520" y="3931755"/>
            <a:ext cx="1115568" cy="318465"/>
          </a:xfrm>
          <a:prstGeom prst="rect">
            <a:avLst/>
          </a:prstGeom>
        </p:spPr>
        <p:txBody>
          <a:bodyPr lIns="0" tIns="0" rIns="0" bIns="0" rtlCol="0" anchor="t">
            <a:spAutoFit/>
          </a:bodyPr>
          <a:lstStyle/>
          <a:p>
            <a:pPr algn="l">
              <a:lnSpc>
                <a:spcPts val="2547"/>
              </a:lnSpc>
            </a:pPr>
            <a:r>
              <a:rPr lang="en-US" sz="1819" b="1">
                <a:solidFill>
                  <a:srgbClr val="FFFFFF"/>
                </a:solidFill>
                <a:latin typeface="Roboto Bold"/>
                <a:ea typeface="Roboto Bold"/>
                <a:cs typeface="Roboto Bold"/>
                <a:sym typeface="Roboto Bold"/>
              </a:rPr>
              <a:t>#qa-squad</a:t>
            </a:r>
          </a:p>
        </p:txBody>
      </p:sp>
      <p:sp>
        <p:nvSpPr>
          <p:cNvPr id="16" name="TextBox 16"/>
          <p:cNvSpPr txBox="1"/>
          <p:nvPr/>
        </p:nvSpPr>
        <p:spPr>
          <a:xfrm>
            <a:off x="731520" y="4362257"/>
            <a:ext cx="950976" cy="289946"/>
          </a:xfrm>
          <a:prstGeom prst="rect">
            <a:avLst/>
          </a:prstGeom>
        </p:spPr>
        <p:txBody>
          <a:bodyPr lIns="0" tIns="0" rIns="0" bIns="0" rtlCol="0" anchor="t">
            <a:spAutoFit/>
          </a:bodyPr>
          <a:lstStyle/>
          <a:p>
            <a:pPr algn="l">
              <a:lnSpc>
                <a:spcPts val="2388"/>
              </a:lnSpc>
            </a:pPr>
            <a:r>
              <a:rPr lang="en-US" sz="1706">
                <a:solidFill>
                  <a:srgbClr val="FFFFFF"/>
                </a:solidFill>
                <a:latin typeface="Roboto"/>
                <a:ea typeface="Roboto"/>
                <a:cs typeface="Roboto"/>
                <a:sym typeface="Roboto"/>
              </a:rPr>
              <a:t># random</a:t>
            </a:r>
          </a:p>
        </p:txBody>
      </p:sp>
      <p:sp>
        <p:nvSpPr>
          <p:cNvPr id="17" name="TextBox 17"/>
          <p:cNvSpPr txBox="1"/>
          <p:nvPr/>
        </p:nvSpPr>
        <p:spPr>
          <a:xfrm>
            <a:off x="731520" y="5143591"/>
            <a:ext cx="1609344" cy="290902"/>
          </a:xfrm>
          <a:prstGeom prst="rect">
            <a:avLst/>
          </a:prstGeom>
        </p:spPr>
        <p:txBody>
          <a:bodyPr lIns="0" tIns="0" rIns="0" bIns="0" rtlCol="0" anchor="t">
            <a:spAutoFit/>
          </a:bodyPr>
          <a:lstStyle/>
          <a:p>
            <a:pPr algn="l">
              <a:lnSpc>
                <a:spcPts val="2336"/>
              </a:lnSpc>
            </a:pPr>
            <a:r>
              <a:rPr lang="en-US" sz="1668">
                <a:solidFill>
                  <a:srgbClr val="FFFFFF"/>
                </a:solidFill>
                <a:latin typeface="Roboto"/>
                <a:ea typeface="Roboto"/>
                <a:cs typeface="Roboto"/>
                <a:sym typeface="Roboto"/>
              </a:rPr>
              <a:t>Direct Messages</a:t>
            </a:r>
          </a:p>
        </p:txBody>
      </p:sp>
      <p:sp>
        <p:nvSpPr>
          <p:cNvPr id="18" name="Freeform 18"/>
          <p:cNvSpPr/>
          <p:nvPr/>
        </p:nvSpPr>
        <p:spPr>
          <a:xfrm>
            <a:off x="645330" y="5356674"/>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9"/>
            <a:stretch>
              <a:fillRect/>
            </a:stretch>
          </a:blipFill>
        </p:spPr>
        <p:txBody>
          <a:bodyPr/>
          <a:lstStyle/>
          <a:p>
            <a:endParaRPr lang="en-IN"/>
          </a:p>
        </p:txBody>
      </p:sp>
      <p:sp>
        <p:nvSpPr>
          <p:cNvPr id="19" name="Freeform 19"/>
          <p:cNvSpPr/>
          <p:nvPr/>
        </p:nvSpPr>
        <p:spPr>
          <a:xfrm>
            <a:off x="3040708" y="1485900"/>
            <a:ext cx="7274424" cy="6096000"/>
          </a:xfrm>
          <a:custGeom>
            <a:avLst/>
            <a:gdLst/>
            <a:ahLst/>
            <a:cxnLst/>
            <a:rect l="l" t="t" r="r" b="b"/>
            <a:pathLst>
              <a:path w="6103292" h="4941258">
                <a:moveTo>
                  <a:pt x="0" y="0"/>
                </a:moveTo>
                <a:lnTo>
                  <a:pt x="6103292" y="0"/>
                </a:lnTo>
                <a:lnTo>
                  <a:pt x="6103292" y="4941258"/>
                </a:lnTo>
                <a:lnTo>
                  <a:pt x="0" y="4941258"/>
                </a:lnTo>
                <a:lnTo>
                  <a:pt x="0" y="0"/>
                </a:lnTo>
                <a:close/>
              </a:path>
            </a:pathLst>
          </a:custGeom>
          <a:blipFill>
            <a:blip r:embed="rId10"/>
            <a:stretch>
              <a:fillRect/>
            </a:stretch>
          </a:blipFill>
        </p:spPr>
        <p:txBody>
          <a:bodyPr/>
          <a:lstStyle/>
          <a:p>
            <a:endParaRPr lang="en-IN"/>
          </a:p>
        </p:txBody>
      </p:sp>
      <p:sp>
        <p:nvSpPr>
          <p:cNvPr id="20" name="Freeform 20"/>
          <p:cNvSpPr/>
          <p:nvPr/>
        </p:nvSpPr>
        <p:spPr>
          <a:xfrm>
            <a:off x="7175196" y="1924030"/>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1"/>
            <a:stretch>
              <a:fillRect/>
            </a:stretch>
          </a:blipFill>
        </p:spPr>
        <p:txBody>
          <a:bodyPr/>
          <a:lstStyle/>
          <a:p>
            <a:endParaRPr lang="en-IN"/>
          </a:p>
        </p:txBody>
      </p:sp>
      <p:sp>
        <p:nvSpPr>
          <p:cNvPr id="21" name="Freeform 21"/>
          <p:cNvSpPr/>
          <p:nvPr/>
        </p:nvSpPr>
        <p:spPr>
          <a:xfrm>
            <a:off x="7831464" y="1924030"/>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2"/>
            <a:stretch>
              <a:fillRect/>
            </a:stretch>
          </a:blipFill>
        </p:spPr>
        <p:txBody>
          <a:bodyPr/>
          <a:lstStyle/>
          <a:p>
            <a:endParaRPr lang="en-IN"/>
          </a:p>
        </p:txBody>
      </p:sp>
      <p:sp>
        <p:nvSpPr>
          <p:cNvPr id="22" name="Freeform 22"/>
          <p:cNvSpPr/>
          <p:nvPr/>
        </p:nvSpPr>
        <p:spPr>
          <a:xfrm>
            <a:off x="8487732" y="1924030"/>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3"/>
            <a:stretch>
              <a:fillRect/>
            </a:stretch>
          </a:blipFill>
        </p:spPr>
        <p:txBody>
          <a:bodyPr/>
          <a:lstStyle/>
          <a:p>
            <a:endParaRPr lang="en-IN"/>
          </a:p>
        </p:txBody>
      </p:sp>
      <p:sp>
        <p:nvSpPr>
          <p:cNvPr id="23" name="Freeform 23"/>
          <p:cNvSpPr/>
          <p:nvPr/>
        </p:nvSpPr>
        <p:spPr>
          <a:xfrm>
            <a:off x="3259464" y="2776725"/>
            <a:ext cx="1104718" cy="1082267"/>
          </a:xfrm>
          <a:custGeom>
            <a:avLst/>
            <a:gdLst/>
            <a:ahLst/>
            <a:cxnLst/>
            <a:rect l="l" t="t" r="r" b="b"/>
            <a:pathLst>
              <a:path w="1104718" h="1082267">
                <a:moveTo>
                  <a:pt x="0" y="0"/>
                </a:moveTo>
                <a:lnTo>
                  <a:pt x="1104718" y="0"/>
                </a:lnTo>
                <a:lnTo>
                  <a:pt x="1104718" y="1082266"/>
                </a:lnTo>
                <a:lnTo>
                  <a:pt x="0" y="1082266"/>
                </a:lnTo>
                <a:lnTo>
                  <a:pt x="0" y="0"/>
                </a:lnTo>
                <a:close/>
              </a:path>
            </a:pathLst>
          </a:custGeom>
          <a:blipFill>
            <a:blip r:embed="rId14"/>
            <a:stretch>
              <a:fillRect/>
            </a:stretch>
          </a:blipFill>
        </p:spPr>
        <p:txBody>
          <a:bodyPr/>
          <a:lstStyle/>
          <a:p>
            <a:endParaRPr lang="en-IN"/>
          </a:p>
        </p:txBody>
      </p:sp>
      <p:sp>
        <p:nvSpPr>
          <p:cNvPr id="24" name="TextBox 24"/>
          <p:cNvSpPr txBox="1"/>
          <p:nvPr/>
        </p:nvSpPr>
        <p:spPr>
          <a:xfrm>
            <a:off x="4389120" y="3388765"/>
            <a:ext cx="2560320" cy="272113"/>
          </a:xfrm>
          <a:prstGeom prst="rect">
            <a:avLst/>
          </a:prstGeom>
        </p:spPr>
        <p:txBody>
          <a:bodyPr lIns="0" tIns="0" rIns="0" bIns="0" rtlCol="0" anchor="t">
            <a:spAutoFit/>
          </a:bodyPr>
          <a:lstStyle/>
          <a:p>
            <a:pPr algn="l">
              <a:lnSpc>
                <a:spcPts val="2166"/>
              </a:lnSpc>
            </a:pPr>
            <a:r>
              <a:rPr lang="en-US" sz="1547" b="1">
                <a:solidFill>
                  <a:srgbClr val="1A3E70"/>
                </a:solidFill>
                <a:latin typeface="Roboto Bold"/>
                <a:ea typeface="Roboto Bold"/>
                <a:cs typeface="Roboto Bold"/>
                <a:sym typeface="Roboto Bold"/>
              </a:rPr>
              <a:t>QA turnaround is slow again.</a:t>
            </a:r>
          </a:p>
        </p:txBody>
      </p:sp>
      <p:sp>
        <p:nvSpPr>
          <p:cNvPr id="25" name="TextBox 25"/>
          <p:cNvSpPr txBox="1"/>
          <p:nvPr/>
        </p:nvSpPr>
        <p:spPr>
          <a:xfrm>
            <a:off x="4389120" y="3749948"/>
            <a:ext cx="3639312" cy="280886"/>
          </a:xfrm>
          <a:prstGeom prst="rect">
            <a:avLst/>
          </a:prstGeom>
        </p:spPr>
        <p:txBody>
          <a:bodyPr lIns="0" tIns="0" rIns="0" bIns="0" rtlCol="0" anchor="t">
            <a:spAutoFit/>
          </a:bodyPr>
          <a:lstStyle/>
          <a:p>
            <a:pPr algn="l">
              <a:lnSpc>
                <a:spcPts val="2208"/>
              </a:lnSpc>
            </a:pPr>
            <a:r>
              <a:rPr lang="en-US" sz="1577" b="1">
                <a:solidFill>
                  <a:srgbClr val="1A3E70"/>
                </a:solidFill>
                <a:latin typeface="Roboto Bold"/>
                <a:ea typeface="Roboto Bold"/>
                <a:cs typeface="Roboto Bold"/>
                <a:sym typeface="Roboto Bold"/>
              </a:rPr>
              <a:t>The sprint milestone might be delayed.</a:t>
            </a:r>
          </a:p>
        </p:txBody>
      </p:sp>
      <p:sp>
        <p:nvSpPr>
          <p:cNvPr id="26" name="Freeform 26"/>
          <p:cNvSpPr/>
          <p:nvPr/>
        </p:nvSpPr>
        <p:spPr>
          <a:xfrm>
            <a:off x="4353244" y="4066699"/>
            <a:ext cx="875024" cy="655919"/>
          </a:xfrm>
          <a:custGeom>
            <a:avLst/>
            <a:gdLst/>
            <a:ahLst/>
            <a:cxnLst/>
            <a:rect l="l" t="t" r="r" b="b"/>
            <a:pathLst>
              <a:path w="875024" h="655919">
                <a:moveTo>
                  <a:pt x="0" y="0"/>
                </a:moveTo>
                <a:lnTo>
                  <a:pt x="875024" y="0"/>
                </a:lnTo>
                <a:lnTo>
                  <a:pt x="875024" y="655919"/>
                </a:lnTo>
                <a:lnTo>
                  <a:pt x="0" y="655919"/>
                </a:lnTo>
                <a:lnTo>
                  <a:pt x="0" y="0"/>
                </a:lnTo>
                <a:close/>
              </a:path>
            </a:pathLst>
          </a:custGeom>
          <a:blipFill>
            <a:blip r:embed="rId15"/>
            <a:stretch>
              <a:fillRect/>
            </a:stretch>
          </a:blipFill>
        </p:spPr>
        <p:txBody>
          <a:bodyPr/>
          <a:lstStyle/>
          <a:p>
            <a:endParaRPr lang="en-IN"/>
          </a:p>
        </p:txBody>
      </p:sp>
      <p:sp>
        <p:nvSpPr>
          <p:cNvPr id="27" name="Freeform 27"/>
          <p:cNvSpPr/>
          <p:nvPr/>
        </p:nvSpPr>
        <p:spPr>
          <a:xfrm>
            <a:off x="4353244" y="4066699"/>
            <a:ext cx="437512" cy="437279"/>
          </a:xfrm>
          <a:custGeom>
            <a:avLst/>
            <a:gdLst/>
            <a:ahLst/>
            <a:cxnLst/>
            <a:rect l="l" t="t" r="r" b="b"/>
            <a:pathLst>
              <a:path w="437512" h="437279">
                <a:moveTo>
                  <a:pt x="0" y="0"/>
                </a:moveTo>
                <a:lnTo>
                  <a:pt x="437512" y="0"/>
                </a:lnTo>
                <a:lnTo>
                  <a:pt x="437512" y="437280"/>
                </a:lnTo>
                <a:lnTo>
                  <a:pt x="0" y="437280"/>
                </a:lnTo>
                <a:lnTo>
                  <a:pt x="0" y="0"/>
                </a:lnTo>
                <a:close/>
              </a:path>
            </a:pathLst>
          </a:custGeom>
          <a:blipFill>
            <a:blip r:embed="rId16"/>
            <a:stretch>
              <a:fillRect/>
            </a:stretch>
          </a:blipFill>
        </p:spPr>
        <p:txBody>
          <a:bodyPr/>
          <a:lstStyle/>
          <a:p>
            <a:endParaRPr lang="en-IN"/>
          </a:p>
        </p:txBody>
      </p:sp>
      <p:sp>
        <p:nvSpPr>
          <p:cNvPr id="28" name="Freeform 28"/>
          <p:cNvSpPr/>
          <p:nvPr/>
        </p:nvSpPr>
        <p:spPr>
          <a:xfrm>
            <a:off x="3259464" y="5356674"/>
            <a:ext cx="5676718" cy="863627"/>
          </a:xfrm>
          <a:custGeom>
            <a:avLst/>
            <a:gdLst/>
            <a:ahLst/>
            <a:cxnLst/>
            <a:rect l="l" t="t" r="r" b="b"/>
            <a:pathLst>
              <a:path w="5676718" h="863627">
                <a:moveTo>
                  <a:pt x="0" y="0"/>
                </a:moveTo>
                <a:lnTo>
                  <a:pt x="5676718" y="0"/>
                </a:lnTo>
                <a:lnTo>
                  <a:pt x="5676718" y="863627"/>
                </a:lnTo>
                <a:lnTo>
                  <a:pt x="0" y="863627"/>
                </a:lnTo>
                <a:lnTo>
                  <a:pt x="0" y="0"/>
                </a:lnTo>
                <a:close/>
              </a:path>
            </a:pathLst>
          </a:custGeom>
          <a:blipFill>
            <a:blip r:embed="rId17"/>
            <a:stretch>
              <a:fillRect/>
            </a:stretch>
          </a:blipFill>
        </p:spPr>
        <p:txBody>
          <a:bodyPr/>
          <a:lstStyle/>
          <a:p>
            <a:endParaRPr lang="en-IN"/>
          </a:p>
        </p:txBody>
      </p:sp>
      <p:sp>
        <p:nvSpPr>
          <p:cNvPr id="29" name="Freeform 29"/>
          <p:cNvSpPr/>
          <p:nvPr/>
        </p:nvSpPr>
        <p:spPr>
          <a:xfrm>
            <a:off x="3478220" y="5564382"/>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8"/>
            <a:stretch>
              <a:fillRect/>
            </a:stretch>
          </a:blipFill>
        </p:spPr>
        <p:txBody>
          <a:bodyPr/>
          <a:lstStyle/>
          <a:p>
            <a:endParaRPr lang="en-IN"/>
          </a:p>
        </p:txBody>
      </p:sp>
      <p:sp>
        <p:nvSpPr>
          <p:cNvPr id="30" name="Freeform 30"/>
          <p:cNvSpPr/>
          <p:nvPr/>
        </p:nvSpPr>
        <p:spPr>
          <a:xfrm>
            <a:off x="7393952" y="5564382"/>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9"/>
            <a:stretch>
              <a:fillRect/>
            </a:stretch>
          </a:blipFill>
        </p:spPr>
        <p:txBody>
          <a:bodyPr/>
          <a:lstStyle/>
          <a:p>
            <a:endParaRPr lang="en-IN"/>
          </a:p>
        </p:txBody>
      </p:sp>
      <p:sp>
        <p:nvSpPr>
          <p:cNvPr id="31" name="Freeform 31"/>
          <p:cNvSpPr/>
          <p:nvPr/>
        </p:nvSpPr>
        <p:spPr>
          <a:xfrm>
            <a:off x="7831464" y="5564382"/>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20"/>
            <a:stretch>
              <a:fillRect/>
            </a:stretch>
          </a:blipFill>
        </p:spPr>
        <p:txBody>
          <a:bodyPr/>
          <a:lstStyle/>
          <a:p>
            <a:endParaRPr lang="en-IN"/>
          </a:p>
        </p:txBody>
      </p:sp>
      <p:sp>
        <p:nvSpPr>
          <p:cNvPr id="32" name="Freeform 32"/>
          <p:cNvSpPr/>
          <p:nvPr/>
        </p:nvSpPr>
        <p:spPr>
          <a:xfrm>
            <a:off x="8268976" y="5564382"/>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21"/>
            <a:stretch>
              <a:fillRect/>
            </a:stretch>
          </a:blipFill>
        </p:spPr>
        <p:txBody>
          <a:bodyPr/>
          <a:lstStyle/>
          <a:p>
            <a:endParaRPr lang="en-IN"/>
          </a:p>
        </p:txBody>
      </p:sp>
      <p:sp>
        <p:nvSpPr>
          <p:cNvPr id="33" name="Freeform 33"/>
          <p:cNvSpPr/>
          <p:nvPr/>
        </p:nvSpPr>
        <p:spPr>
          <a:xfrm>
            <a:off x="207818" y="8185994"/>
            <a:ext cx="11145982" cy="1697122"/>
          </a:xfrm>
          <a:custGeom>
            <a:avLst/>
            <a:gdLst/>
            <a:ahLst/>
            <a:cxnLst/>
            <a:rect l="l" t="t" r="r" b="b"/>
            <a:pathLst>
              <a:path w="8936182" h="1300906">
                <a:moveTo>
                  <a:pt x="0" y="0"/>
                </a:moveTo>
                <a:lnTo>
                  <a:pt x="8936182" y="0"/>
                </a:lnTo>
                <a:lnTo>
                  <a:pt x="8936182" y="1300906"/>
                </a:lnTo>
                <a:lnTo>
                  <a:pt x="0" y="1300906"/>
                </a:lnTo>
                <a:lnTo>
                  <a:pt x="0" y="0"/>
                </a:lnTo>
                <a:close/>
              </a:path>
            </a:pathLst>
          </a:custGeom>
          <a:blipFill>
            <a:blip r:embed="rId22"/>
            <a:stretch>
              <a:fillRect/>
            </a:stretch>
          </a:blipFill>
        </p:spPr>
        <p:txBody>
          <a:bodyPr/>
          <a:lstStyle/>
          <a:p>
            <a:endParaRPr lang="en-IN"/>
          </a:p>
        </p:txBody>
      </p:sp>
      <p:sp>
        <p:nvSpPr>
          <p:cNvPr id="34" name="Freeform 34"/>
          <p:cNvSpPr/>
          <p:nvPr/>
        </p:nvSpPr>
        <p:spPr>
          <a:xfrm>
            <a:off x="731520" y="8333009"/>
            <a:ext cx="877824" cy="1252017"/>
          </a:xfrm>
          <a:custGeom>
            <a:avLst/>
            <a:gdLst/>
            <a:ahLst/>
            <a:cxnLst/>
            <a:rect l="l" t="t" r="r" b="b"/>
            <a:pathLst>
              <a:path w="667206" h="863627">
                <a:moveTo>
                  <a:pt x="0" y="0"/>
                </a:moveTo>
                <a:lnTo>
                  <a:pt x="667206" y="0"/>
                </a:lnTo>
                <a:lnTo>
                  <a:pt x="667206" y="863626"/>
                </a:lnTo>
                <a:lnTo>
                  <a:pt x="0" y="863626"/>
                </a:lnTo>
                <a:lnTo>
                  <a:pt x="0" y="0"/>
                </a:lnTo>
                <a:close/>
              </a:path>
            </a:pathLst>
          </a:custGeom>
          <a:blipFill>
            <a:blip r:embed="rId23"/>
            <a:stretch>
              <a:fillRect/>
            </a:stretch>
          </a:blipFill>
        </p:spPr>
        <p:txBody>
          <a:bodyPr/>
          <a:lstStyle/>
          <a:p>
            <a:endParaRPr lang="en-IN"/>
          </a:p>
        </p:txBody>
      </p:sp>
      <p:sp>
        <p:nvSpPr>
          <p:cNvPr id="35" name="TextBox 35"/>
          <p:cNvSpPr txBox="1"/>
          <p:nvPr/>
        </p:nvSpPr>
        <p:spPr>
          <a:xfrm>
            <a:off x="1676400" y="9068862"/>
            <a:ext cx="8052816" cy="512961"/>
          </a:xfrm>
          <a:prstGeom prst="rect">
            <a:avLst/>
          </a:prstGeom>
        </p:spPr>
        <p:txBody>
          <a:bodyPr wrap="square" lIns="0" tIns="0" rIns="0" bIns="0" rtlCol="0" anchor="t">
            <a:spAutoFit/>
          </a:bodyPr>
          <a:lstStyle/>
          <a:p>
            <a:pPr algn="l">
              <a:lnSpc>
                <a:spcPts val="1981"/>
              </a:lnSpc>
            </a:pPr>
            <a:r>
              <a:rPr lang="en-US" sz="2000" dirty="0">
                <a:solidFill>
                  <a:srgbClr val="1A3E70"/>
                </a:solidFill>
                <a:latin typeface="Roboto"/>
                <a:ea typeface="Roboto"/>
                <a:cs typeface="Roboto"/>
                <a:sym typeface="Roboto"/>
              </a:rPr>
              <a:t>Two weeks later, Alex posts in Slack: QA turnaround is slow again.</a:t>
            </a:r>
          </a:p>
          <a:p>
            <a:pPr algn="l">
              <a:lnSpc>
                <a:spcPts val="1981"/>
              </a:lnSpc>
            </a:pPr>
            <a:r>
              <a:rPr lang="en-US" sz="2000" dirty="0">
                <a:solidFill>
                  <a:srgbClr val="1A3E70"/>
                </a:solidFill>
                <a:latin typeface="Roboto"/>
                <a:ea typeface="Roboto"/>
                <a:cs typeface="Roboto"/>
                <a:sym typeface="Roboto"/>
              </a:rPr>
              <a:t>The sprint milestone might be delayed.</a:t>
            </a:r>
          </a:p>
        </p:txBody>
      </p:sp>
      <p:sp>
        <p:nvSpPr>
          <p:cNvPr id="36" name="TextBox 36"/>
          <p:cNvSpPr txBox="1"/>
          <p:nvPr/>
        </p:nvSpPr>
        <p:spPr>
          <a:xfrm>
            <a:off x="12213190" y="1558974"/>
            <a:ext cx="3941210" cy="410369"/>
          </a:xfrm>
          <a:prstGeom prst="rect">
            <a:avLst/>
          </a:prstGeom>
        </p:spPr>
        <p:txBody>
          <a:bodyPr wrap="square" lIns="0" tIns="0" rIns="0" bIns="0" rtlCol="0" anchor="t">
            <a:spAutoFit/>
          </a:bodyPr>
          <a:lstStyle/>
          <a:p>
            <a:pPr algn="l">
              <a:lnSpc>
                <a:spcPts val="3183"/>
              </a:lnSpc>
            </a:pPr>
            <a:r>
              <a:rPr lang="en-US" sz="3200" b="1" dirty="0">
                <a:solidFill>
                  <a:srgbClr val="1A3E70"/>
                </a:solidFill>
                <a:latin typeface="Roboto Bold"/>
                <a:ea typeface="Roboto Bold"/>
                <a:cs typeface="Roboto Bold"/>
                <a:sym typeface="Roboto Bold"/>
              </a:rPr>
              <a:t>What would you do?</a:t>
            </a:r>
          </a:p>
        </p:txBody>
      </p:sp>
      <p:sp>
        <p:nvSpPr>
          <p:cNvPr id="37" name="Freeform 37"/>
          <p:cNvSpPr/>
          <p:nvPr/>
        </p:nvSpPr>
        <p:spPr>
          <a:xfrm>
            <a:off x="9570574" y="1924030"/>
            <a:ext cx="8290852" cy="1300906"/>
          </a:xfrm>
          <a:custGeom>
            <a:avLst/>
            <a:gdLst/>
            <a:ahLst/>
            <a:cxnLst/>
            <a:rect l="l" t="t" r="r" b="b"/>
            <a:pathLst>
              <a:path w="8290852" h="1300906">
                <a:moveTo>
                  <a:pt x="0" y="0"/>
                </a:moveTo>
                <a:lnTo>
                  <a:pt x="8290852" y="0"/>
                </a:lnTo>
                <a:lnTo>
                  <a:pt x="8290852" y="1300906"/>
                </a:lnTo>
                <a:lnTo>
                  <a:pt x="0" y="1300906"/>
                </a:lnTo>
                <a:lnTo>
                  <a:pt x="0" y="0"/>
                </a:lnTo>
                <a:close/>
              </a:path>
            </a:pathLst>
          </a:custGeom>
          <a:blipFill>
            <a:blip r:embed="rId24"/>
            <a:stretch>
              <a:fillRect/>
            </a:stretch>
          </a:blipFill>
        </p:spPr>
        <p:txBody>
          <a:bodyPr/>
          <a:lstStyle/>
          <a:p>
            <a:endParaRPr lang="en-IN"/>
          </a:p>
        </p:txBody>
      </p:sp>
      <p:sp>
        <p:nvSpPr>
          <p:cNvPr id="39" name="TextBox 39"/>
          <p:cNvSpPr txBox="1"/>
          <p:nvPr/>
        </p:nvSpPr>
        <p:spPr>
          <a:xfrm>
            <a:off x="11417662" y="2368302"/>
            <a:ext cx="4279392" cy="846386"/>
          </a:xfrm>
          <a:prstGeom prst="rect">
            <a:avLst/>
          </a:prstGeom>
        </p:spPr>
        <p:txBody>
          <a:bodyPr lIns="0" tIns="0" rIns="0" bIns="0" rtlCol="0" anchor="t">
            <a:spAutoFit/>
          </a:bodyPr>
          <a:lstStyle/>
          <a:p>
            <a:pPr algn="l">
              <a:lnSpc>
                <a:spcPts val="2249"/>
              </a:lnSpc>
            </a:pPr>
            <a:r>
              <a:rPr lang="en-US" sz="2000" b="1" dirty="0">
                <a:solidFill>
                  <a:srgbClr val="1A3E70"/>
                </a:solidFill>
                <a:latin typeface="Roboto Bold"/>
                <a:ea typeface="Roboto Bold"/>
                <a:cs typeface="Roboto Bold"/>
                <a:sym typeface="Roboto Bold"/>
              </a:rPr>
              <a:t>Step in immediately and message</a:t>
            </a:r>
          </a:p>
          <a:p>
            <a:pPr algn="l">
              <a:lnSpc>
                <a:spcPts val="2249"/>
              </a:lnSpc>
            </a:pPr>
            <a:r>
              <a:rPr lang="en-US" sz="2000" b="1" dirty="0">
                <a:solidFill>
                  <a:srgbClr val="1A3E70"/>
                </a:solidFill>
                <a:latin typeface="Roboto Bold"/>
                <a:ea typeface="Roboto Bold"/>
                <a:cs typeface="Roboto Bold"/>
                <a:sym typeface="Roboto Bold"/>
              </a:rPr>
              <a:t>the QA manager to fix the bottleneck for Alex.</a:t>
            </a:r>
          </a:p>
        </p:txBody>
      </p:sp>
      <p:sp>
        <p:nvSpPr>
          <p:cNvPr id="41" name="TextBox 41"/>
          <p:cNvSpPr txBox="1"/>
          <p:nvPr/>
        </p:nvSpPr>
        <p:spPr>
          <a:xfrm>
            <a:off x="731520" y="2715859"/>
            <a:ext cx="877824" cy="290902"/>
          </a:xfrm>
          <a:prstGeom prst="rect">
            <a:avLst/>
          </a:prstGeom>
        </p:spPr>
        <p:txBody>
          <a:bodyPr lIns="0" tIns="0" rIns="0" bIns="0" rtlCol="0" anchor="t">
            <a:spAutoFit/>
          </a:bodyPr>
          <a:lstStyle/>
          <a:p>
            <a:pPr algn="l">
              <a:lnSpc>
                <a:spcPts val="2336"/>
              </a:lnSpc>
            </a:pPr>
            <a:r>
              <a:rPr lang="en-US" sz="1668">
                <a:solidFill>
                  <a:srgbClr val="FFFFFF"/>
                </a:solidFill>
                <a:latin typeface="Roboto"/>
                <a:ea typeface="Roboto"/>
                <a:cs typeface="Roboto"/>
                <a:sym typeface="Roboto"/>
              </a:rPr>
              <a:t>Channels</a:t>
            </a:r>
          </a:p>
        </p:txBody>
      </p:sp>
      <p:sp>
        <p:nvSpPr>
          <p:cNvPr id="42" name="TextBox 42"/>
          <p:cNvSpPr txBox="1"/>
          <p:nvPr/>
        </p:nvSpPr>
        <p:spPr>
          <a:xfrm>
            <a:off x="1243584" y="5586382"/>
            <a:ext cx="402336" cy="280476"/>
          </a:xfrm>
          <a:prstGeom prst="rect">
            <a:avLst/>
          </a:prstGeom>
        </p:spPr>
        <p:txBody>
          <a:bodyPr lIns="0" tIns="0" rIns="0" bIns="0" rtlCol="0" anchor="t">
            <a:spAutoFit/>
          </a:bodyPr>
          <a:lstStyle/>
          <a:p>
            <a:pPr algn="l">
              <a:lnSpc>
                <a:spcPts val="2230"/>
              </a:lnSpc>
            </a:pPr>
            <a:r>
              <a:rPr lang="en-US" sz="1593" b="1">
                <a:solidFill>
                  <a:srgbClr val="FFFFFF"/>
                </a:solidFill>
                <a:latin typeface="Roboto Bold"/>
                <a:ea typeface="Roboto Bold"/>
                <a:cs typeface="Roboto Bold"/>
                <a:sym typeface="Roboto Bold"/>
              </a:rPr>
              <a:t>Alex</a:t>
            </a:r>
          </a:p>
        </p:txBody>
      </p:sp>
      <p:sp>
        <p:nvSpPr>
          <p:cNvPr id="43" name="TextBox 43"/>
          <p:cNvSpPr txBox="1"/>
          <p:nvPr/>
        </p:nvSpPr>
        <p:spPr>
          <a:xfrm>
            <a:off x="4096512" y="5611895"/>
            <a:ext cx="1920240" cy="280886"/>
          </a:xfrm>
          <a:prstGeom prst="rect">
            <a:avLst/>
          </a:prstGeom>
        </p:spPr>
        <p:txBody>
          <a:bodyPr lIns="0" tIns="0" rIns="0" bIns="0" rtlCol="0" anchor="t">
            <a:spAutoFit/>
          </a:bodyPr>
          <a:lstStyle/>
          <a:p>
            <a:pPr algn="l">
              <a:lnSpc>
                <a:spcPts val="2208"/>
              </a:lnSpc>
            </a:pPr>
            <a:r>
              <a:rPr lang="en-US" sz="1577">
                <a:solidFill>
                  <a:srgbClr val="A6A6A6"/>
                </a:solidFill>
                <a:latin typeface="Roboto"/>
                <a:ea typeface="Roboto"/>
                <a:cs typeface="Roboto"/>
                <a:sym typeface="Roboto"/>
              </a:rPr>
              <a:t>Message #qa-squad</a:t>
            </a:r>
          </a:p>
        </p:txBody>
      </p:sp>
      <p:sp>
        <p:nvSpPr>
          <p:cNvPr id="44" name="TextBox 44"/>
          <p:cNvSpPr txBox="1"/>
          <p:nvPr/>
        </p:nvSpPr>
        <p:spPr>
          <a:xfrm>
            <a:off x="3493008" y="1894929"/>
            <a:ext cx="1335024" cy="318465"/>
          </a:xfrm>
          <a:prstGeom prst="rect">
            <a:avLst/>
          </a:prstGeom>
        </p:spPr>
        <p:txBody>
          <a:bodyPr lIns="0" tIns="0" rIns="0" bIns="0" rtlCol="0" anchor="t">
            <a:spAutoFit/>
          </a:bodyPr>
          <a:lstStyle/>
          <a:p>
            <a:pPr algn="l">
              <a:lnSpc>
                <a:spcPts val="2547"/>
              </a:lnSpc>
            </a:pPr>
            <a:r>
              <a:rPr lang="en-US" sz="1819" b="1">
                <a:solidFill>
                  <a:srgbClr val="1A3E70"/>
                </a:solidFill>
                <a:latin typeface="Roboto Bold"/>
                <a:ea typeface="Roboto Bold"/>
                <a:cs typeface="Roboto Bold"/>
                <a:sym typeface="Roboto Bold"/>
              </a:rPr>
              <a:t>#qa-squad</a:t>
            </a:r>
          </a:p>
        </p:txBody>
      </p:sp>
      <p:sp>
        <p:nvSpPr>
          <p:cNvPr id="45" name="TextBox 45"/>
          <p:cNvSpPr txBox="1"/>
          <p:nvPr/>
        </p:nvSpPr>
        <p:spPr>
          <a:xfrm>
            <a:off x="4370832" y="2998997"/>
            <a:ext cx="420624" cy="280886"/>
          </a:xfrm>
          <a:prstGeom prst="rect">
            <a:avLst/>
          </a:prstGeom>
        </p:spPr>
        <p:txBody>
          <a:bodyPr lIns="0" tIns="0" rIns="0" bIns="0" rtlCol="0" anchor="t">
            <a:spAutoFit/>
          </a:bodyPr>
          <a:lstStyle/>
          <a:p>
            <a:pPr algn="l">
              <a:lnSpc>
                <a:spcPts val="2208"/>
              </a:lnSpc>
            </a:pPr>
            <a:r>
              <a:rPr lang="en-US" sz="1577" b="1">
                <a:solidFill>
                  <a:srgbClr val="1A3E70"/>
                </a:solidFill>
                <a:latin typeface="Roboto Bold"/>
                <a:ea typeface="Roboto Bold"/>
                <a:cs typeface="Roboto Bold"/>
                <a:sym typeface="Roboto Bold"/>
              </a:rPr>
              <a:t>Alex</a:t>
            </a:r>
          </a:p>
        </p:txBody>
      </p:sp>
      <p:sp>
        <p:nvSpPr>
          <p:cNvPr id="46" name="TextBox 46"/>
          <p:cNvSpPr txBox="1"/>
          <p:nvPr/>
        </p:nvSpPr>
        <p:spPr>
          <a:xfrm>
            <a:off x="4974336" y="3013236"/>
            <a:ext cx="822960" cy="261932"/>
          </a:xfrm>
          <a:prstGeom prst="rect">
            <a:avLst/>
          </a:prstGeom>
        </p:spPr>
        <p:txBody>
          <a:bodyPr lIns="0" tIns="0" rIns="0" bIns="0" rtlCol="0" anchor="t">
            <a:spAutoFit/>
          </a:bodyPr>
          <a:lstStyle/>
          <a:p>
            <a:pPr algn="l">
              <a:lnSpc>
                <a:spcPts val="2125"/>
              </a:lnSpc>
            </a:pPr>
            <a:r>
              <a:rPr lang="en-US" sz="1517">
                <a:solidFill>
                  <a:srgbClr val="A6A6A6"/>
                </a:solidFill>
                <a:latin typeface="Roboto"/>
                <a:ea typeface="Roboto"/>
                <a:cs typeface="Roboto"/>
                <a:sym typeface="Roboto"/>
              </a:rPr>
              <a:t>10:14 AM</a:t>
            </a:r>
          </a:p>
        </p:txBody>
      </p:sp>
      <p:sp>
        <p:nvSpPr>
          <p:cNvPr id="47" name="TextBox 47"/>
          <p:cNvSpPr txBox="1"/>
          <p:nvPr/>
        </p:nvSpPr>
        <p:spPr>
          <a:xfrm>
            <a:off x="4389120" y="4243724"/>
            <a:ext cx="603504" cy="280886"/>
          </a:xfrm>
          <a:prstGeom prst="rect">
            <a:avLst/>
          </a:prstGeom>
        </p:spPr>
        <p:txBody>
          <a:bodyPr lIns="0" tIns="0" rIns="0" bIns="0" rtlCol="0" anchor="t">
            <a:spAutoFit/>
          </a:bodyPr>
          <a:lstStyle/>
          <a:p>
            <a:pPr algn="l">
              <a:lnSpc>
                <a:spcPts val="2208"/>
              </a:lnSpc>
            </a:pPr>
            <a:r>
              <a:rPr lang="en-US" sz="1577">
                <a:solidFill>
                  <a:srgbClr val="A6A6A6"/>
                </a:solidFill>
                <a:latin typeface="Roboto"/>
                <a:ea typeface="Roboto"/>
                <a:cs typeface="Roboto"/>
                <a:sym typeface="Roboto"/>
              </a:rPr>
              <a:t>💖 2</a:t>
            </a:r>
          </a:p>
        </p:txBody>
      </p:sp>
      <p:sp>
        <p:nvSpPr>
          <p:cNvPr id="48" name="TextBox 48"/>
          <p:cNvSpPr txBox="1"/>
          <p:nvPr/>
        </p:nvSpPr>
        <p:spPr>
          <a:xfrm>
            <a:off x="1752600" y="8664959"/>
            <a:ext cx="3511296" cy="288541"/>
          </a:xfrm>
          <a:prstGeom prst="rect">
            <a:avLst/>
          </a:prstGeom>
        </p:spPr>
        <p:txBody>
          <a:bodyPr wrap="square" lIns="0" tIns="0" rIns="0" bIns="0" rtlCol="0" anchor="t">
            <a:spAutoFit/>
          </a:bodyPr>
          <a:lstStyle/>
          <a:p>
            <a:pPr algn="l">
              <a:lnSpc>
                <a:spcPts val="2208"/>
              </a:lnSpc>
            </a:pPr>
            <a:r>
              <a:rPr lang="en-US" sz="2400" b="1" dirty="0">
                <a:solidFill>
                  <a:srgbClr val="1A3E70"/>
                </a:solidFill>
                <a:latin typeface="Roboto Bold"/>
                <a:ea typeface="Roboto Bold"/>
                <a:cs typeface="Roboto Bold"/>
                <a:sym typeface="Roboto Bold"/>
              </a:rPr>
              <a:t>TRANSFER SCENARIO</a:t>
            </a:r>
          </a:p>
        </p:txBody>
      </p:sp>
      <p:sp>
        <p:nvSpPr>
          <p:cNvPr id="51" name="TextBox 51"/>
          <p:cNvSpPr txBox="1"/>
          <p:nvPr/>
        </p:nvSpPr>
        <p:spPr>
          <a:xfrm>
            <a:off x="4645152" y="7989324"/>
            <a:ext cx="1719072" cy="215375"/>
          </a:xfrm>
          <a:prstGeom prst="rect">
            <a:avLst/>
          </a:prstGeom>
        </p:spPr>
        <p:txBody>
          <a:bodyPr lIns="0" tIns="0" rIns="0" bIns="0" rtlCol="0" anchor="t">
            <a:spAutoFit/>
          </a:bodyPr>
          <a:lstStyle/>
          <a:p>
            <a:pPr algn="l">
              <a:lnSpc>
                <a:spcPts val="1755"/>
              </a:lnSpc>
            </a:pPr>
            <a:endParaRPr lang="en-US" sz="1254" dirty="0">
              <a:solidFill>
                <a:srgbClr val="1A3E70"/>
              </a:solidFill>
              <a:latin typeface="Roboto"/>
              <a:ea typeface="Roboto"/>
              <a:cs typeface="Roboto"/>
              <a:sym typeface="Roboto"/>
            </a:endParaRPr>
          </a:p>
        </p:txBody>
      </p:sp>
      <p:sp>
        <p:nvSpPr>
          <p:cNvPr id="52" name="TextBox 52"/>
          <p:cNvSpPr txBox="1"/>
          <p:nvPr/>
        </p:nvSpPr>
        <p:spPr>
          <a:xfrm>
            <a:off x="4096512" y="8497142"/>
            <a:ext cx="2450592" cy="213328"/>
          </a:xfrm>
          <a:prstGeom prst="rect">
            <a:avLst/>
          </a:prstGeom>
        </p:spPr>
        <p:txBody>
          <a:bodyPr lIns="0" tIns="0" rIns="0" bIns="0" rtlCol="0" anchor="t">
            <a:spAutoFit/>
          </a:bodyPr>
          <a:lstStyle/>
          <a:p>
            <a:pPr algn="l">
              <a:lnSpc>
                <a:spcPts val="1755"/>
              </a:lnSpc>
            </a:pPr>
            <a:r>
              <a:rPr lang="en-US" sz="1254" dirty="0">
                <a:solidFill>
                  <a:srgbClr val="1A3E70"/>
                </a:solidFill>
                <a:latin typeface="Roboto"/>
                <a:ea typeface="Roboto"/>
                <a:cs typeface="Roboto"/>
                <a:sym typeface="Roboto"/>
              </a:rPr>
              <a:t>•</a:t>
            </a:r>
          </a:p>
        </p:txBody>
      </p:sp>
      <p:sp>
        <p:nvSpPr>
          <p:cNvPr id="59" name="TextBox 59"/>
          <p:cNvSpPr txBox="1"/>
          <p:nvPr/>
        </p:nvSpPr>
        <p:spPr>
          <a:xfrm>
            <a:off x="10040112" y="2471001"/>
            <a:ext cx="182880" cy="318465"/>
          </a:xfrm>
          <a:prstGeom prst="rect">
            <a:avLst/>
          </a:prstGeom>
        </p:spPr>
        <p:txBody>
          <a:bodyPr lIns="0" tIns="0" rIns="0" bIns="0" rtlCol="0" anchor="t">
            <a:spAutoFit/>
          </a:bodyPr>
          <a:lstStyle/>
          <a:p>
            <a:pPr algn="ctr">
              <a:lnSpc>
                <a:spcPts val="2547"/>
              </a:lnSpc>
            </a:pPr>
            <a:r>
              <a:rPr lang="en-US" sz="1819" b="1">
                <a:solidFill>
                  <a:srgbClr val="FFFFFF"/>
                </a:solidFill>
                <a:latin typeface="Roboto Bold"/>
                <a:ea typeface="Roboto Bold"/>
                <a:cs typeface="Roboto Bold"/>
                <a:sym typeface="Roboto Bold"/>
              </a:rPr>
              <a:t>A</a:t>
            </a:r>
          </a:p>
        </p:txBody>
      </p:sp>
      <p:sp>
        <p:nvSpPr>
          <p:cNvPr id="60" name="TextBox 60"/>
          <p:cNvSpPr txBox="1"/>
          <p:nvPr/>
        </p:nvSpPr>
        <p:spPr>
          <a:xfrm>
            <a:off x="11277600" y="3687514"/>
            <a:ext cx="6662520" cy="846386"/>
          </a:xfrm>
          <a:prstGeom prst="rect">
            <a:avLst/>
          </a:prstGeom>
        </p:spPr>
        <p:txBody>
          <a:bodyPr wrap="square" lIns="0" tIns="0" rIns="0" bIns="0" rtlCol="0" anchor="t">
            <a:spAutoFit/>
          </a:bodyPr>
          <a:lstStyle/>
          <a:p>
            <a:pPr algn="l">
              <a:lnSpc>
                <a:spcPts val="2208"/>
              </a:lnSpc>
            </a:pPr>
            <a:r>
              <a:rPr lang="en-US" sz="2000" b="1" dirty="0">
                <a:solidFill>
                  <a:srgbClr val="1A3E70"/>
                </a:solidFill>
                <a:latin typeface="Roboto Bold"/>
                <a:ea typeface="Roboto Bold"/>
                <a:cs typeface="Roboto Bold"/>
                <a:sym typeface="Roboto Bold"/>
              </a:rPr>
              <a:t>Acknowledge early escalation and coach ownership:</a:t>
            </a:r>
          </a:p>
          <a:p>
            <a:pPr algn="l">
              <a:lnSpc>
                <a:spcPts val="2208"/>
              </a:lnSpc>
            </a:pPr>
            <a:r>
              <a:rPr lang="en-US" sz="2000" b="1" dirty="0">
                <a:solidFill>
                  <a:srgbClr val="1A3E70"/>
                </a:solidFill>
                <a:latin typeface="Roboto Bold"/>
                <a:ea typeface="Roboto Bold"/>
                <a:cs typeface="Roboto Bold"/>
                <a:sym typeface="Roboto Bold"/>
              </a:rPr>
              <a:t>“Thanks for flagging early, Alex. What is your proposed workaround before we escalate together?”</a:t>
            </a:r>
          </a:p>
        </p:txBody>
      </p:sp>
      <p:sp>
        <p:nvSpPr>
          <p:cNvPr id="61" name="TextBox 61"/>
          <p:cNvSpPr txBox="1"/>
          <p:nvPr/>
        </p:nvSpPr>
        <p:spPr>
          <a:xfrm>
            <a:off x="10040112" y="3695154"/>
            <a:ext cx="182880" cy="318465"/>
          </a:xfrm>
          <a:prstGeom prst="rect">
            <a:avLst/>
          </a:prstGeom>
        </p:spPr>
        <p:txBody>
          <a:bodyPr lIns="0" tIns="0" rIns="0" bIns="0" rtlCol="0" anchor="t">
            <a:spAutoFit/>
          </a:bodyPr>
          <a:lstStyle/>
          <a:p>
            <a:pPr algn="ctr">
              <a:lnSpc>
                <a:spcPts val="2547"/>
              </a:lnSpc>
            </a:pPr>
            <a:r>
              <a:rPr lang="en-US" sz="1819" b="1">
                <a:solidFill>
                  <a:srgbClr val="FFFFFF"/>
                </a:solidFill>
                <a:latin typeface="Roboto Bold"/>
                <a:ea typeface="Roboto Bold"/>
                <a:cs typeface="Roboto Bold"/>
                <a:sym typeface="Roboto Bold"/>
              </a:rPr>
              <a:t>B</a:t>
            </a:r>
          </a:p>
        </p:txBody>
      </p:sp>
      <p:sp>
        <p:nvSpPr>
          <p:cNvPr id="62" name="TextBox 62"/>
          <p:cNvSpPr txBox="1"/>
          <p:nvPr/>
        </p:nvSpPr>
        <p:spPr>
          <a:xfrm>
            <a:off x="11417662" y="4982914"/>
            <a:ext cx="3694176" cy="846386"/>
          </a:xfrm>
          <a:prstGeom prst="rect">
            <a:avLst/>
          </a:prstGeom>
        </p:spPr>
        <p:txBody>
          <a:bodyPr lIns="0" tIns="0" rIns="0" bIns="0" rtlCol="0" anchor="t">
            <a:spAutoFit/>
          </a:bodyPr>
          <a:lstStyle/>
          <a:p>
            <a:pPr algn="l">
              <a:lnSpc>
                <a:spcPts val="2249"/>
              </a:lnSpc>
            </a:pPr>
            <a:r>
              <a:rPr lang="en-US" sz="2000" b="1" dirty="0">
                <a:solidFill>
                  <a:srgbClr val="1A3E70"/>
                </a:solidFill>
                <a:latin typeface="Roboto Bold"/>
                <a:ea typeface="Roboto Bold"/>
                <a:cs typeface="Roboto Bold"/>
                <a:sym typeface="Roboto Bold"/>
              </a:rPr>
              <a:t>Wait until the deadline passes,</a:t>
            </a:r>
          </a:p>
          <a:p>
            <a:pPr algn="l">
              <a:lnSpc>
                <a:spcPts val="2249"/>
              </a:lnSpc>
            </a:pPr>
            <a:r>
              <a:rPr lang="en-US" sz="2000" b="1" dirty="0">
                <a:solidFill>
                  <a:srgbClr val="1A3E70"/>
                </a:solidFill>
                <a:latin typeface="Roboto Bold"/>
                <a:ea typeface="Roboto Bold"/>
                <a:cs typeface="Roboto Bold"/>
                <a:sym typeface="Roboto Bold"/>
              </a:rPr>
              <a:t>then schedule another formal meeting.</a:t>
            </a:r>
          </a:p>
        </p:txBody>
      </p:sp>
      <p:sp>
        <p:nvSpPr>
          <p:cNvPr id="63" name="TextBox 63"/>
          <p:cNvSpPr txBox="1"/>
          <p:nvPr/>
        </p:nvSpPr>
        <p:spPr>
          <a:xfrm>
            <a:off x="10040112" y="4909020"/>
            <a:ext cx="182880" cy="318465"/>
          </a:xfrm>
          <a:prstGeom prst="rect">
            <a:avLst/>
          </a:prstGeom>
        </p:spPr>
        <p:txBody>
          <a:bodyPr lIns="0" tIns="0" rIns="0" bIns="0" rtlCol="0" anchor="t">
            <a:spAutoFit/>
          </a:bodyPr>
          <a:lstStyle/>
          <a:p>
            <a:pPr algn="ctr">
              <a:lnSpc>
                <a:spcPts val="2547"/>
              </a:lnSpc>
            </a:pPr>
            <a:r>
              <a:rPr lang="en-US" sz="1819" b="1" dirty="0">
                <a:solidFill>
                  <a:srgbClr val="FFFFFF"/>
                </a:solidFill>
                <a:latin typeface="Roboto Bold"/>
                <a:ea typeface="Roboto Bold"/>
                <a:cs typeface="Roboto Bold"/>
                <a:sym typeface="Roboto Bold"/>
              </a:rPr>
              <a:t>C</a:t>
            </a:r>
          </a:p>
        </p:txBody>
      </p:sp>
      <p:sp>
        <p:nvSpPr>
          <p:cNvPr id="64" name="TextBox 64"/>
          <p:cNvSpPr txBox="1"/>
          <p:nvPr/>
        </p:nvSpPr>
        <p:spPr>
          <a:xfrm>
            <a:off x="11819998" y="8273416"/>
            <a:ext cx="5705856" cy="1356140"/>
          </a:xfrm>
          <a:prstGeom prst="rect">
            <a:avLst/>
          </a:prstGeom>
        </p:spPr>
        <p:txBody>
          <a:bodyPr lIns="0" tIns="0" rIns="0" bIns="0" rtlCol="0" anchor="t">
            <a:spAutoFit/>
          </a:bodyPr>
          <a:lstStyle/>
          <a:p>
            <a:pPr algn="l">
              <a:lnSpc>
                <a:spcPts val="2057"/>
              </a:lnSpc>
            </a:pPr>
            <a:r>
              <a:rPr lang="en-US" sz="2400" dirty="0">
                <a:solidFill>
                  <a:srgbClr val="1A3E70"/>
                </a:solidFill>
                <a:latin typeface="Roboto"/>
                <a:ea typeface="Roboto"/>
                <a:cs typeface="Roboto"/>
                <a:sym typeface="Roboto"/>
              </a:rPr>
              <a:t>Choice B reinforces proactive problem ownership while validating early communication. Intervention directly. Choice A, breeds dependency, while waiting, Choice C, damages team delivery.</a:t>
            </a:r>
          </a:p>
        </p:txBody>
      </p:sp>
      <p:sp>
        <p:nvSpPr>
          <p:cNvPr id="65" name="TextBox 65"/>
          <p:cNvSpPr txBox="1"/>
          <p:nvPr/>
        </p:nvSpPr>
        <p:spPr>
          <a:xfrm>
            <a:off x="11819998" y="7734300"/>
            <a:ext cx="1362602" cy="320601"/>
          </a:xfrm>
          <a:prstGeom prst="rect">
            <a:avLst/>
          </a:prstGeom>
        </p:spPr>
        <p:txBody>
          <a:bodyPr wrap="square" lIns="0" tIns="0" rIns="0" bIns="0" rtlCol="0" anchor="t">
            <a:spAutoFit/>
          </a:bodyPr>
          <a:lstStyle/>
          <a:p>
            <a:pPr algn="l">
              <a:lnSpc>
                <a:spcPts val="2547"/>
              </a:lnSpc>
            </a:pPr>
            <a:r>
              <a:rPr lang="en-US" sz="2400" b="1" dirty="0">
                <a:solidFill>
                  <a:srgbClr val="29929F"/>
                </a:solidFill>
                <a:latin typeface="Roboto Bold"/>
                <a:ea typeface="Roboto Bold"/>
                <a:cs typeface="Roboto Bold"/>
                <a:sym typeface="Roboto Bold"/>
              </a:rPr>
              <a:t>Correct!</a:t>
            </a:r>
          </a:p>
        </p:txBody>
      </p:sp>
      <p:sp>
        <p:nvSpPr>
          <p:cNvPr id="66" name="TextBox 66"/>
          <p:cNvSpPr txBox="1"/>
          <p:nvPr/>
        </p:nvSpPr>
        <p:spPr>
          <a:xfrm>
            <a:off x="16747856" y="834924"/>
            <a:ext cx="932688" cy="318465"/>
          </a:xfrm>
          <a:prstGeom prst="rect">
            <a:avLst/>
          </a:prstGeom>
        </p:spPr>
        <p:txBody>
          <a:bodyPr lIns="0" tIns="0" rIns="0" bIns="0" rtlCol="0" anchor="t">
            <a:spAutoFit/>
          </a:bodyPr>
          <a:lstStyle/>
          <a:p>
            <a:pPr algn="l">
              <a:lnSpc>
                <a:spcPts val="2547"/>
              </a:lnSpc>
            </a:pPr>
            <a:r>
              <a:rPr lang="en-US" sz="1819" b="1" dirty="0">
                <a:solidFill>
                  <a:srgbClr val="FFFFFF"/>
                </a:solidFill>
                <a:latin typeface="Roboto Bold"/>
                <a:ea typeface="Roboto Bold"/>
                <a:cs typeface="Roboto Bold"/>
                <a:sym typeface="Roboto Bold"/>
              </a:rPr>
              <a:t>+10 pts</a:t>
            </a:r>
          </a:p>
        </p:txBody>
      </p:sp>
      <p:sp>
        <p:nvSpPr>
          <p:cNvPr id="68" name="Flowchart: Connector 67">
            <a:extLst>
              <a:ext uri="{FF2B5EF4-FFF2-40B4-BE49-F238E27FC236}">
                <a16:creationId xmlns:a16="http://schemas.microsoft.com/office/drawing/2014/main" id="{644E0F3B-D8A4-F63A-245A-DB68E0249838}"/>
              </a:ext>
            </a:extLst>
          </p:cNvPr>
          <p:cNvSpPr/>
          <p:nvPr/>
        </p:nvSpPr>
        <p:spPr>
          <a:xfrm>
            <a:off x="14630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9" name="Straight Connector 68">
            <a:extLst>
              <a:ext uri="{FF2B5EF4-FFF2-40B4-BE49-F238E27FC236}">
                <a16:creationId xmlns:a16="http://schemas.microsoft.com/office/drawing/2014/main" id="{FC233715-BD73-C991-A861-0BEFBBC6388B}"/>
              </a:ext>
            </a:extLst>
          </p:cNvPr>
          <p:cNvCxnSpPr>
            <a:cxnSpLocks/>
          </p:cNvCxnSpPr>
          <p:nvPr/>
        </p:nvCxnSpPr>
        <p:spPr>
          <a:xfrm>
            <a:off x="14859000" y="3709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0" name="Flowchart: Connector 69">
            <a:extLst>
              <a:ext uri="{FF2B5EF4-FFF2-40B4-BE49-F238E27FC236}">
                <a16:creationId xmlns:a16="http://schemas.microsoft.com/office/drawing/2014/main" id="{4A553EFA-8700-BDCF-D4A9-71639C16F16B}"/>
              </a:ext>
            </a:extLst>
          </p:cNvPr>
          <p:cNvSpPr/>
          <p:nvPr/>
        </p:nvSpPr>
        <p:spPr>
          <a:xfrm>
            <a:off x="15773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Flowchart: Connector 70">
            <a:extLst>
              <a:ext uri="{FF2B5EF4-FFF2-40B4-BE49-F238E27FC236}">
                <a16:creationId xmlns:a16="http://schemas.microsoft.com/office/drawing/2014/main" id="{6A2D9DC8-1F4E-7AD9-8586-E1F8CCAB3E1C}"/>
              </a:ext>
            </a:extLst>
          </p:cNvPr>
          <p:cNvSpPr/>
          <p:nvPr/>
        </p:nvSpPr>
        <p:spPr>
          <a:xfrm>
            <a:off x="16154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Flowchart: Connector 71">
            <a:extLst>
              <a:ext uri="{FF2B5EF4-FFF2-40B4-BE49-F238E27FC236}">
                <a16:creationId xmlns:a16="http://schemas.microsoft.com/office/drawing/2014/main" id="{AA6BED89-945E-47B1-C309-DB98C444C0CE}"/>
              </a:ext>
            </a:extLst>
          </p:cNvPr>
          <p:cNvSpPr/>
          <p:nvPr/>
        </p:nvSpPr>
        <p:spPr>
          <a:xfrm>
            <a:off x="16535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Flowchart: Connector 72">
            <a:extLst>
              <a:ext uri="{FF2B5EF4-FFF2-40B4-BE49-F238E27FC236}">
                <a16:creationId xmlns:a16="http://schemas.microsoft.com/office/drawing/2014/main" id="{1F922F08-3C07-0DBB-47DB-A4A561486DCB}"/>
              </a:ext>
            </a:extLst>
          </p:cNvPr>
          <p:cNvSpPr/>
          <p:nvPr/>
        </p:nvSpPr>
        <p:spPr>
          <a:xfrm>
            <a:off x="16916400" y="2667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Flowchart: Connector 73">
            <a:extLst>
              <a:ext uri="{FF2B5EF4-FFF2-40B4-BE49-F238E27FC236}">
                <a16:creationId xmlns:a16="http://schemas.microsoft.com/office/drawing/2014/main" id="{C07D7C40-8335-081F-5D71-BF4461FA5E2B}"/>
              </a:ext>
            </a:extLst>
          </p:cNvPr>
          <p:cNvSpPr/>
          <p:nvPr/>
        </p:nvSpPr>
        <p:spPr>
          <a:xfrm>
            <a:off x="17297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Flowchart: Connector 74">
            <a:extLst>
              <a:ext uri="{FF2B5EF4-FFF2-40B4-BE49-F238E27FC236}">
                <a16:creationId xmlns:a16="http://schemas.microsoft.com/office/drawing/2014/main" id="{5AD58B6B-9C95-C1CF-1570-72DCBC01CA9D}"/>
              </a:ext>
            </a:extLst>
          </p:cNvPr>
          <p:cNvSpPr/>
          <p:nvPr/>
        </p:nvSpPr>
        <p:spPr>
          <a:xfrm>
            <a:off x="17678400" y="2803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Flowchart: Connector 75">
            <a:extLst>
              <a:ext uri="{FF2B5EF4-FFF2-40B4-BE49-F238E27FC236}">
                <a16:creationId xmlns:a16="http://schemas.microsoft.com/office/drawing/2014/main" id="{8DB82BD8-36E8-C1E5-54F1-12F6DAC718BD}"/>
              </a:ext>
            </a:extLst>
          </p:cNvPr>
          <p:cNvSpPr/>
          <p:nvPr/>
        </p:nvSpPr>
        <p:spPr>
          <a:xfrm>
            <a:off x="15011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Flowchart: Connector 76">
            <a:extLst>
              <a:ext uri="{FF2B5EF4-FFF2-40B4-BE49-F238E27FC236}">
                <a16:creationId xmlns:a16="http://schemas.microsoft.com/office/drawing/2014/main" id="{E5AABACB-752C-253D-4F53-BE26416D3564}"/>
              </a:ext>
            </a:extLst>
          </p:cNvPr>
          <p:cNvSpPr/>
          <p:nvPr/>
        </p:nvSpPr>
        <p:spPr>
          <a:xfrm>
            <a:off x="15392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55CC90C9-7564-2FE1-E75F-CC32FB195621}"/>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Gamified scenario transfer card.</a:t>
            </a:r>
          </a:p>
          <a:p>
            <a:r>
              <a:rPr lang="en-IN" sz="2000" dirty="0"/>
              <a:t>• Visuals: Contextual Slack chat window mock-up on left; 3 decision buttons on right.</a:t>
            </a:r>
          </a:p>
          <a:p>
            <a:r>
              <a:rPr lang="en-IN" sz="2000" dirty="0"/>
              <a:t>• Top Bar: Pacing indicator bar and score badge (+10 pts).</a:t>
            </a:r>
          </a:p>
          <a:p>
            <a:r>
              <a:rPr lang="en-IN" sz="2000" dirty="0"/>
              <a:t>• Feedback Drawer: Explanatory rationale confirming </a:t>
            </a:r>
            <a:r>
              <a:rPr lang="en-IN" sz="2000" dirty="0" err="1"/>
              <a:t>behavioral</a:t>
            </a:r>
            <a:r>
              <a:rPr lang="en-IN" sz="2000" dirty="0"/>
              <a:t> transfer to real workplace situations.</a:t>
            </a:r>
          </a:p>
          <a:p>
            <a:pPr algn="ctr"/>
            <a:endParaRPr lang="en-IN" sz="2000" b="1" dirty="0"/>
          </a:p>
        </p:txBody>
      </p:sp>
      <p:sp>
        <p:nvSpPr>
          <p:cNvPr id="81" name="Flowchart: Connector 80">
            <a:extLst>
              <a:ext uri="{FF2B5EF4-FFF2-40B4-BE49-F238E27FC236}">
                <a16:creationId xmlns:a16="http://schemas.microsoft.com/office/drawing/2014/main" id="{8952B62F-443F-D689-505C-BCBB6F026E1E}"/>
              </a:ext>
            </a:extLst>
          </p:cNvPr>
          <p:cNvSpPr/>
          <p:nvPr/>
        </p:nvSpPr>
        <p:spPr>
          <a:xfrm>
            <a:off x="15773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Flowchart: Connector 82">
            <a:extLst>
              <a:ext uri="{FF2B5EF4-FFF2-40B4-BE49-F238E27FC236}">
                <a16:creationId xmlns:a16="http://schemas.microsoft.com/office/drawing/2014/main" id="{A5588449-6B00-F0DA-B800-5D02B7F86F48}"/>
              </a:ext>
            </a:extLst>
          </p:cNvPr>
          <p:cNvSpPr/>
          <p:nvPr/>
        </p:nvSpPr>
        <p:spPr>
          <a:xfrm>
            <a:off x="16154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Flowchart: Connector 84">
            <a:extLst>
              <a:ext uri="{FF2B5EF4-FFF2-40B4-BE49-F238E27FC236}">
                <a16:creationId xmlns:a16="http://schemas.microsoft.com/office/drawing/2014/main" id="{10A59077-D8AF-4EF9-544E-6A7E8F04BE56}"/>
              </a:ext>
            </a:extLst>
          </p:cNvPr>
          <p:cNvSpPr/>
          <p:nvPr/>
        </p:nvSpPr>
        <p:spPr>
          <a:xfrm>
            <a:off x="16535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Flowchart: Connector 86">
            <a:extLst>
              <a:ext uri="{FF2B5EF4-FFF2-40B4-BE49-F238E27FC236}">
                <a16:creationId xmlns:a16="http://schemas.microsoft.com/office/drawing/2014/main" id="{D8EFB29E-6405-60C3-9A95-3B624004F240}"/>
              </a:ext>
            </a:extLst>
          </p:cNvPr>
          <p:cNvSpPr/>
          <p:nvPr/>
        </p:nvSpPr>
        <p:spPr>
          <a:xfrm>
            <a:off x="16916400" y="2667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Flowchart: Connector 88">
            <a:extLst>
              <a:ext uri="{FF2B5EF4-FFF2-40B4-BE49-F238E27FC236}">
                <a16:creationId xmlns:a16="http://schemas.microsoft.com/office/drawing/2014/main" id="{1F41B80F-E31B-EFD1-C1E5-6FEA08D08B54}"/>
              </a:ext>
            </a:extLst>
          </p:cNvPr>
          <p:cNvSpPr/>
          <p:nvPr/>
        </p:nvSpPr>
        <p:spPr>
          <a:xfrm>
            <a:off x="10668000" y="2368302"/>
            <a:ext cx="510124" cy="48420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rPr>
              <a:t>A</a:t>
            </a:r>
            <a:endParaRPr lang="en-IN" sz="2000" b="1" dirty="0">
              <a:solidFill>
                <a:schemeClr val="bg1"/>
              </a:solidFill>
            </a:endParaRPr>
          </a:p>
        </p:txBody>
      </p:sp>
      <p:sp>
        <p:nvSpPr>
          <p:cNvPr id="91" name="Flowchart: Connector 90">
            <a:extLst>
              <a:ext uri="{FF2B5EF4-FFF2-40B4-BE49-F238E27FC236}">
                <a16:creationId xmlns:a16="http://schemas.microsoft.com/office/drawing/2014/main" id="{E24DB31A-914E-3387-ED6E-4331A77D1C2D}"/>
              </a:ext>
            </a:extLst>
          </p:cNvPr>
          <p:cNvSpPr/>
          <p:nvPr/>
        </p:nvSpPr>
        <p:spPr>
          <a:xfrm>
            <a:off x="10615076" y="3668699"/>
            <a:ext cx="510124" cy="48420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rPr>
              <a:t>B</a:t>
            </a:r>
            <a:endParaRPr lang="en-IN" sz="2000" b="1" dirty="0">
              <a:solidFill>
                <a:schemeClr val="bg1"/>
              </a:solidFill>
            </a:endParaRPr>
          </a:p>
        </p:txBody>
      </p:sp>
      <p:sp>
        <p:nvSpPr>
          <p:cNvPr id="93" name="Flowchart: Connector 92">
            <a:extLst>
              <a:ext uri="{FF2B5EF4-FFF2-40B4-BE49-F238E27FC236}">
                <a16:creationId xmlns:a16="http://schemas.microsoft.com/office/drawing/2014/main" id="{71334FD5-B864-5F10-F212-935158499285}"/>
              </a:ext>
            </a:extLst>
          </p:cNvPr>
          <p:cNvSpPr/>
          <p:nvPr/>
        </p:nvSpPr>
        <p:spPr>
          <a:xfrm>
            <a:off x="10691276" y="5040299"/>
            <a:ext cx="510124" cy="48420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rPr>
              <a:t>C</a:t>
            </a:r>
            <a:endParaRPr lang="en-IN" sz="2000" b="1" dirty="0">
              <a:solidFill>
                <a:schemeClr val="bg1"/>
              </a:solidFill>
            </a:endParaRPr>
          </a:p>
        </p:txBody>
      </p:sp>
      <p:sp>
        <p:nvSpPr>
          <p:cNvPr id="95" name="Freeform 3">
            <a:extLst>
              <a:ext uri="{FF2B5EF4-FFF2-40B4-BE49-F238E27FC236}">
                <a16:creationId xmlns:a16="http://schemas.microsoft.com/office/drawing/2014/main" id="{5B8BBDBB-9D3A-1146-D844-FEFED3EFA070}"/>
              </a:ext>
            </a:extLst>
          </p:cNvPr>
          <p:cNvSpPr/>
          <p:nvPr/>
        </p:nvSpPr>
        <p:spPr>
          <a:xfrm>
            <a:off x="426574" y="175033"/>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25"/>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566928" y="1250873"/>
            <a:ext cx="11978640" cy="836768"/>
          </a:xfrm>
          <a:prstGeom prst="rect">
            <a:avLst/>
          </a:prstGeom>
        </p:spPr>
        <p:txBody>
          <a:bodyPr lIns="0" tIns="0" rIns="0" bIns="0" rtlCol="0" anchor="t">
            <a:spAutoFit/>
          </a:bodyPr>
          <a:lstStyle/>
          <a:p>
            <a:pPr algn="l">
              <a:lnSpc>
                <a:spcPts val="6876"/>
              </a:lnSpc>
            </a:pPr>
            <a:r>
              <a:rPr lang="en-US" sz="5400" b="1" spc="-158" dirty="0">
                <a:solidFill>
                  <a:srgbClr val="00234C"/>
                </a:solidFill>
                <a:latin typeface="Roboto Bold"/>
                <a:ea typeface="Roboto Bold"/>
                <a:sym typeface="Roboto Bold"/>
              </a:rPr>
              <a:t>Summary Pointers: Key Takeaways!</a:t>
            </a:r>
          </a:p>
        </p:txBody>
      </p:sp>
      <p:sp>
        <p:nvSpPr>
          <p:cNvPr id="5" name="Freeform 5"/>
          <p:cNvSpPr/>
          <p:nvPr/>
        </p:nvSpPr>
        <p:spPr>
          <a:xfrm>
            <a:off x="13497244" y="0"/>
            <a:ext cx="4790756" cy="2787657"/>
          </a:xfrm>
          <a:custGeom>
            <a:avLst/>
            <a:gdLst/>
            <a:ahLst/>
            <a:cxnLst/>
            <a:rect l="l" t="t" r="r" b="b"/>
            <a:pathLst>
              <a:path w="4790756" h="2787657">
                <a:moveTo>
                  <a:pt x="0" y="0"/>
                </a:moveTo>
                <a:lnTo>
                  <a:pt x="4790756" y="0"/>
                </a:lnTo>
                <a:lnTo>
                  <a:pt x="4790756" y="2787657"/>
                </a:lnTo>
                <a:lnTo>
                  <a:pt x="0" y="2787657"/>
                </a:lnTo>
                <a:lnTo>
                  <a:pt x="0" y="0"/>
                </a:lnTo>
                <a:close/>
              </a:path>
            </a:pathLst>
          </a:custGeom>
          <a:blipFill>
            <a:blip r:embed="rId4"/>
            <a:stretch>
              <a:fillRect/>
            </a:stretch>
          </a:blipFill>
        </p:spPr>
        <p:txBody>
          <a:bodyPr/>
          <a:lstStyle/>
          <a:p>
            <a:endParaRPr lang="en-IN"/>
          </a:p>
        </p:txBody>
      </p:sp>
      <p:sp>
        <p:nvSpPr>
          <p:cNvPr id="6" name="Freeform 6"/>
          <p:cNvSpPr/>
          <p:nvPr/>
        </p:nvSpPr>
        <p:spPr>
          <a:xfrm>
            <a:off x="645330" y="2995365"/>
            <a:ext cx="2843828" cy="863627"/>
          </a:xfrm>
          <a:custGeom>
            <a:avLst/>
            <a:gdLst/>
            <a:ahLst/>
            <a:cxnLst/>
            <a:rect l="l" t="t" r="r" b="b"/>
            <a:pathLst>
              <a:path w="2843828" h="863627">
                <a:moveTo>
                  <a:pt x="0" y="0"/>
                </a:moveTo>
                <a:lnTo>
                  <a:pt x="2843828" y="0"/>
                </a:lnTo>
                <a:lnTo>
                  <a:pt x="2843828" y="863626"/>
                </a:lnTo>
                <a:lnTo>
                  <a:pt x="0" y="863626"/>
                </a:lnTo>
                <a:lnTo>
                  <a:pt x="0" y="0"/>
                </a:lnTo>
                <a:close/>
              </a:path>
            </a:pathLst>
          </a:custGeom>
          <a:blipFill>
            <a:blip r:embed="rId5"/>
            <a:stretch>
              <a:fillRect/>
            </a:stretch>
          </a:blipFill>
        </p:spPr>
        <p:txBody>
          <a:bodyPr/>
          <a:lstStyle/>
          <a:p>
            <a:endParaRPr lang="en-IN"/>
          </a:p>
        </p:txBody>
      </p:sp>
      <p:sp>
        <p:nvSpPr>
          <p:cNvPr id="7" name="Freeform 7"/>
          <p:cNvSpPr/>
          <p:nvPr/>
        </p:nvSpPr>
        <p:spPr>
          <a:xfrm>
            <a:off x="645330" y="2995365"/>
            <a:ext cx="885962" cy="863627"/>
          </a:xfrm>
          <a:custGeom>
            <a:avLst/>
            <a:gdLst/>
            <a:ahLst/>
            <a:cxnLst/>
            <a:rect l="l" t="t" r="r" b="b"/>
            <a:pathLst>
              <a:path w="885962" h="863627">
                <a:moveTo>
                  <a:pt x="0" y="0"/>
                </a:moveTo>
                <a:lnTo>
                  <a:pt x="885962" y="0"/>
                </a:lnTo>
                <a:lnTo>
                  <a:pt x="885962" y="863626"/>
                </a:lnTo>
                <a:lnTo>
                  <a:pt x="0" y="863626"/>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1700784" y="3299648"/>
            <a:ext cx="1314286" cy="282129"/>
          </a:xfrm>
          <a:prstGeom prst="rect">
            <a:avLst/>
          </a:prstGeom>
        </p:spPr>
        <p:txBody>
          <a:bodyPr wrap="square" lIns="0" tIns="0" rIns="0" bIns="0" rtlCol="0" anchor="t">
            <a:spAutoFit/>
          </a:bodyPr>
          <a:lstStyle/>
          <a:p>
            <a:pPr algn="l">
              <a:lnSpc>
                <a:spcPts val="2280"/>
              </a:lnSpc>
            </a:pPr>
            <a:r>
              <a:rPr lang="en-US" sz="1900" b="1" spc="38" dirty="0">
                <a:solidFill>
                  <a:srgbClr val="001F59"/>
                </a:solidFill>
                <a:latin typeface="Roboto Bold"/>
                <a:ea typeface="Roboto Bold"/>
                <a:cs typeface="Roboto Bold"/>
                <a:sym typeface="Roboto Bold"/>
              </a:rPr>
              <a:t>CONTEXT</a:t>
            </a:r>
          </a:p>
        </p:txBody>
      </p:sp>
      <p:sp>
        <p:nvSpPr>
          <p:cNvPr id="9" name="Freeform 9"/>
          <p:cNvSpPr/>
          <p:nvPr/>
        </p:nvSpPr>
        <p:spPr>
          <a:xfrm>
            <a:off x="3478220" y="3214004"/>
            <a:ext cx="667206" cy="437279"/>
          </a:xfrm>
          <a:custGeom>
            <a:avLst/>
            <a:gdLst/>
            <a:ahLst/>
            <a:cxnLst/>
            <a:rect l="l" t="t" r="r" b="b"/>
            <a:pathLst>
              <a:path w="667206" h="437279">
                <a:moveTo>
                  <a:pt x="0" y="0"/>
                </a:moveTo>
                <a:lnTo>
                  <a:pt x="667206" y="0"/>
                </a:lnTo>
                <a:lnTo>
                  <a:pt x="667206" y="437280"/>
                </a:lnTo>
                <a:lnTo>
                  <a:pt x="0" y="437280"/>
                </a:lnTo>
                <a:lnTo>
                  <a:pt x="0" y="0"/>
                </a:lnTo>
                <a:close/>
              </a:path>
            </a:pathLst>
          </a:custGeom>
          <a:blipFill>
            <a:blip r:embed="rId7"/>
            <a:stretch>
              <a:fillRect/>
            </a:stretch>
          </a:blipFill>
        </p:spPr>
        <p:txBody>
          <a:bodyPr/>
          <a:lstStyle/>
          <a:p>
            <a:endParaRPr lang="en-IN"/>
          </a:p>
        </p:txBody>
      </p:sp>
      <p:sp>
        <p:nvSpPr>
          <p:cNvPr id="10" name="Freeform 10"/>
          <p:cNvSpPr/>
          <p:nvPr/>
        </p:nvSpPr>
        <p:spPr>
          <a:xfrm>
            <a:off x="4134488" y="2995365"/>
            <a:ext cx="3051646" cy="863627"/>
          </a:xfrm>
          <a:custGeom>
            <a:avLst/>
            <a:gdLst/>
            <a:ahLst/>
            <a:cxnLst/>
            <a:rect l="l" t="t" r="r" b="b"/>
            <a:pathLst>
              <a:path w="3051646" h="863627">
                <a:moveTo>
                  <a:pt x="0" y="0"/>
                </a:moveTo>
                <a:lnTo>
                  <a:pt x="3051646" y="0"/>
                </a:lnTo>
                <a:lnTo>
                  <a:pt x="3051646" y="863626"/>
                </a:lnTo>
                <a:lnTo>
                  <a:pt x="0" y="863626"/>
                </a:lnTo>
                <a:lnTo>
                  <a:pt x="0" y="0"/>
                </a:lnTo>
                <a:close/>
              </a:path>
            </a:pathLst>
          </a:custGeom>
          <a:blipFill>
            <a:blip r:embed="rId8"/>
            <a:stretch>
              <a:fillRect/>
            </a:stretch>
          </a:blipFill>
        </p:spPr>
        <p:txBody>
          <a:bodyPr/>
          <a:lstStyle/>
          <a:p>
            <a:endParaRPr lang="en-IN"/>
          </a:p>
        </p:txBody>
      </p:sp>
      <p:sp>
        <p:nvSpPr>
          <p:cNvPr id="11" name="Freeform 11"/>
          <p:cNvSpPr/>
          <p:nvPr/>
        </p:nvSpPr>
        <p:spPr>
          <a:xfrm>
            <a:off x="4134488" y="2995365"/>
            <a:ext cx="1093780" cy="863627"/>
          </a:xfrm>
          <a:custGeom>
            <a:avLst/>
            <a:gdLst/>
            <a:ahLst/>
            <a:cxnLst/>
            <a:rect l="l" t="t" r="r" b="b"/>
            <a:pathLst>
              <a:path w="1093780" h="863627">
                <a:moveTo>
                  <a:pt x="0" y="0"/>
                </a:moveTo>
                <a:lnTo>
                  <a:pt x="1093780" y="0"/>
                </a:lnTo>
                <a:lnTo>
                  <a:pt x="1093780" y="863626"/>
                </a:lnTo>
                <a:lnTo>
                  <a:pt x="0" y="863626"/>
                </a:lnTo>
                <a:lnTo>
                  <a:pt x="0" y="0"/>
                </a:lnTo>
                <a:close/>
              </a:path>
            </a:pathLst>
          </a:custGeom>
          <a:blipFill>
            <a:blip r:embed="rId9"/>
            <a:stretch>
              <a:fillRect/>
            </a:stretch>
          </a:blipFill>
        </p:spPr>
        <p:txBody>
          <a:bodyPr/>
          <a:lstStyle/>
          <a:p>
            <a:endParaRPr lang="en-IN"/>
          </a:p>
        </p:txBody>
      </p:sp>
      <p:sp>
        <p:nvSpPr>
          <p:cNvPr id="12" name="TextBox 12"/>
          <p:cNvSpPr txBox="1"/>
          <p:nvPr/>
        </p:nvSpPr>
        <p:spPr>
          <a:xfrm>
            <a:off x="5358384" y="3305114"/>
            <a:ext cx="713232" cy="282825"/>
          </a:xfrm>
          <a:prstGeom prst="rect">
            <a:avLst/>
          </a:prstGeom>
        </p:spPr>
        <p:txBody>
          <a:bodyPr lIns="0" tIns="0" rIns="0" bIns="0" rtlCol="0" anchor="t">
            <a:spAutoFit/>
          </a:bodyPr>
          <a:lstStyle/>
          <a:p>
            <a:pPr algn="l">
              <a:lnSpc>
                <a:spcPts val="2231"/>
              </a:lnSpc>
            </a:pPr>
            <a:r>
              <a:rPr lang="en-US" sz="1859" b="1" spc="37">
                <a:solidFill>
                  <a:srgbClr val="001F59"/>
                </a:solidFill>
                <a:latin typeface="Roboto Bold"/>
                <a:ea typeface="Roboto Bold"/>
                <a:cs typeface="Roboto Bold"/>
                <a:sym typeface="Roboto Bold"/>
              </a:rPr>
              <a:t>KNOW</a:t>
            </a:r>
          </a:p>
        </p:txBody>
      </p:sp>
      <p:sp>
        <p:nvSpPr>
          <p:cNvPr id="13" name="Freeform 13"/>
          <p:cNvSpPr/>
          <p:nvPr/>
        </p:nvSpPr>
        <p:spPr>
          <a:xfrm>
            <a:off x="7175196" y="3214004"/>
            <a:ext cx="448450" cy="437279"/>
          </a:xfrm>
          <a:custGeom>
            <a:avLst/>
            <a:gdLst/>
            <a:ahLst/>
            <a:cxnLst/>
            <a:rect l="l" t="t" r="r" b="b"/>
            <a:pathLst>
              <a:path w="448450" h="437279">
                <a:moveTo>
                  <a:pt x="0" y="0"/>
                </a:moveTo>
                <a:lnTo>
                  <a:pt x="448450" y="0"/>
                </a:lnTo>
                <a:lnTo>
                  <a:pt x="448450" y="437280"/>
                </a:lnTo>
                <a:lnTo>
                  <a:pt x="0" y="437280"/>
                </a:lnTo>
                <a:lnTo>
                  <a:pt x="0" y="0"/>
                </a:lnTo>
                <a:close/>
              </a:path>
            </a:pathLst>
          </a:custGeom>
          <a:blipFill>
            <a:blip r:embed="rId10"/>
            <a:stretch>
              <a:fillRect/>
            </a:stretch>
          </a:blipFill>
        </p:spPr>
        <p:txBody>
          <a:bodyPr/>
          <a:lstStyle/>
          <a:p>
            <a:endParaRPr lang="en-IN"/>
          </a:p>
        </p:txBody>
      </p:sp>
      <p:sp>
        <p:nvSpPr>
          <p:cNvPr id="14" name="Freeform 14"/>
          <p:cNvSpPr/>
          <p:nvPr/>
        </p:nvSpPr>
        <p:spPr>
          <a:xfrm>
            <a:off x="7831464" y="2995365"/>
            <a:ext cx="2843828" cy="863627"/>
          </a:xfrm>
          <a:custGeom>
            <a:avLst/>
            <a:gdLst/>
            <a:ahLst/>
            <a:cxnLst/>
            <a:rect l="l" t="t" r="r" b="b"/>
            <a:pathLst>
              <a:path w="2843828" h="863627">
                <a:moveTo>
                  <a:pt x="0" y="0"/>
                </a:moveTo>
                <a:lnTo>
                  <a:pt x="2843828" y="0"/>
                </a:lnTo>
                <a:lnTo>
                  <a:pt x="2843828" y="863626"/>
                </a:lnTo>
                <a:lnTo>
                  <a:pt x="0" y="863626"/>
                </a:lnTo>
                <a:lnTo>
                  <a:pt x="0" y="0"/>
                </a:lnTo>
                <a:close/>
              </a:path>
            </a:pathLst>
          </a:custGeom>
          <a:blipFill>
            <a:blip r:embed="rId11"/>
            <a:stretch>
              <a:fillRect/>
            </a:stretch>
          </a:blipFill>
        </p:spPr>
        <p:txBody>
          <a:bodyPr/>
          <a:lstStyle/>
          <a:p>
            <a:endParaRPr lang="en-IN"/>
          </a:p>
        </p:txBody>
      </p:sp>
      <p:sp>
        <p:nvSpPr>
          <p:cNvPr id="15" name="Freeform 15"/>
          <p:cNvSpPr/>
          <p:nvPr/>
        </p:nvSpPr>
        <p:spPr>
          <a:xfrm>
            <a:off x="7831464" y="2995365"/>
            <a:ext cx="885962" cy="863627"/>
          </a:xfrm>
          <a:custGeom>
            <a:avLst/>
            <a:gdLst/>
            <a:ahLst/>
            <a:cxnLst/>
            <a:rect l="l" t="t" r="r" b="b"/>
            <a:pathLst>
              <a:path w="885962" h="863627">
                <a:moveTo>
                  <a:pt x="0" y="0"/>
                </a:moveTo>
                <a:lnTo>
                  <a:pt x="885962" y="0"/>
                </a:lnTo>
                <a:lnTo>
                  <a:pt x="885962" y="863626"/>
                </a:lnTo>
                <a:lnTo>
                  <a:pt x="0" y="863626"/>
                </a:lnTo>
                <a:lnTo>
                  <a:pt x="0" y="0"/>
                </a:lnTo>
                <a:close/>
              </a:path>
            </a:pathLst>
          </a:custGeom>
          <a:blipFill>
            <a:blip r:embed="rId12"/>
            <a:stretch>
              <a:fillRect/>
            </a:stretch>
          </a:blipFill>
        </p:spPr>
        <p:txBody>
          <a:bodyPr/>
          <a:lstStyle/>
          <a:p>
            <a:endParaRPr lang="en-IN"/>
          </a:p>
        </p:txBody>
      </p:sp>
      <p:sp>
        <p:nvSpPr>
          <p:cNvPr id="16" name="TextBox 16"/>
          <p:cNvSpPr txBox="1"/>
          <p:nvPr/>
        </p:nvSpPr>
        <p:spPr>
          <a:xfrm>
            <a:off x="8906256" y="3284657"/>
            <a:ext cx="1225296" cy="314214"/>
          </a:xfrm>
          <a:prstGeom prst="rect">
            <a:avLst/>
          </a:prstGeom>
        </p:spPr>
        <p:txBody>
          <a:bodyPr lIns="0" tIns="0" rIns="0" bIns="0" rtlCol="0" anchor="t">
            <a:spAutoFit/>
          </a:bodyPr>
          <a:lstStyle/>
          <a:p>
            <a:pPr algn="l">
              <a:lnSpc>
                <a:spcPts val="2328"/>
              </a:lnSpc>
            </a:pPr>
            <a:r>
              <a:rPr lang="en-US" sz="1940" b="1" spc="38">
                <a:solidFill>
                  <a:srgbClr val="0097B2"/>
                </a:solidFill>
                <a:latin typeface="Roboto Bold"/>
                <a:ea typeface="Roboto Bold"/>
                <a:cs typeface="Roboto Bold"/>
                <a:sym typeface="Roboto Bold"/>
              </a:rPr>
              <a:t>PRACTICE</a:t>
            </a:r>
          </a:p>
        </p:txBody>
      </p:sp>
      <p:sp>
        <p:nvSpPr>
          <p:cNvPr id="17" name="Freeform 17"/>
          <p:cNvSpPr/>
          <p:nvPr/>
        </p:nvSpPr>
        <p:spPr>
          <a:xfrm>
            <a:off x="10664354" y="3214004"/>
            <a:ext cx="448450" cy="437279"/>
          </a:xfrm>
          <a:custGeom>
            <a:avLst/>
            <a:gdLst/>
            <a:ahLst/>
            <a:cxnLst/>
            <a:rect l="l" t="t" r="r" b="b"/>
            <a:pathLst>
              <a:path w="448450" h="437279">
                <a:moveTo>
                  <a:pt x="0" y="0"/>
                </a:moveTo>
                <a:lnTo>
                  <a:pt x="448450" y="0"/>
                </a:lnTo>
                <a:lnTo>
                  <a:pt x="448450" y="437280"/>
                </a:lnTo>
                <a:lnTo>
                  <a:pt x="0" y="437280"/>
                </a:lnTo>
                <a:lnTo>
                  <a:pt x="0" y="0"/>
                </a:lnTo>
                <a:close/>
              </a:path>
            </a:pathLst>
          </a:custGeom>
          <a:blipFill>
            <a:blip r:embed="rId13"/>
            <a:stretch>
              <a:fillRect/>
            </a:stretch>
          </a:blipFill>
        </p:spPr>
        <p:txBody>
          <a:bodyPr/>
          <a:lstStyle/>
          <a:p>
            <a:endParaRPr lang="en-IN"/>
          </a:p>
        </p:txBody>
      </p:sp>
      <p:sp>
        <p:nvSpPr>
          <p:cNvPr id="18" name="Freeform 18"/>
          <p:cNvSpPr/>
          <p:nvPr/>
        </p:nvSpPr>
        <p:spPr>
          <a:xfrm>
            <a:off x="11320622" y="2995365"/>
            <a:ext cx="2832890" cy="863627"/>
          </a:xfrm>
          <a:custGeom>
            <a:avLst/>
            <a:gdLst/>
            <a:ahLst/>
            <a:cxnLst/>
            <a:rect l="l" t="t" r="r" b="b"/>
            <a:pathLst>
              <a:path w="2832890" h="863627">
                <a:moveTo>
                  <a:pt x="0" y="0"/>
                </a:moveTo>
                <a:lnTo>
                  <a:pt x="2832890" y="0"/>
                </a:lnTo>
                <a:lnTo>
                  <a:pt x="2832890" y="863626"/>
                </a:lnTo>
                <a:lnTo>
                  <a:pt x="0" y="863626"/>
                </a:lnTo>
                <a:lnTo>
                  <a:pt x="0" y="0"/>
                </a:lnTo>
                <a:close/>
              </a:path>
            </a:pathLst>
          </a:custGeom>
          <a:blipFill>
            <a:blip r:embed="rId14"/>
            <a:stretch>
              <a:fillRect/>
            </a:stretch>
          </a:blipFill>
        </p:spPr>
        <p:txBody>
          <a:bodyPr/>
          <a:lstStyle/>
          <a:p>
            <a:endParaRPr lang="en-IN"/>
          </a:p>
        </p:txBody>
      </p:sp>
      <p:sp>
        <p:nvSpPr>
          <p:cNvPr id="19" name="Freeform 19"/>
          <p:cNvSpPr/>
          <p:nvPr/>
        </p:nvSpPr>
        <p:spPr>
          <a:xfrm>
            <a:off x="11320622" y="2995365"/>
            <a:ext cx="875024" cy="863627"/>
          </a:xfrm>
          <a:custGeom>
            <a:avLst/>
            <a:gdLst/>
            <a:ahLst/>
            <a:cxnLst/>
            <a:rect l="l" t="t" r="r" b="b"/>
            <a:pathLst>
              <a:path w="875024" h="863627">
                <a:moveTo>
                  <a:pt x="0" y="0"/>
                </a:moveTo>
                <a:lnTo>
                  <a:pt x="875024" y="0"/>
                </a:lnTo>
                <a:lnTo>
                  <a:pt x="875024" y="863626"/>
                </a:lnTo>
                <a:lnTo>
                  <a:pt x="0" y="863626"/>
                </a:lnTo>
                <a:lnTo>
                  <a:pt x="0" y="0"/>
                </a:lnTo>
                <a:close/>
              </a:path>
            </a:pathLst>
          </a:custGeom>
          <a:blipFill>
            <a:blip r:embed="rId15"/>
            <a:stretch>
              <a:fillRect/>
            </a:stretch>
          </a:blipFill>
        </p:spPr>
        <p:txBody>
          <a:bodyPr/>
          <a:lstStyle/>
          <a:p>
            <a:endParaRPr lang="en-IN"/>
          </a:p>
        </p:txBody>
      </p:sp>
      <p:sp>
        <p:nvSpPr>
          <p:cNvPr id="20" name="TextBox 20"/>
          <p:cNvSpPr txBox="1"/>
          <p:nvPr/>
        </p:nvSpPr>
        <p:spPr>
          <a:xfrm>
            <a:off x="12435840" y="3299648"/>
            <a:ext cx="1243584" cy="293757"/>
          </a:xfrm>
          <a:prstGeom prst="rect">
            <a:avLst/>
          </a:prstGeom>
        </p:spPr>
        <p:txBody>
          <a:bodyPr lIns="0" tIns="0" rIns="0" bIns="0" rtlCol="0" anchor="t">
            <a:spAutoFit/>
          </a:bodyPr>
          <a:lstStyle/>
          <a:p>
            <a:pPr algn="l">
              <a:lnSpc>
                <a:spcPts val="2280"/>
              </a:lnSpc>
            </a:pPr>
            <a:r>
              <a:rPr lang="en-US" sz="1900" b="1" spc="38">
                <a:solidFill>
                  <a:srgbClr val="0097B2"/>
                </a:solidFill>
                <a:latin typeface="Roboto Bold"/>
                <a:ea typeface="Roboto Bold"/>
                <a:cs typeface="Roboto Bold"/>
                <a:sym typeface="Roboto Bold"/>
              </a:rPr>
              <a:t>FEEDBACK</a:t>
            </a:r>
          </a:p>
        </p:txBody>
      </p:sp>
      <p:sp>
        <p:nvSpPr>
          <p:cNvPr id="21" name="Freeform 21"/>
          <p:cNvSpPr/>
          <p:nvPr/>
        </p:nvSpPr>
        <p:spPr>
          <a:xfrm>
            <a:off x="14142574" y="3214004"/>
            <a:ext cx="667206" cy="437279"/>
          </a:xfrm>
          <a:custGeom>
            <a:avLst/>
            <a:gdLst/>
            <a:ahLst/>
            <a:cxnLst/>
            <a:rect l="l" t="t" r="r" b="b"/>
            <a:pathLst>
              <a:path w="667206" h="437279">
                <a:moveTo>
                  <a:pt x="0" y="0"/>
                </a:moveTo>
                <a:lnTo>
                  <a:pt x="667206" y="0"/>
                </a:lnTo>
                <a:lnTo>
                  <a:pt x="667206" y="437280"/>
                </a:lnTo>
                <a:lnTo>
                  <a:pt x="0" y="437280"/>
                </a:lnTo>
                <a:lnTo>
                  <a:pt x="0" y="0"/>
                </a:lnTo>
                <a:close/>
              </a:path>
            </a:pathLst>
          </a:custGeom>
          <a:blipFill>
            <a:blip r:embed="rId16"/>
            <a:stretch>
              <a:fillRect/>
            </a:stretch>
          </a:blipFill>
        </p:spPr>
        <p:txBody>
          <a:bodyPr/>
          <a:lstStyle/>
          <a:p>
            <a:endParaRPr lang="en-IN"/>
          </a:p>
        </p:txBody>
      </p:sp>
      <p:sp>
        <p:nvSpPr>
          <p:cNvPr id="22" name="Freeform 22"/>
          <p:cNvSpPr/>
          <p:nvPr/>
        </p:nvSpPr>
        <p:spPr>
          <a:xfrm>
            <a:off x="14798842" y="2995365"/>
            <a:ext cx="3062584" cy="863627"/>
          </a:xfrm>
          <a:custGeom>
            <a:avLst/>
            <a:gdLst/>
            <a:ahLst/>
            <a:cxnLst/>
            <a:rect l="l" t="t" r="r" b="b"/>
            <a:pathLst>
              <a:path w="3062584" h="863627">
                <a:moveTo>
                  <a:pt x="0" y="0"/>
                </a:moveTo>
                <a:lnTo>
                  <a:pt x="3062584" y="0"/>
                </a:lnTo>
                <a:lnTo>
                  <a:pt x="3062584" y="863626"/>
                </a:lnTo>
                <a:lnTo>
                  <a:pt x="0" y="863626"/>
                </a:lnTo>
                <a:lnTo>
                  <a:pt x="0" y="0"/>
                </a:lnTo>
                <a:close/>
              </a:path>
            </a:pathLst>
          </a:custGeom>
          <a:blipFill>
            <a:blip r:embed="rId17"/>
            <a:stretch>
              <a:fillRect/>
            </a:stretch>
          </a:blipFill>
        </p:spPr>
        <p:txBody>
          <a:bodyPr/>
          <a:lstStyle/>
          <a:p>
            <a:endParaRPr lang="en-IN"/>
          </a:p>
        </p:txBody>
      </p:sp>
      <p:sp>
        <p:nvSpPr>
          <p:cNvPr id="23" name="Freeform 23"/>
          <p:cNvSpPr/>
          <p:nvPr/>
        </p:nvSpPr>
        <p:spPr>
          <a:xfrm>
            <a:off x="14798842" y="2995365"/>
            <a:ext cx="1104718" cy="863627"/>
          </a:xfrm>
          <a:custGeom>
            <a:avLst/>
            <a:gdLst/>
            <a:ahLst/>
            <a:cxnLst/>
            <a:rect l="l" t="t" r="r" b="b"/>
            <a:pathLst>
              <a:path w="1104718" h="863627">
                <a:moveTo>
                  <a:pt x="0" y="0"/>
                </a:moveTo>
                <a:lnTo>
                  <a:pt x="1104718" y="0"/>
                </a:lnTo>
                <a:lnTo>
                  <a:pt x="1104718" y="863626"/>
                </a:lnTo>
                <a:lnTo>
                  <a:pt x="0" y="863626"/>
                </a:lnTo>
                <a:lnTo>
                  <a:pt x="0" y="0"/>
                </a:lnTo>
                <a:close/>
              </a:path>
            </a:pathLst>
          </a:custGeom>
          <a:blipFill>
            <a:blip r:embed="rId18"/>
            <a:stretch>
              <a:fillRect/>
            </a:stretch>
          </a:blipFill>
        </p:spPr>
        <p:txBody>
          <a:bodyPr/>
          <a:lstStyle/>
          <a:p>
            <a:endParaRPr lang="en-IN"/>
          </a:p>
        </p:txBody>
      </p:sp>
      <p:sp>
        <p:nvSpPr>
          <p:cNvPr id="24" name="Freeform 24"/>
          <p:cNvSpPr/>
          <p:nvPr/>
        </p:nvSpPr>
        <p:spPr>
          <a:xfrm>
            <a:off x="207818" y="4066699"/>
            <a:ext cx="3500096" cy="4722618"/>
          </a:xfrm>
          <a:custGeom>
            <a:avLst/>
            <a:gdLst/>
            <a:ahLst/>
            <a:cxnLst/>
            <a:rect l="l" t="t" r="r" b="b"/>
            <a:pathLst>
              <a:path w="3500096" h="4722618">
                <a:moveTo>
                  <a:pt x="0" y="0"/>
                </a:moveTo>
                <a:lnTo>
                  <a:pt x="3500096" y="0"/>
                </a:lnTo>
                <a:lnTo>
                  <a:pt x="3500096" y="4722619"/>
                </a:lnTo>
                <a:lnTo>
                  <a:pt x="0" y="4722619"/>
                </a:lnTo>
                <a:lnTo>
                  <a:pt x="0" y="0"/>
                </a:lnTo>
                <a:close/>
              </a:path>
            </a:pathLst>
          </a:custGeom>
          <a:blipFill>
            <a:blip r:embed="rId19"/>
            <a:stretch>
              <a:fillRect/>
            </a:stretch>
          </a:blipFill>
        </p:spPr>
        <p:txBody>
          <a:bodyPr/>
          <a:lstStyle/>
          <a:p>
            <a:endParaRPr lang="en-IN"/>
          </a:p>
        </p:txBody>
      </p:sp>
      <p:sp>
        <p:nvSpPr>
          <p:cNvPr id="25" name="Freeform 25"/>
          <p:cNvSpPr/>
          <p:nvPr/>
        </p:nvSpPr>
        <p:spPr>
          <a:xfrm>
            <a:off x="1301598" y="4493047"/>
            <a:ext cx="1312536" cy="1300906"/>
          </a:xfrm>
          <a:custGeom>
            <a:avLst/>
            <a:gdLst/>
            <a:ahLst/>
            <a:cxnLst/>
            <a:rect l="l" t="t" r="r" b="b"/>
            <a:pathLst>
              <a:path w="1312536" h="1300906">
                <a:moveTo>
                  <a:pt x="0" y="0"/>
                </a:moveTo>
                <a:lnTo>
                  <a:pt x="1312536" y="0"/>
                </a:lnTo>
                <a:lnTo>
                  <a:pt x="1312536" y="1300906"/>
                </a:lnTo>
                <a:lnTo>
                  <a:pt x="0" y="1300906"/>
                </a:lnTo>
                <a:lnTo>
                  <a:pt x="0" y="0"/>
                </a:lnTo>
                <a:close/>
              </a:path>
            </a:pathLst>
          </a:custGeom>
          <a:blipFill>
            <a:blip r:embed="rId20"/>
            <a:stretch>
              <a:fillRect/>
            </a:stretch>
          </a:blipFill>
        </p:spPr>
        <p:txBody>
          <a:bodyPr/>
          <a:lstStyle/>
          <a:p>
            <a:endParaRPr lang="en-IN"/>
          </a:p>
        </p:txBody>
      </p:sp>
      <p:sp>
        <p:nvSpPr>
          <p:cNvPr id="26" name="TextBox 26"/>
          <p:cNvSpPr txBox="1"/>
          <p:nvPr/>
        </p:nvSpPr>
        <p:spPr>
          <a:xfrm>
            <a:off x="896112" y="5938703"/>
            <a:ext cx="2121408" cy="314214"/>
          </a:xfrm>
          <a:prstGeom prst="rect">
            <a:avLst/>
          </a:prstGeom>
        </p:spPr>
        <p:txBody>
          <a:bodyPr lIns="0" tIns="0" rIns="0" bIns="0" rtlCol="0" anchor="t">
            <a:spAutoFit/>
          </a:bodyPr>
          <a:lstStyle/>
          <a:p>
            <a:pPr algn="l">
              <a:lnSpc>
                <a:spcPts val="2328"/>
              </a:lnSpc>
            </a:pPr>
            <a:r>
              <a:rPr lang="en-US" sz="1940" b="1" spc="38">
                <a:solidFill>
                  <a:srgbClr val="001F59"/>
                </a:solidFill>
                <a:latin typeface="Roboto Bold"/>
                <a:ea typeface="Roboto Bold"/>
                <a:cs typeface="Roboto Bold"/>
                <a:sym typeface="Roboto Bold"/>
              </a:rPr>
              <a:t>1. Ground in Facts</a:t>
            </a:r>
          </a:p>
        </p:txBody>
      </p:sp>
      <p:sp>
        <p:nvSpPr>
          <p:cNvPr id="27" name="Freeform 27"/>
          <p:cNvSpPr/>
          <p:nvPr/>
        </p:nvSpPr>
        <p:spPr>
          <a:xfrm>
            <a:off x="1520354" y="6428009"/>
            <a:ext cx="875024" cy="218640"/>
          </a:xfrm>
          <a:custGeom>
            <a:avLst/>
            <a:gdLst/>
            <a:ahLst/>
            <a:cxnLst/>
            <a:rect l="l" t="t" r="r" b="b"/>
            <a:pathLst>
              <a:path w="875024" h="218640">
                <a:moveTo>
                  <a:pt x="0" y="0"/>
                </a:moveTo>
                <a:lnTo>
                  <a:pt x="875024" y="0"/>
                </a:lnTo>
                <a:lnTo>
                  <a:pt x="875024" y="218639"/>
                </a:lnTo>
                <a:lnTo>
                  <a:pt x="0" y="218639"/>
                </a:lnTo>
                <a:lnTo>
                  <a:pt x="0" y="0"/>
                </a:lnTo>
                <a:close/>
              </a:path>
            </a:pathLst>
          </a:custGeom>
          <a:blipFill>
            <a:blip r:embed="rId21"/>
            <a:stretch>
              <a:fillRect/>
            </a:stretch>
          </a:blipFill>
        </p:spPr>
        <p:txBody>
          <a:bodyPr/>
          <a:lstStyle/>
          <a:p>
            <a:endParaRPr lang="en-IN"/>
          </a:p>
        </p:txBody>
      </p:sp>
      <p:sp>
        <p:nvSpPr>
          <p:cNvPr id="29" name="Freeform 29"/>
          <p:cNvSpPr/>
          <p:nvPr/>
        </p:nvSpPr>
        <p:spPr>
          <a:xfrm>
            <a:off x="3915732" y="4066699"/>
            <a:ext cx="3489158" cy="4722618"/>
          </a:xfrm>
          <a:custGeom>
            <a:avLst/>
            <a:gdLst/>
            <a:ahLst/>
            <a:cxnLst/>
            <a:rect l="l" t="t" r="r" b="b"/>
            <a:pathLst>
              <a:path w="3489158" h="4722618">
                <a:moveTo>
                  <a:pt x="0" y="0"/>
                </a:moveTo>
                <a:lnTo>
                  <a:pt x="3489158" y="0"/>
                </a:lnTo>
                <a:lnTo>
                  <a:pt x="3489158" y="4722619"/>
                </a:lnTo>
                <a:lnTo>
                  <a:pt x="0" y="4722619"/>
                </a:lnTo>
                <a:lnTo>
                  <a:pt x="0" y="0"/>
                </a:lnTo>
                <a:close/>
              </a:path>
            </a:pathLst>
          </a:custGeom>
          <a:blipFill>
            <a:blip r:embed="rId22"/>
            <a:stretch>
              <a:fillRect/>
            </a:stretch>
          </a:blipFill>
        </p:spPr>
        <p:txBody>
          <a:bodyPr/>
          <a:lstStyle/>
          <a:p>
            <a:endParaRPr lang="en-IN"/>
          </a:p>
        </p:txBody>
      </p:sp>
      <p:sp>
        <p:nvSpPr>
          <p:cNvPr id="30" name="Freeform 30"/>
          <p:cNvSpPr/>
          <p:nvPr/>
        </p:nvSpPr>
        <p:spPr>
          <a:xfrm>
            <a:off x="4998574" y="4493047"/>
            <a:ext cx="1323474" cy="1300906"/>
          </a:xfrm>
          <a:custGeom>
            <a:avLst/>
            <a:gdLst/>
            <a:ahLst/>
            <a:cxnLst/>
            <a:rect l="l" t="t" r="r" b="b"/>
            <a:pathLst>
              <a:path w="1323474" h="1300906">
                <a:moveTo>
                  <a:pt x="0" y="0"/>
                </a:moveTo>
                <a:lnTo>
                  <a:pt x="1323474" y="0"/>
                </a:lnTo>
                <a:lnTo>
                  <a:pt x="1323474" y="1300906"/>
                </a:lnTo>
                <a:lnTo>
                  <a:pt x="0" y="1300906"/>
                </a:lnTo>
                <a:lnTo>
                  <a:pt x="0" y="0"/>
                </a:lnTo>
                <a:close/>
              </a:path>
            </a:pathLst>
          </a:custGeom>
          <a:blipFill>
            <a:blip r:embed="rId23"/>
            <a:stretch>
              <a:fillRect/>
            </a:stretch>
          </a:blipFill>
        </p:spPr>
        <p:txBody>
          <a:bodyPr/>
          <a:lstStyle/>
          <a:p>
            <a:endParaRPr lang="en-IN"/>
          </a:p>
        </p:txBody>
      </p:sp>
      <p:sp>
        <p:nvSpPr>
          <p:cNvPr id="31" name="Freeform 31"/>
          <p:cNvSpPr/>
          <p:nvPr/>
        </p:nvSpPr>
        <p:spPr>
          <a:xfrm>
            <a:off x="5217330" y="6428009"/>
            <a:ext cx="667206" cy="218640"/>
          </a:xfrm>
          <a:custGeom>
            <a:avLst/>
            <a:gdLst/>
            <a:ahLst/>
            <a:cxnLst/>
            <a:rect l="l" t="t" r="r" b="b"/>
            <a:pathLst>
              <a:path w="667206" h="218640">
                <a:moveTo>
                  <a:pt x="0" y="0"/>
                </a:moveTo>
                <a:lnTo>
                  <a:pt x="667206" y="0"/>
                </a:lnTo>
                <a:lnTo>
                  <a:pt x="667206" y="218639"/>
                </a:lnTo>
                <a:lnTo>
                  <a:pt x="0" y="218639"/>
                </a:lnTo>
                <a:lnTo>
                  <a:pt x="0" y="0"/>
                </a:lnTo>
                <a:close/>
              </a:path>
            </a:pathLst>
          </a:custGeom>
          <a:blipFill>
            <a:blip r:embed="rId24"/>
            <a:stretch>
              <a:fillRect/>
            </a:stretch>
          </a:blipFill>
        </p:spPr>
        <p:txBody>
          <a:bodyPr/>
          <a:lstStyle/>
          <a:p>
            <a:endParaRPr lang="en-IN"/>
          </a:p>
        </p:txBody>
      </p:sp>
      <p:sp>
        <p:nvSpPr>
          <p:cNvPr id="32" name="TextBox 32"/>
          <p:cNvSpPr txBox="1"/>
          <p:nvPr/>
        </p:nvSpPr>
        <p:spPr>
          <a:xfrm>
            <a:off x="4187952" y="6788499"/>
            <a:ext cx="2673548" cy="1356782"/>
          </a:xfrm>
          <a:prstGeom prst="rect">
            <a:avLst/>
          </a:prstGeom>
        </p:spPr>
        <p:txBody>
          <a:bodyPr wrap="square" lIns="0" tIns="0" rIns="0" bIns="0" rtlCol="0" anchor="t">
            <a:spAutoFit/>
          </a:bodyPr>
          <a:lstStyle>
            <a:defPPr>
              <a:defRPr lang="en-US"/>
            </a:defPPr>
            <a:lvl1pPr>
              <a:lnSpc>
                <a:spcPts val="2729"/>
              </a:lnSpc>
              <a:defRPr sz="1819" spc="36">
                <a:solidFill>
                  <a:srgbClr val="001F59"/>
                </a:solidFill>
                <a:latin typeface="Roboto"/>
                <a:ea typeface="Roboto"/>
                <a:cs typeface="Roboto"/>
              </a:defRPr>
            </a:lvl1pPr>
          </a:lstStyle>
          <a:p>
            <a:r>
              <a:rPr lang="en-US" dirty="0">
                <a:sym typeface="Roboto"/>
              </a:rPr>
              <a:t>Acknowledge legitimate friction and emotional reactions before redirecting to solutions.</a:t>
            </a:r>
          </a:p>
        </p:txBody>
      </p:sp>
      <p:sp>
        <p:nvSpPr>
          <p:cNvPr id="33" name="Freeform 33"/>
          <p:cNvSpPr/>
          <p:nvPr/>
        </p:nvSpPr>
        <p:spPr>
          <a:xfrm>
            <a:off x="7393952" y="4066699"/>
            <a:ext cx="3500096" cy="4722618"/>
          </a:xfrm>
          <a:custGeom>
            <a:avLst/>
            <a:gdLst/>
            <a:ahLst/>
            <a:cxnLst/>
            <a:rect l="l" t="t" r="r" b="b"/>
            <a:pathLst>
              <a:path w="3500096" h="4722618">
                <a:moveTo>
                  <a:pt x="0" y="0"/>
                </a:moveTo>
                <a:lnTo>
                  <a:pt x="3500096" y="0"/>
                </a:lnTo>
                <a:lnTo>
                  <a:pt x="3500096" y="4722619"/>
                </a:lnTo>
                <a:lnTo>
                  <a:pt x="0" y="4722619"/>
                </a:lnTo>
                <a:lnTo>
                  <a:pt x="0" y="0"/>
                </a:lnTo>
                <a:close/>
              </a:path>
            </a:pathLst>
          </a:custGeom>
          <a:blipFill>
            <a:blip r:embed="rId25"/>
            <a:stretch>
              <a:fillRect/>
            </a:stretch>
          </a:blipFill>
        </p:spPr>
        <p:txBody>
          <a:bodyPr/>
          <a:lstStyle/>
          <a:p>
            <a:endParaRPr lang="en-IN"/>
          </a:p>
        </p:txBody>
      </p:sp>
      <p:sp>
        <p:nvSpPr>
          <p:cNvPr id="34" name="Freeform 34"/>
          <p:cNvSpPr/>
          <p:nvPr/>
        </p:nvSpPr>
        <p:spPr>
          <a:xfrm>
            <a:off x="8487732" y="4493047"/>
            <a:ext cx="1312536" cy="1300906"/>
          </a:xfrm>
          <a:custGeom>
            <a:avLst/>
            <a:gdLst/>
            <a:ahLst/>
            <a:cxnLst/>
            <a:rect l="l" t="t" r="r" b="b"/>
            <a:pathLst>
              <a:path w="1312536" h="1300906">
                <a:moveTo>
                  <a:pt x="0" y="0"/>
                </a:moveTo>
                <a:lnTo>
                  <a:pt x="1312536" y="0"/>
                </a:lnTo>
                <a:lnTo>
                  <a:pt x="1312536" y="1300906"/>
                </a:lnTo>
                <a:lnTo>
                  <a:pt x="0" y="1300906"/>
                </a:lnTo>
                <a:lnTo>
                  <a:pt x="0" y="0"/>
                </a:lnTo>
                <a:close/>
              </a:path>
            </a:pathLst>
          </a:custGeom>
          <a:blipFill>
            <a:blip r:embed="rId26"/>
            <a:stretch>
              <a:fillRect/>
            </a:stretch>
          </a:blipFill>
        </p:spPr>
        <p:txBody>
          <a:bodyPr/>
          <a:lstStyle/>
          <a:p>
            <a:endParaRPr lang="en-IN"/>
          </a:p>
        </p:txBody>
      </p:sp>
      <p:sp>
        <p:nvSpPr>
          <p:cNvPr id="35" name="TextBox 35"/>
          <p:cNvSpPr txBox="1"/>
          <p:nvPr/>
        </p:nvSpPr>
        <p:spPr>
          <a:xfrm>
            <a:off x="7863840" y="5938703"/>
            <a:ext cx="2560320" cy="314214"/>
          </a:xfrm>
          <a:prstGeom prst="rect">
            <a:avLst/>
          </a:prstGeom>
        </p:spPr>
        <p:txBody>
          <a:bodyPr lIns="0" tIns="0" rIns="0" bIns="0" rtlCol="0" anchor="t">
            <a:spAutoFit/>
          </a:bodyPr>
          <a:lstStyle/>
          <a:p>
            <a:pPr algn="l">
              <a:lnSpc>
                <a:spcPts val="2328"/>
              </a:lnSpc>
            </a:pPr>
            <a:r>
              <a:rPr lang="en-US" sz="1940" b="1" spc="38">
                <a:solidFill>
                  <a:srgbClr val="0097B2"/>
                </a:solidFill>
                <a:latin typeface="Roboto Bold"/>
                <a:ea typeface="Roboto Bold"/>
                <a:cs typeface="Roboto Bold"/>
                <a:sym typeface="Roboto Bold"/>
              </a:rPr>
              <a:t>3. Maintain Standards</a:t>
            </a:r>
          </a:p>
        </p:txBody>
      </p:sp>
      <p:sp>
        <p:nvSpPr>
          <p:cNvPr id="36" name="Freeform 36"/>
          <p:cNvSpPr/>
          <p:nvPr/>
        </p:nvSpPr>
        <p:spPr>
          <a:xfrm>
            <a:off x="8706488" y="6428009"/>
            <a:ext cx="875024" cy="218640"/>
          </a:xfrm>
          <a:custGeom>
            <a:avLst/>
            <a:gdLst/>
            <a:ahLst/>
            <a:cxnLst/>
            <a:rect l="l" t="t" r="r" b="b"/>
            <a:pathLst>
              <a:path w="875024" h="218640">
                <a:moveTo>
                  <a:pt x="0" y="0"/>
                </a:moveTo>
                <a:lnTo>
                  <a:pt x="875024" y="0"/>
                </a:lnTo>
                <a:lnTo>
                  <a:pt x="875024" y="218639"/>
                </a:lnTo>
                <a:lnTo>
                  <a:pt x="0" y="218639"/>
                </a:lnTo>
                <a:lnTo>
                  <a:pt x="0" y="0"/>
                </a:lnTo>
                <a:close/>
              </a:path>
            </a:pathLst>
          </a:custGeom>
          <a:blipFill>
            <a:blip r:embed="rId27"/>
            <a:stretch>
              <a:fillRect/>
            </a:stretch>
          </a:blipFill>
        </p:spPr>
        <p:txBody>
          <a:bodyPr/>
          <a:lstStyle/>
          <a:p>
            <a:endParaRPr lang="en-IN"/>
          </a:p>
        </p:txBody>
      </p:sp>
      <p:sp>
        <p:nvSpPr>
          <p:cNvPr id="37" name="TextBox 37"/>
          <p:cNvSpPr txBox="1"/>
          <p:nvPr/>
        </p:nvSpPr>
        <p:spPr>
          <a:xfrm>
            <a:off x="7735824" y="6722250"/>
            <a:ext cx="2907792" cy="1014068"/>
          </a:xfrm>
          <a:prstGeom prst="rect">
            <a:avLst/>
          </a:prstGeom>
        </p:spPr>
        <p:txBody>
          <a:bodyPr lIns="0" tIns="0" rIns="0" bIns="0" rtlCol="0" anchor="t">
            <a:spAutoFit/>
          </a:bodyPr>
          <a:lstStyle/>
          <a:p>
            <a:pPr algn="l">
              <a:lnSpc>
                <a:spcPts val="2729"/>
              </a:lnSpc>
            </a:pPr>
            <a:r>
              <a:rPr lang="en-US" sz="1819" spc="36" dirty="0">
                <a:solidFill>
                  <a:srgbClr val="001F59"/>
                </a:solidFill>
                <a:latin typeface="Roboto"/>
                <a:ea typeface="Roboto"/>
                <a:cs typeface="Roboto"/>
                <a:sym typeface="Roboto"/>
              </a:rPr>
              <a:t>Being supportive does not mean lowering performance expectations.</a:t>
            </a:r>
          </a:p>
        </p:txBody>
      </p:sp>
      <p:sp>
        <p:nvSpPr>
          <p:cNvPr id="38" name="Freeform 38"/>
          <p:cNvSpPr/>
          <p:nvPr/>
        </p:nvSpPr>
        <p:spPr>
          <a:xfrm>
            <a:off x="10883110" y="4066699"/>
            <a:ext cx="3489158" cy="4722618"/>
          </a:xfrm>
          <a:custGeom>
            <a:avLst/>
            <a:gdLst/>
            <a:ahLst/>
            <a:cxnLst/>
            <a:rect l="l" t="t" r="r" b="b"/>
            <a:pathLst>
              <a:path w="3489158" h="4722618">
                <a:moveTo>
                  <a:pt x="0" y="0"/>
                </a:moveTo>
                <a:lnTo>
                  <a:pt x="3489158" y="0"/>
                </a:lnTo>
                <a:lnTo>
                  <a:pt x="3489158" y="4722619"/>
                </a:lnTo>
                <a:lnTo>
                  <a:pt x="0" y="4722619"/>
                </a:lnTo>
                <a:lnTo>
                  <a:pt x="0" y="0"/>
                </a:lnTo>
                <a:close/>
              </a:path>
            </a:pathLst>
          </a:custGeom>
          <a:blipFill>
            <a:blip r:embed="rId28"/>
            <a:stretch>
              <a:fillRect/>
            </a:stretch>
          </a:blipFill>
        </p:spPr>
        <p:txBody>
          <a:bodyPr/>
          <a:lstStyle/>
          <a:p>
            <a:endParaRPr lang="en-IN"/>
          </a:p>
        </p:txBody>
      </p:sp>
      <p:sp>
        <p:nvSpPr>
          <p:cNvPr id="39" name="Freeform 39"/>
          <p:cNvSpPr/>
          <p:nvPr/>
        </p:nvSpPr>
        <p:spPr>
          <a:xfrm>
            <a:off x="11965952" y="4493047"/>
            <a:ext cx="1323474" cy="1300906"/>
          </a:xfrm>
          <a:custGeom>
            <a:avLst/>
            <a:gdLst/>
            <a:ahLst/>
            <a:cxnLst/>
            <a:rect l="l" t="t" r="r" b="b"/>
            <a:pathLst>
              <a:path w="1323474" h="1300906">
                <a:moveTo>
                  <a:pt x="0" y="0"/>
                </a:moveTo>
                <a:lnTo>
                  <a:pt x="1323474" y="0"/>
                </a:lnTo>
                <a:lnTo>
                  <a:pt x="1323474" y="1300906"/>
                </a:lnTo>
                <a:lnTo>
                  <a:pt x="0" y="1300906"/>
                </a:lnTo>
                <a:lnTo>
                  <a:pt x="0" y="0"/>
                </a:lnTo>
                <a:close/>
              </a:path>
            </a:pathLst>
          </a:custGeom>
          <a:blipFill>
            <a:blip r:embed="rId29"/>
            <a:stretch>
              <a:fillRect/>
            </a:stretch>
          </a:blipFill>
        </p:spPr>
        <p:txBody>
          <a:bodyPr/>
          <a:lstStyle/>
          <a:p>
            <a:endParaRPr lang="en-IN"/>
          </a:p>
        </p:txBody>
      </p:sp>
      <p:sp>
        <p:nvSpPr>
          <p:cNvPr id="40" name="Freeform 40"/>
          <p:cNvSpPr/>
          <p:nvPr/>
        </p:nvSpPr>
        <p:spPr>
          <a:xfrm>
            <a:off x="12184708" y="6428009"/>
            <a:ext cx="885962" cy="218640"/>
          </a:xfrm>
          <a:custGeom>
            <a:avLst/>
            <a:gdLst/>
            <a:ahLst/>
            <a:cxnLst/>
            <a:rect l="l" t="t" r="r" b="b"/>
            <a:pathLst>
              <a:path w="885962" h="218640">
                <a:moveTo>
                  <a:pt x="0" y="0"/>
                </a:moveTo>
                <a:lnTo>
                  <a:pt x="885962" y="0"/>
                </a:lnTo>
                <a:lnTo>
                  <a:pt x="885962" y="218639"/>
                </a:lnTo>
                <a:lnTo>
                  <a:pt x="0" y="218639"/>
                </a:lnTo>
                <a:lnTo>
                  <a:pt x="0" y="0"/>
                </a:lnTo>
                <a:close/>
              </a:path>
            </a:pathLst>
          </a:custGeom>
          <a:blipFill>
            <a:blip r:embed="rId30"/>
            <a:stretch>
              <a:fillRect/>
            </a:stretch>
          </a:blipFill>
        </p:spPr>
        <p:txBody>
          <a:bodyPr/>
          <a:lstStyle/>
          <a:p>
            <a:endParaRPr lang="en-IN"/>
          </a:p>
        </p:txBody>
      </p:sp>
      <p:sp>
        <p:nvSpPr>
          <p:cNvPr id="41" name="TextBox 41"/>
          <p:cNvSpPr txBox="1"/>
          <p:nvPr/>
        </p:nvSpPr>
        <p:spPr>
          <a:xfrm>
            <a:off x="11320272" y="6746738"/>
            <a:ext cx="2743200" cy="1356782"/>
          </a:xfrm>
          <a:prstGeom prst="rect">
            <a:avLst/>
          </a:prstGeom>
        </p:spPr>
        <p:txBody>
          <a:bodyPr lIns="0" tIns="0" rIns="0" bIns="0" rtlCol="0" anchor="t">
            <a:spAutoFit/>
          </a:bodyPr>
          <a:lstStyle/>
          <a:p>
            <a:pPr>
              <a:lnSpc>
                <a:spcPts val="2729"/>
              </a:lnSpc>
            </a:pPr>
            <a:r>
              <a:rPr lang="en-US" sz="1819" spc="36" dirty="0">
                <a:solidFill>
                  <a:srgbClr val="001F59"/>
                </a:solidFill>
                <a:latin typeface="Roboto"/>
                <a:ea typeface="Roboto"/>
                <a:sym typeface="Roboto"/>
              </a:rPr>
              <a:t>Prompt the employee to propose the fix rather than prescribing it yourself.</a:t>
            </a:r>
          </a:p>
        </p:txBody>
      </p:sp>
      <p:sp>
        <p:nvSpPr>
          <p:cNvPr id="42" name="Freeform 42"/>
          <p:cNvSpPr/>
          <p:nvPr/>
        </p:nvSpPr>
        <p:spPr>
          <a:xfrm>
            <a:off x="14361330" y="4066699"/>
            <a:ext cx="3500096" cy="4722618"/>
          </a:xfrm>
          <a:custGeom>
            <a:avLst/>
            <a:gdLst/>
            <a:ahLst/>
            <a:cxnLst/>
            <a:rect l="l" t="t" r="r" b="b"/>
            <a:pathLst>
              <a:path w="3500096" h="4722618">
                <a:moveTo>
                  <a:pt x="0" y="0"/>
                </a:moveTo>
                <a:lnTo>
                  <a:pt x="3500096" y="0"/>
                </a:lnTo>
                <a:lnTo>
                  <a:pt x="3500096" y="4722619"/>
                </a:lnTo>
                <a:lnTo>
                  <a:pt x="0" y="4722619"/>
                </a:lnTo>
                <a:lnTo>
                  <a:pt x="0" y="0"/>
                </a:lnTo>
                <a:close/>
              </a:path>
            </a:pathLst>
          </a:custGeom>
          <a:blipFill>
            <a:blip r:embed="rId31"/>
            <a:stretch>
              <a:fillRect/>
            </a:stretch>
          </a:blipFill>
        </p:spPr>
        <p:txBody>
          <a:bodyPr/>
          <a:lstStyle/>
          <a:p>
            <a:endParaRPr lang="en-IN"/>
          </a:p>
        </p:txBody>
      </p:sp>
      <p:sp>
        <p:nvSpPr>
          <p:cNvPr id="43" name="Freeform 43"/>
          <p:cNvSpPr/>
          <p:nvPr/>
        </p:nvSpPr>
        <p:spPr>
          <a:xfrm>
            <a:off x="15455110" y="4493047"/>
            <a:ext cx="1312536" cy="1300906"/>
          </a:xfrm>
          <a:custGeom>
            <a:avLst/>
            <a:gdLst/>
            <a:ahLst/>
            <a:cxnLst/>
            <a:rect l="l" t="t" r="r" b="b"/>
            <a:pathLst>
              <a:path w="1312536" h="1300906">
                <a:moveTo>
                  <a:pt x="0" y="0"/>
                </a:moveTo>
                <a:lnTo>
                  <a:pt x="1312536" y="0"/>
                </a:lnTo>
                <a:lnTo>
                  <a:pt x="1312536" y="1300906"/>
                </a:lnTo>
                <a:lnTo>
                  <a:pt x="0" y="1300906"/>
                </a:lnTo>
                <a:lnTo>
                  <a:pt x="0" y="0"/>
                </a:lnTo>
                <a:close/>
              </a:path>
            </a:pathLst>
          </a:custGeom>
          <a:blipFill>
            <a:blip r:embed="rId32"/>
            <a:stretch>
              <a:fillRect/>
            </a:stretch>
          </a:blipFill>
        </p:spPr>
        <p:txBody>
          <a:bodyPr/>
          <a:lstStyle/>
          <a:p>
            <a:endParaRPr lang="en-IN"/>
          </a:p>
        </p:txBody>
      </p:sp>
      <p:sp>
        <p:nvSpPr>
          <p:cNvPr id="44" name="Freeform 44"/>
          <p:cNvSpPr/>
          <p:nvPr/>
        </p:nvSpPr>
        <p:spPr>
          <a:xfrm>
            <a:off x="15673866" y="6428009"/>
            <a:ext cx="875024" cy="218640"/>
          </a:xfrm>
          <a:custGeom>
            <a:avLst/>
            <a:gdLst/>
            <a:ahLst/>
            <a:cxnLst/>
            <a:rect l="l" t="t" r="r" b="b"/>
            <a:pathLst>
              <a:path w="875024" h="218640">
                <a:moveTo>
                  <a:pt x="0" y="0"/>
                </a:moveTo>
                <a:lnTo>
                  <a:pt x="875024" y="0"/>
                </a:lnTo>
                <a:lnTo>
                  <a:pt x="875024" y="218639"/>
                </a:lnTo>
                <a:lnTo>
                  <a:pt x="0" y="218639"/>
                </a:lnTo>
                <a:lnTo>
                  <a:pt x="0" y="0"/>
                </a:lnTo>
                <a:close/>
              </a:path>
            </a:pathLst>
          </a:custGeom>
          <a:blipFill>
            <a:blip r:embed="rId33"/>
            <a:stretch>
              <a:fillRect/>
            </a:stretch>
          </a:blipFill>
        </p:spPr>
        <p:txBody>
          <a:bodyPr/>
          <a:lstStyle/>
          <a:p>
            <a:endParaRPr lang="en-IN"/>
          </a:p>
        </p:txBody>
      </p:sp>
      <p:sp>
        <p:nvSpPr>
          <p:cNvPr id="45" name="TextBox 45"/>
          <p:cNvSpPr txBox="1"/>
          <p:nvPr/>
        </p:nvSpPr>
        <p:spPr>
          <a:xfrm>
            <a:off x="14831568" y="6746738"/>
            <a:ext cx="2743200" cy="1308692"/>
          </a:xfrm>
          <a:prstGeom prst="rect">
            <a:avLst/>
          </a:prstGeom>
        </p:spPr>
        <p:txBody>
          <a:bodyPr lIns="0" tIns="0" rIns="0" bIns="0" rtlCol="0" anchor="t">
            <a:spAutoFit/>
          </a:bodyPr>
          <a:lstStyle/>
          <a:p>
            <a:pPr algn="l">
              <a:lnSpc>
                <a:spcPts val="2616"/>
              </a:lnSpc>
            </a:pPr>
            <a:r>
              <a:rPr lang="en-US" sz="1819" spc="36" dirty="0">
                <a:solidFill>
                  <a:srgbClr val="001F59"/>
                </a:solidFill>
                <a:latin typeface="Roboto"/>
                <a:ea typeface="Roboto"/>
                <a:sym typeface="Roboto"/>
              </a:rPr>
              <a:t>Anchor every conversation to specific 7-14-30 day review milestones.</a:t>
            </a:r>
          </a:p>
        </p:txBody>
      </p:sp>
      <p:sp>
        <p:nvSpPr>
          <p:cNvPr id="47" name="TextBox 47"/>
          <p:cNvSpPr txBox="1"/>
          <p:nvPr/>
        </p:nvSpPr>
        <p:spPr>
          <a:xfrm>
            <a:off x="16038576" y="3299648"/>
            <a:ext cx="786384" cy="293757"/>
          </a:xfrm>
          <a:prstGeom prst="rect">
            <a:avLst/>
          </a:prstGeom>
        </p:spPr>
        <p:txBody>
          <a:bodyPr lIns="0" tIns="0" rIns="0" bIns="0" rtlCol="0" anchor="t">
            <a:spAutoFit/>
          </a:bodyPr>
          <a:lstStyle/>
          <a:p>
            <a:pPr algn="l">
              <a:lnSpc>
                <a:spcPts val="2280"/>
              </a:lnSpc>
            </a:pPr>
            <a:r>
              <a:rPr lang="en-US" sz="1900" b="1" spc="38">
                <a:solidFill>
                  <a:srgbClr val="001F59"/>
                </a:solidFill>
                <a:latin typeface="Roboto Bold"/>
                <a:ea typeface="Roboto Bold"/>
                <a:cs typeface="Roboto Bold"/>
                <a:sym typeface="Roboto Bold"/>
              </a:rPr>
              <a:t>APPLY</a:t>
            </a:r>
          </a:p>
        </p:txBody>
      </p:sp>
      <p:sp>
        <p:nvSpPr>
          <p:cNvPr id="48" name="TextBox 48"/>
          <p:cNvSpPr txBox="1"/>
          <p:nvPr/>
        </p:nvSpPr>
        <p:spPr>
          <a:xfrm>
            <a:off x="4370832" y="5938703"/>
            <a:ext cx="2468880" cy="314214"/>
          </a:xfrm>
          <a:prstGeom prst="rect">
            <a:avLst/>
          </a:prstGeom>
        </p:spPr>
        <p:txBody>
          <a:bodyPr lIns="0" tIns="0" rIns="0" bIns="0" rtlCol="0" anchor="t">
            <a:spAutoFit/>
          </a:bodyPr>
          <a:lstStyle/>
          <a:p>
            <a:pPr algn="l">
              <a:lnSpc>
                <a:spcPts val="2328"/>
              </a:lnSpc>
            </a:pPr>
            <a:r>
              <a:rPr lang="en-US" sz="1940" b="1" spc="38">
                <a:solidFill>
                  <a:srgbClr val="0097B2"/>
                </a:solidFill>
                <a:latin typeface="Roboto Bold"/>
                <a:ea typeface="Roboto Bold"/>
                <a:cs typeface="Roboto Bold"/>
                <a:sym typeface="Roboto Bold"/>
              </a:rPr>
              <a:t>2. Lead with Empathy</a:t>
            </a:r>
          </a:p>
        </p:txBody>
      </p:sp>
      <p:sp>
        <p:nvSpPr>
          <p:cNvPr id="49" name="TextBox 49"/>
          <p:cNvSpPr txBox="1"/>
          <p:nvPr/>
        </p:nvSpPr>
        <p:spPr>
          <a:xfrm>
            <a:off x="11594592" y="5938703"/>
            <a:ext cx="2194560" cy="314214"/>
          </a:xfrm>
          <a:prstGeom prst="rect">
            <a:avLst/>
          </a:prstGeom>
        </p:spPr>
        <p:txBody>
          <a:bodyPr lIns="0" tIns="0" rIns="0" bIns="0" rtlCol="0" anchor="t">
            <a:spAutoFit/>
          </a:bodyPr>
          <a:lstStyle/>
          <a:p>
            <a:pPr algn="l">
              <a:lnSpc>
                <a:spcPts val="2328"/>
              </a:lnSpc>
            </a:pPr>
            <a:r>
              <a:rPr lang="en-US" sz="1940" b="1" spc="38">
                <a:solidFill>
                  <a:srgbClr val="0097B2"/>
                </a:solidFill>
                <a:latin typeface="Roboto Bold"/>
                <a:ea typeface="Roboto Bold"/>
                <a:cs typeface="Roboto Bold"/>
                <a:sym typeface="Roboto Bold"/>
              </a:rPr>
              <a:t>4. Drive Ownership</a:t>
            </a:r>
          </a:p>
        </p:txBody>
      </p:sp>
      <p:sp>
        <p:nvSpPr>
          <p:cNvPr id="50" name="TextBox 50"/>
          <p:cNvSpPr txBox="1"/>
          <p:nvPr/>
        </p:nvSpPr>
        <p:spPr>
          <a:xfrm>
            <a:off x="14904720" y="5953694"/>
            <a:ext cx="2615184" cy="293757"/>
          </a:xfrm>
          <a:prstGeom prst="rect">
            <a:avLst/>
          </a:prstGeom>
        </p:spPr>
        <p:txBody>
          <a:bodyPr lIns="0" tIns="0" rIns="0" bIns="0" rtlCol="0" anchor="t">
            <a:spAutoFit/>
          </a:bodyPr>
          <a:lstStyle/>
          <a:p>
            <a:pPr algn="l">
              <a:lnSpc>
                <a:spcPts val="2280"/>
              </a:lnSpc>
            </a:pPr>
            <a:r>
              <a:rPr lang="en-US" sz="1900" b="1" spc="38">
                <a:solidFill>
                  <a:srgbClr val="001F59"/>
                </a:solidFill>
                <a:latin typeface="Roboto Bold"/>
                <a:ea typeface="Roboto Bold"/>
                <a:cs typeface="Roboto Bold"/>
                <a:sym typeface="Roboto Bold"/>
              </a:rPr>
              <a:t>5. Lock in Checkpoints</a:t>
            </a:r>
          </a:p>
        </p:txBody>
      </p:sp>
      <p:sp>
        <p:nvSpPr>
          <p:cNvPr id="51" name="TextBox 51"/>
          <p:cNvSpPr txBox="1"/>
          <p:nvPr/>
        </p:nvSpPr>
        <p:spPr>
          <a:xfrm>
            <a:off x="13770864" y="9203096"/>
            <a:ext cx="2706624" cy="337485"/>
          </a:xfrm>
          <a:prstGeom prst="rect">
            <a:avLst/>
          </a:prstGeom>
        </p:spPr>
        <p:txBody>
          <a:bodyPr lIns="0" tIns="0" rIns="0" bIns="0" rtlCol="0" anchor="t">
            <a:spAutoFit/>
          </a:bodyPr>
          <a:lstStyle/>
          <a:p>
            <a:pPr algn="l">
              <a:lnSpc>
                <a:spcPts val="2606"/>
              </a:lnSpc>
            </a:pPr>
            <a:r>
              <a:rPr lang="en-US" sz="2171" b="1" spc="43">
                <a:solidFill>
                  <a:srgbClr val="FFFFFF"/>
                </a:solidFill>
                <a:latin typeface="Roboto Bold"/>
                <a:ea typeface="Roboto Bold"/>
                <a:cs typeface="Roboto Bold"/>
                <a:sym typeface="Roboto Bold"/>
              </a:rPr>
              <a:t>Continue to Wrap-Up</a:t>
            </a:r>
          </a:p>
        </p:txBody>
      </p:sp>
      <p:sp>
        <p:nvSpPr>
          <p:cNvPr id="54" name="Flowchart: Connector 53">
            <a:extLst>
              <a:ext uri="{FF2B5EF4-FFF2-40B4-BE49-F238E27FC236}">
                <a16:creationId xmlns:a16="http://schemas.microsoft.com/office/drawing/2014/main" id="{946CC596-80C4-9A20-7238-FEC104F89DA8}"/>
              </a:ext>
            </a:extLst>
          </p:cNvPr>
          <p:cNvSpPr/>
          <p:nvPr/>
        </p:nvSpPr>
        <p:spPr>
          <a:xfrm>
            <a:off x="10210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5" name="Straight Connector 54">
            <a:extLst>
              <a:ext uri="{FF2B5EF4-FFF2-40B4-BE49-F238E27FC236}">
                <a16:creationId xmlns:a16="http://schemas.microsoft.com/office/drawing/2014/main" id="{C7BA45F0-782B-46CE-C6E0-C7807BB60CE8}"/>
              </a:ext>
            </a:extLst>
          </p:cNvPr>
          <p:cNvCxnSpPr>
            <a:cxnSpLocks/>
          </p:cNvCxnSpPr>
          <p:nvPr/>
        </p:nvCxnSpPr>
        <p:spPr>
          <a:xfrm>
            <a:off x="10439400" y="2185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6" name="Flowchart: Connector 55">
            <a:extLst>
              <a:ext uri="{FF2B5EF4-FFF2-40B4-BE49-F238E27FC236}">
                <a16:creationId xmlns:a16="http://schemas.microsoft.com/office/drawing/2014/main" id="{AB260317-A9CD-0CFC-5BD7-EC271CC5D152}"/>
              </a:ext>
            </a:extLst>
          </p:cNvPr>
          <p:cNvSpPr/>
          <p:nvPr/>
        </p:nvSpPr>
        <p:spPr>
          <a:xfrm>
            <a:off x="11353800" y="1143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lowchart: Connector 56">
            <a:extLst>
              <a:ext uri="{FF2B5EF4-FFF2-40B4-BE49-F238E27FC236}">
                <a16:creationId xmlns:a16="http://schemas.microsoft.com/office/drawing/2014/main" id="{DAE212F0-DE68-C185-92B4-AB4CE53BDE9E}"/>
              </a:ext>
            </a:extLst>
          </p:cNvPr>
          <p:cNvSpPr/>
          <p:nvPr/>
        </p:nvSpPr>
        <p:spPr>
          <a:xfrm>
            <a:off x="11734800" y="1143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Connector 57">
            <a:extLst>
              <a:ext uri="{FF2B5EF4-FFF2-40B4-BE49-F238E27FC236}">
                <a16:creationId xmlns:a16="http://schemas.microsoft.com/office/drawing/2014/main" id="{4C70A42A-E71A-AE03-CE9D-D739249C5913}"/>
              </a:ext>
            </a:extLst>
          </p:cNvPr>
          <p:cNvSpPr/>
          <p:nvPr/>
        </p:nvSpPr>
        <p:spPr>
          <a:xfrm>
            <a:off x="12115800" y="1143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lowchart: Connector 58">
            <a:extLst>
              <a:ext uri="{FF2B5EF4-FFF2-40B4-BE49-F238E27FC236}">
                <a16:creationId xmlns:a16="http://schemas.microsoft.com/office/drawing/2014/main" id="{DC98B6F5-F5F6-214D-26AD-BD37E168D7C4}"/>
              </a:ext>
            </a:extLst>
          </p:cNvPr>
          <p:cNvSpPr/>
          <p:nvPr/>
        </p:nvSpPr>
        <p:spPr>
          <a:xfrm>
            <a:off x="12496800" y="1143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a:extLst>
              <a:ext uri="{FF2B5EF4-FFF2-40B4-BE49-F238E27FC236}">
                <a16:creationId xmlns:a16="http://schemas.microsoft.com/office/drawing/2014/main" id="{FE1B8931-E16F-619D-4D6D-CBF1F1D55BAF}"/>
              </a:ext>
            </a:extLst>
          </p:cNvPr>
          <p:cNvSpPr/>
          <p:nvPr/>
        </p:nvSpPr>
        <p:spPr>
          <a:xfrm>
            <a:off x="12877800" y="1279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Flowchart: Connector 60">
            <a:extLst>
              <a:ext uri="{FF2B5EF4-FFF2-40B4-BE49-F238E27FC236}">
                <a16:creationId xmlns:a16="http://schemas.microsoft.com/office/drawing/2014/main" id="{85FBE687-B175-A146-318B-B8CD43960E6F}"/>
              </a:ext>
            </a:extLst>
          </p:cNvPr>
          <p:cNvSpPr/>
          <p:nvPr/>
        </p:nvSpPr>
        <p:spPr>
          <a:xfrm>
            <a:off x="13258800" y="1279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Flowchart: Connector 61">
            <a:extLst>
              <a:ext uri="{FF2B5EF4-FFF2-40B4-BE49-F238E27FC236}">
                <a16:creationId xmlns:a16="http://schemas.microsoft.com/office/drawing/2014/main" id="{5FC682CA-2172-C74E-E88D-C3335FD759F1}"/>
              </a:ext>
            </a:extLst>
          </p:cNvPr>
          <p:cNvSpPr/>
          <p:nvPr/>
        </p:nvSpPr>
        <p:spPr>
          <a:xfrm>
            <a:off x="10591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Flowchart: Connector 62">
            <a:extLst>
              <a:ext uri="{FF2B5EF4-FFF2-40B4-BE49-F238E27FC236}">
                <a16:creationId xmlns:a16="http://schemas.microsoft.com/office/drawing/2014/main" id="{B70B1EF8-4763-5DA0-DD2F-ABF339695E1B}"/>
              </a:ext>
            </a:extLst>
          </p:cNvPr>
          <p:cNvSpPr/>
          <p:nvPr/>
        </p:nvSpPr>
        <p:spPr>
          <a:xfrm>
            <a:off x="10972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Flowchart: Connector 64">
            <a:extLst>
              <a:ext uri="{FF2B5EF4-FFF2-40B4-BE49-F238E27FC236}">
                <a16:creationId xmlns:a16="http://schemas.microsoft.com/office/drawing/2014/main" id="{070A0EAD-57D4-5973-5712-16C00118686D}"/>
              </a:ext>
            </a:extLst>
          </p:cNvPr>
          <p:cNvSpPr/>
          <p:nvPr/>
        </p:nvSpPr>
        <p:spPr>
          <a:xfrm>
            <a:off x="11353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Flowchart: Connector 66">
            <a:extLst>
              <a:ext uri="{FF2B5EF4-FFF2-40B4-BE49-F238E27FC236}">
                <a16:creationId xmlns:a16="http://schemas.microsoft.com/office/drawing/2014/main" id="{A278E67C-9833-7335-8651-3165742B956A}"/>
              </a:ext>
            </a:extLst>
          </p:cNvPr>
          <p:cNvSpPr/>
          <p:nvPr/>
        </p:nvSpPr>
        <p:spPr>
          <a:xfrm>
            <a:off x="11734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Flowchart: Connector 68">
            <a:extLst>
              <a:ext uri="{FF2B5EF4-FFF2-40B4-BE49-F238E27FC236}">
                <a16:creationId xmlns:a16="http://schemas.microsoft.com/office/drawing/2014/main" id="{306A6483-4B14-6A41-B707-A1B1949B6503}"/>
              </a:ext>
            </a:extLst>
          </p:cNvPr>
          <p:cNvSpPr/>
          <p:nvPr/>
        </p:nvSpPr>
        <p:spPr>
          <a:xfrm>
            <a:off x="12115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Flowchart: Connector 70">
            <a:extLst>
              <a:ext uri="{FF2B5EF4-FFF2-40B4-BE49-F238E27FC236}">
                <a16:creationId xmlns:a16="http://schemas.microsoft.com/office/drawing/2014/main" id="{67D09AF1-AE8E-406A-2E47-299EB266D61F}"/>
              </a:ext>
            </a:extLst>
          </p:cNvPr>
          <p:cNvSpPr/>
          <p:nvPr/>
        </p:nvSpPr>
        <p:spPr>
          <a:xfrm>
            <a:off x="12496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Flowchart: Connector 72">
            <a:extLst>
              <a:ext uri="{FF2B5EF4-FFF2-40B4-BE49-F238E27FC236}">
                <a16:creationId xmlns:a16="http://schemas.microsoft.com/office/drawing/2014/main" id="{F5D477B0-28E9-9610-86B2-276C9F6558A2}"/>
              </a:ext>
            </a:extLst>
          </p:cNvPr>
          <p:cNvSpPr/>
          <p:nvPr/>
        </p:nvSpPr>
        <p:spPr>
          <a:xfrm>
            <a:off x="12877800" y="1143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Rectangle: Rounded Corners 74">
            <a:extLst>
              <a:ext uri="{FF2B5EF4-FFF2-40B4-BE49-F238E27FC236}">
                <a16:creationId xmlns:a16="http://schemas.microsoft.com/office/drawing/2014/main" id="{394E9933-09BA-DB5B-34D5-B23559CDACB6}"/>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5-step horizontal process infographic card illustrating the core conversation architecture:</a:t>
            </a:r>
          </a:p>
          <a:p>
            <a:r>
              <a:rPr lang="en-IN" sz="2000" dirty="0"/>
              <a:t>  [ CONTEXT ] → [ KNOW ] → [ PRACTICE ] → [ FEEDBACK ] → [ APPLY ]</a:t>
            </a:r>
          </a:p>
          <a:p>
            <a:r>
              <a:rPr lang="en-IN" sz="2000" dirty="0"/>
              <a:t>• Below the infographic: 5 concise bullet cards summarizing core manager takeaways.</a:t>
            </a:r>
          </a:p>
          <a:p>
            <a:r>
              <a:rPr lang="en-IN" sz="2000" dirty="0"/>
              <a:t>• UI Elements:</a:t>
            </a:r>
          </a:p>
          <a:p>
            <a:r>
              <a:rPr lang="en-IN" sz="2000" dirty="0"/>
              <a:t>  - Slide Progress: 8 of 9.</a:t>
            </a:r>
          </a:p>
          <a:p>
            <a:r>
              <a:rPr lang="en-IN" sz="2000" dirty="0"/>
              <a:t>  - Primary CTA Button: [Continue to Wrap-Up →] at bottom right</a:t>
            </a:r>
          </a:p>
          <a:p>
            <a:pPr algn="ctr"/>
            <a:endParaRPr lang="en-IN" sz="2000" b="1" dirty="0"/>
          </a:p>
        </p:txBody>
      </p:sp>
      <p:sp>
        <p:nvSpPr>
          <p:cNvPr id="77" name="Freeform 11">
            <a:extLst>
              <a:ext uri="{FF2B5EF4-FFF2-40B4-BE49-F238E27FC236}">
                <a16:creationId xmlns:a16="http://schemas.microsoft.com/office/drawing/2014/main" id="{BE7AFE25-3DCF-9D35-5E9E-2C81A640B46A}"/>
              </a:ext>
            </a:extLst>
          </p:cNvPr>
          <p:cNvSpPr/>
          <p:nvPr/>
        </p:nvSpPr>
        <p:spPr>
          <a:xfrm>
            <a:off x="13106400" y="9258300"/>
            <a:ext cx="4790756" cy="863627"/>
          </a:xfrm>
          <a:custGeom>
            <a:avLst/>
            <a:gdLst/>
            <a:ahLst/>
            <a:cxnLst/>
            <a:rect l="l" t="t" r="r" b="b"/>
            <a:pathLst>
              <a:path w="6322048" h="863627">
                <a:moveTo>
                  <a:pt x="0" y="0"/>
                </a:moveTo>
                <a:lnTo>
                  <a:pt x="6322048" y="0"/>
                </a:lnTo>
                <a:lnTo>
                  <a:pt x="6322048" y="863627"/>
                </a:lnTo>
                <a:lnTo>
                  <a:pt x="0" y="863627"/>
                </a:lnTo>
                <a:lnTo>
                  <a:pt x="0" y="0"/>
                </a:lnTo>
                <a:close/>
              </a:path>
            </a:pathLst>
          </a:custGeom>
          <a:blipFill>
            <a:blip r:embed="rId34"/>
            <a:stretch>
              <a:fillRect/>
            </a:stretch>
          </a:blipFill>
        </p:spPr>
        <p:txBody>
          <a:bodyPr/>
          <a:lstStyle/>
          <a:p>
            <a:endParaRPr lang="en-IN"/>
          </a:p>
        </p:txBody>
      </p:sp>
      <p:sp>
        <p:nvSpPr>
          <p:cNvPr id="79" name="TextBox 12">
            <a:extLst>
              <a:ext uri="{FF2B5EF4-FFF2-40B4-BE49-F238E27FC236}">
                <a16:creationId xmlns:a16="http://schemas.microsoft.com/office/drawing/2014/main" id="{351D45E3-B024-E70A-D8CC-DA702529A048}"/>
              </a:ext>
            </a:extLst>
          </p:cNvPr>
          <p:cNvSpPr txBox="1"/>
          <p:nvPr/>
        </p:nvSpPr>
        <p:spPr>
          <a:xfrm>
            <a:off x="13443226" y="9553933"/>
            <a:ext cx="3105664" cy="393826"/>
          </a:xfrm>
          <a:prstGeom prst="rect">
            <a:avLst/>
          </a:prstGeom>
        </p:spPr>
        <p:txBody>
          <a:bodyPr wrap="square" lIns="0" tIns="0" rIns="0" bIns="0" rtlCol="0" anchor="t">
            <a:spAutoFit/>
          </a:bodyPr>
          <a:lstStyle/>
          <a:p>
            <a:pPr algn="ctr">
              <a:lnSpc>
                <a:spcPts val="3338"/>
              </a:lnSpc>
            </a:pPr>
            <a:r>
              <a:rPr lang="en-US" sz="2384" b="1" dirty="0">
                <a:solidFill>
                  <a:srgbClr val="FFFFFF"/>
                </a:solidFill>
                <a:latin typeface="Roboto Bold"/>
                <a:ea typeface="Roboto Bold"/>
                <a:cs typeface="Roboto Bold"/>
                <a:sym typeface="Roboto Bold"/>
              </a:rPr>
              <a:t>Continue to Wrap-up</a:t>
            </a:r>
          </a:p>
        </p:txBody>
      </p:sp>
      <p:sp>
        <p:nvSpPr>
          <p:cNvPr id="81" name="Freeform 13">
            <a:extLst>
              <a:ext uri="{FF2B5EF4-FFF2-40B4-BE49-F238E27FC236}">
                <a16:creationId xmlns:a16="http://schemas.microsoft.com/office/drawing/2014/main" id="{2BD94854-AFCF-241F-6BD8-4E1DBADA41F3}"/>
              </a:ext>
            </a:extLst>
          </p:cNvPr>
          <p:cNvSpPr/>
          <p:nvPr/>
        </p:nvSpPr>
        <p:spPr>
          <a:xfrm>
            <a:off x="17221200" y="9466008"/>
            <a:ext cx="448450" cy="655919"/>
          </a:xfrm>
          <a:custGeom>
            <a:avLst/>
            <a:gdLst/>
            <a:ahLst/>
            <a:cxnLst/>
            <a:rect l="l" t="t" r="r" b="b"/>
            <a:pathLst>
              <a:path w="448450" h="655919">
                <a:moveTo>
                  <a:pt x="0" y="0"/>
                </a:moveTo>
                <a:lnTo>
                  <a:pt x="448450" y="0"/>
                </a:lnTo>
                <a:lnTo>
                  <a:pt x="448450" y="655919"/>
                </a:lnTo>
                <a:lnTo>
                  <a:pt x="0" y="655919"/>
                </a:lnTo>
                <a:lnTo>
                  <a:pt x="0" y="0"/>
                </a:lnTo>
                <a:close/>
              </a:path>
            </a:pathLst>
          </a:custGeom>
          <a:blipFill>
            <a:blip r:embed="rId35"/>
            <a:stretch>
              <a:fillRect/>
            </a:stretch>
          </a:blipFill>
        </p:spPr>
        <p:txBody>
          <a:bodyPr/>
          <a:lstStyle/>
          <a:p>
            <a:endParaRPr lang="en-IN"/>
          </a:p>
        </p:txBody>
      </p:sp>
      <p:sp>
        <p:nvSpPr>
          <p:cNvPr id="83" name="Freeform 3">
            <a:extLst>
              <a:ext uri="{FF2B5EF4-FFF2-40B4-BE49-F238E27FC236}">
                <a16:creationId xmlns:a16="http://schemas.microsoft.com/office/drawing/2014/main" id="{893425BF-1005-A9BA-EC4A-1B53D7769983}"/>
              </a:ext>
            </a:extLst>
          </p:cNvPr>
          <p:cNvSpPr/>
          <p:nvPr/>
        </p:nvSpPr>
        <p:spPr>
          <a:xfrm>
            <a:off x="76200" y="1165633"/>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36"/>
            <a:stretch>
              <a:fillRect/>
            </a:stretch>
          </a:blipFill>
        </p:spPr>
        <p:txBody>
          <a:bodyPr/>
          <a:lstStyle/>
          <a:p>
            <a:endParaRPr lang="en-IN"/>
          </a:p>
        </p:txBody>
      </p:sp>
      <p:sp>
        <p:nvSpPr>
          <p:cNvPr id="85" name="TextBox 32">
            <a:extLst>
              <a:ext uri="{FF2B5EF4-FFF2-40B4-BE49-F238E27FC236}">
                <a16:creationId xmlns:a16="http://schemas.microsoft.com/office/drawing/2014/main" id="{1BFDE6F8-7678-17BD-2A70-F544D25F7284}"/>
              </a:ext>
            </a:extLst>
          </p:cNvPr>
          <p:cNvSpPr txBox="1"/>
          <p:nvPr/>
        </p:nvSpPr>
        <p:spPr>
          <a:xfrm>
            <a:off x="984052" y="6667500"/>
            <a:ext cx="2673548" cy="1356782"/>
          </a:xfrm>
          <a:prstGeom prst="rect">
            <a:avLst/>
          </a:prstGeom>
        </p:spPr>
        <p:txBody>
          <a:bodyPr wrap="square" lIns="0" tIns="0" rIns="0" bIns="0" rtlCol="0" anchor="t">
            <a:spAutoFit/>
          </a:bodyPr>
          <a:lstStyle>
            <a:defPPr>
              <a:defRPr lang="en-US"/>
            </a:defPPr>
            <a:lvl1pPr>
              <a:lnSpc>
                <a:spcPts val="2729"/>
              </a:lnSpc>
              <a:defRPr sz="1819" spc="36">
                <a:solidFill>
                  <a:srgbClr val="001F59"/>
                </a:solidFill>
                <a:latin typeface="Roboto"/>
                <a:ea typeface="Roboto"/>
                <a:cs typeface="Roboto"/>
              </a:defRPr>
            </a:lvl1pPr>
          </a:lstStyle>
          <a:p>
            <a:r>
              <a:rPr lang="en-US" dirty="0">
                <a:sym typeface="Roboto"/>
              </a:rPr>
              <a:t>Focus on observable dates, deliverables, and impacts – never subjective assumptions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IN" dirty="0"/>
          </a:p>
        </p:txBody>
      </p:sp>
      <p:sp>
        <p:nvSpPr>
          <p:cNvPr id="4" name="TextBox 4"/>
          <p:cNvSpPr txBox="1"/>
          <p:nvPr/>
        </p:nvSpPr>
        <p:spPr>
          <a:xfrm>
            <a:off x="877824" y="564543"/>
            <a:ext cx="768096" cy="277185"/>
          </a:xfrm>
          <a:prstGeom prst="rect">
            <a:avLst/>
          </a:prstGeom>
        </p:spPr>
        <p:txBody>
          <a:bodyPr lIns="0" tIns="0" rIns="0" bIns="0" rtlCol="0" anchor="t">
            <a:spAutoFit/>
          </a:bodyPr>
          <a:lstStyle/>
          <a:p>
            <a:pPr algn="ctr">
              <a:lnSpc>
                <a:spcPts val="2084"/>
              </a:lnSpc>
            </a:pPr>
            <a:r>
              <a:rPr lang="en-US" sz="2084" b="1" dirty="0">
                <a:solidFill>
                  <a:srgbClr val="FFFFFF"/>
                </a:solidFill>
                <a:latin typeface="Open Sauce Bold"/>
                <a:ea typeface="Open Sauce Bold"/>
                <a:cs typeface="Open Sauce Bold"/>
                <a:sym typeface="Open Sauce Bold"/>
              </a:rPr>
              <a:t>9 of 9</a:t>
            </a:r>
          </a:p>
        </p:txBody>
      </p:sp>
      <p:sp>
        <p:nvSpPr>
          <p:cNvPr id="5" name="TextBox 5"/>
          <p:cNvSpPr txBox="1"/>
          <p:nvPr/>
        </p:nvSpPr>
        <p:spPr>
          <a:xfrm>
            <a:off x="539496" y="266700"/>
            <a:ext cx="15691104" cy="836768"/>
          </a:xfrm>
          <a:prstGeom prst="rect">
            <a:avLst/>
          </a:prstGeom>
        </p:spPr>
        <p:txBody>
          <a:bodyPr wrap="square" lIns="0" tIns="0" rIns="0" bIns="0" rtlCol="0" anchor="t">
            <a:spAutoFit/>
          </a:bodyPr>
          <a:lstStyle/>
          <a:p>
            <a:pPr>
              <a:lnSpc>
                <a:spcPts val="6876"/>
              </a:lnSpc>
            </a:pPr>
            <a:r>
              <a:rPr lang="en-US" sz="5400" b="1" spc="-158" dirty="0">
                <a:solidFill>
                  <a:srgbClr val="00234C"/>
                </a:solidFill>
                <a:latin typeface="Roboto Bold"/>
                <a:ea typeface="Roboto Bold"/>
                <a:sym typeface="Open Sauce Bold"/>
              </a:rPr>
              <a:t>Course Completed!</a:t>
            </a:r>
          </a:p>
        </p:txBody>
      </p:sp>
      <p:sp>
        <p:nvSpPr>
          <p:cNvPr id="6" name="Freeform 6"/>
          <p:cNvSpPr/>
          <p:nvPr/>
        </p:nvSpPr>
        <p:spPr>
          <a:xfrm>
            <a:off x="426574" y="1279043"/>
            <a:ext cx="8717426" cy="7728915"/>
          </a:xfrm>
          <a:custGeom>
            <a:avLst/>
            <a:gdLst/>
            <a:ahLst/>
            <a:cxnLst/>
            <a:rect l="l" t="t" r="r" b="b"/>
            <a:pathLst>
              <a:path w="8717426" h="7728915">
                <a:moveTo>
                  <a:pt x="0" y="0"/>
                </a:moveTo>
                <a:lnTo>
                  <a:pt x="8717426" y="0"/>
                </a:lnTo>
                <a:lnTo>
                  <a:pt x="8717426" y="7728914"/>
                </a:lnTo>
                <a:lnTo>
                  <a:pt x="0" y="7728914"/>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1097280" y="1906894"/>
            <a:ext cx="3767328" cy="1276753"/>
          </a:xfrm>
          <a:prstGeom prst="rect">
            <a:avLst/>
          </a:prstGeom>
        </p:spPr>
        <p:txBody>
          <a:bodyPr lIns="0" tIns="0" rIns="0" bIns="0" rtlCol="0" anchor="t">
            <a:spAutoFit/>
          </a:bodyPr>
          <a:lstStyle/>
          <a:p>
            <a:pPr algn="l">
              <a:lnSpc>
                <a:spcPts val="5017"/>
              </a:lnSpc>
            </a:pPr>
            <a:r>
              <a:rPr lang="en-US" sz="4363" b="1" spc="-130">
                <a:solidFill>
                  <a:srgbClr val="FFFFFF"/>
                </a:solidFill>
                <a:latin typeface="Open Sauce Bold"/>
                <a:ea typeface="Open Sauce Bold"/>
                <a:cs typeface="Open Sauce Bold"/>
                <a:sym typeface="Open Sauce Bold"/>
              </a:rPr>
              <a:t>Thank You for Participating!</a:t>
            </a:r>
          </a:p>
        </p:txBody>
      </p:sp>
      <p:sp>
        <p:nvSpPr>
          <p:cNvPr id="8" name="TextBox 8"/>
          <p:cNvSpPr txBox="1"/>
          <p:nvPr/>
        </p:nvSpPr>
        <p:spPr>
          <a:xfrm>
            <a:off x="1097280" y="3418312"/>
            <a:ext cx="4645152" cy="1098462"/>
          </a:xfrm>
          <a:prstGeom prst="rect">
            <a:avLst/>
          </a:prstGeom>
        </p:spPr>
        <p:txBody>
          <a:bodyPr lIns="0" tIns="0" rIns="0" bIns="0" rtlCol="0" anchor="t">
            <a:spAutoFit/>
          </a:bodyPr>
          <a:lstStyle/>
          <a:p>
            <a:pPr algn="l">
              <a:lnSpc>
                <a:spcPts val="2934"/>
              </a:lnSpc>
            </a:pPr>
            <a:r>
              <a:rPr lang="en-US" sz="2023" b="1">
                <a:solidFill>
                  <a:srgbClr val="FFFFFF"/>
                </a:solidFill>
                <a:latin typeface="Open Sauce Semi-Bold"/>
                <a:ea typeface="Open Sauce Semi-Bold"/>
                <a:cs typeface="Open Sauce Semi-Bold"/>
                <a:sym typeface="Open Sauce Semi-Bold"/>
              </a:rPr>
              <a:t>You have successfully completed the Manager's Guide to Difficult Performance Conversations.</a:t>
            </a:r>
          </a:p>
        </p:txBody>
      </p:sp>
      <p:sp>
        <p:nvSpPr>
          <p:cNvPr id="9" name="Freeform 9"/>
          <p:cNvSpPr/>
          <p:nvPr/>
        </p:nvSpPr>
        <p:spPr>
          <a:xfrm>
            <a:off x="6092354" y="1924030"/>
            <a:ext cx="2406316" cy="2579949"/>
          </a:xfrm>
          <a:custGeom>
            <a:avLst/>
            <a:gdLst/>
            <a:ahLst/>
            <a:cxnLst/>
            <a:rect l="l" t="t" r="r" b="b"/>
            <a:pathLst>
              <a:path w="2406316" h="2579949">
                <a:moveTo>
                  <a:pt x="0" y="0"/>
                </a:moveTo>
                <a:lnTo>
                  <a:pt x="2406316" y="0"/>
                </a:lnTo>
                <a:lnTo>
                  <a:pt x="2406316" y="2579949"/>
                </a:lnTo>
                <a:lnTo>
                  <a:pt x="0" y="2579949"/>
                </a:lnTo>
                <a:lnTo>
                  <a:pt x="0" y="0"/>
                </a:lnTo>
                <a:close/>
              </a:path>
            </a:pathLst>
          </a:custGeom>
          <a:blipFill>
            <a:blip r:embed="rId5"/>
            <a:stretch>
              <a:fillRect/>
            </a:stretch>
          </a:blipFill>
        </p:spPr>
        <p:txBody>
          <a:bodyPr/>
          <a:lstStyle/>
          <a:p>
            <a:endParaRPr lang="en-IN"/>
          </a:p>
        </p:txBody>
      </p:sp>
      <p:sp>
        <p:nvSpPr>
          <p:cNvPr id="10" name="Freeform 10"/>
          <p:cNvSpPr/>
          <p:nvPr/>
        </p:nvSpPr>
        <p:spPr>
          <a:xfrm>
            <a:off x="864086" y="4711687"/>
            <a:ext cx="7634584" cy="218640"/>
          </a:xfrm>
          <a:custGeom>
            <a:avLst/>
            <a:gdLst/>
            <a:ahLst/>
            <a:cxnLst/>
            <a:rect l="l" t="t" r="r" b="b"/>
            <a:pathLst>
              <a:path w="7634584" h="218640">
                <a:moveTo>
                  <a:pt x="0" y="0"/>
                </a:moveTo>
                <a:lnTo>
                  <a:pt x="7634584" y="0"/>
                </a:lnTo>
                <a:lnTo>
                  <a:pt x="7634584" y="218639"/>
                </a:lnTo>
                <a:lnTo>
                  <a:pt x="0" y="218639"/>
                </a:lnTo>
                <a:lnTo>
                  <a:pt x="0" y="0"/>
                </a:lnTo>
                <a:close/>
              </a:path>
            </a:pathLst>
          </a:custGeom>
          <a:blipFill>
            <a:blip r:embed="rId6"/>
            <a:stretch>
              <a:fillRect/>
            </a:stretch>
          </a:blipFill>
        </p:spPr>
        <p:txBody>
          <a:bodyPr/>
          <a:lstStyle/>
          <a:p>
            <a:endParaRPr lang="en-IN"/>
          </a:p>
        </p:txBody>
      </p:sp>
      <p:sp>
        <p:nvSpPr>
          <p:cNvPr id="11" name="Freeform 11"/>
          <p:cNvSpPr/>
          <p:nvPr/>
        </p:nvSpPr>
        <p:spPr>
          <a:xfrm>
            <a:off x="864086" y="5138034"/>
            <a:ext cx="1531292" cy="1508614"/>
          </a:xfrm>
          <a:custGeom>
            <a:avLst/>
            <a:gdLst/>
            <a:ahLst/>
            <a:cxnLst/>
            <a:rect l="l" t="t" r="r" b="b"/>
            <a:pathLst>
              <a:path w="1531292" h="1508614">
                <a:moveTo>
                  <a:pt x="0" y="0"/>
                </a:moveTo>
                <a:lnTo>
                  <a:pt x="1531292" y="0"/>
                </a:lnTo>
                <a:lnTo>
                  <a:pt x="1531292" y="1508614"/>
                </a:lnTo>
                <a:lnTo>
                  <a:pt x="0" y="1508614"/>
                </a:lnTo>
                <a:lnTo>
                  <a:pt x="0" y="0"/>
                </a:lnTo>
                <a:close/>
              </a:path>
            </a:pathLst>
          </a:custGeom>
          <a:blipFill>
            <a:blip r:embed="rId7"/>
            <a:stretch>
              <a:fillRect/>
            </a:stretch>
          </a:blipFill>
        </p:spPr>
        <p:txBody>
          <a:bodyPr/>
          <a:lstStyle/>
          <a:p>
            <a:endParaRPr lang="en-IN"/>
          </a:p>
        </p:txBody>
      </p:sp>
      <p:sp>
        <p:nvSpPr>
          <p:cNvPr id="12" name="TextBox 12"/>
          <p:cNvSpPr txBox="1"/>
          <p:nvPr/>
        </p:nvSpPr>
        <p:spPr>
          <a:xfrm>
            <a:off x="2706624" y="5329931"/>
            <a:ext cx="1682496" cy="251598"/>
          </a:xfrm>
          <a:prstGeom prst="rect">
            <a:avLst/>
          </a:prstGeom>
        </p:spPr>
        <p:txBody>
          <a:bodyPr lIns="0" tIns="0" rIns="0" bIns="0" rtlCol="0" anchor="t">
            <a:spAutoFit/>
          </a:bodyPr>
          <a:lstStyle/>
          <a:p>
            <a:pPr algn="l">
              <a:lnSpc>
                <a:spcPts val="1937"/>
              </a:lnSpc>
            </a:pPr>
            <a:r>
              <a:rPr lang="en-US" sz="1937" b="1">
                <a:solidFill>
                  <a:srgbClr val="FFFFFF"/>
                </a:solidFill>
                <a:latin typeface="Open Sauce Bold"/>
                <a:ea typeface="Open Sauce Bold"/>
                <a:cs typeface="Open Sauce Bold"/>
                <a:sym typeface="Open Sauce Bold"/>
              </a:rPr>
              <a:t>FINAL SCORE</a:t>
            </a:r>
          </a:p>
        </p:txBody>
      </p:sp>
      <p:sp>
        <p:nvSpPr>
          <p:cNvPr id="13" name="TextBox 13"/>
          <p:cNvSpPr txBox="1"/>
          <p:nvPr/>
        </p:nvSpPr>
        <p:spPr>
          <a:xfrm>
            <a:off x="2706624" y="5710563"/>
            <a:ext cx="1005840" cy="485886"/>
          </a:xfrm>
          <a:prstGeom prst="rect">
            <a:avLst/>
          </a:prstGeom>
        </p:spPr>
        <p:txBody>
          <a:bodyPr lIns="0" tIns="0" rIns="0" bIns="0" rtlCol="0" anchor="t">
            <a:spAutoFit/>
          </a:bodyPr>
          <a:lstStyle/>
          <a:p>
            <a:pPr algn="l">
              <a:lnSpc>
                <a:spcPts val="3679"/>
              </a:lnSpc>
            </a:pPr>
            <a:r>
              <a:rPr lang="en-US" sz="3679" b="1">
                <a:solidFill>
                  <a:srgbClr val="4BC6C6"/>
                </a:solidFill>
                <a:latin typeface="Open Sauce Bold"/>
                <a:ea typeface="Open Sauce Bold"/>
                <a:cs typeface="Open Sauce Bold"/>
                <a:sym typeface="Open Sauce Bold"/>
              </a:rPr>
              <a:t>92%</a:t>
            </a:r>
          </a:p>
        </p:txBody>
      </p:sp>
      <p:sp>
        <p:nvSpPr>
          <p:cNvPr id="14" name="TextBox 14"/>
          <p:cNvSpPr txBox="1"/>
          <p:nvPr/>
        </p:nvSpPr>
        <p:spPr>
          <a:xfrm>
            <a:off x="2706624" y="6274826"/>
            <a:ext cx="1280160" cy="280523"/>
          </a:xfrm>
          <a:prstGeom prst="rect">
            <a:avLst/>
          </a:prstGeom>
        </p:spPr>
        <p:txBody>
          <a:bodyPr lIns="0" tIns="0" rIns="0" bIns="0" rtlCol="0" anchor="t">
            <a:spAutoFit/>
          </a:bodyPr>
          <a:lstStyle/>
          <a:p>
            <a:pPr algn="l">
              <a:lnSpc>
                <a:spcPts val="2474"/>
              </a:lnSpc>
            </a:pPr>
            <a:r>
              <a:rPr lang="en-US" sz="1706" b="1">
                <a:solidFill>
                  <a:srgbClr val="FFFFFF"/>
                </a:solidFill>
                <a:latin typeface="Open Sauce Semi-Bold"/>
                <a:ea typeface="Open Sauce Semi-Bold"/>
                <a:cs typeface="Open Sauce Semi-Bold"/>
                <a:sym typeface="Open Sauce Semi-Bold"/>
              </a:rPr>
              <a:t>Great work!</a:t>
            </a:r>
          </a:p>
        </p:txBody>
      </p:sp>
      <p:sp>
        <p:nvSpPr>
          <p:cNvPr id="15" name="Freeform 15"/>
          <p:cNvSpPr/>
          <p:nvPr/>
        </p:nvSpPr>
        <p:spPr>
          <a:xfrm>
            <a:off x="864086" y="6635716"/>
            <a:ext cx="7634584" cy="229572"/>
          </a:xfrm>
          <a:custGeom>
            <a:avLst/>
            <a:gdLst/>
            <a:ahLst/>
            <a:cxnLst/>
            <a:rect l="l" t="t" r="r" b="b"/>
            <a:pathLst>
              <a:path w="7634584" h="229572">
                <a:moveTo>
                  <a:pt x="0" y="0"/>
                </a:moveTo>
                <a:lnTo>
                  <a:pt x="7634584" y="0"/>
                </a:lnTo>
                <a:lnTo>
                  <a:pt x="7634584" y="229572"/>
                </a:lnTo>
                <a:lnTo>
                  <a:pt x="0" y="229572"/>
                </a:lnTo>
                <a:lnTo>
                  <a:pt x="0" y="0"/>
                </a:lnTo>
                <a:close/>
              </a:path>
            </a:pathLst>
          </a:custGeom>
          <a:blipFill>
            <a:blip r:embed="rId8"/>
            <a:stretch>
              <a:fillRect/>
            </a:stretch>
          </a:blipFill>
        </p:spPr>
        <p:txBody>
          <a:bodyPr/>
          <a:lstStyle/>
          <a:p>
            <a:endParaRPr lang="en-IN"/>
          </a:p>
        </p:txBody>
      </p:sp>
      <p:sp>
        <p:nvSpPr>
          <p:cNvPr id="16" name="Freeform 16"/>
          <p:cNvSpPr/>
          <p:nvPr/>
        </p:nvSpPr>
        <p:spPr>
          <a:xfrm>
            <a:off x="864086" y="7062064"/>
            <a:ext cx="1531292" cy="1300906"/>
          </a:xfrm>
          <a:custGeom>
            <a:avLst/>
            <a:gdLst/>
            <a:ahLst/>
            <a:cxnLst/>
            <a:rect l="l" t="t" r="r" b="b"/>
            <a:pathLst>
              <a:path w="1531292" h="1300906">
                <a:moveTo>
                  <a:pt x="0" y="0"/>
                </a:moveTo>
                <a:lnTo>
                  <a:pt x="1531292" y="0"/>
                </a:lnTo>
                <a:lnTo>
                  <a:pt x="1531292" y="1300906"/>
                </a:lnTo>
                <a:lnTo>
                  <a:pt x="0" y="1300906"/>
                </a:lnTo>
                <a:lnTo>
                  <a:pt x="0" y="0"/>
                </a:lnTo>
                <a:close/>
              </a:path>
            </a:pathLst>
          </a:custGeom>
          <a:blipFill>
            <a:blip r:embed="rId9"/>
            <a:stretch>
              <a:fillRect/>
            </a:stretch>
          </a:blipFill>
        </p:spPr>
        <p:txBody>
          <a:bodyPr/>
          <a:lstStyle/>
          <a:p>
            <a:endParaRPr lang="en-IN"/>
          </a:p>
        </p:txBody>
      </p:sp>
      <p:sp>
        <p:nvSpPr>
          <p:cNvPr id="17" name="TextBox 17"/>
          <p:cNvSpPr txBox="1"/>
          <p:nvPr/>
        </p:nvSpPr>
        <p:spPr>
          <a:xfrm>
            <a:off x="2706624" y="7216726"/>
            <a:ext cx="1645920" cy="263623"/>
          </a:xfrm>
          <a:prstGeom prst="rect">
            <a:avLst/>
          </a:prstGeom>
        </p:spPr>
        <p:txBody>
          <a:bodyPr lIns="0" tIns="0" rIns="0" bIns="0" rtlCol="0" anchor="t">
            <a:spAutoFit/>
          </a:bodyPr>
          <a:lstStyle/>
          <a:p>
            <a:pPr algn="l">
              <a:lnSpc>
                <a:spcPts val="1980"/>
              </a:lnSpc>
            </a:pPr>
            <a:r>
              <a:rPr lang="en-US" sz="1980" b="1">
                <a:solidFill>
                  <a:srgbClr val="FFFFFF"/>
                </a:solidFill>
                <a:latin typeface="Open Sauce Bold"/>
                <a:ea typeface="Open Sauce Bold"/>
                <a:cs typeface="Open Sauce Bold"/>
                <a:sym typeface="Open Sauce Bold"/>
              </a:rPr>
              <a:t>LMS STATUS</a:t>
            </a:r>
          </a:p>
        </p:txBody>
      </p:sp>
      <p:sp>
        <p:nvSpPr>
          <p:cNvPr id="18" name="TextBox 18"/>
          <p:cNvSpPr txBox="1"/>
          <p:nvPr/>
        </p:nvSpPr>
        <p:spPr>
          <a:xfrm>
            <a:off x="2706624" y="7640776"/>
            <a:ext cx="2615184" cy="268583"/>
          </a:xfrm>
          <a:prstGeom prst="rect">
            <a:avLst/>
          </a:prstGeom>
        </p:spPr>
        <p:txBody>
          <a:bodyPr lIns="0" tIns="0" rIns="0" bIns="0" rtlCol="0" anchor="t">
            <a:spAutoFit/>
          </a:bodyPr>
          <a:lstStyle/>
          <a:p>
            <a:pPr algn="l">
              <a:lnSpc>
                <a:spcPts val="2120"/>
              </a:lnSpc>
            </a:pPr>
            <a:r>
              <a:rPr lang="en-US" sz="2120" b="1">
                <a:solidFill>
                  <a:srgbClr val="4BC6C6"/>
                </a:solidFill>
                <a:latin typeface="Open Sauce Bold"/>
                <a:ea typeface="Open Sauce Bold"/>
                <a:cs typeface="Open Sauce Bold"/>
                <a:sym typeface="Open Sauce Bold"/>
              </a:rPr>
              <a:t>Module Completed</a:t>
            </a:r>
          </a:p>
        </p:txBody>
      </p:sp>
      <p:sp>
        <p:nvSpPr>
          <p:cNvPr id="19" name="TextBox 19"/>
          <p:cNvSpPr txBox="1"/>
          <p:nvPr/>
        </p:nvSpPr>
        <p:spPr>
          <a:xfrm>
            <a:off x="2706624" y="8019510"/>
            <a:ext cx="3785616" cy="299784"/>
          </a:xfrm>
          <a:prstGeom prst="rect">
            <a:avLst/>
          </a:prstGeom>
        </p:spPr>
        <p:txBody>
          <a:bodyPr lIns="0" tIns="0" rIns="0" bIns="0" rtlCol="0" anchor="t">
            <a:spAutoFit/>
          </a:bodyPr>
          <a:lstStyle/>
          <a:p>
            <a:pPr algn="l">
              <a:lnSpc>
                <a:spcPts val="2528"/>
              </a:lnSpc>
            </a:pPr>
            <a:r>
              <a:rPr lang="en-US" sz="1744" b="1">
                <a:solidFill>
                  <a:srgbClr val="FFFFFF"/>
                </a:solidFill>
                <a:latin typeface="Open Sauce Semi-Bold"/>
                <a:ea typeface="Open Sauce Semi-Bold"/>
                <a:cs typeface="Open Sauce Semi-Bold"/>
                <a:sym typeface="Open Sauce Semi-Bold"/>
              </a:rPr>
              <a:t>Your progress has been recorded.</a:t>
            </a:r>
          </a:p>
        </p:txBody>
      </p:sp>
      <p:sp>
        <p:nvSpPr>
          <p:cNvPr id="20" name="Freeform 20"/>
          <p:cNvSpPr/>
          <p:nvPr/>
        </p:nvSpPr>
        <p:spPr>
          <a:xfrm>
            <a:off x="9144000" y="1279043"/>
            <a:ext cx="8717426" cy="7728915"/>
          </a:xfrm>
          <a:custGeom>
            <a:avLst/>
            <a:gdLst/>
            <a:ahLst/>
            <a:cxnLst/>
            <a:rect l="l" t="t" r="r" b="b"/>
            <a:pathLst>
              <a:path w="8717426" h="7728915">
                <a:moveTo>
                  <a:pt x="0" y="0"/>
                </a:moveTo>
                <a:lnTo>
                  <a:pt x="8717426" y="0"/>
                </a:lnTo>
                <a:lnTo>
                  <a:pt x="8717426" y="7728914"/>
                </a:lnTo>
                <a:lnTo>
                  <a:pt x="0" y="7728914"/>
                </a:lnTo>
                <a:lnTo>
                  <a:pt x="0" y="0"/>
                </a:lnTo>
                <a:close/>
              </a:path>
            </a:pathLst>
          </a:custGeom>
          <a:blipFill>
            <a:blip r:embed="rId10"/>
            <a:stretch>
              <a:fillRect/>
            </a:stretch>
          </a:blipFill>
        </p:spPr>
        <p:txBody>
          <a:bodyPr/>
          <a:lstStyle/>
          <a:p>
            <a:endParaRPr lang="en-IN"/>
          </a:p>
        </p:txBody>
      </p:sp>
      <p:sp>
        <p:nvSpPr>
          <p:cNvPr id="21" name="Freeform 21"/>
          <p:cNvSpPr/>
          <p:nvPr/>
        </p:nvSpPr>
        <p:spPr>
          <a:xfrm>
            <a:off x="9570574" y="1705390"/>
            <a:ext cx="1104718" cy="1082267"/>
          </a:xfrm>
          <a:custGeom>
            <a:avLst/>
            <a:gdLst/>
            <a:ahLst/>
            <a:cxnLst/>
            <a:rect l="l" t="t" r="r" b="b"/>
            <a:pathLst>
              <a:path w="1104718" h="1082267">
                <a:moveTo>
                  <a:pt x="0" y="0"/>
                </a:moveTo>
                <a:lnTo>
                  <a:pt x="1104718" y="0"/>
                </a:lnTo>
                <a:lnTo>
                  <a:pt x="1104718" y="1082267"/>
                </a:lnTo>
                <a:lnTo>
                  <a:pt x="0" y="1082267"/>
                </a:lnTo>
                <a:lnTo>
                  <a:pt x="0" y="0"/>
                </a:lnTo>
                <a:close/>
              </a:path>
            </a:pathLst>
          </a:custGeom>
          <a:blipFill>
            <a:blip r:embed="rId11"/>
            <a:stretch>
              <a:fillRect/>
            </a:stretch>
          </a:blipFill>
        </p:spPr>
        <p:txBody>
          <a:bodyPr/>
          <a:lstStyle/>
          <a:p>
            <a:endParaRPr lang="en-IN"/>
          </a:p>
        </p:txBody>
      </p:sp>
      <p:sp>
        <p:nvSpPr>
          <p:cNvPr id="22" name="TextBox 22"/>
          <p:cNvSpPr txBox="1"/>
          <p:nvPr/>
        </p:nvSpPr>
        <p:spPr>
          <a:xfrm>
            <a:off x="10844784" y="2421054"/>
            <a:ext cx="5961888" cy="1056914"/>
          </a:xfrm>
          <a:prstGeom prst="rect">
            <a:avLst/>
          </a:prstGeom>
        </p:spPr>
        <p:txBody>
          <a:bodyPr lIns="0" tIns="0" rIns="0" bIns="0" rtlCol="0" anchor="t">
            <a:spAutoFit/>
          </a:bodyPr>
          <a:lstStyle/>
          <a:p>
            <a:pPr algn="l">
              <a:lnSpc>
                <a:spcPts val="2878"/>
              </a:lnSpc>
            </a:pPr>
            <a:r>
              <a:rPr lang="en-US" sz="1857" b="1" dirty="0">
                <a:solidFill>
                  <a:srgbClr val="002352"/>
                </a:solidFill>
                <a:latin typeface="Open Sauce Semi-Bold"/>
                <a:ea typeface="Open Sauce Semi-Bold"/>
                <a:cs typeface="Open Sauce Semi-Bold"/>
                <a:sym typeface="Open Sauce Semi-Bold"/>
              </a:rPr>
              <a:t>Identify one performance issue on your team that you have been postponing. Draft your factual opening statement below:</a:t>
            </a:r>
          </a:p>
        </p:txBody>
      </p:sp>
      <p:sp>
        <p:nvSpPr>
          <p:cNvPr id="23" name="Freeform 23"/>
          <p:cNvSpPr/>
          <p:nvPr/>
        </p:nvSpPr>
        <p:spPr>
          <a:xfrm>
            <a:off x="9570574" y="3640352"/>
            <a:ext cx="7853340" cy="2361309"/>
          </a:xfrm>
          <a:custGeom>
            <a:avLst/>
            <a:gdLst/>
            <a:ahLst/>
            <a:cxnLst/>
            <a:rect l="l" t="t" r="r" b="b"/>
            <a:pathLst>
              <a:path w="7853340" h="2361309">
                <a:moveTo>
                  <a:pt x="0" y="0"/>
                </a:moveTo>
                <a:lnTo>
                  <a:pt x="7853340" y="0"/>
                </a:lnTo>
                <a:lnTo>
                  <a:pt x="7853340" y="2361309"/>
                </a:lnTo>
                <a:lnTo>
                  <a:pt x="0" y="2361309"/>
                </a:lnTo>
                <a:lnTo>
                  <a:pt x="0" y="0"/>
                </a:lnTo>
                <a:close/>
              </a:path>
            </a:pathLst>
          </a:custGeom>
          <a:blipFill>
            <a:blip r:embed="rId12"/>
            <a:stretch>
              <a:fillRect/>
            </a:stretch>
          </a:blipFill>
        </p:spPr>
        <p:txBody>
          <a:bodyPr/>
          <a:lstStyle/>
          <a:p>
            <a:endParaRPr lang="en-IN"/>
          </a:p>
        </p:txBody>
      </p:sp>
      <p:sp>
        <p:nvSpPr>
          <p:cNvPr id="24" name="TextBox 24"/>
          <p:cNvSpPr txBox="1"/>
          <p:nvPr/>
        </p:nvSpPr>
        <p:spPr>
          <a:xfrm>
            <a:off x="9948672" y="3949964"/>
            <a:ext cx="3877056" cy="280523"/>
          </a:xfrm>
          <a:prstGeom prst="rect">
            <a:avLst/>
          </a:prstGeom>
        </p:spPr>
        <p:txBody>
          <a:bodyPr lIns="0" tIns="0" rIns="0" bIns="0" rtlCol="0" anchor="t">
            <a:spAutoFit/>
          </a:bodyPr>
          <a:lstStyle/>
          <a:p>
            <a:pPr algn="l">
              <a:lnSpc>
                <a:spcPts val="2474"/>
              </a:lnSpc>
            </a:pPr>
            <a:r>
              <a:rPr lang="en-US" sz="1706" b="1" dirty="0">
                <a:solidFill>
                  <a:srgbClr val="002352">
                    <a:alpha val="49804"/>
                  </a:srgbClr>
                </a:solidFill>
                <a:latin typeface="Open Sauce Semi-Bold"/>
                <a:ea typeface="Open Sauce Semi-Bold"/>
                <a:cs typeface="Open Sauce Semi-Bold"/>
                <a:sym typeface="Open Sauce Semi-Bold"/>
              </a:rPr>
              <a:t>Type your opening statement here...</a:t>
            </a:r>
          </a:p>
        </p:txBody>
      </p:sp>
      <p:sp>
        <p:nvSpPr>
          <p:cNvPr id="25" name="Freeform 25"/>
          <p:cNvSpPr/>
          <p:nvPr/>
        </p:nvSpPr>
        <p:spPr>
          <a:xfrm>
            <a:off x="16975464" y="5564382"/>
            <a:ext cx="448450" cy="437279"/>
          </a:xfrm>
          <a:custGeom>
            <a:avLst/>
            <a:gdLst/>
            <a:ahLst/>
            <a:cxnLst/>
            <a:rect l="l" t="t" r="r" b="b"/>
            <a:pathLst>
              <a:path w="448450" h="437279">
                <a:moveTo>
                  <a:pt x="0" y="0"/>
                </a:moveTo>
                <a:lnTo>
                  <a:pt x="448450" y="0"/>
                </a:lnTo>
                <a:lnTo>
                  <a:pt x="448450" y="437279"/>
                </a:lnTo>
                <a:lnTo>
                  <a:pt x="0" y="437279"/>
                </a:lnTo>
                <a:lnTo>
                  <a:pt x="0" y="0"/>
                </a:lnTo>
                <a:close/>
              </a:path>
            </a:pathLst>
          </a:custGeom>
          <a:blipFill>
            <a:blip r:embed="rId13"/>
            <a:stretch>
              <a:fillRect/>
            </a:stretch>
          </a:blipFill>
        </p:spPr>
        <p:txBody>
          <a:bodyPr/>
          <a:lstStyle/>
          <a:p>
            <a:endParaRPr lang="en-IN"/>
          </a:p>
        </p:txBody>
      </p:sp>
      <p:sp>
        <p:nvSpPr>
          <p:cNvPr id="26" name="Freeform 26"/>
          <p:cNvSpPr/>
          <p:nvPr/>
        </p:nvSpPr>
        <p:spPr>
          <a:xfrm>
            <a:off x="9570574" y="6635716"/>
            <a:ext cx="1542230" cy="1727254"/>
          </a:xfrm>
          <a:custGeom>
            <a:avLst/>
            <a:gdLst/>
            <a:ahLst/>
            <a:cxnLst/>
            <a:rect l="l" t="t" r="r" b="b"/>
            <a:pathLst>
              <a:path w="1542230" h="1727254">
                <a:moveTo>
                  <a:pt x="0" y="0"/>
                </a:moveTo>
                <a:lnTo>
                  <a:pt x="1542230" y="0"/>
                </a:lnTo>
                <a:lnTo>
                  <a:pt x="1542230" y="1727254"/>
                </a:lnTo>
                <a:lnTo>
                  <a:pt x="0" y="1727254"/>
                </a:lnTo>
                <a:lnTo>
                  <a:pt x="0" y="0"/>
                </a:lnTo>
                <a:close/>
              </a:path>
            </a:pathLst>
          </a:custGeom>
          <a:blipFill>
            <a:blip r:embed="rId14"/>
            <a:stretch>
              <a:fillRect/>
            </a:stretch>
          </a:blipFill>
        </p:spPr>
        <p:txBody>
          <a:bodyPr/>
          <a:lstStyle/>
          <a:p>
            <a:endParaRPr lang="en-IN"/>
          </a:p>
        </p:txBody>
      </p:sp>
      <p:sp>
        <p:nvSpPr>
          <p:cNvPr id="27" name="TextBox 27"/>
          <p:cNvSpPr txBox="1"/>
          <p:nvPr/>
        </p:nvSpPr>
        <p:spPr>
          <a:xfrm>
            <a:off x="11265408" y="6751362"/>
            <a:ext cx="2231136" cy="237659"/>
          </a:xfrm>
          <a:prstGeom prst="rect">
            <a:avLst/>
          </a:prstGeom>
        </p:spPr>
        <p:txBody>
          <a:bodyPr lIns="0" tIns="0" rIns="0" bIns="0" rtlCol="0" anchor="t">
            <a:spAutoFit/>
          </a:bodyPr>
          <a:lstStyle/>
          <a:p>
            <a:pPr algn="l">
              <a:lnSpc>
                <a:spcPts val="1819"/>
              </a:lnSpc>
            </a:pPr>
            <a:r>
              <a:rPr lang="en-US" sz="1819" b="1" spc="-54" dirty="0">
                <a:solidFill>
                  <a:srgbClr val="002352"/>
                </a:solidFill>
                <a:latin typeface="Open Sauce Bold"/>
                <a:ea typeface="Open Sauce Bold"/>
                <a:cs typeface="Open Sauce Bold"/>
                <a:sym typeface="Open Sauce Bold"/>
              </a:rPr>
              <a:t>Takeaway Resource</a:t>
            </a:r>
          </a:p>
        </p:txBody>
      </p:sp>
      <p:sp>
        <p:nvSpPr>
          <p:cNvPr id="28" name="TextBox 28"/>
          <p:cNvSpPr txBox="1"/>
          <p:nvPr/>
        </p:nvSpPr>
        <p:spPr>
          <a:xfrm>
            <a:off x="11265408" y="7268161"/>
            <a:ext cx="2999232" cy="263623"/>
          </a:xfrm>
          <a:prstGeom prst="rect">
            <a:avLst/>
          </a:prstGeom>
        </p:spPr>
        <p:txBody>
          <a:bodyPr lIns="0" tIns="0" rIns="0" bIns="0" rtlCol="0" anchor="t">
            <a:spAutoFit/>
          </a:bodyPr>
          <a:lstStyle/>
          <a:p>
            <a:pPr algn="l">
              <a:lnSpc>
                <a:spcPts val="1980"/>
              </a:lnSpc>
            </a:pPr>
            <a:r>
              <a:rPr lang="en-US" sz="1980" b="1">
                <a:solidFill>
                  <a:srgbClr val="002352"/>
                </a:solidFill>
                <a:latin typeface="Open Sauce Bold"/>
                <a:ea typeface="Open Sauce Bold"/>
                <a:cs typeface="Open Sauce Bold"/>
                <a:sym typeface="Open Sauce Bold"/>
              </a:rPr>
              <a:t>Download Job Aid (PDF)</a:t>
            </a:r>
          </a:p>
        </p:txBody>
      </p:sp>
      <p:sp>
        <p:nvSpPr>
          <p:cNvPr id="29" name="TextBox 29"/>
          <p:cNvSpPr txBox="1"/>
          <p:nvPr/>
        </p:nvSpPr>
        <p:spPr>
          <a:xfrm>
            <a:off x="11265408" y="7680635"/>
            <a:ext cx="3438144" cy="502045"/>
          </a:xfrm>
          <a:prstGeom prst="rect">
            <a:avLst/>
          </a:prstGeom>
        </p:spPr>
        <p:txBody>
          <a:bodyPr lIns="0" tIns="0" rIns="0" bIns="0" rtlCol="0" anchor="t">
            <a:spAutoFit/>
          </a:bodyPr>
          <a:lstStyle/>
          <a:p>
            <a:pPr algn="l">
              <a:lnSpc>
                <a:spcPts val="2038"/>
              </a:lnSpc>
            </a:pPr>
            <a:r>
              <a:rPr lang="en-US" sz="1630" b="1">
                <a:solidFill>
                  <a:srgbClr val="002352"/>
                </a:solidFill>
                <a:latin typeface="Open Sauce Semi-Bold"/>
                <a:ea typeface="Open Sauce Semi-Bold"/>
                <a:cs typeface="Open Sauce Semi-Bold"/>
                <a:sym typeface="Open Sauce Semi-Bold"/>
              </a:rPr>
              <a:t>A one-page reference to support your performance conversations.</a:t>
            </a:r>
          </a:p>
        </p:txBody>
      </p:sp>
      <p:sp>
        <p:nvSpPr>
          <p:cNvPr id="30" name="Freeform 30"/>
          <p:cNvSpPr/>
          <p:nvPr/>
        </p:nvSpPr>
        <p:spPr>
          <a:xfrm>
            <a:off x="1520354" y="8997026"/>
            <a:ext cx="4801694" cy="1082267"/>
          </a:xfrm>
          <a:custGeom>
            <a:avLst/>
            <a:gdLst/>
            <a:ahLst/>
            <a:cxnLst/>
            <a:rect l="l" t="t" r="r" b="b"/>
            <a:pathLst>
              <a:path w="4801694" h="1082267">
                <a:moveTo>
                  <a:pt x="0" y="0"/>
                </a:moveTo>
                <a:lnTo>
                  <a:pt x="4801694" y="0"/>
                </a:lnTo>
                <a:lnTo>
                  <a:pt x="4801694" y="1082266"/>
                </a:lnTo>
                <a:lnTo>
                  <a:pt x="0" y="1082266"/>
                </a:lnTo>
                <a:lnTo>
                  <a:pt x="0" y="0"/>
                </a:lnTo>
                <a:close/>
              </a:path>
            </a:pathLst>
          </a:custGeom>
          <a:blipFill>
            <a:blip r:embed="rId15"/>
            <a:stretch>
              <a:fillRect/>
            </a:stretch>
          </a:blipFill>
        </p:spPr>
        <p:txBody>
          <a:bodyPr/>
          <a:lstStyle/>
          <a:p>
            <a:endParaRPr lang="en-IN"/>
          </a:p>
        </p:txBody>
      </p:sp>
      <p:sp>
        <p:nvSpPr>
          <p:cNvPr id="31" name="Freeform 31"/>
          <p:cNvSpPr/>
          <p:nvPr/>
        </p:nvSpPr>
        <p:spPr>
          <a:xfrm>
            <a:off x="2603196" y="9204733"/>
            <a:ext cx="448450" cy="655919"/>
          </a:xfrm>
          <a:custGeom>
            <a:avLst/>
            <a:gdLst/>
            <a:ahLst/>
            <a:cxnLst/>
            <a:rect l="l" t="t" r="r" b="b"/>
            <a:pathLst>
              <a:path w="448450" h="655919">
                <a:moveTo>
                  <a:pt x="0" y="0"/>
                </a:moveTo>
                <a:lnTo>
                  <a:pt x="448450" y="0"/>
                </a:lnTo>
                <a:lnTo>
                  <a:pt x="448450" y="655919"/>
                </a:lnTo>
                <a:lnTo>
                  <a:pt x="0" y="655919"/>
                </a:lnTo>
                <a:lnTo>
                  <a:pt x="0" y="0"/>
                </a:lnTo>
                <a:close/>
              </a:path>
            </a:pathLst>
          </a:custGeom>
          <a:blipFill>
            <a:blip r:embed="rId16"/>
            <a:stretch>
              <a:fillRect/>
            </a:stretch>
          </a:blipFill>
        </p:spPr>
        <p:txBody>
          <a:bodyPr/>
          <a:lstStyle/>
          <a:p>
            <a:endParaRPr lang="en-IN"/>
          </a:p>
        </p:txBody>
      </p:sp>
      <p:sp>
        <p:nvSpPr>
          <p:cNvPr id="32" name="TextBox 32"/>
          <p:cNvSpPr txBox="1"/>
          <p:nvPr/>
        </p:nvSpPr>
        <p:spPr>
          <a:xfrm>
            <a:off x="3255264" y="9407310"/>
            <a:ext cx="1956816" cy="264716"/>
          </a:xfrm>
          <a:prstGeom prst="rect">
            <a:avLst/>
          </a:prstGeom>
        </p:spPr>
        <p:txBody>
          <a:bodyPr lIns="0" tIns="0" rIns="0" bIns="0" rtlCol="0" anchor="t">
            <a:spAutoFit/>
          </a:bodyPr>
          <a:lstStyle/>
          <a:p>
            <a:pPr algn="l">
              <a:lnSpc>
                <a:spcPts val="2023"/>
              </a:lnSpc>
            </a:pPr>
            <a:r>
              <a:rPr lang="en-US" sz="2023" b="1" spc="-60">
                <a:solidFill>
                  <a:srgbClr val="FFFFFF"/>
                </a:solidFill>
                <a:latin typeface="Open Sauce Bold"/>
                <a:ea typeface="Open Sauce Bold"/>
                <a:cs typeface="Open Sauce Bold"/>
                <a:sym typeface="Open Sauce Bold"/>
              </a:rPr>
              <a:t>Save Reflection</a:t>
            </a:r>
          </a:p>
        </p:txBody>
      </p:sp>
      <p:sp>
        <p:nvSpPr>
          <p:cNvPr id="33" name="Freeform 33"/>
          <p:cNvSpPr/>
          <p:nvPr/>
        </p:nvSpPr>
        <p:spPr>
          <a:xfrm>
            <a:off x="6529866" y="8997026"/>
            <a:ext cx="4801694" cy="1082267"/>
          </a:xfrm>
          <a:custGeom>
            <a:avLst/>
            <a:gdLst/>
            <a:ahLst/>
            <a:cxnLst/>
            <a:rect l="l" t="t" r="r" b="b"/>
            <a:pathLst>
              <a:path w="4801694" h="1082267">
                <a:moveTo>
                  <a:pt x="0" y="0"/>
                </a:moveTo>
                <a:lnTo>
                  <a:pt x="4801694" y="0"/>
                </a:lnTo>
                <a:lnTo>
                  <a:pt x="4801694" y="1082266"/>
                </a:lnTo>
                <a:lnTo>
                  <a:pt x="0" y="1082266"/>
                </a:lnTo>
                <a:lnTo>
                  <a:pt x="0" y="0"/>
                </a:lnTo>
                <a:close/>
              </a:path>
            </a:pathLst>
          </a:custGeom>
          <a:blipFill>
            <a:blip r:embed="rId17"/>
            <a:stretch>
              <a:fillRect/>
            </a:stretch>
          </a:blipFill>
        </p:spPr>
        <p:txBody>
          <a:bodyPr/>
          <a:lstStyle/>
          <a:p>
            <a:endParaRPr lang="en-IN"/>
          </a:p>
        </p:txBody>
      </p:sp>
      <p:sp>
        <p:nvSpPr>
          <p:cNvPr id="34" name="Freeform 34"/>
          <p:cNvSpPr/>
          <p:nvPr/>
        </p:nvSpPr>
        <p:spPr>
          <a:xfrm>
            <a:off x="6956440" y="9204733"/>
            <a:ext cx="667206" cy="655919"/>
          </a:xfrm>
          <a:custGeom>
            <a:avLst/>
            <a:gdLst/>
            <a:ahLst/>
            <a:cxnLst/>
            <a:rect l="l" t="t" r="r" b="b"/>
            <a:pathLst>
              <a:path w="667206" h="655919">
                <a:moveTo>
                  <a:pt x="0" y="0"/>
                </a:moveTo>
                <a:lnTo>
                  <a:pt x="667206" y="0"/>
                </a:lnTo>
                <a:lnTo>
                  <a:pt x="667206" y="655919"/>
                </a:lnTo>
                <a:lnTo>
                  <a:pt x="0" y="655919"/>
                </a:lnTo>
                <a:lnTo>
                  <a:pt x="0" y="0"/>
                </a:lnTo>
                <a:close/>
              </a:path>
            </a:pathLst>
          </a:custGeom>
          <a:blipFill>
            <a:blip r:embed="rId18"/>
            <a:stretch>
              <a:fillRect/>
            </a:stretch>
          </a:blipFill>
        </p:spPr>
        <p:txBody>
          <a:bodyPr/>
          <a:lstStyle/>
          <a:p>
            <a:endParaRPr lang="en-IN"/>
          </a:p>
        </p:txBody>
      </p:sp>
      <p:sp>
        <p:nvSpPr>
          <p:cNvPr id="35" name="TextBox 35"/>
          <p:cNvSpPr txBox="1"/>
          <p:nvPr/>
        </p:nvSpPr>
        <p:spPr>
          <a:xfrm>
            <a:off x="7717536" y="9407310"/>
            <a:ext cx="3035808" cy="264716"/>
          </a:xfrm>
          <a:prstGeom prst="rect">
            <a:avLst/>
          </a:prstGeom>
        </p:spPr>
        <p:txBody>
          <a:bodyPr lIns="0" tIns="0" rIns="0" bIns="0" rtlCol="0" anchor="t">
            <a:spAutoFit/>
          </a:bodyPr>
          <a:lstStyle/>
          <a:p>
            <a:pPr algn="l">
              <a:lnSpc>
                <a:spcPts val="2023"/>
              </a:lnSpc>
            </a:pPr>
            <a:r>
              <a:rPr lang="en-US" sz="2023" b="1" spc="-60">
                <a:solidFill>
                  <a:srgbClr val="4BC6C6"/>
                </a:solidFill>
                <a:latin typeface="Open Sauce Bold"/>
                <a:ea typeface="Open Sauce Bold"/>
                <a:cs typeface="Open Sauce Bold"/>
                <a:sym typeface="Open Sauce Bold"/>
              </a:rPr>
              <a:t>Download Job Aid (PDF)</a:t>
            </a:r>
          </a:p>
        </p:txBody>
      </p:sp>
      <p:sp>
        <p:nvSpPr>
          <p:cNvPr id="36" name="Freeform 36"/>
          <p:cNvSpPr/>
          <p:nvPr/>
        </p:nvSpPr>
        <p:spPr>
          <a:xfrm>
            <a:off x="11528440" y="8997026"/>
            <a:ext cx="5020450" cy="1082267"/>
          </a:xfrm>
          <a:custGeom>
            <a:avLst/>
            <a:gdLst/>
            <a:ahLst/>
            <a:cxnLst/>
            <a:rect l="l" t="t" r="r" b="b"/>
            <a:pathLst>
              <a:path w="5020450" h="1082267">
                <a:moveTo>
                  <a:pt x="0" y="0"/>
                </a:moveTo>
                <a:lnTo>
                  <a:pt x="5020450" y="0"/>
                </a:lnTo>
                <a:lnTo>
                  <a:pt x="5020450" y="1082266"/>
                </a:lnTo>
                <a:lnTo>
                  <a:pt x="0" y="1082266"/>
                </a:lnTo>
                <a:lnTo>
                  <a:pt x="0" y="0"/>
                </a:lnTo>
                <a:close/>
              </a:path>
            </a:pathLst>
          </a:custGeom>
          <a:blipFill>
            <a:blip r:embed="rId19"/>
            <a:stretch>
              <a:fillRect/>
            </a:stretch>
          </a:blipFill>
        </p:spPr>
        <p:txBody>
          <a:bodyPr/>
          <a:lstStyle/>
          <a:p>
            <a:endParaRPr lang="en-IN"/>
          </a:p>
        </p:txBody>
      </p:sp>
      <p:sp>
        <p:nvSpPr>
          <p:cNvPr id="37" name="TextBox 37"/>
          <p:cNvSpPr txBox="1"/>
          <p:nvPr/>
        </p:nvSpPr>
        <p:spPr>
          <a:xfrm>
            <a:off x="13075920" y="9407310"/>
            <a:ext cx="1481328" cy="264716"/>
          </a:xfrm>
          <a:prstGeom prst="rect">
            <a:avLst/>
          </a:prstGeom>
        </p:spPr>
        <p:txBody>
          <a:bodyPr lIns="0" tIns="0" rIns="0" bIns="0" rtlCol="0" anchor="t">
            <a:spAutoFit/>
          </a:bodyPr>
          <a:lstStyle/>
          <a:p>
            <a:pPr algn="r">
              <a:lnSpc>
                <a:spcPts val="2023"/>
              </a:lnSpc>
            </a:pPr>
            <a:r>
              <a:rPr lang="en-US" sz="2023" b="1" spc="-60">
                <a:solidFill>
                  <a:srgbClr val="FFFFFF"/>
                </a:solidFill>
                <a:latin typeface="Open Sauce Bold"/>
                <a:ea typeface="Open Sauce Bold"/>
                <a:cs typeface="Open Sauce Bold"/>
                <a:sym typeface="Open Sauce Bold"/>
              </a:rPr>
              <a:t>Exit Module</a:t>
            </a:r>
          </a:p>
        </p:txBody>
      </p:sp>
      <p:sp>
        <p:nvSpPr>
          <p:cNvPr id="38" name="Freeform 38"/>
          <p:cNvSpPr/>
          <p:nvPr/>
        </p:nvSpPr>
        <p:spPr>
          <a:xfrm>
            <a:off x="14580086" y="9204733"/>
            <a:ext cx="448450" cy="448211"/>
          </a:xfrm>
          <a:custGeom>
            <a:avLst/>
            <a:gdLst/>
            <a:ahLst/>
            <a:cxnLst/>
            <a:rect l="l" t="t" r="r" b="b"/>
            <a:pathLst>
              <a:path w="448450" h="448211">
                <a:moveTo>
                  <a:pt x="0" y="0"/>
                </a:moveTo>
                <a:lnTo>
                  <a:pt x="448450" y="0"/>
                </a:lnTo>
                <a:lnTo>
                  <a:pt x="448450" y="448212"/>
                </a:lnTo>
                <a:lnTo>
                  <a:pt x="0" y="448212"/>
                </a:lnTo>
                <a:lnTo>
                  <a:pt x="0" y="0"/>
                </a:lnTo>
                <a:close/>
              </a:path>
            </a:pathLst>
          </a:custGeom>
          <a:blipFill>
            <a:blip r:embed="rId20"/>
            <a:stretch>
              <a:fillRect/>
            </a:stretch>
          </a:blipFill>
        </p:spPr>
        <p:txBody>
          <a:bodyPr/>
          <a:lstStyle/>
          <a:p>
            <a:endParaRPr lang="en-IN"/>
          </a:p>
        </p:txBody>
      </p:sp>
      <p:sp>
        <p:nvSpPr>
          <p:cNvPr id="39" name="TextBox 39"/>
          <p:cNvSpPr txBox="1"/>
          <p:nvPr/>
        </p:nvSpPr>
        <p:spPr>
          <a:xfrm>
            <a:off x="6437376" y="3883753"/>
            <a:ext cx="1737360" cy="282129"/>
          </a:xfrm>
          <a:prstGeom prst="rect">
            <a:avLst/>
          </a:prstGeom>
        </p:spPr>
        <p:txBody>
          <a:bodyPr lIns="0" tIns="0" rIns="0" bIns="0" rtlCol="0" anchor="t">
            <a:spAutoFit/>
          </a:bodyPr>
          <a:lstStyle/>
          <a:p>
            <a:pPr algn="ctr">
              <a:lnSpc>
                <a:spcPts val="2248"/>
              </a:lnSpc>
            </a:pPr>
            <a:endParaRPr lang="en-US" sz="2248" b="1" spc="-67" dirty="0">
              <a:solidFill>
                <a:srgbClr val="FFFFFF"/>
              </a:solidFill>
              <a:latin typeface="Open Sauce Bold"/>
              <a:ea typeface="Open Sauce Bold"/>
              <a:cs typeface="Open Sauce Bold"/>
              <a:sym typeface="Open Sauce Bold"/>
            </a:endParaRPr>
          </a:p>
        </p:txBody>
      </p:sp>
      <p:sp>
        <p:nvSpPr>
          <p:cNvPr id="40" name="TextBox 40"/>
          <p:cNvSpPr txBox="1"/>
          <p:nvPr/>
        </p:nvSpPr>
        <p:spPr>
          <a:xfrm>
            <a:off x="10844784" y="1928574"/>
            <a:ext cx="6089904" cy="294990"/>
          </a:xfrm>
          <a:prstGeom prst="rect">
            <a:avLst/>
          </a:prstGeom>
        </p:spPr>
        <p:txBody>
          <a:bodyPr lIns="0" tIns="0" rIns="0" bIns="0" rtlCol="0" anchor="t">
            <a:spAutoFit/>
          </a:bodyPr>
          <a:lstStyle/>
          <a:p>
            <a:pPr algn="l">
              <a:lnSpc>
                <a:spcPts val="2299"/>
              </a:lnSpc>
            </a:pPr>
            <a:r>
              <a:rPr lang="en-US" sz="2299" b="1" spc="-68" dirty="0">
                <a:solidFill>
                  <a:srgbClr val="002352"/>
                </a:solidFill>
                <a:latin typeface="Open Sauce Bold"/>
                <a:ea typeface="Open Sauce Bold"/>
                <a:cs typeface="Open Sauce Bold"/>
                <a:sym typeface="Open Sauce Bold"/>
              </a:rPr>
              <a:t>Your Next Step: On-the-Job Action Prompt</a:t>
            </a:r>
          </a:p>
        </p:txBody>
      </p:sp>
      <p:sp>
        <p:nvSpPr>
          <p:cNvPr id="41" name="Flowchart: Connector 40">
            <a:extLst>
              <a:ext uri="{FF2B5EF4-FFF2-40B4-BE49-F238E27FC236}">
                <a16:creationId xmlns:a16="http://schemas.microsoft.com/office/drawing/2014/main" id="{B4AB439D-5FC9-56CA-E8CD-BE09C68856C8}"/>
              </a:ext>
            </a:extLst>
          </p:cNvPr>
          <p:cNvSpPr/>
          <p:nvPr/>
        </p:nvSpPr>
        <p:spPr>
          <a:xfrm>
            <a:off x="14706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2" name="Straight Connector 41">
            <a:extLst>
              <a:ext uri="{FF2B5EF4-FFF2-40B4-BE49-F238E27FC236}">
                <a16:creationId xmlns:a16="http://schemas.microsoft.com/office/drawing/2014/main" id="{4EBC29B9-36E5-F631-A51A-E1006C307245}"/>
              </a:ext>
            </a:extLst>
          </p:cNvPr>
          <p:cNvCxnSpPr>
            <a:cxnSpLocks/>
          </p:cNvCxnSpPr>
          <p:nvPr/>
        </p:nvCxnSpPr>
        <p:spPr>
          <a:xfrm>
            <a:off x="14935200" y="294774"/>
            <a:ext cx="3048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3" name="Flowchart: Connector 42">
            <a:extLst>
              <a:ext uri="{FF2B5EF4-FFF2-40B4-BE49-F238E27FC236}">
                <a16:creationId xmlns:a16="http://schemas.microsoft.com/office/drawing/2014/main" id="{8C950864-E1FC-CC3B-877D-D58EC676DDFE}"/>
              </a:ext>
            </a:extLst>
          </p:cNvPr>
          <p:cNvSpPr/>
          <p:nvPr/>
        </p:nvSpPr>
        <p:spPr>
          <a:xfrm>
            <a:off x="15849600" y="1905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lowchart: Connector 43">
            <a:extLst>
              <a:ext uri="{FF2B5EF4-FFF2-40B4-BE49-F238E27FC236}">
                <a16:creationId xmlns:a16="http://schemas.microsoft.com/office/drawing/2014/main" id="{02E5B588-35AF-1BCD-3084-DE55DD899C65}"/>
              </a:ext>
            </a:extLst>
          </p:cNvPr>
          <p:cNvSpPr/>
          <p:nvPr/>
        </p:nvSpPr>
        <p:spPr>
          <a:xfrm>
            <a:off x="16230600" y="1905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lowchart: Connector 44">
            <a:extLst>
              <a:ext uri="{FF2B5EF4-FFF2-40B4-BE49-F238E27FC236}">
                <a16:creationId xmlns:a16="http://schemas.microsoft.com/office/drawing/2014/main" id="{0660F226-0F25-5C9A-F059-A5A7D85B1982}"/>
              </a:ext>
            </a:extLst>
          </p:cNvPr>
          <p:cNvSpPr/>
          <p:nvPr/>
        </p:nvSpPr>
        <p:spPr>
          <a:xfrm>
            <a:off x="16611600" y="1905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Flowchart: Connector 45">
            <a:extLst>
              <a:ext uri="{FF2B5EF4-FFF2-40B4-BE49-F238E27FC236}">
                <a16:creationId xmlns:a16="http://schemas.microsoft.com/office/drawing/2014/main" id="{6922D8F2-518B-F6F9-9CF3-40902A8BE453}"/>
              </a:ext>
            </a:extLst>
          </p:cNvPr>
          <p:cNvSpPr/>
          <p:nvPr/>
        </p:nvSpPr>
        <p:spPr>
          <a:xfrm>
            <a:off x="16992600" y="190500"/>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lowchart: Connector 46">
            <a:extLst>
              <a:ext uri="{FF2B5EF4-FFF2-40B4-BE49-F238E27FC236}">
                <a16:creationId xmlns:a16="http://schemas.microsoft.com/office/drawing/2014/main" id="{5565BA65-0056-0463-E997-EB4217F058E6}"/>
              </a:ext>
            </a:extLst>
          </p:cNvPr>
          <p:cNvSpPr/>
          <p:nvPr/>
        </p:nvSpPr>
        <p:spPr>
          <a:xfrm>
            <a:off x="17373600" y="2041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lowchart: Connector 47">
            <a:extLst>
              <a:ext uri="{FF2B5EF4-FFF2-40B4-BE49-F238E27FC236}">
                <a16:creationId xmlns:a16="http://schemas.microsoft.com/office/drawing/2014/main" id="{3D3F96F3-9B19-C690-F08D-0A6A6730545D}"/>
              </a:ext>
            </a:extLst>
          </p:cNvPr>
          <p:cNvSpPr/>
          <p:nvPr/>
        </p:nvSpPr>
        <p:spPr>
          <a:xfrm>
            <a:off x="17754600" y="204145"/>
            <a:ext cx="228600" cy="214955"/>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Flowchart: Connector 48">
            <a:extLst>
              <a:ext uri="{FF2B5EF4-FFF2-40B4-BE49-F238E27FC236}">
                <a16:creationId xmlns:a16="http://schemas.microsoft.com/office/drawing/2014/main" id="{D45FB8FC-D519-FB99-7BF2-C2EA298D9AF0}"/>
              </a:ext>
            </a:extLst>
          </p:cNvPr>
          <p:cNvSpPr/>
          <p:nvPr/>
        </p:nvSpPr>
        <p:spPr>
          <a:xfrm>
            <a:off x="15087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lowchart: Connector 49">
            <a:extLst>
              <a:ext uri="{FF2B5EF4-FFF2-40B4-BE49-F238E27FC236}">
                <a16:creationId xmlns:a16="http://schemas.microsoft.com/office/drawing/2014/main" id="{D54B6B8B-3796-3B73-A259-7B75CC15FBD2}"/>
              </a:ext>
            </a:extLst>
          </p:cNvPr>
          <p:cNvSpPr/>
          <p:nvPr/>
        </p:nvSpPr>
        <p:spPr>
          <a:xfrm>
            <a:off x="15468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Flowchart: Connector 51">
            <a:extLst>
              <a:ext uri="{FF2B5EF4-FFF2-40B4-BE49-F238E27FC236}">
                <a16:creationId xmlns:a16="http://schemas.microsoft.com/office/drawing/2014/main" id="{BEF29B19-3B4A-9D8E-3C29-57705AE79381}"/>
              </a:ext>
            </a:extLst>
          </p:cNvPr>
          <p:cNvSpPr/>
          <p:nvPr/>
        </p:nvSpPr>
        <p:spPr>
          <a:xfrm>
            <a:off x="15849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Flowchart: Connector 53">
            <a:extLst>
              <a:ext uri="{FF2B5EF4-FFF2-40B4-BE49-F238E27FC236}">
                <a16:creationId xmlns:a16="http://schemas.microsoft.com/office/drawing/2014/main" id="{76ACA79A-8564-97EE-8636-B4842BA2D8AB}"/>
              </a:ext>
            </a:extLst>
          </p:cNvPr>
          <p:cNvSpPr/>
          <p:nvPr/>
        </p:nvSpPr>
        <p:spPr>
          <a:xfrm>
            <a:off x="16230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lowchart: Connector 55">
            <a:extLst>
              <a:ext uri="{FF2B5EF4-FFF2-40B4-BE49-F238E27FC236}">
                <a16:creationId xmlns:a16="http://schemas.microsoft.com/office/drawing/2014/main" id="{C65B00A2-4472-5790-2C47-4626B7E5ED84}"/>
              </a:ext>
            </a:extLst>
          </p:cNvPr>
          <p:cNvSpPr/>
          <p:nvPr/>
        </p:nvSpPr>
        <p:spPr>
          <a:xfrm>
            <a:off x="16611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lowchart: Connector 57">
            <a:extLst>
              <a:ext uri="{FF2B5EF4-FFF2-40B4-BE49-F238E27FC236}">
                <a16:creationId xmlns:a16="http://schemas.microsoft.com/office/drawing/2014/main" id="{A9A467C7-88E5-86F5-348F-2446BB32F97B}"/>
              </a:ext>
            </a:extLst>
          </p:cNvPr>
          <p:cNvSpPr/>
          <p:nvPr/>
        </p:nvSpPr>
        <p:spPr>
          <a:xfrm>
            <a:off x="16992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a:extLst>
              <a:ext uri="{FF2B5EF4-FFF2-40B4-BE49-F238E27FC236}">
                <a16:creationId xmlns:a16="http://schemas.microsoft.com/office/drawing/2014/main" id="{CA14ED80-6CAF-6A69-E99A-109C32771E96}"/>
              </a:ext>
            </a:extLst>
          </p:cNvPr>
          <p:cNvSpPr/>
          <p:nvPr/>
        </p:nvSpPr>
        <p:spPr>
          <a:xfrm>
            <a:off x="17373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Flowchart: Connector 61">
            <a:extLst>
              <a:ext uri="{FF2B5EF4-FFF2-40B4-BE49-F238E27FC236}">
                <a16:creationId xmlns:a16="http://schemas.microsoft.com/office/drawing/2014/main" id="{FD653B00-ADD0-A9B3-6CFB-518828589102}"/>
              </a:ext>
            </a:extLst>
          </p:cNvPr>
          <p:cNvSpPr/>
          <p:nvPr/>
        </p:nvSpPr>
        <p:spPr>
          <a:xfrm>
            <a:off x="17754600" y="190500"/>
            <a:ext cx="228600" cy="2149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ectangle: Rounded Corners 63">
            <a:extLst>
              <a:ext uri="{FF2B5EF4-FFF2-40B4-BE49-F238E27FC236}">
                <a16:creationId xmlns:a16="http://schemas.microsoft.com/office/drawing/2014/main" id="{33F67DB4-2B78-BAE9-BD70-53EDF182401F}"/>
              </a:ext>
            </a:extLst>
          </p:cNvPr>
          <p:cNvSpPr/>
          <p:nvPr/>
        </p:nvSpPr>
        <p:spPr>
          <a:xfrm>
            <a:off x="-5715000" y="419100"/>
            <a:ext cx="5544020" cy="70866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GB" sz="2000" b="1" dirty="0"/>
              <a:t>Visual Directions</a:t>
            </a:r>
          </a:p>
          <a:p>
            <a:pPr algn="ctr"/>
            <a:endParaRPr lang="en-GB" sz="2000" b="1" dirty="0"/>
          </a:p>
          <a:p>
            <a:r>
              <a:rPr lang="en-IN" sz="2000" dirty="0"/>
              <a:t>• Layout: Dual-panel conclusion and wrap-up screen.</a:t>
            </a:r>
          </a:p>
          <a:p>
            <a:r>
              <a:rPr lang="en-IN" sz="2000" dirty="0"/>
              <a:t>• Left Panel: "Thank You &amp; Completion" card with completion badge, final score display, and LMS status confirmation.</a:t>
            </a:r>
          </a:p>
          <a:p>
            <a:r>
              <a:rPr lang="en-IN" sz="2000" dirty="0"/>
              <a:t>• Right Panel: Action reflection card featuring an interactive multi-line text entry box.</a:t>
            </a:r>
          </a:p>
          <a:p>
            <a:r>
              <a:rPr lang="en-IN" sz="2000" dirty="0"/>
              <a:t>• Bottom Bar: [Download Job Aid (PDF)] and [Exit Module ✓] buttons.</a:t>
            </a:r>
          </a:p>
          <a:p>
            <a:pPr algn="ctr"/>
            <a:endParaRPr lang="en-IN" sz="2000" b="1" dirty="0"/>
          </a:p>
        </p:txBody>
      </p:sp>
      <p:sp>
        <p:nvSpPr>
          <p:cNvPr id="66" name="Freeform 3">
            <a:extLst>
              <a:ext uri="{FF2B5EF4-FFF2-40B4-BE49-F238E27FC236}">
                <a16:creationId xmlns:a16="http://schemas.microsoft.com/office/drawing/2014/main" id="{BBDC4DAB-D8B6-314C-B0E9-704DAE989445}"/>
              </a:ext>
            </a:extLst>
          </p:cNvPr>
          <p:cNvSpPr/>
          <p:nvPr/>
        </p:nvSpPr>
        <p:spPr>
          <a:xfrm>
            <a:off x="76200" y="190500"/>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21"/>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2080</Words>
  <Application>Microsoft Office PowerPoint</Application>
  <PresentationFormat>Custom</PresentationFormat>
  <Paragraphs>300</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Roboto Italics</vt:lpstr>
      <vt:lpstr>Open Sauce Semi-Bold</vt:lpstr>
      <vt:lpstr>Open Sauce Bold</vt:lpstr>
      <vt:lpstr>Arial</vt:lpstr>
      <vt:lpstr>Roboto</vt:lpstr>
      <vt:lpstr>Roboto Bold</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Manager Conversation Storyboard</dc:title>
  <dc:creator>Prashika Lalwani</dc:creator>
  <cp:lastModifiedBy>Prashika Lalwani</cp:lastModifiedBy>
  <cp:revision>2</cp:revision>
  <dcterms:created xsi:type="dcterms:W3CDTF">2006-08-16T00:00:00Z</dcterms:created>
  <dcterms:modified xsi:type="dcterms:W3CDTF">2026-09-17T06:55:50Z</dcterms:modified>
  <dc:identifier>DAHVYs7bJx8</dc:identifier>
</cp:coreProperties>
</file>