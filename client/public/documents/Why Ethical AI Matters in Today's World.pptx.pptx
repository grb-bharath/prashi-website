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487" y="486031"/>
            <a:ext cx="8240217" cy="41396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9299" y="1324711"/>
            <a:ext cx="2402840" cy="238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799" y="53924"/>
            <a:ext cx="757047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3767" y="1274927"/>
            <a:ext cx="3999229" cy="2444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8.png"/><Relationship Id="rId10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hyperlink" Target="https://www.solvice.io/post/the-imperative-of-explainable-ai-demystifying-the-black-box" TargetMode="External"/><Relationship Id="rId4" Type="http://schemas.openxmlformats.org/officeDocument/2006/relationships/hyperlink" Target="https://mitigatingbias.ml/" TargetMode="External"/><Relationship Id="rId5" Type="http://schemas.openxmlformats.org/officeDocument/2006/relationships/hyperlink" Target="https://www.dpo-consulting.com/blog/gdpr-and-ai-best-practices" TargetMode="External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400" spc="-2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</a:rPr>
              <a:t>MICRO-</a:t>
            </a:r>
            <a:r>
              <a:rPr dirty="0" u="sng" sz="1400" spc="-1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</a:rPr>
              <a:t>LEARNING</a:t>
            </a:r>
            <a:r>
              <a:rPr dirty="0" u="sng" sz="1400" spc="-2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</a:rPr>
              <a:t> </a:t>
            </a:r>
            <a:r>
              <a:rPr dirty="0" u="sng" sz="1400" spc="-1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</a:rPr>
              <a:t>MODUL</a:t>
            </a:r>
            <a:r>
              <a:rPr dirty="0" sz="1400" spc="-10">
                <a:solidFill>
                  <a:srgbClr val="FF9900"/>
                </a:solidFill>
              </a:rPr>
              <a:t>E</a:t>
            </a:r>
            <a:endParaRPr sz="1400"/>
          </a:p>
        </p:txBody>
      </p:sp>
      <p:sp>
        <p:nvSpPr>
          <p:cNvPr id="3" name="object 3" descr=""/>
          <p:cNvSpPr txBox="1"/>
          <p:nvPr/>
        </p:nvSpPr>
        <p:spPr>
          <a:xfrm>
            <a:off x="749299" y="1718894"/>
            <a:ext cx="3421379" cy="208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Guardians</a:t>
            </a:r>
            <a:r>
              <a:rPr dirty="0" sz="3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32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Algorithm:</a:t>
            </a:r>
            <a:r>
              <a:rPr dirty="0" sz="3200" spc="-1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Arial"/>
                <a:cs typeface="Arial"/>
              </a:rPr>
              <a:t>Why </a:t>
            </a: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Ethical</a:t>
            </a:r>
            <a:r>
              <a:rPr dirty="0" sz="32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3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Arial"/>
                <a:cs typeface="Arial"/>
              </a:rPr>
              <a:t>Matters</a:t>
            </a:r>
            <a:endParaRPr sz="3200">
              <a:latin typeface="Arial"/>
              <a:cs typeface="Arial"/>
            </a:endParaRPr>
          </a:p>
          <a:p>
            <a:pPr marL="12700" marR="170815">
              <a:lnSpc>
                <a:spcPct val="100000"/>
              </a:lnSpc>
              <a:spcBef>
                <a:spcPts val="1580"/>
              </a:spcBef>
            </a:pPr>
            <a:r>
              <a:rPr dirty="0" sz="1300" spc="-10">
                <a:solidFill>
                  <a:srgbClr val="ACD7E5"/>
                </a:solidFill>
                <a:latin typeface="Arial"/>
                <a:cs typeface="Arial"/>
              </a:rPr>
              <a:t>Building</a:t>
            </a:r>
            <a:r>
              <a:rPr dirty="0" sz="1300" spc="-35">
                <a:solidFill>
                  <a:srgbClr val="ACD7E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ACD7E5"/>
                </a:solidFill>
                <a:latin typeface="Arial"/>
                <a:cs typeface="Arial"/>
              </a:rPr>
              <a:t>trust</a:t>
            </a:r>
            <a:r>
              <a:rPr dirty="0" sz="1300" spc="-35">
                <a:solidFill>
                  <a:srgbClr val="ACD7E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ACD7E5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ACD7E5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ACD7E5"/>
                </a:solidFill>
                <a:latin typeface="Arial"/>
                <a:cs typeface="Arial"/>
              </a:rPr>
              <a:t>accountability</a:t>
            </a:r>
            <a:r>
              <a:rPr dirty="0" sz="1300" spc="-45">
                <a:solidFill>
                  <a:srgbClr val="ACD7E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ACD7E5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ACD7E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ACD7E5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ACD7E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ACD7E5"/>
                </a:solidFill>
                <a:latin typeface="Arial"/>
                <a:cs typeface="Arial"/>
              </a:rPr>
              <a:t>age</a:t>
            </a:r>
            <a:r>
              <a:rPr dirty="0" sz="1300" spc="-35">
                <a:solidFill>
                  <a:srgbClr val="ACD7E5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ACD7E5"/>
                </a:solidFill>
                <a:latin typeface="Arial"/>
                <a:cs typeface="Arial"/>
              </a:rPr>
              <a:t>of </a:t>
            </a:r>
            <a:r>
              <a:rPr dirty="0" sz="1300" spc="-10">
                <a:solidFill>
                  <a:srgbClr val="ACD7E5"/>
                </a:solidFill>
                <a:latin typeface="Arial"/>
                <a:cs typeface="Arial"/>
              </a:rPr>
              <a:t>intelligent</a:t>
            </a:r>
            <a:r>
              <a:rPr dirty="0" sz="1300" spc="-35">
                <a:solidFill>
                  <a:srgbClr val="ACD7E5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ACD7E5"/>
                </a:solidFill>
                <a:latin typeface="Arial"/>
                <a:cs typeface="Arial"/>
              </a:rPr>
              <a:t>machines.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0" y="4644897"/>
            <a:ext cx="1714500" cy="498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52500" y="1524000"/>
            <a:ext cx="7239000" cy="3429000"/>
            <a:chOff x="952500" y="1524000"/>
            <a:chExt cx="7239000" cy="3429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1524000"/>
              <a:ext cx="7239000" cy="3429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934779" y="3579456"/>
              <a:ext cx="2248535" cy="1125220"/>
            </a:xfrm>
            <a:custGeom>
              <a:avLst/>
              <a:gdLst/>
              <a:ahLst/>
              <a:cxnLst/>
              <a:rect l="l" t="t" r="r" b="b"/>
              <a:pathLst>
                <a:path w="2248535" h="1125220">
                  <a:moveTo>
                    <a:pt x="2037575" y="0"/>
                  </a:moveTo>
                  <a:lnTo>
                    <a:pt x="210897" y="0"/>
                  </a:lnTo>
                  <a:lnTo>
                    <a:pt x="162786" y="5613"/>
                  </a:lnTo>
                  <a:lnTo>
                    <a:pt x="118490" y="21577"/>
                  </a:lnTo>
                  <a:lnTo>
                    <a:pt x="79318" y="46570"/>
                  </a:lnTo>
                  <a:lnTo>
                    <a:pt x="46576" y="79311"/>
                  </a:lnTo>
                  <a:lnTo>
                    <a:pt x="21571" y="118490"/>
                  </a:lnTo>
                  <a:lnTo>
                    <a:pt x="5609" y="162788"/>
                  </a:lnTo>
                  <a:lnTo>
                    <a:pt x="0" y="210896"/>
                  </a:lnTo>
                  <a:lnTo>
                    <a:pt x="0" y="913891"/>
                  </a:lnTo>
                  <a:lnTo>
                    <a:pt x="5609" y="961999"/>
                  </a:lnTo>
                  <a:lnTo>
                    <a:pt x="21571" y="1006297"/>
                  </a:lnTo>
                  <a:lnTo>
                    <a:pt x="46576" y="1045463"/>
                  </a:lnTo>
                  <a:lnTo>
                    <a:pt x="79318" y="1078217"/>
                  </a:lnTo>
                  <a:lnTo>
                    <a:pt x="118490" y="1103210"/>
                  </a:lnTo>
                  <a:lnTo>
                    <a:pt x="162786" y="1119174"/>
                  </a:lnTo>
                  <a:lnTo>
                    <a:pt x="210897" y="1124788"/>
                  </a:lnTo>
                  <a:lnTo>
                    <a:pt x="2037575" y="1124788"/>
                  </a:lnTo>
                  <a:lnTo>
                    <a:pt x="2085682" y="1119174"/>
                  </a:lnTo>
                  <a:lnTo>
                    <a:pt x="2129980" y="1103210"/>
                  </a:lnTo>
                  <a:lnTo>
                    <a:pt x="2169147" y="1078217"/>
                  </a:lnTo>
                  <a:lnTo>
                    <a:pt x="2201900" y="1045463"/>
                  </a:lnTo>
                  <a:lnTo>
                    <a:pt x="2226894" y="1006297"/>
                  </a:lnTo>
                  <a:lnTo>
                    <a:pt x="2242858" y="961999"/>
                  </a:lnTo>
                  <a:lnTo>
                    <a:pt x="2248471" y="913891"/>
                  </a:lnTo>
                  <a:lnTo>
                    <a:pt x="2248471" y="210896"/>
                  </a:lnTo>
                  <a:lnTo>
                    <a:pt x="2242858" y="162788"/>
                  </a:lnTo>
                  <a:lnTo>
                    <a:pt x="2226894" y="118490"/>
                  </a:lnTo>
                  <a:lnTo>
                    <a:pt x="2201900" y="79311"/>
                  </a:lnTo>
                  <a:lnTo>
                    <a:pt x="2169147" y="46570"/>
                  </a:lnTo>
                  <a:lnTo>
                    <a:pt x="2129980" y="21577"/>
                  </a:lnTo>
                  <a:lnTo>
                    <a:pt x="2085682" y="5613"/>
                  </a:lnTo>
                  <a:lnTo>
                    <a:pt x="2037575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934779" y="3579456"/>
              <a:ext cx="2248535" cy="1125220"/>
            </a:xfrm>
            <a:custGeom>
              <a:avLst/>
              <a:gdLst/>
              <a:ahLst/>
              <a:cxnLst/>
              <a:rect l="l" t="t" r="r" b="b"/>
              <a:pathLst>
                <a:path w="2248535" h="1125220">
                  <a:moveTo>
                    <a:pt x="0" y="210896"/>
                  </a:moveTo>
                  <a:lnTo>
                    <a:pt x="5609" y="162788"/>
                  </a:lnTo>
                  <a:lnTo>
                    <a:pt x="21571" y="118490"/>
                  </a:lnTo>
                  <a:lnTo>
                    <a:pt x="46576" y="79311"/>
                  </a:lnTo>
                  <a:lnTo>
                    <a:pt x="79318" y="46570"/>
                  </a:lnTo>
                  <a:lnTo>
                    <a:pt x="118490" y="21577"/>
                  </a:lnTo>
                  <a:lnTo>
                    <a:pt x="162786" y="5613"/>
                  </a:lnTo>
                  <a:lnTo>
                    <a:pt x="210897" y="0"/>
                  </a:lnTo>
                  <a:lnTo>
                    <a:pt x="2037575" y="0"/>
                  </a:lnTo>
                  <a:lnTo>
                    <a:pt x="2085682" y="5613"/>
                  </a:lnTo>
                  <a:lnTo>
                    <a:pt x="2129980" y="21577"/>
                  </a:lnTo>
                  <a:lnTo>
                    <a:pt x="2169147" y="46570"/>
                  </a:lnTo>
                  <a:lnTo>
                    <a:pt x="2201900" y="79311"/>
                  </a:lnTo>
                  <a:lnTo>
                    <a:pt x="2226894" y="118490"/>
                  </a:lnTo>
                  <a:lnTo>
                    <a:pt x="2242858" y="162788"/>
                  </a:lnTo>
                  <a:lnTo>
                    <a:pt x="2248471" y="210896"/>
                  </a:lnTo>
                  <a:lnTo>
                    <a:pt x="2248471" y="913891"/>
                  </a:lnTo>
                  <a:lnTo>
                    <a:pt x="2242858" y="961999"/>
                  </a:lnTo>
                  <a:lnTo>
                    <a:pt x="2226894" y="1006297"/>
                  </a:lnTo>
                  <a:lnTo>
                    <a:pt x="2201900" y="1045463"/>
                  </a:lnTo>
                  <a:lnTo>
                    <a:pt x="2169147" y="1078217"/>
                  </a:lnTo>
                  <a:lnTo>
                    <a:pt x="2129980" y="1103210"/>
                  </a:lnTo>
                  <a:lnTo>
                    <a:pt x="2085682" y="1119174"/>
                  </a:lnTo>
                  <a:lnTo>
                    <a:pt x="2037575" y="1124788"/>
                  </a:lnTo>
                  <a:lnTo>
                    <a:pt x="210897" y="1124788"/>
                  </a:lnTo>
                  <a:lnTo>
                    <a:pt x="162786" y="1119174"/>
                  </a:lnTo>
                  <a:lnTo>
                    <a:pt x="118490" y="1103210"/>
                  </a:lnTo>
                  <a:lnTo>
                    <a:pt x="79318" y="1078217"/>
                  </a:lnTo>
                  <a:lnTo>
                    <a:pt x="46576" y="1045463"/>
                  </a:lnTo>
                  <a:lnTo>
                    <a:pt x="21571" y="1006297"/>
                  </a:lnTo>
                  <a:lnTo>
                    <a:pt x="5609" y="961999"/>
                  </a:lnTo>
                  <a:lnTo>
                    <a:pt x="0" y="913891"/>
                  </a:lnTo>
                  <a:lnTo>
                    <a:pt x="0" y="210896"/>
                  </a:lnTo>
                  <a:close/>
                </a:path>
              </a:pathLst>
            </a:custGeom>
            <a:ln w="142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123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dirty="0" spc="-40"/>
              <a:t> </a:t>
            </a:r>
            <a:r>
              <a:rPr dirty="0" spc="-10"/>
              <a:t>Objectives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024276" y="3725926"/>
            <a:ext cx="2009139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Explain</a:t>
            </a:r>
            <a:r>
              <a:rPr dirty="0" sz="13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Arial"/>
                <a:cs typeface="Arial"/>
              </a:rPr>
              <a:t>XAI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nderstand</a:t>
            </a:r>
            <a:r>
              <a:rPr dirty="0" sz="1300" spc="-7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3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necessity </a:t>
            </a:r>
            <a:r>
              <a:rPr dirty="0" sz="1300" b="1" i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300" spc="-4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transparency</a:t>
            </a:r>
            <a:r>
              <a:rPr dirty="0" sz="13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 i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300" spc="-3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 b="1" i="1">
                <a:solidFill>
                  <a:srgbClr val="FFFFFF"/>
                </a:solidFill>
                <a:latin typeface="Arial"/>
                <a:cs typeface="Arial"/>
              </a:rPr>
              <a:t>Black </a:t>
            </a:r>
            <a:r>
              <a:rPr dirty="0" sz="1300" b="1" i="1">
                <a:solidFill>
                  <a:srgbClr val="FFFFFF"/>
                </a:solidFill>
                <a:latin typeface="Arial"/>
                <a:cs typeface="Arial"/>
              </a:rPr>
              <a:t>Box</a:t>
            </a:r>
            <a:r>
              <a:rPr dirty="0" sz="13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models.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75747" y="2278786"/>
            <a:ext cx="4646930" cy="1398905"/>
            <a:chOff x="175747" y="2278786"/>
            <a:chExt cx="4646930" cy="139890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0551" y="2445626"/>
              <a:ext cx="1021500" cy="102149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83050" y="2286088"/>
              <a:ext cx="2095500" cy="1384300"/>
            </a:xfrm>
            <a:custGeom>
              <a:avLst/>
              <a:gdLst/>
              <a:ahLst/>
              <a:cxnLst/>
              <a:rect l="l" t="t" r="r" b="b"/>
              <a:pathLst>
                <a:path w="2095500" h="1384300">
                  <a:moveTo>
                    <a:pt x="1835950" y="0"/>
                  </a:moveTo>
                  <a:lnTo>
                    <a:pt x="259546" y="0"/>
                  </a:lnTo>
                  <a:lnTo>
                    <a:pt x="213145" y="4216"/>
                  </a:lnTo>
                  <a:lnTo>
                    <a:pt x="169369" y="16344"/>
                  </a:lnTo>
                  <a:lnTo>
                    <a:pt x="128974" y="35648"/>
                  </a:lnTo>
                  <a:lnTo>
                    <a:pt x="92718" y="61353"/>
                  </a:lnTo>
                  <a:lnTo>
                    <a:pt x="61357" y="92722"/>
                  </a:lnTo>
                  <a:lnTo>
                    <a:pt x="35649" y="128968"/>
                  </a:lnTo>
                  <a:lnTo>
                    <a:pt x="16347" y="169367"/>
                  </a:lnTo>
                  <a:lnTo>
                    <a:pt x="4212" y="213144"/>
                  </a:lnTo>
                  <a:lnTo>
                    <a:pt x="0" y="259549"/>
                  </a:lnTo>
                  <a:lnTo>
                    <a:pt x="0" y="1124699"/>
                  </a:lnTo>
                  <a:lnTo>
                    <a:pt x="4212" y="1171105"/>
                  </a:lnTo>
                  <a:lnTo>
                    <a:pt x="16347" y="1214869"/>
                  </a:lnTo>
                  <a:lnTo>
                    <a:pt x="35649" y="1255267"/>
                  </a:lnTo>
                  <a:lnTo>
                    <a:pt x="61357" y="1291526"/>
                  </a:lnTo>
                  <a:lnTo>
                    <a:pt x="92718" y="1322882"/>
                  </a:lnTo>
                  <a:lnTo>
                    <a:pt x="128974" y="1348600"/>
                  </a:lnTo>
                  <a:lnTo>
                    <a:pt x="169369" y="1367904"/>
                  </a:lnTo>
                  <a:lnTo>
                    <a:pt x="213145" y="1380032"/>
                  </a:lnTo>
                  <a:lnTo>
                    <a:pt x="259546" y="1384249"/>
                  </a:lnTo>
                  <a:lnTo>
                    <a:pt x="1835950" y="1384249"/>
                  </a:lnTo>
                  <a:lnTo>
                    <a:pt x="1882355" y="1380032"/>
                  </a:lnTo>
                  <a:lnTo>
                    <a:pt x="1926120" y="1367904"/>
                  </a:lnTo>
                  <a:lnTo>
                    <a:pt x="1966518" y="1348600"/>
                  </a:lnTo>
                  <a:lnTo>
                    <a:pt x="2002777" y="1322882"/>
                  </a:lnTo>
                  <a:lnTo>
                    <a:pt x="2034133" y="1291526"/>
                  </a:lnTo>
                  <a:lnTo>
                    <a:pt x="2059851" y="1255267"/>
                  </a:lnTo>
                  <a:lnTo>
                    <a:pt x="2079155" y="1214869"/>
                  </a:lnTo>
                  <a:lnTo>
                    <a:pt x="2091283" y="1171105"/>
                  </a:lnTo>
                  <a:lnTo>
                    <a:pt x="2095500" y="1124699"/>
                  </a:lnTo>
                  <a:lnTo>
                    <a:pt x="2095500" y="259549"/>
                  </a:lnTo>
                  <a:lnTo>
                    <a:pt x="2091283" y="213144"/>
                  </a:lnTo>
                  <a:lnTo>
                    <a:pt x="2079155" y="169367"/>
                  </a:lnTo>
                  <a:lnTo>
                    <a:pt x="2059851" y="128968"/>
                  </a:lnTo>
                  <a:lnTo>
                    <a:pt x="2034133" y="92722"/>
                  </a:lnTo>
                  <a:lnTo>
                    <a:pt x="2002777" y="61353"/>
                  </a:lnTo>
                  <a:lnTo>
                    <a:pt x="1966518" y="35648"/>
                  </a:lnTo>
                  <a:lnTo>
                    <a:pt x="1926120" y="16344"/>
                  </a:lnTo>
                  <a:lnTo>
                    <a:pt x="1882355" y="4216"/>
                  </a:lnTo>
                  <a:lnTo>
                    <a:pt x="1835950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83050" y="2286088"/>
              <a:ext cx="2095500" cy="1384300"/>
            </a:xfrm>
            <a:custGeom>
              <a:avLst/>
              <a:gdLst/>
              <a:ahLst/>
              <a:cxnLst/>
              <a:rect l="l" t="t" r="r" b="b"/>
              <a:pathLst>
                <a:path w="2095500" h="1384300">
                  <a:moveTo>
                    <a:pt x="0" y="259549"/>
                  </a:moveTo>
                  <a:lnTo>
                    <a:pt x="4212" y="213144"/>
                  </a:lnTo>
                  <a:lnTo>
                    <a:pt x="16347" y="169367"/>
                  </a:lnTo>
                  <a:lnTo>
                    <a:pt x="35649" y="128968"/>
                  </a:lnTo>
                  <a:lnTo>
                    <a:pt x="61357" y="92722"/>
                  </a:lnTo>
                  <a:lnTo>
                    <a:pt x="92718" y="61353"/>
                  </a:lnTo>
                  <a:lnTo>
                    <a:pt x="128974" y="35648"/>
                  </a:lnTo>
                  <a:lnTo>
                    <a:pt x="169369" y="16344"/>
                  </a:lnTo>
                  <a:lnTo>
                    <a:pt x="213145" y="4216"/>
                  </a:lnTo>
                  <a:lnTo>
                    <a:pt x="259546" y="0"/>
                  </a:lnTo>
                  <a:lnTo>
                    <a:pt x="1835950" y="0"/>
                  </a:lnTo>
                  <a:lnTo>
                    <a:pt x="1882355" y="4216"/>
                  </a:lnTo>
                  <a:lnTo>
                    <a:pt x="1926120" y="16344"/>
                  </a:lnTo>
                  <a:lnTo>
                    <a:pt x="1966518" y="35648"/>
                  </a:lnTo>
                  <a:lnTo>
                    <a:pt x="2002777" y="61353"/>
                  </a:lnTo>
                  <a:lnTo>
                    <a:pt x="2034133" y="92722"/>
                  </a:lnTo>
                  <a:lnTo>
                    <a:pt x="2059851" y="128968"/>
                  </a:lnTo>
                  <a:lnTo>
                    <a:pt x="2079155" y="169367"/>
                  </a:lnTo>
                  <a:lnTo>
                    <a:pt x="2091283" y="213144"/>
                  </a:lnTo>
                  <a:lnTo>
                    <a:pt x="2095500" y="259549"/>
                  </a:lnTo>
                  <a:lnTo>
                    <a:pt x="2095500" y="1124699"/>
                  </a:lnTo>
                  <a:lnTo>
                    <a:pt x="2091283" y="1171105"/>
                  </a:lnTo>
                  <a:lnTo>
                    <a:pt x="2079155" y="1214869"/>
                  </a:lnTo>
                  <a:lnTo>
                    <a:pt x="2059851" y="1255267"/>
                  </a:lnTo>
                  <a:lnTo>
                    <a:pt x="2034133" y="1291526"/>
                  </a:lnTo>
                  <a:lnTo>
                    <a:pt x="2002777" y="1322882"/>
                  </a:lnTo>
                  <a:lnTo>
                    <a:pt x="1966518" y="1348600"/>
                  </a:lnTo>
                  <a:lnTo>
                    <a:pt x="1926120" y="1367904"/>
                  </a:lnTo>
                  <a:lnTo>
                    <a:pt x="1882355" y="1380032"/>
                  </a:lnTo>
                  <a:lnTo>
                    <a:pt x="1835950" y="1384249"/>
                  </a:lnTo>
                  <a:lnTo>
                    <a:pt x="259546" y="1384249"/>
                  </a:lnTo>
                  <a:lnTo>
                    <a:pt x="213145" y="1380032"/>
                  </a:lnTo>
                  <a:lnTo>
                    <a:pt x="169369" y="1367904"/>
                  </a:lnTo>
                  <a:lnTo>
                    <a:pt x="128974" y="1348600"/>
                  </a:lnTo>
                  <a:lnTo>
                    <a:pt x="92718" y="1322882"/>
                  </a:lnTo>
                  <a:lnTo>
                    <a:pt x="61357" y="1291526"/>
                  </a:lnTo>
                  <a:lnTo>
                    <a:pt x="35649" y="1255267"/>
                  </a:lnTo>
                  <a:lnTo>
                    <a:pt x="16347" y="1214869"/>
                  </a:lnTo>
                  <a:lnTo>
                    <a:pt x="4212" y="1171105"/>
                  </a:lnTo>
                  <a:lnTo>
                    <a:pt x="0" y="1124699"/>
                  </a:lnTo>
                  <a:lnTo>
                    <a:pt x="0" y="259549"/>
                  </a:lnTo>
                  <a:close/>
                </a:path>
              </a:pathLst>
            </a:custGeom>
            <a:ln w="142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65599" y="2562288"/>
            <a:ext cx="91249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Detect</a:t>
            </a:r>
            <a:r>
              <a:rPr dirty="0" sz="13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Arial"/>
                <a:cs typeface="Arial"/>
              </a:rPr>
              <a:t>Bias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5599" y="2760408"/>
            <a:ext cx="15830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Recognize</a:t>
            </a:r>
            <a:r>
              <a:rPr dirty="0" sz="1300" spc="-9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systemic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65599" y="2958528"/>
            <a:ext cx="180975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unfairness</a:t>
            </a:r>
            <a:r>
              <a:rPr dirty="0" sz="13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 i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3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historical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65599" y="3156648"/>
            <a:ext cx="14204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 i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3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dirty="0" sz="1300" spc="-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 b="1" i="1">
                <a:solidFill>
                  <a:srgbClr val="FFFFFF"/>
                </a:solidFill>
                <a:latin typeface="Arial"/>
                <a:cs typeface="Arial"/>
              </a:rPr>
              <a:t>sets.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57350" y="1100300"/>
            <a:ext cx="8065770" cy="2770505"/>
            <a:chOff x="957350" y="1100300"/>
            <a:chExt cx="8065770" cy="2770505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7350" y="1100300"/>
              <a:ext cx="895498" cy="89550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539725" y="2675216"/>
              <a:ext cx="2474595" cy="1187450"/>
            </a:xfrm>
            <a:custGeom>
              <a:avLst/>
              <a:gdLst/>
              <a:ahLst/>
              <a:cxnLst/>
              <a:rect l="l" t="t" r="r" b="b"/>
              <a:pathLst>
                <a:path w="2474595" h="1187450">
                  <a:moveTo>
                    <a:pt x="2296528" y="0"/>
                  </a:moveTo>
                  <a:lnTo>
                    <a:pt x="178050" y="0"/>
                  </a:lnTo>
                  <a:lnTo>
                    <a:pt x="130945" y="6400"/>
                  </a:lnTo>
                  <a:lnTo>
                    <a:pt x="88476" y="24460"/>
                  </a:lnTo>
                  <a:lnTo>
                    <a:pt x="52395" y="52400"/>
                  </a:lnTo>
                  <a:lnTo>
                    <a:pt x="24454" y="88480"/>
                  </a:lnTo>
                  <a:lnTo>
                    <a:pt x="6404" y="130949"/>
                  </a:lnTo>
                  <a:lnTo>
                    <a:pt x="0" y="178053"/>
                  </a:lnTo>
                  <a:lnTo>
                    <a:pt x="0" y="1008951"/>
                  </a:lnTo>
                  <a:lnTo>
                    <a:pt x="6404" y="1056055"/>
                  </a:lnTo>
                  <a:lnTo>
                    <a:pt x="24454" y="1098524"/>
                  </a:lnTo>
                  <a:lnTo>
                    <a:pt x="52395" y="1134605"/>
                  </a:lnTo>
                  <a:lnTo>
                    <a:pt x="88476" y="1162545"/>
                  </a:lnTo>
                  <a:lnTo>
                    <a:pt x="130945" y="1180604"/>
                  </a:lnTo>
                  <a:lnTo>
                    <a:pt x="178050" y="1187005"/>
                  </a:lnTo>
                  <a:lnTo>
                    <a:pt x="2296528" y="1187005"/>
                  </a:lnTo>
                  <a:lnTo>
                    <a:pt x="2343632" y="1180604"/>
                  </a:lnTo>
                  <a:lnTo>
                    <a:pt x="2386101" y="1162545"/>
                  </a:lnTo>
                  <a:lnTo>
                    <a:pt x="2422182" y="1134605"/>
                  </a:lnTo>
                  <a:lnTo>
                    <a:pt x="2450122" y="1098524"/>
                  </a:lnTo>
                  <a:lnTo>
                    <a:pt x="2468181" y="1056055"/>
                  </a:lnTo>
                  <a:lnTo>
                    <a:pt x="2474582" y="1008951"/>
                  </a:lnTo>
                  <a:lnTo>
                    <a:pt x="2474582" y="178053"/>
                  </a:lnTo>
                  <a:lnTo>
                    <a:pt x="2468181" y="130949"/>
                  </a:lnTo>
                  <a:lnTo>
                    <a:pt x="2450122" y="88480"/>
                  </a:lnTo>
                  <a:lnTo>
                    <a:pt x="2422182" y="52400"/>
                  </a:lnTo>
                  <a:lnTo>
                    <a:pt x="2386101" y="24460"/>
                  </a:lnTo>
                  <a:lnTo>
                    <a:pt x="2343632" y="6400"/>
                  </a:lnTo>
                  <a:lnTo>
                    <a:pt x="2296528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539725" y="2675216"/>
              <a:ext cx="2474595" cy="1187450"/>
            </a:xfrm>
            <a:custGeom>
              <a:avLst/>
              <a:gdLst/>
              <a:ahLst/>
              <a:cxnLst/>
              <a:rect l="l" t="t" r="r" b="b"/>
              <a:pathLst>
                <a:path w="2474595" h="1187450">
                  <a:moveTo>
                    <a:pt x="0" y="178053"/>
                  </a:moveTo>
                  <a:lnTo>
                    <a:pt x="6404" y="130949"/>
                  </a:lnTo>
                  <a:lnTo>
                    <a:pt x="24454" y="88480"/>
                  </a:lnTo>
                  <a:lnTo>
                    <a:pt x="52395" y="52400"/>
                  </a:lnTo>
                  <a:lnTo>
                    <a:pt x="88476" y="24460"/>
                  </a:lnTo>
                  <a:lnTo>
                    <a:pt x="130945" y="6400"/>
                  </a:lnTo>
                  <a:lnTo>
                    <a:pt x="178050" y="0"/>
                  </a:lnTo>
                  <a:lnTo>
                    <a:pt x="2296528" y="0"/>
                  </a:lnTo>
                  <a:lnTo>
                    <a:pt x="2343632" y="6400"/>
                  </a:lnTo>
                  <a:lnTo>
                    <a:pt x="2386101" y="24460"/>
                  </a:lnTo>
                  <a:lnTo>
                    <a:pt x="2422182" y="52400"/>
                  </a:lnTo>
                  <a:lnTo>
                    <a:pt x="2450122" y="88480"/>
                  </a:lnTo>
                  <a:lnTo>
                    <a:pt x="2468181" y="130949"/>
                  </a:lnTo>
                  <a:lnTo>
                    <a:pt x="2474582" y="178053"/>
                  </a:lnTo>
                  <a:lnTo>
                    <a:pt x="2474582" y="1008951"/>
                  </a:lnTo>
                  <a:lnTo>
                    <a:pt x="2468181" y="1056055"/>
                  </a:lnTo>
                  <a:lnTo>
                    <a:pt x="2450122" y="1098524"/>
                  </a:lnTo>
                  <a:lnTo>
                    <a:pt x="2422182" y="1134605"/>
                  </a:lnTo>
                  <a:lnTo>
                    <a:pt x="2386101" y="1162545"/>
                  </a:lnTo>
                  <a:lnTo>
                    <a:pt x="2343632" y="1180604"/>
                  </a:lnTo>
                  <a:lnTo>
                    <a:pt x="2296528" y="1187005"/>
                  </a:lnTo>
                  <a:lnTo>
                    <a:pt x="178050" y="1187005"/>
                  </a:lnTo>
                  <a:lnTo>
                    <a:pt x="130945" y="1180604"/>
                  </a:lnTo>
                  <a:lnTo>
                    <a:pt x="88476" y="1162545"/>
                  </a:lnTo>
                  <a:lnTo>
                    <a:pt x="52395" y="1134605"/>
                  </a:lnTo>
                  <a:lnTo>
                    <a:pt x="24454" y="1098524"/>
                  </a:lnTo>
                  <a:lnTo>
                    <a:pt x="6404" y="1056055"/>
                  </a:lnTo>
                  <a:lnTo>
                    <a:pt x="0" y="1008951"/>
                  </a:lnTo>
                  <a:lnTo>
                    <a:pt x="0" y="178053"/>
                  </a:lnTo>
                  <a:close/>
                </a:path>
              </a:pathLst>
            </a:custGeom>
            <a:ln w="168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639508" y="2869488"/>
            <a:ext cx="146748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b="1" i="1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dirty="0" sz="1300" spc="-9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 b="1" i="1">
                <a:solidFill>
                  <a:srgbClr val="FFFFFF"/>
                </a:solidFill>
                <a:latin typeface="Arial"/>
                <a:cs typeface="Arial"/>
              </a:rPr>
              <a:t>Governance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Implement</a:t>
            </a:r>
            <a:r>
              <a:rPr dirty="0" sz="1300" spc="-7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 b="1" i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639508" y="3265728"/>
            <a:ext cx="19132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minimization</a:t>
            </a:r>
            <a:r>
              <a:rPr dirty="0" sz="13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 i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3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robust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639508" y="3463849"/>
            <a:ext cx="21266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accountability</a:t>
            </a:r>
            <a:r>
              <a:rPr dirty="0" sz="1300" spc="-8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 i="1">
                <a:solidFill>
                  <a:srgbClr val="FFFFFF"/>
                </a:solidFill>
                <a:latin typeface="Arial"/>
                <a:cs typeface="Arial"/>
              </a:rPr>
              <a:t>frameworks.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73506" y="3946715"/>
            <a:ext cx="2270493" cy="1196784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357188" y="376238"/>
            <a:ext cx="47625" cy="390525"/>
            <a:chOff x="357188" y="376238"/>
            <a:chExt cx="47625" cy="390525"/>
          </a:xfrm>
        </p:grpSpPr>
        <p:sp>
          <p:nvSpPr>
            <p:cNvPr id="25" name="object 25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950" y="381000"/>
              <a:ext cx="38098" cy="38100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21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40"/>
              <a:t> </a:t>
            </a:r>
            <a:r>
              <a:rPr dirty="0"/>
              <a:t>We</a:t>
            </a:r>
            <a:r>
              <a:rPr dirty="0" spc="-30"/>
              <a:t> </a:t>
            </a:r>
            <a:r>
              <a:rPr dirty="0"/>
              <a:t>Must</a:t>
            </a:r>
            <a:r>
              <a:rPr dirty="0" spc="-30"/>
              <a:t> </a:t>
            </a:r>
            <a:r>
              <a:rPr dirty="0"/>
              <a:t>Act</a:t>
            </a:r>
            <a:r>
              <a:rPr dirty="0" spc="-40"/>
              <a:t> </a:t>
            </a:r>
            <a:r>
              <a:rPr dirty="0" spc="-20"/>
              <a:t>Now?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61975" y="1323975"/>
            <a:ext cx="4591050" cy="3257550"/>
            <a:chOff x="561975" y="1323975"/>
            <a:chExt cx="4591050" cy="3257550"/>
          </a:xfrm>
        </p:grpSpPr>
        <p:sp>
          <p:nvSpPr>
            <p:cNvPr id="4" name="object 4" descr=""/>
            <p:cNvSpPr/>
            <p:nvPr/>
          </p:nvSpPr>
          <p:spPr>
            <a:xfrm>
              <a:off x="571500" y="1333500"/>
              <a:ext cx="4572000" cy="3238500"/>
            </a:xfrm>
            <a:custGeom>
              <a:avLst/>
              <a:gdLst/>
              <a:ahLst/>
              <a:cxnLst/>
              <a:rect l="l" t="t" r="r" b="b"/>
              <a:pathLst>
                <a:path w="4572000" h="3238500">
                  <a:moveTo>
                    <a:pt x="4381512" y="0"/>
                  </a:moveTo>
                  <a:lnTo>
                    <a:pt x="190488" y="0"/>
                  </a:lnTo>
                  <a:lnTo>
                    <a:pt x="147032" y="5067"/>
                  </a:lnTo>
                  <a:lnTo>
                    <a:pt x="107023" y="19481"/>
                  </a:lnTo>
                  <a:lnTo>
                    <a:pt x="71642" y="42075"/>
                  </a:lnTo>
                  <a:lnTo>
                    <a:pt x="42070" y="71640"/>
                  </a:lnTo>
                  <a:lnTo>
                    <a:pt x="19483" y="107022"/>
                  </a:lnTo>
                  <a:lnTo>
                    <a:pt x="5067" y="147027"/>
                  </a:lnTo>
                  <a:lnTo>
                    <a:pt x="0" y="190487"/>
                  </a:lnTo>
                  <a:lnTo>
                    <a:pt x="0" y="3048012"/>
                  </a:lnTo>
                  <a:lnTo>
                    <a:pt x="5067" y="3091472"/>
                  </a:lnTo>
                  <a:lnTo>
                    <a:pt x="19483" y="3131477"/>
                  </a:lnTo>
                  <a:lnTo>
                    <a:pt x="42070" y="3166859"/>
                  </a:lnTo>
                  <a:lnTo>
                    <a:pt x="71642" y="3196424"/>
                  </a:lnTo>
                  <a:lnTo>
                    <a:pt x="107023" y="3219018"/>
                  </a:lnTo>
                  <a:lnTo>
                    <a:pt x="147032" y="3233432"/>
                  </a:lnTo>
                  <a:lnTo>
                    <a:pt x="190488" y="3238500"/>
                  </a:lnTo>
                  <a:lnTo>
                    <a:pt x="4381512" y="3238500"/>
                  </a:lnTo>
                  <a:lnTo>
                    <a:pt x="4424972" y="3233432"/>
                  </a:lnTo>
                  <a:lnTo>
                    <a:pt x="4464977" y="3219018"/>
                  </a:lnTo>
                  <a:lnTo>
                    <a:pt x="4500359" y="3196424"/>
                  </a:lnTo>
                  <a:lnTo>
                    <a:pt x="4529924" y="3166859"/>
                  </a:lnTo>
                  <a:lnTo>
                    <a:pt x="4552518" y="3131477"/>
                  </a:lnTo>
                  <a:lnTo>
                    <a:pt x="4566932" y="3091472"/>
                  </a:lnTo>
                  <a:lnTo>
                    <a:pt x="4572000" y="3048012"/>
                  </a:lnTo>
                  <a:lnTo>
                    <a:pt x="4572000" y="190487"/>
                  </a:lnTo>
                  <a:lnTo>
                    <a:pt x="4566932" y="147027"/>
                  </a:lnTo>
                  <a:lnTo>
                    <a:pt x="4552518" y="107022"/>
                  </a:lnTo>
                  <a:lnTo>
                    <a:pt x="4529924" y="71640"/>
                  </a:lnTo>
                  <a:lnTo>
                    <a:pt x="4500359" y="42075"/>
                  </a:lnTo>
                  <a:lnTo>
                    <a:pt x="4464977" y="19481"/>
                  </a:lnTo>
                  <a:lnTo>
                    <a:pt x="4424972" y="5067"/>
                  </a:lnTo>
                  <a:lnTo>
                    <a:pt x="4381512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1500" y="1333500"/>
              <a:ext cx="4572000" cy="3238500"/>
            </a:xfrm>
            <a:custGeom>
              <a:avLst/>
              <a:gdLst/>
              <a:ahLst/>
              <a:cxnLst/>
              <a:rect l="l" t="t" r="r" b="b"/>
              <a:pathLst>
                <a:path w="4572000" h="3238500">
                  <a:moveTo>
                    <a:pt x="0" y="190487"/>
                  </a:moveTo>
                  <a:lnTo>
                    <a:pt x="5067" y="147027"/>
                  </a:lnTo>
                  <a:lnTo>
                    <a:pt x="19483" y="107022"/>
                  </a:lnTo>
                  <a:lnTo>
                    <a:pt x="42070" y="71640"/>
                  </a:lnTo>
                  <a:lnTo>
                    <a:pt x="71642" y="42075"/>
                  </a:lnTo>
                  <a:lnTo>
                    <a:pt x="107023" y="19481"/>
                  </a:lnTo>
                  <a:lnTo>
                    <a:pt x="147032" y="5067"/>
                  </a:lnTo>
                  <a:lnTo>
                    <a:pt x="190488" y="0"/>
                  </a:lnTo>
                  <a:lnTo>
                    <a:pt x="4381512" y="0"/>
                  </a:lnTo>
                  <a:lnTo>
                    <a:pt x="4424972" y="5067"/>
                  </a:lnTo>
                  <a:lnTo>
                    <a:pt x="4464977" y="19481"/>
                  </a:lnTo>
                  <a:lnTo>
                    <a:pt x="4500359" y="42075"/>
                  </a:lnTo>
                  <a:lnTo>
                    <a:pt x="4529924" y="71640"/>
                  </a:lnTo>
                  <a:lnTo>
                    <a:pt x="4552518" y="107022"/>
                  </a:lnTo>
                  <a:lnTo>
                    <a:pt x="4566932" y="147027"/>
                  </a:lnTo>
                  <a:lnTo>
                    <a:pt x="4572000" y="190487"/>
                  </a:lnTo>
                  <a:lnTo>
                    <a:pt x="4572000" y="3048012"/>
                  </a:lnTo>
                  <a:lnTo>
                    <a:pt x="4566932" y="3091472"/>
                  </a:lnTo>
                  <a:lnTo>
                    <a:pt x="4552518" y="3131477"/>
                  </a:lnTo>
                  <a:lnTo>
                    <a:pt x="4529924" y="3166859"/>
                  </a:lnTo>
                  <a:lnTo>
                    <a:pt x="4500359" y="3196424"/>
                  </a:lnTo>
                  <a:lnTo>
                    <a:pt x="4464977" y="3219018"/>
                  </a:lnTo>
                  <a:lnTo>
                    <a:pt x="4424972" y="3233432"/>
                  </a:lnTo>
                  <a:lnTo>
                    <a:pt x="4381512" y="3238500"/>
                  </a:lnTo>
                  <a:lnTo>
                    <a:pt x="190488" y="3238500"/>
                  </a:lnTo>
                  <a:lnTo>
                    <a:pt x="147032" y="3233432"/>
                  </a:lnTo>
                  <a:lnTo>
                    <a:pt x="107023" y="3219018"/>
                  </a:lnTo>
                  <a:lnTo>
                    <a:pt x="71642" y="3196424"/>
                  </a:lnTo>
                  <a:lnTo>
                    <a:pt x="42070" y="3166859"/>
                  </a:lnTo>
                  <a:lnTo>
                    <a:pt x="19483" y="3131477"/>
                  </a:lnTo>
                  <a:lnTo>
                    <a:pt x="5067" y="3091472"/>
                  </a:lnTo>
                  <a:lnTo>
                    <a:pt x="0" y="3048012"/>
                  </a:lnTo>
                  <a:lnTo>
                    <a:pt x="0" y="190487"/>
                  </a:lnTo>
                  <a:close/>
                </a:path>
              </a:pathLst>
            </a:custGeom>
            <a:ln w="190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634819" y="1455648"/>
            <a:ext cx="28225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 decisions</a:t>
            </a:r>
            <a:r>
              <a:rPr dirty="0" sz="1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alter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real-world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outcomes.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34819" y="2242413"/>
            <a:ext cx="26689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Unethical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erodes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public trust.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34819" y="3029178"/>
            <a:ext cx="28600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legal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frameworks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accelerating.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34819" y="3815943"/>
            <a:ext cx="31476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Ethical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failure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2-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3%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of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cap.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8095" y="31648"/>
            <a:ext cx="3238499" cy="2183993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6110528" y="2288197"/>
            <a:ext cx="2857500" cy="952500"/>
          </a:xfrm>
          <a:custGeom>
            <a:avLst/>
            <a:gdLst/>
            <a:ahLst/>
            <a:cxnLst/>
            <a:rect l="l" t="t" r="r" b="b"/>
            <a:pathLst>
              <a:path w="2857500" h="952500">
                <a:moveTo>
                  <a:pt x="2743200" y="0"/>
                </a:moveTo>
                <a:lnTo>
                  <a:pt x="114298" y="0"/>
                </a:lnTo>
                <a:lnTo>
                  <a:pt x="69986" y="9042"/>
                </a:lnTo>
                <a:lnTo>
                  <a:pt x="33635" y="33642"/>
                </a:lnTo>
                <a:lnTo>
                  <a:pt x="9040" y="69989"/>
                </a:lnTo>
                <a:lnTo>
                  <a:pt x="0" y="114300"/>
                </a:lnTo>
                <a:lnTo>
                  <a:pt x="0" y="838200"/>
                </a:lnTo>
                <a:lnTo>
                  <a:pt x="9040" y="882510"/>
                </a:lnTo>
                <a:lnTo>
                  <a:pt x="33635" y="918857"/>
                </a:lnTo>
                <a:lnTo>
                  <a:pt x="69986" y="943457"/>
                </a:lnTo>
                <a:lnTo>
                  <a:pt x="114300" y="952500"/>
                </a:lnTo>
                <a:lnTo>
                  <a:pt x="2743200" y="952500"/>
                </a:lnTo>
                <a:lnTo>
                  <a:pt x="2787510" y="943457"/>
                </a:lnTo>
                <a:lnTo>
                  <a:pt x="2823857" y="918857"/>
                </a:lnTo>
                <a:lnTo>
                  <a:pt x="2848457" y="882510"/>
                </a:lnTo>
                <a:lnTo>
                  <a:pt x="2857500" y="838200"/>
                </a:lnTo>
                <a:lnTo>
                  <a:pt x="2857500" y="114300"/>
                </a:lnTo>
                <a:lnTo>
                  <a:pt x="2848457" y="69989"/>
                </a:lnTo>
                <a:lnTo>
                  <a:pt x="2823857" y="33642"/>
                </a:lnTo>
                <a:lnTo>
                  <a:pt x="2787510" y="9042"/>
                </a:lnTo>
                <a:lnTo>
                  <a:pt x="2743200" y="0"/>
                </a:lnTo>
                <a:close/>
              </a:path>
            </a:pathLst>
          </a:custGeom>
          <a:solidFill>
            <a:srgbClr val="FF393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357188" y="376238"/>
            <a:ext cx="47625" cy="390525"/>
            <a:chOff x="357188" y="376238"/>
            <a:chExt cx="47625" cy="390525"/>
          </a:xfrm>
        </p:grpSpPr>
        <p:sp>
          <p:nvSpPr>
            <p:cNvPr id="13" name="object 13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950" y="381000"/>
              <a:ext cx="38098" cy="3810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732223" y="1414106"/>
            <a:ext cx="757555" cy="3014345"/>
            <a:chOff x="732223" y="1414106"/>
            <a:chExt cx="757555" cy="3014345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223" y="1414106"/>
              <a:ext cx="666898" cy="66690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085" y="2194547"/>
              <a:ext cx="666898" cy="66690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885" y="2989783"/>
              <a:ext cx="666898" cy="66690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2702" y="3761041"/>
              <a:ext cx="666898" cy="666902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6151614" y="3335566"/>
            <a:ext cx="2821305" cy="1179830"/>
            <a:chOff x="6151614" y="3335566"/>
            <a:chExt cx="2821305" cy="1179830"/>
          </a:xfrm>
        </p:grpSpPr>
        <p:sp>
          <p:nvSpPr>
            <p:cNvPr id="22" name="object 22" descr=""/>
            <p:cNvSpPr/>
            <p:nvPr/>
          </p:nvSpPr>
          <p:spPr>
            <a:xfrm>
              <a:off x="6156375" y="3340328"/>
              <a:ext cx="2811780" cy="1170305"/>
            </a:xfrm>
            <a:custGeom>
              <a:avLst/>
              <a:gdLst/>
              <a:ahLst/>
              <a:cxnLst/>
              <a:rect l="l" t="t" r="r" b="b"/>
              <a:pathLst>
                <a:path w="2811779" h="1170304">
                  <a:moveTo>
                    <a:pt x="2616542" y="0"/>
                  </a:moveTo>
                  <a:lnTo>
                    <a:pt x="195054" y="0"/>
                  </a:lnTo>
                  <a:lnTo>
                    <a:pt x="150557" y="5194"/>
                  </a:lnTo>
                  <a:lnTo>
                    <a:pt x="109588" y="19951"/>
                  </a:lnTo>
                  <a:lnTo>
                    <a:pt x="73359" y="43078"/>
                  </a:lnTo>
                  <a:lnTo>
                    <a:pt x="43078" y="73355"/>
                  </a:lnTo>
                  <a:lnTo>
                    <a:pt x="19950" y="109588"/>
                  </a:lnTo>
                  <a:lnTo>
                    <a:pt x="5188" y="150558"/>
                  </a:lnTo>
                  <a:lnTo>
                    <a:pt x="0" y="195059"/>
                  </a:lnTo>
                  <a:lnTo>
                    <a:pt x="0" y="975245"/>
                  </a:lnTo>
                  <a:lnTo>
                    <a:pt x="5188" y="1019746"/>
                  </a:lnTo>
                  <a:lnTo>
                    <a:pt x="19950" y="1060703"/>
                  </a:lnTo>
                  <a:lnTo>
                    <a:pt x="43078" y="1096937"/>
                  </a:lnTo>
                  <a:lnTo>
                    <a:pt x="73359" y="1127226"/>
                  </a:lnTo>
                  <a:lnTo>
                    <a:pt x="109588" y="1150353"/>
                  </a:lnTo>
                  <a:lnTo>
                    <a:pt x="150557" y="1165110"/>
                  </a:lnTo>
                  <a:lnTo>
                    <a:pt x="195054" y="1170304"/>
                  </a:lnTo>
                  <a:lnTo>
                    <a:pt x="2616542" y="1170304"/>
                  </a:lnTo>
                  <a:lnTo>
                    <a:pt x="2661043" y="1165110"/>
                  </a:lnTo>
                  <a:lnTo>
                    <a:pt x="2702013" y="1150353"/>
                  </a:lnTo>
                  <a:lnTo>
                    <a:pt x="2738247" y="1127226"/>
                  </a:lnTo>
                  <a:lnTo>
                    <a:pt x="2768523" y="1096937"/>
                  </a:lnTo>
                  <a:lnTo>
                    <a:pt x="2791650" y="1060703"/>
                  </a:lnTo>
                  <a:lnTo>
                    <a:pt x="2806407" y="1019746"/>
                  </a:lnTo>
                  <a:lnTo>
                    <a:pt x="2811602" y="975245"/>
                  </a:lnTo>
                  <a:lnTo>
                    <a:pt x="2811602" y="195059"/>
                  </a:lnTo>
                  <a:lnTo>
                    <a:pt x="2806407" y="150558"/>
                  </a:lnTo>
                  <a:lnTo>
                    <a:pt x="2791650" y="109588"/>
                  </a:lnTo>
                  <a:lnTo>
                    <a:pt x="2768523" y="73355"/>
                  </a:lnTo>
                  <a:lnTo>
                    <a:pt x="2738247" y="43078"/>
                  </a:lnTo>
                  <a:lnTo>
                    <a:pt x="2702013" y="19951"/>
                  </a:lnTo>
                  <a:lnTo>
                    <a:pt x="2661043" y="5194"/>
                  </a:lnTo>
                  <a:lnTo>
                    <a:pt x="2616542" y="0"/>
                  </a:lnTo>
                  <a:close/>
                </a:path>
              </a:pathLst>
            </a:custGeom>
            <a:solidFill>
              <a:srgbClr val="006E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156375" y="3340328"/>
              <a:ext cx="2811780" cy="1170305"/>
            </a:xfrm>
            <a:custGeom>
              <a:avLst/>
              <a:gdLst/>
              <a:ahLst/>
              <a:cxnLst/>
              <a:rect l="l" t="t" r="r" b="b"/>
              <a:pathLst>
                <a:path w="2811779" h="1170304">
                  <a:moveTo>
                    <a:pt x="0" y="195059"/>
                  </a:moveTo>
                  <a:lnTo>
                    <a:pt x="5188" y="150558"/>
                  </a:lnTo>
                  <a:lnTo>
                    <a:pt x="19950" y="109588"/>
                  </a:lnTo>
                  <a:lnTo>
                    <a:pt x="43078" y="73355"/>
                  </a:lnTo>
                  <a:lnTo>
                    <a:pt x="73359" y="43078"/>
                  </a:lnTo>
                  <a:lnTo>
                    <a:pt x="109588" y="19951"/>
                  </a:lnTo>
                  <a:lnTo>
                    <a:pt x="150557" y="5194"/>
                  </a:lnTo>
                  <a:lnTo>
                    <a:pt x="195054" y="0"/>
                  </a:lnTo>
                  <a:lnTo>
                    <a:pt x="2616542" y="0"/>
                  </a:lnTo>
                  <a:lnTo>
                    <a:pt x="2661043" y="5194"/>
                  </a:lnTo>
                  <a:lnTo>
                    <a:pt x="2702013" y="19951"/>
                  </a:lnTo>
                  <a:lnTo>
                    <a:pt x="2738247" y="43078"/>
                  </a:lnTo>
                  <a:lnTo>
                    <a:pt x="2768523" y="73355"/>
                  </a:lnTo>
                  <a:lnTo>
                    <a:pt x="2791650" y="109588"/>
                  </a:lnTo>
                  <a:lnTo>
                    <a:pt x="2806407" y="150558"/>
                  </a:lnTo>
                  <a:lnTo>
                    <a:pt x="2811602" y="195059"/>
                  </a:lnTo>
                  <a:lnTo>
                    <a:pt x="2811602" y="975245"/>
                  </a:lnTo>
                  <a:lnTo>
                    <a:pt x="2806407" y="1019746"/>
                  </a:lnTo>
                  <a:lnTo>
                    <a:pt x="2791650" y="1060703"/>
                  </a:lnTo>
                  <a:lnTo>
                    <a:pt x="2768523" y="1096937"/>
                  </a:lnTo>
                  <a:lnTo>
                    <a:pt x="2738247" y="1127226"/>
                  </a:lnTo>
                  <a:lnTo>
                    <a:pt x="2702013" y="1150353"/>
                  </a:lnTo>
                  <a:lnTo>
                    <a:pt x="2661043" y="1165110"/>
                  </a:lnTo>
                  <a:lnTo>
                    <a:pt x="2616542" y="1170304"/>
                  </a:lnTo>
                  <a:lnTo>
                    <a:pt x="195054" y="1170304"/>
                  </a:lnTo>
                  <a:lnTo>
                    <a:pt x="150557" y="1165110"/>
                  </a:lnTo>
                  <a:lnTo>
                    <a:pt x="109588" y="1150353"/>
                  </a:lnTo>
                  <a:lnTo>
                    <a:pt x="73359" y="1127226"/>
                  </a:lnTo>
                  <a:lnTo>
                    <a:pt x="43078" y="1096937"/>
                  </a:lnTo>
                  <a:lnTo>
                    <a:pt x="19950" y="1060703"/>
                  </a:lnTo>
                  <a:lnTo>
                    <a:pt x="5188" y="1019746"/>
                  </a:lnTo>
                  <a:lnTo>
                    <a:pt x="0" y="975245"/>
                  </a:lnTo>
                  <a:lnTo>
                    <a:pt x="0" y="195059"/>
                  </a:lnTo>
                  <a:close/>
                </a:path>
              </a:pathLst>
            </a:custGeom>
            <a:ln w="9523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276733" y="2300198"/>
            <a:ext cx="2581275" cy="2198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6045" marR="144780" indent="-127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Ethical</a:t>
            </a:r>
            <a:r>
              <a:rPr dirty="0" sz="19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failure</a:t>
            </a:r>
            <a:r>
              <a:rPr dirty="0" sz="19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35" b="1">
                <a:solidFill>
                  <a:srgbClr val="FFFFFF"/>
                </a:solidFill>
                <a:latin typeface="Arial"/>
                <a:cs typeface="Arial"/>
              </a:rPr>
              <a:t>2-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3%</a:t>
            </a:r>
            <a:r>
              <a:rPr dirty="0" sz="19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9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FFFFFF"/>
                </a:solidFill>
                <a:latin typeface="Arial"/>
                <a:cs typeface="Arial"/>
              </a:rPr>
              <a:t>market </a:t>
            </a:r>
            <a:r>
              <a:rPr dirty="0" sz="1950" spc="-20" b="1">
                <a:solidFill>
                  <a:srgbClr val="FFFFFF"/>
                </a:solidFill>
                <a:latin typeface="Arial"/>
                <a:cs typeface="Arial"/>
              </a:rPr>
              <a:t>cap.</a:t>
            </a:r>
            <a:endParaRPr sz="1950">
              <a:latin typeface="Arial"/>
              <a:cs typeface="Arial"/>
            </a:endParaRPr>
          </a:p>
          <a:p>
            <a:pPr algn="ctr" marL="12065" marR="5080">
              <a:lnSpc>
                <a:spcPct val="100000"/>
              </a:lnSpc>
              <a:spcBef>
                <a:spcPts val="1205"/>
              </a:spcBef>
            </a:pP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85%</a:t>
            </a:r>
            <a:r>
              <a:rPr dirty="0" sz="18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consumers</a:t>
            </a:r>
            <a:r>
              <a:rPr dirty="0" sz="18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-25" b="1">
                <a:solidFill>
                  <a:srgbClr val="FFFFFF"/>
                </a:solidFill>
                <a:latin typeface="Arial"/>
                <a:cs typeface="Arial"/>
              </a:rPr>
              <a:t>say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dirty="0" sz="18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won't</a:t>
            </a:r>
            <a:r>
              <a:rPr dirty="0" sz="18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buy </a:t>
            </a:r>
            <a:r>
              <a:rPr dirty="0" sz="1850" spc="-20" b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brands</a:t>
            </a:r>
            <a:r>
              <a:rPr dirty="0" sz="185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dirty="0" sz="18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don't</a:t>
            </a:r>
            <a:r>
              <a:rPr dirty="0" sz="18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-20" b="1">
                <a:solidFill>
                  <a:srgbClr val="FFFFFF"/>
                </a:solidFill>
                <a:latin typeface="Arial"/>
                <a:cs typeface="Arial"/>
              </a:rPr>
              <a:t>trust </a:t>
            </a:r>
            <a:r>
              <a:rPr dirty="0" sz="185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-25" b="1">
                <a:solidFill>
                  <a:srgbClr val="FFFFFF"/>
                </a:solidFill>
                <a:latin typeface="Arial"/>
                <a:cs typeface="Arial"/>
              </a:rPr>
              <a:t>AI.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29500" y="4644897"/>
            <a:ext cx="1714500" cy="498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5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Bias</a:t>
            </a:r>
            <a:r>
              <a:rPr dirty="0" spc="-20"/>
              <a:t> </a:t>
            </a:r>
            <a:r>
              <a:rPr dirty="0"/>
              <a:t>Trap:</a:t>
            </a:r>
            <a:r>
              <a:rPr dirty="0" spc="-20"/>
              <a:t> </a:t>
            </a:r>
            <a:r>
              <a:rPr dirty="0"/>
              <a:t>Recognizing</a:t>
            </a:r>
            <a:r>
              <a:rPr dirty="0" spc="-20"/>
              <a:t> </a:t>
            </a:r>
            <a:r>
              <a:rPr dirty="0" spc="-10"/>
              <a:t>Unfairness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33" y="1343317"/>
            <a:ext cx="2133600" cy="59070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59439" y="1511693"/>
            <a:ext cx="12382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Flawed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21833" y="2012442"/>
            <a:ext cx="1919605" cy="2202815"/>
            <a:chOff x="321833" y="2012442"/>
            <a:chExt cx="1919605" cy="2202815"/>
          </a:xfrm>
        </p:grpSpPr>
        <p:sp>
          <p:nvSpPr>
            <p:cNvPr id="6" name="object 6" descr=""/>
            <p:cNvSpPr/>
            <p:nvPr/>
          </p:nvSpPr>
          <p:spPr>
            <a:xfrm>
              <a:off x="328983" y="2019592"/>
              <a:ext cx="1905000" cy="2188845"/>
            </a:xfrm>
            <a:custGeom>
              <a:avLst/>
              <a:gdLst/>
              <a:ahLst/>
              <a:cxnLst/>
              <a:rect l="l" t="t" r="r" b="b"/>
              <a:pathLst>
                <a:path w="1905000" h="2188845">
                  <a:moveTo>
                    <a:pt x="1714500" y="0"/>
                  </a:moveTo>
                  <a:lnTo>
                    <a:pt x="190500" y="0"/>
                  </a:lnTo>
                  <a:lnTo>
                    <a:pt x="147041" y="5067"/>
                  </a:lnTo>
                  <a:lnTo>
                    <a:pt x="107030" y="19481"/>
                  </a:lnTo>
                  <a:lnTo>
                    <a:pt x="71646" y="42075"/>
                  </a:lnTo>
                  <a:lnTo>
                    <a:pt x="42071" y="71640"/>
                  </a:lnTo>
                  <a:lnTo>
                    <a:pt x="19484" y="107022"/>
                  </a:lnTo>
                  <a:lnTo>
                    <a:pt x="5067" y="147040"/>
                  </a:lnTo>
                  <a:lnTo>
                    <a:pt x="0" y="190500"/>
                  </a:lnTo>
                  <a:lnTo>
                    <a:pt x="0" y="1998002"/>
                  </a:lnTo>
                  <a:lnTo>
                    <a:pt x="5067" y="2041461"/>
                  </a:lnTo>
                  <a:lnTo>
                    <a:pt x="19484" y="2081466"/>
                  </a:lnTo>
                  <a:lnTo>
                    <a:pt x="42071" y="2116848"/>
                  </a:lnTo>
                  <a:lnTo>
                    <a:pt x="71646" y="2146427"/>
                  </a:lnTo>
                  <a:lnTo>
                    <a:pt x="107030" y="2169020"/>
                  </a:lnTo>
                  <a:lnTo>
                    <a:pt x="147041" y="2183434"/>
                  </a:lnTo>
                  <a:lnTo>
                    <a:pt x="190500" y="2188502"/>
                  </a:lnTo>
                  <a:lnTo>
                    <a:pt x="1714500" y="2188502"/>
                  </a:lnTo>
                  <a:lnTo>
                    <a:pt x="1757959" y="2183434"/>
                  </a:lnTo>
                  <a:lnTo>
                    <a:pt x="1797964" y="2169020"/>
                  </a:lnTo>
                  <a:lnTo>
                    <a:pt x="1833359" y="2146427"/>
                  </a:lnTo>
                  <a:lnTo>
                    <a:pt x="1862924" y="2116848"/>
                  </a:lnTo>
                  <a:lnTo>
                    <a:pt x="1885518" y="2081466"/>
                  </a:lnTo>
                  <a:lnTo>
                    <a:pt x="1899932" y="2041461"/>
                  </a:lnTo>
                  <a:lnTo>
                    <a:pt x="1905000" y="1998002"/>
                  </a:lnTo>
                  <a:lnTo>
                    <a:pt x="1905000" y="190500"/>
                  </a:lnTo>
                  <a:lnTo>
                    <a:pt x="1899932" y="147040"/>
                  </a:lnTo>
                  <a:lnTo>
                    <a:pt x="1885518" y="107022"/>
                  </a:lnTo>
                  <a:lnTo>
                    <a:pt x="1862924" y="71640"/>
                  </a:lnTo>
                  <a:lnTo>
                    <a:pt x="1833359" y="42075"/>
                  </a:lnTo>
                  <a:lnTo>
                    <a:pt x="1797964" y="19481"/>
                  </a:lnTo>
                  <a:lnTo>
                    <a:pt x="1757959" y="5067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8983" y="2019592"/>
              <a:ext cx="1905000" cy="2188845"/>
            </a:xfrm>
            <a:custGeom>
              <a:avLst/>
              <a:gdLst/>
              <a:ahLst/>
              <a:cxnLst/>
              <a:rect l="l" t="t" r="r" b="b"/>
              <a:pathLst>
                <a:path w="1905000" h="2188845">
                  <a:moveTo>
                    <a:pt x="0" y="190500"/>
                  </a:moveTo>
                  <a:lnTo>
                    <a:pt x="5067" y="147040"/>
                  </a:lnTo>
                  <a:lnTo>
                    <a:pt x="19484" y="107022"/>
                  </a:lnTo>
                  <a:lnTo>
                    <a:pt x="42071" y="71640"/>
                  </a:lnTo>
                  <a:lnTo>
                    <a:pt x="71646" y="42075"/>
                  </a:lnTo>
                  <a:lnTo>
                    <a:pt x="107030" y="19481"/>
                  </a:lnTo>
                  <a:lnTo>
                    <a:pt x="147041" y="5067"/>
                  </a:lnTo>
                  <a:lnTo>
                    <a:pt x="190500" y="0"/>
                  </a:lnTo>
                  <a:lnTo>
                    <a:pt x="1714500" y="0"/>
                  </a:lnTo>
                  <a:lnTo>
                    <a:pt x="1757959" y="5067"/>
                  </a:lnTo>
                  <a:lnTo>
                    <a:pt x="1797964" y="19481"/>
                  </a:lnTo>
                  <a:lnTo>
                    <a:pt x="1833359" y="42075"/>
                  </a:lnTo>
                  <a:lnTo>
                    <a:pt x="1862924" y="71640"/>
                  </a:lnTo>
                  <a:lnTo>
                    <a:pt x="1885518" y="107022"/>
                  </a:lnTo>
                  <a:lnTo>
                    <a:pt x="1899932" y="147040"/>
                  </a:lnTo>
                  <a:lnTo>
                    <a:pt x="1905000" y="190500"/>
                  </a:lnTo>
                  <a:lnTo>
                    <a:pt x="1905000" y="1998002"/>
                  </a:lnTo>
                  <a:lnTo>
                    <a:pt x="1899932" y="2041461"/>
                  </a:lnTo>
                  <a:lnTo>
                    <a:pt x="1885518" y="2081466"/>
                  </a:lnTo>
                  <a:lnTo>
                    <a:pt x="1862924" y="2116848"/>
                  </a:lnTo>
                  <a:lnTo>
                    <a:pt x="1833359" y="2146427"/>
                  </a:lnTo>
                  <a:lnTo>
                    <a:pt x="1797964" y="2169020"/>
                  </a:lnTo>
                  <a:lnTo>
                    <a:pt x="1757959" y="2183434"/>
                  </a:lnTo>
                  <a:lnTo>
                    <a:pt x="1714500" y="2188502"/>
                  </a:lnTo>
                  <a:lnTo>
                    <a:pt x="190500" y="2188502"/>
                  </a:lnTo>
                  <a:lnTo>
                    <a:pt x="147041" y="2183434"/>
                  </a:lnTo>
                  <a:lnTo>
                    <a:pt x="107030" y="2169020"/>
                  </a:lnTo>
                  <a:lnTo>
                    <a:pt x="71646" y="2146427"/>
                  </a:lnTo>
                  <a:lnTo>
                    <a:pt x="42071" y="2116848"/>
                  </a:lnTo>
                  <a:lnTo>
                    <a:pt x="19484" y="2081466"/>
                  </a:lnTo>
                  <a:lnTo>
                    <a:pt x="5067" y="2041461"/>
                  </a:lnTo>
                  <a:lnTo>
                    <a:pt x="0" y="1998002"/>
                  </a:lnTo>
                  <a:lnTo>
                    <a:pt x="0" y="190500"/>
                  </a:lnTo>
                  <a:close/>
                </a:path>
              </a:pathLst>
            </a:custGeom>
            <a:ln w="142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93" y="2162467"/>
              <a:ext cx="866334" cy="904798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568958" y="3265665"/>
            <a:ext cx="14331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127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5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learns</a:t>
            </a:r>
            <a:r>
              <a:rPr dirty="0" sz="15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historical,</a:t>
            </a:r>
            <a:r>
              <a:rPr dirty="0" sz="15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often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flawed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6454" y="1329931"/>
            <a:ext cx="2133600" cy="590702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831795" y="1498307"/>
            <a:ext cx="140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Systemic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478354" y="1999056"/>
            <a:ext cx="1919605" cy="2202815"/>
            <a:chOff x="2478354" y="1999056"/>
            <a:chExt cx="1919605" cy="2202815"/>
          </a:xfrm>
        </p:grpSpPr>
        <p:sp>
          <p:nvSpPr>
            <p:cNvPr id="13" name="object 13" descr=""/>
            <p:cNvSpPr/>
            <p:nvPr/>
          </p:nvSpPr>
          <p:spPr>
            <a:xfrm>
              <a:off x="2485504" y="2006206"/>
              <a:ext cx="1905000" cy="2188845"/>
            </a:xfrm>
            <a:custGeom>
              <a:avLst/>
              <a:gdLst/>
              <a:ahLst/>
              <a:cxnLst/>
              <a:rect l="l" t="t" r="r" b="b"/>
              <a:pathLst>
                <a:path w="1905000" h="2188845">
                  <a:moveTo>
                    <a:pt x="1714500" y="0"/>
                  </a:moveTo>
                  <a:lnTo>
                    <a:pt x="190500" y="0"/>
                  </a:lnTo>
                  <a:lnTo>
                    <a:pt x="147041" y="5067"/>
                  </a:lnTo>
                  <a:lnTo>
                    <a:pt x="107030" y="19481"/>
                  </a:lnTo>
                  <a:lnTo>
                    <a:pt x="71646" y="42075"/>
                  </a:lnTo>
                  <a:lnTo>
                    <a:pt x="42071" y="71640"/>
                  </a:lnTo>
                  <a:lnTo>
                    <a:pt x="19484" y="107022"/>
                  </a:lnTo>
                  <a:lnTo>
                    <a:pt x="5067" y="147040"/>
                  </a:lnTo>
                  <a:lnTo>
                    <a:pt x="0" y="190500"/>
                  </a:lnTo>
                  <a:lnTo>
                    <a:pt x="0" y="1998002"/>
                  </a:lnTo>
                  <a:lnTo>
                    <a:pt x="5067" y="2041461"/>
                  </a:lnTo>
                  <a:lnTo>
                    <a:pt x="19484" y="2081466"/>
                  </a:lnTo>
                  <a:lnTo>
                    <a:pt x="42071" y="2116848"/>
                  </a:lnTo>
                  <a:lnTo>
                    <a:pt x="71646" y="2146427"/>
                  </a:lnTo>
                  <a:lnTo>
                    <a:pt x="107030" y="2169020"/>
                  </a:lnTo>
                  <a:lnTo>
                    <a:pt x="147041" y="2183434"/>
                  </a:lnTo>
                  <a:lnTo>
                    <a:pt x="190500" y="2188502"/>
                  </a:lnTo>
                  <a:lnTo>
                    <a:pt x="1714500" y="2188502"/>
                  </a:lnTo>
                  <a:lnTo>
                    <a:pt x="1757959" y="2183434"/>
                  </a:lnTo>
                  <a:lnTo>
                    <a:pt x="1797964" y="2169020"/>
                  </a:lnTo>
                  <a:lnTo>
                    <a:pt x="1833359" y="2146427"/>
                  </a:lnTo>
                  <a:lnTo>
                    <a:pt x="1862924" y="2116848"/>
                  </a:lnTo>
                  <a:lnTo>
                    <a:pt x="1885518" y="2081466"/>
                  </a:lnTo>
                  <a:lnTo>
                    <a:pt x="1899932" y="2041461"/>
                  </a:lnTo>
                  <a:lnTo>
                    <a:pt x="1905000" y="1998002"/>
                  </a:lnTo>
                  <a:lnTo>
                    <a:pt x="1905000" y="190500"/>
                  </a:lnTo>
                  <a:lnTo>
                    <a:pt x="1899932" y="147040"/>
                  </a:lnTo>
                  <a:lnTo>
                    <a:pt x="1885518" y="107022"/>
                  </a:lnTo>
                  <a:lnTo>
                    <a:pt x="1862924" y="71640"/>
                  </a:lnTo>
                  <a:lnTo>
                    <a:pt x="1833359" y="42075"/>
                  </a:lnTo>
                  <a:lnTo>
                    <a:pt x="1797964" y="19481"/>
                  </a:lnTo>
                  <a:lnTo>
                    <a:pt x="1757959" y="5067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485504" y="2006206"/>
              <a:ext cx="1905000" cy="2188845"/>
            </a:xfrm>
            <a:custGeom>
              <a:avLst/>
              <a:gdLst/>
              <a:ahLst/>
              <a:cxnLst/>
              <a:rect l="l" t="t" r="r" b="b"/>
              <a:pathLst>
                <a:path w="1905000" h="2188845">
                  <a:moveTo>
                    <a:pt x="0" y="190500"/>
                  </a:moveTo>
                  <a:lnTo>
                    <a:pt x="5067" y="147040"/>
                  </a:lnTo>
                  <a:lnTo>
                    <a:pt x="19484" y="107022"/>
                  </a:lnTo>
                  <a:lnTo>
                    <a:pt x="42071" y="71640"/>
                  </a:lnTo>
                  <a:lnTo>
                    <a:pt x="71646" y="42075"/>
                  </a:lnTo>
                  <a:lnTo>
                    <a:pt x="107030" y="19481"/>
                  </a:lnTo>
                  <a:lnTo>
                    <a:pt x="147041" y="5067"/>
                  </a:lnTo>
                  <a:lnTo>
                    <a:pt x="190500" y="0"/>
                  </a:lnTo>
                  <a:lnTo>
                    <a:pt x="1714500" y="0"/>
                  </a:lnTo>
                  <a:lnTo>
                    <a:pt x="1757959" y="5067"/>
                  </a:lnTo>
                  <a:lnTo>
                    <a:pt x="1797964" y="19481"/>
                  </a:lnTo>
                  <a:lnTo>
                    <a:pt x="1833359" y="42075"/>
                  </a:lnTo>
                  <a:lnTo>
                    <a:pt x="1862924" y="71640"/>
                  </a:lnTo>
                  <a:lnTo>
                    <a:pt x="1885518" y="107022"/>
                  </a:lnTo>
                  <a:lnTo>
                    <a:pt x="1899932" y="147040"/>
                  </a:lnTo>
                  <a:lnTo>
                    <a:pt x="1905000" y="190500"/>
                  </a:lnTo>
                  <a:lnTo>
                    <a:pt x="1905000" y="1998002"/>
                  </a:lnTo>
                  <a:lnTo>
                    <a:pt x="1899932" y="2041461"/>
                  </a:lnTo>
                  <a:lnTo>
                    <a:pt x="1885518" y="2081466"/>
                  </a:lnTo>
                  <a:lnTo>
                    <a:pt x="1862924" y="2116848"/>
                  </a:lnTo>
                  <a:lnTo>
                    <a:pt x="1833359" y="2146427"/>
                  </a:lnTo>
                  <a:lnTo>
                    <a:pt x="1797964" y="2169020"/>
                  </a:lnTo>
                  <a:lnTo>
                    <a:pt x="1757959" y="2183434"/>
                  </a:lnTo>
                  <a:lnTo>
                    <a:pt x="1714500" y="2188502"/>
                  </a:lnTo>
                  <a:lnTo>
                    <a:pt x="190500" y="2188502"/>
                  </a:lnTo>
                  <a:lnTo>
                    <a:pt x="147041" y="2183434"/>
                  </a:lnTo>
                  <a:lnTo>
                    <a:pt x="107030" y="2169020"/>
                  </a:lnTo>
                  <a:lnTo>
                    <a:pt x="71646" y="2146427"/>
                  </a:lnTo>
                  <a:lnTo>
                    <a:pt x="42071" y="2116848"/>
                  </a:lnTo>
                  <a:lnTo>
                    <a:pt x="19484" y="2081466"/>
                  </a:lnTo>
                  <a:lnTo>
                    <a:pt x="5067" y="2041461"/>
                  </a:lnTo>
                  <a:lnTo>
                    <a:pt x="0" y="1998002"/>
                  </a:lnTo>
                  <a:lnTo>
                    <a:pt x="0" y="190500"/>
                  </a:lnTo>
                  <a:close/>
                </a:path>
              </a:pathLst>
            </a:custGeom>
            <a:ln w="142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3374" y="2149081"/>
              <a:ext cx="784198" cy="784199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2673601" y="3023679"/>
            <a:ext cx="153860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Bias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leads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systemic discrimination</a:t>
            </a:r>
            <a:r>
              <a:rPr dirty="0" sz="150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outputs.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22978" y="1303134"/>
            <a:ext cx="4276725" cy="60410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190477" y="1378229"/>
            <a:ext cx="10001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 marR="5080" indent="-6921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 Equitable Treatment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634878" y="1985658"/>
            <a:ext cx="1919605" cy="2202815"/>
            <a:chOff x="4634878" y="1985658"/>
            <a:chExt cx="1919605" cy="2202815"/>
          </a:xfrm>
        </p:grpSpPr>
        <p:sp>
          <p:nvSpPr>
            <p:cNvPr id="20" name="object 20" descr=""/>
            <p:cNvSpPr/>
            <p:nvPr/>
          </p:nvSpPr>
          <p:spPr>
            <a:xfrm>
              <a:off x="4642027" y="1992807"/>
              <a:ext cx="1905000" cy="2188845"/>
            </a:xfrm>
            <a:custGeom>
              <a:avLst/>
              <a:gdLst/>
              <a:ahLst/>
              <a:cxnLst/>
              <a:rect l="l" t="t" r="r" b="b"/>
              <a:pathLst>
                <a:path w="1905000" h="2188845">
                  <a:moveTo>
                    <a:pt x="1714500" y="0"/>
                  </a:moveTo>
                  <a:lnTo>
                    <a:pt x="190500" y="0"/>
                  </a:lnTo>
                  <a:lnTo>
                    <a:pt x="147041" y="5067"/>
                  </a:lnTo>
                  <a:lnTo>
                    <a:pt x="107030" y="19481"/>
                  </a:lnTo>
                  <a:lnTo>
                    <a:pt x="71646" y="42075"/>
                  </a:lnTo>
                  <a:lnTo>
                    <a:pt x="42071" y="71640"/>
                  </a:lnTo>
                  <a:lnTo>
                    <a:pt x="19484" y="107022"/>
                  </a:lnTo>
                  <a:lnTo>
                    <a:pt x="5067" y="147040"/>
                  </a:lnTo>
                  <a:lnTo>
                    <a:pt x="0" y="190500"/>
                  </a:lnTo>
                  <a:lnTo>
                    <a:pt x="0" y="1998002"/>
                  </a:lnTo>
                  <a:lnTo>
                    <a:pt x="5067" y="2041461"/>
                  </a:lnTo>
                  <a:lnTo>
                    <a:pt x="19484" y="2081466"/>
                  </a:lnTo>
                  <a:lnTo>
                    <a:pt x="42071" y="2116848"/>
                  </a:lnTo>
                  <a:lnTo>
                    <a:pt x="71646" y="2146427"/>
                  </a:lnTo>
                  <a:lnTo>
                    <a:pt x="107030" y="2169020"/>
                  </a:lnTo>
                  <a:lnTo>
                    <a:pt x="147041" y="2183434"/>
                  </a:lnTo>
                  <a:lnTo>
                    <a:pt x="190500" y="2188502"/>
                  </a:lnTo>
                  <a:lnTo>
                    <a:pt x="1714500" y="2188502"/>
                  </a:lnTo>
                  <a:lnTo>
                    <a:pt x="1757959" y="2183434"/>
                  </a:lnTo>
                  <a:lnTo>
                    <a:pt x="1797964" y="2169020"/>
                  </a:lnTo>
                  <a:lnTo>
                    <a:pt x="1833359" y="2146427"/>
                  </a:lnTo>
                  <a:lnTo>
                    <a:pt x="1862924" y="2116848"/>
                  </a:lnTo>
                  <a:lnTo>
                    <a:pt x="1885518" y="2081466"/>
                  </a:lnTo>
                  <a:lnTo>
                    <a:pt x="1899932" y="2041461"/>
                  </a:lnTo>
                  <a:lnTo>
                    <a:pt x="1905000" y="1998002"/>
                  </a:lnTo>
                  <a:lnTo>
                    <a:pt x="1905000" y="190500"/>
                  </a:lnTo>
                  <a:lnTo>
                    <a:pt x="1899932" y="147040"/>
                  </a:lnTo>
                  <a:lnTo>
                    <a:pt x="1885518" y="107022"/>
                  </a:lnTo>
                  <a:lnTo>
                    <a:pt x="1862924" y="71640"/>
                  </a:lnTo>
                  <a:lnTo>
                    <a:pt x="1833359" y="42075"/>
                  </a:lnTo>
                  <a:lnTo>
                    <a:pt x="1797964" y="19481"/>
                  </a:lnTo>
                  <a:lnTo>
                    <a:pt x="1757959" y="5067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42027" y="1992807"/>
              <a:ext cx="1905000" cy="2188845"/>
            </a:xfrm>
            <a:custGeom>
              <a:avLst/>
              <a:gdLst/>
              <a:ahLst/>
              <a:cxnLst/>
              <a:rect l="l" t="t" r="r" b="b"/>
              <a:pathLst>
                <a:path w="1905000" h="2188845">
                  <a:moveTo>
                    <a:pt x="0" y="190500"/>
                  </a:moveTo>
                  <a:lnTo>
                    <a:pt x="5067" y="147040"/>
                  </a:lnTo>
                  <a:lnTo>
                    <a:pt x="19484" y="107022"/>
                  </a:lnTo>
                  <a:lnTo>
                    <a:pt x="42071" y="71640"/>
                  </a:lnTo>
                  <a:lnTo>
                    <a:pt x="71646" y="42075"/>
                  </a:lnTo>
                  <a:lnTo>
                    <a:pt x="107030" y="19481"/>
                  </a:lnTo>
                  <a:lnTo>
                    <a:pt x="147041" y="5067"/>
                  </a:lnTo>
                  <a:lnTo>
                    <a:pt x="190500" y="0"/>
                  </a:lnTo>
                  <a:lnTo>
                    <a:pt x="1714500" y="0"/>
                  </a:lnTo>
                  <a:lnTo>
                    <a:pt x="1757959" y="5067"/>
                  </a:lnTo>
                  <a:lnTo>
                    <a:pt x="1797964" y="19481"/>
                  </a:lnTo>
                  <a:lnTo>
                    <a:pt x="1833359" y="42075"/>
                  </a:lnTo>
                  <a:lnTo>
                    <a:pt x="1862924" y="71640"/>
                  </a:lnTo>
                  <a:lnTo>
                    <a:pt x="1885518" y="107022"/>
                  </a:lnTo>
                  <a:lnTo>
                    <a:pt x="1899932" y="147040"/>
                  </a:lnTo>
                  <a:lnTo>
                    <a:pt x="1905000" y="190500"/>
                  </a:lnTo>
                  <a:lnTo>
                    <a:pt x="1905000" y="1998002"/>
                  </a:lnTo>
                  <a:lnTo>
                    <a:pt x="1899932" y="2041461"/>
                  </a:lnTo>
                  <a:lnTo>
                    <a:pt x="1885518" y="2081466"/>
                  </a:lnTo>
                  <a:lnTo>
                    <a:pt x="1862924" y="2116848"/>
                  </a:lnTo>
                  <a:lnTo>
                    <a:pt x="1833359" y="2146427"/>
                  </a:lnTo>
                  <a:lnTo>
                    <a:pt x="1797964" y="2169020"/>
                  </a:lnTo>
                  <a:lnTo>
                    <a:pt x="1757959" y="2183434"/>
                  </a:lnTo>
                  <a:lnTo>
                    <a:pt x="1714500" y="2188502"/>
                  </a:lnTo>
                  <a:lnTo>
                    <a:pt x="190500" y="2188502"/>
                  </a:lnTo>
                  <a:lnTo>
                    <a:pt x="147041" y="2183434"/>
                  </a:lnTo>
                  <a:lnTo>
                    <a:pt x="107030" y="2169020"/>
                  </a:lnTo>
                  <a:lnTo>
                    <a:pt x="71646" y="2146427"/>
                  </a:lnTo>
                  <a:lnTo>
                    <a:pt x="42071" y="2116848"/>
                  </a:lnTo>
                  <a:lnTo>
                    <a:pt x="19484" y="2081466"/>
                  </a:lnTo>
                  <a:lnTo>
                    <a:pt x="5067" y="2041461"/>
                  </a:lnTo>
                  <a:lnTo>
                    <a:pt x="0" y="1998002"/>
                  </a:lnTo>
                  <a:lnTo>
                    <a:pt x="0" y="190500"/>
                  </a:lnTo>
                  <a:close/>
                </a:path>
              </a:pathLst>
            </a:custGeom>
            <a:ln w="142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5381" y="2135682"/>
              <a:ext cx="798898" cy="798893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4799078" y="3116541"/>
            <a:ext cx="159956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Fairness demands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treat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groups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equitably.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98436" y="1364831"/>
            <a:ext cx="8737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9334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Equal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Outcomes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778003" y="1972259"/>
            <a:ext cx="1919605" cy="2202815"/>
            <a:chOff x="6778003" y="1972259"/>
            <a:chExt cx="1919605" cy="2202815"/>
          </a:xfrm>
        </p:grpSpPr>
        <p:sp>
          <p:nvSpPr>
            <p:cNvPr id="26" name="object 26" descr=""/>
            <p:cNvSpPr/>
            <p:nvPr/>
          </p:nvSpPr>
          <p:spPr>
            <a:xfrm>
              <a:off x="6785152" y="1979409"/>
              <a:ext cx="1905000" cy="2188845"/>
            </a:xfrm>
            <a:custGeom>
              <a:avLst/>
              <a:gdLst/>
              <a:ahLst/>
              <a:cxnLst/>
              <a:rect l="l" t="t" r="r" b="b"/>
              <a:pathLst>
                <a:path w="1905000" h="2188845">
                  <a:moveTo>
                    <a:pt x="1714500" y="0"/>
                  </a:moveTo>
                  <a:lnTo>
                    <a:pt x="190500" y="0"/>
                  </a:lnTo>
                  <a:lnTo>
                    <a:pt x="147041" y="5067"/>
                  </a:lnTo>
                  <a:lnTo>
                    <a:pt x="107030" y="19481"/>
                  </a:lnTo>
                  <a:lnTo>
                    <a:pt x="71646" y="42075"/>
                  </a:lnTo>
                  <a:lnTo>
                    <a:pt x="42071" y="71640"/>
                  </a:lnTo>
                  <a:lnTo>
                    <a:pt x="19484" y="107022"/>
                  </a:lnTo>
                  <a:lnTo>
                    <a:pt x="5067" y="147040"/>
                  </a:lnTo>
                  <a:lnTo>
                    <a:pt x="0" y="190500"/>
                  </a:lnTo>
                  <a:lnTo>
                    <a:pt x="0" y="1998002"/>
                  </a:lnTo>
                  <a:lnTo>
                    <a:pt x="5067" y="2041461"/>
                  </a:lnTo>
                  <a:lnTo>
                    <a:pt x="19484" y="2081466"/>
                  </a:lnTo>
                  <a:lnTo>
                    <a:pt x="42071" y="2116848"/>
                  </a:lnTo>
                  <a:lnTo>
                    <a:pt x="71646" y="2146427"/>
                  </a:lnTo>
                  <a:lnTo>
                    <a:pt x="107030" y="2169020"/>
                  </a:lnTo>
                  <a:lnTo>
                    <a:pt x="147041" y="2183434"/>
                  </a:lnTo>
                  <a:lnTo>
                    <a:pt x="190500" y="2188502"/>
                  </a:lnTo>
                  <a:lnTo>
                    <a:pt x="1714500" y="2188502"/>
                  </a:lnTo>
                  <a:lnTo>
                    <a:pt x="1757959" y="2183434"/>
                  </a:lnTo>
                  <a:lnTo>
                    <a:pt x="1797964" y="2169020"/>
                  </a:lnTo>
                  <a:lnTo>
                    <a:pt x="1833359" y="2146427"/>
                  </a:lnTo>
                  <a:lnTo>
                    <a:pt x="1862924" y="2116848"/>
                  </a:lnTo>
                  <a:lnTo>
                    <a:pt x="1885518" y="2081466"/>
                  </a:lnTo>
                  <a:lnTo>
                    <a:pt x="1899932" y="2041461"/>
                  </a:lnTo>
                  <a:lnTo>
                    <a:pt x="1905000" y="1998002"/>
                  </a:lnTo>
                  <a:lnTo>
                    <a:pt x="1905000" y="190500"/>
                  </a:lnTo>
                  <a:lnTo>
                    <a:pt x="1899932" y="147040"/>
                  </a:lnTo>
                  <a:lnTo>
                    <a:pt x="1885518" y="107022"/>
                  </a:lnTo>
                  <a:lnTo>
                    <a:pt x="1862924" y="71640"/>
                  </a:lnTo>
                  <a:lnTo>
                    <a:pt x="1833359" y="42075"/>
                  </a:lnTo>
                  <a:lnTo>
                    <a:pt x="1797964" y="19481"/>
                  </a:lnTo>
                  <a:lnTo>
                    <a:pt x="1757959" y="5067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785152" y="1979409"/>
              <a:ext cx="1905000" cy="2188845"/>
            </a:xfrm>
            <a:custGeom>
              <a:avLst/>
              <a:gdLst/>
              <a:ahLst/>
              <a:cxnLst/>
              <a:rect l="l" t="t" r="r" b="b"/>
              <a:pathLst>
                <a:path w="1905000" h="2188845">
                  <a:moveTo>
                    <a:pt x="0" y="190500"/>
                  </a:moveTo>
                  <a:lnTo>
                    <a:pt x="5067" y="147040"/>
                  </a:lnTo>
                  <a:lnTo>
                    <a:pt x="19484" y="107022"/>
                  </a:lnTo>
                  <a:lnTo>
                    <a:pt x="42071" y="71640"/>
                  </a:lnTo>
                  <a:lnTo>
                    <a:pt x="71646" y="42075"/>
                  </a:lnTo>
                  <a:lnTo>
                    <a:pt x="107030" y="19481"/>
                  </a:lnTo>
                  <a:lnTo>
                    <a:pt x="147041" y="5067"/>
                  </a:lnTo>
                  <a:lnTo>
                    <a:pt x="190500" y="0"/>
                  </a:lnTo>
                  <a:lnTo>
                    <a:pt x="1714500" y="0"/>
                  </a:lnTo>
                  <a:lnTo>
                    <a:pt x="1757959" y="5067"/>
                  </a:lnTo>
                  <a:lnTo>
                    <a:pt x="1797964" y="19481"/>
                  </a:lnTo>
                  <a:lnTo>
                    <a:pt x="1833359" y="42075"/>
                  </a:lnTo>
                  <a:lnTo>
                    <a:pt x="1862924" y="71640"/>
                  </a:lnTo>
                  <a:lnTo>
                    <a:pt x="1885518" y="107022"/>
                  </a:lnTo>
                  <a:lnTo>
                    <a:pt x="1899932" y="147040"/>
                  </a:lnTo>
                  <a:lnTo>
                    <a:pt x="1905000" y="190500"/>
                  </a:lnTo>
                  <a:lnTo>
                    <a:pt x="1905000" y="1998002"/>
                  </a:lnTo>
                  <a:lnTo>
                    <a:pt x="1899932" y="2041461"/>
                  </a:lnTo>
                  <a:lnTo>
                    <a:pt x="1885518" y="2081466"/>
                  </a:lnTo>
                  <a:lnTo>
                    <a:pt x="1862924" y="2116848"/>
                  </a:lnTo>
                  <a:lnTo>
                    <a:pt x="1833359" y="2146427"/>
                  </a:lnTo>
                  <a:lnTo>
                    <a:pt x="1797964" y="2169020"/>
                  </a:lnTo>
                  <a:lnTo>
                    <a:pt x="1757959" y="2183434"/>
                  </a:lnTo>
                  <a:lnTo>
                    <a:pt x="1714500" y="2188502"/>
                  </a:lnTo>
                  <a:lnTo>
                    <a:pt x="190500" y="2188502"/>
                  </a:lnTo>
                  <a:lnTo>
                    <a:pt x="147041" y="2183434"/>
                  </a:lnTo>
                  <a:lnTo>
                    <a:pt x="107030" y="2169020"/>
                  </a:lnTo>
                  <a:lnTo>
                    <a:pt x="71646" y="2146427"/>
                  </a:lnTo>
                  <a:lnTo>
                    <a:pt x="42071" y="2116848"/>
                  </a:lnTo>
                  <a:lnTo>
                    <a:pt x="19484" y="2081466"/>
                  </a:lnTo>
                  <a:lnTo>
                    <a:pt x="5067" y="2041461"/>
                  </a:lnTo>
                  <a:lnTo>
                    <a:pt x="0" y="1998002"/>
                  </a:lnTo>
                  <a:lnTo>
                    <a:pt x="0" y="190500"/>
                  </a:lnTo>
                  <a:close/>
                </a:path>
              </a:pathLst>
            </a:custGeom>
            <a:ln w="142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6226" y="2122284"/>
              <a:ext cx="904800" cy="904798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6983541" y="3089757"/>
            <a:ext cx="151701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Goal: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Achieve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equal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outcomes,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just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equal treatment.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357188" y="376238"/>
            <a:ext cx="47625" cy="390525"/>
            <a:chOff x="357188" y="376238"/>
            <a:chExt cx="47625" cy="390525"/>
          </a:xfrm>
        </p:grpSpPr>
        <p:sp>
          <p:nvSpPr>
            <p:cNvPr id="31" name="object 31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1950" y="381000"/>
              <a:ext cx="38098" cy="38100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29500" y="4644897"/>
            <a:ext cx="1714500" cy="4986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46" y="737661"/>
            <a:ext cx="9119841" cy="318261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92174" y="649442"/>
            <a:ext cx="1892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The</a:t>
            </a:r>
            <a:r>
              <a:rPr dirty="0" sz="1200" spc="-3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Challenge:</a:t>
            </a:r>
            <a:r>
              <a:rPr dirty="0" sz="1200" spc="-3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AI</a:t>
            </a:r>
            <a:r>
              <a:rPr dirty="0" sz="1200" spc="-3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outputs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174" y="832323"/>
            <a:ext cx="14909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decisions</a:t>
            </a:r>
            <a:r>
              <a:rPr dirty="0" sz="1200" spc="-8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without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revealing</a:t>
            </a:r>
            <a:r>
              <a:rPr dirty="0" sz="1200" spc="-6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its</a:t>
            </a:r>
            <a:r>
              <a:rPr dirty="0" sz="1200" spc="-5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internal logic.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3182" y="2399741"/>
            <a:ext cx="1475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F1F1F"/>
                </a:solidFill>
                <a:latin typeface="Arial"/>
                <a:cs typeface="Arial"/>
              </a:rPr>
              <a:t>High-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Stakes</a:t>
            </a:r>
            <a:r>
              <a:rPr dirty="0" sz="1200" spc="1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Impact: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3182" y="2582621"/>
            <a:ext cx="20046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Rationale</a:t>
            </a:r>
            <a:r>
              <a:rPr dirty="0" sz="1200" spc="-5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is</a:t>
            </a:r>
            <a:r>
              <a:rPr dirty="0" sz="1200" spc="-4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strictly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required</a:t>
            </a:r>
            <a:r>
              <a:rPr dirty="0" sz="1200" spc="-6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for</a:t>
            </a:r>
            <a:r>
              <a:rPr dirty="0" sz="1200" spc="-6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critical</a:t>
            </a:r>
            <a:r>
              <a:rPr dirty="0" sz="1200" spc="-5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choices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like</a:t>
            </a:r>
            <a:r>
              <a:rPr dirty="0" sz="1200" spc="-3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loans</a:t>
            </a:r>
            <a:r>
              <a:rPr dirty="0" sz="1200" spc="-3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or</a:t>
            </a:r>
            <a:r>
              <a:rPr dirty="0" sz="1200" spc="-3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healthcare.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709049" y="4095750"/>
            <a:ext cx="2963545" cy="967740"/>
            <a:chOff x="2709049" y="4095750"/>
            <a:chExt cx="2963545" cy="96774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7237" y="4095750"/>
              <a:ext cx="9598" cy="1905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9049" y="4300905"/>
              <a:ext cx="2963011" cy="762000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3675956" y="4353814"/>
            <a:ext cx="16992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Legal</a:t>
            </a:r>
            <a:r>
              <a:rPr dirty="0" sz="1200" spc="-4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Mandate: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Transparency</a:t>
            </a:r>
            <a:r>
              <a:rPr dirty="0" sz="1200" spc="-4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is</a:t>
            </a:r>
            <a:r>
              <a:rPr dirty="0" sz="1200" spc="-3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a</a:t>
            </a:r>
            <a:r>
              <a:rPr dirty="0" sz="1200" spc="-3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legal requirement,</a:t>
            </a:r>
            <a:r>
              <a:rPr dirty="0" sz="1200" spc="-2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not</a:t>
            </a:r>
            <a:r>
              <a:rPr dirty="0" sz="1200" spc="-2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just</a:t>
            </a:r>
            <a:r>
              <a:rPr dirty="0" sz="1200" spc="-2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60" b="1">
                <a:solidFill>
                  <a:srgbClr val="1F1F1F"/>
                </a:solidFill>
                <a:latin typeface="Arial"/>
                <a:cs typeface="Arial"/>
              </a:rPr>
              <a:t>a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technical</a:t>
            </a:r>
            <a:r>
              <a:rPr dirty="0" sz="1200" spc="-8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feature.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34454" y="2952737"/>
            <a:ext cx="2509545" cy="143365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634454" y="2952737"/>
            <a:ext cx="2510155" cy="1433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9060">
              <a:lnSpc>
                <a:spcPts val="1195"/>
              </a:lnSpc>
            </a:pP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Accountability: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Essential</a:t>
            </a:r>
            <a:r>
              <a:rPr dirty="0" sz="1200" spc="1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1F1F1F"/>
                </a:solidFill>
                <a:latin typeface="Arial"/>
                <a:cs typeface="Arial"/>
              </a:rPr>
              <a:t>for</a:t>
            </a:r>
            <a:endParaRPr sz="1200">
              <a:latin typeface="Arial"/>
              <a:cs typeface="Arial"/>
            </a:endParaRPr>
          </a:p>
          <a:p>
            <a:pPr marL="99060" marR="584835">
              <a:lnSpc>
                <a:spcPts val="1440"/>
              </a:lnSpc>
              <a:spcBef>
                <a:spcPts val="25"/>
              </a:spcBef>
            </a:pP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auditing</a:t>
            </a:r>
            <a:r>
              <a:rPr dirty="0" sz="1200" spc="-5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systems,</a:t>
            </a:r>
            <a:r>
              <a:rPr dirty="0" sz="1200" spc="-5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finding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errors,</a:t>
            </a:r>
            <a:r>
              <a:rPr dirty="0" sz="1200" spc="-4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and</a:t>
            </a:r>
            <a:r>
              <a:rPr dirty="0" sz="1200" spc="-4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assigning responsibility.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281622" y="662838"/>
            <a:ext cx="1475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Building</a:t>
            </a:r>
            <a:r>
              <a:rPr dirty="0" sz="1200" spc="-3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Trust:</a:t>
            </a:r>
            <a:r>
              <a:rPr dirty="0" sz="1200" spc="-3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If</a:t>
            </a:r>
            <a:r>
              <a:rPr dirty="0" sz="1200" spc="-3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1F1F1F"/>
                </a:solidFill>
                <a:latin typeface="Arial"/>
                <a:cs typeface="Arial"/>
              </a:rPr>
              <a:t>we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81622" y="845718"/>
            <a:ext cx="169798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cannot</a:t>
            </a:r>
            <a:r>
              <a:rPr dirty="0" sz="1200" spc="-8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explain</a:t>
            </a:r>
            <a:r>
              <a:rPr dirty="0" sz="1200" spc="-7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1F1F1F"/>
                </a:solidFill>
                <a:latin typeface="Arial"/>
                <a:cs typeface="Arial"/>
              </a:rPr>
              <a:t>the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machine's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Arial"/>
                <a:cs typeface="Arial"/>
              </a:rPr>
              <a:t>decision,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35" b="1">
                <a:solidFill>
                  <a:srgbClr val="1F1F1F"/>
                </a:solidFill>
                <a:latin typeface="Arial"/>
                <a:cs typeface="Arial"/>
              </a:rPr>
              <a:t>we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cannot</a:t>
            </a:r>
            <a:r>
              <a:rPr dirty="0" sz="1200" spc="-6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1F1F"/>
                </a:solidFill>
                <a:latin typeface="Arial"/>
                <a:cs typeface="Arial"/>
              </a:rPr>
              <a:t>trust</a:t>
            </a:r>
            <a:r>
              <a:rPr dirty="0" sz="1200" spc="-5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1F1F1F"/>
                </a:solidFill>
                <a:latin typeface="Arial"/>
                <a:cs typeface="Arial"/>
              </a:rPr>
              <a:t>it.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12039" y="154670"/>
            <a:ext cx="53594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Demystifying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Black</a:t>
            </a:r>
            <a:r>
              <a:rPr dirty="0" spc="-40"/>
              <a:t> </a:t>
            </a:r>
            <a:r>
              <a:rPr dirty="0" spc="-25"/>
              <a:t>Box</a:t>
            </a:r>
          </a:p>
        </p:txBody>
      </p:sp>
      <p:grpSp>
        <p:nvGrpSpPr>
          <p:cNvPr id="16" name="object 16" descr=""/>
          <p:cNvGrpSpPr/>
          <p:nvPr/>
        </p:nvGrpSpPr>
        <p:grpSpPr>
          <a:xfrm>
            <a:off x="357188" y="215504"/>
            <a:ext cx="47625" cy="390525"/>
            <a:chOff x="357188" y="215504"/>
            <a:chExt cx="47625" cy="390525"/>
          </a:xfrm>
        </p:grpSpPr>
        <p:sp>
          <p:nvSpPr>
            <p:cNvPr id="17" name="object 17" descr=""/>
            <p:cNvSpPr/>
            <p:nvPr/>
          </p:nvSpPr>
          <p:spPr>
            <a:xfrm>
              <a:off x="361950" y="220266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950" y="220266"/>
              <a:ext cx="38098" cy="3810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61950" y="220266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2491283" y="2440292"/>
            <a:ext cx="6652895" cy="2703830"/>
            <a:chOff x="2491283" y="2440292"/>
            <a:chExt cx="6652895" cy="2703830"/>
          </a:xfrm>
        </p:grpSpPr>
        <p:sp>
          <p:nvSpPr>
            <p:cNvPr id="21" name="object 21" descr=""/>
            <p:cNvSpPr/>
            <p:nvPr/>
          </p:nvSpPr>
          <p:spPr>
            <a:xfrm>
              <a:off x="2496045" y="2445054"/>
              <a:ext cx="547370" cy="366395"/>
            </a:xfrm>
            <a:custGeom>
              <a:avLst/>
              <a:gdLst/>
              <a:ahLst/>
              <a:cxnLst/>
              <a:rect l="l" t="t" r="r" b="b"/>
              <a:pathLst>
                <a:path w="547369" h="366394">
                  <a:moveTo>
                    <a:pt x="547199" y="0"/>
                  </a:moveTo>
                  <a:lnTo>
                    <a:pt x="0" y="366306"/>
                  </a:lnTo>
                </a:path>
              </a:pathLst>
            </a:custGeom>
            <a:ln w="95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047054" y="2763951"/>
              <a:ext cx="588010" cy="500380"/>
            </a:xfrm>
            <a:custGeom>
              <a:avLst/>
              <a:gdLst/>
              <a:ahLst/>
              <a:cxnLst/>
              <a:rect l="l" t="t" r="r" b="b"/>
              <a:pathLst>
                <a:path w="588009" h="500379">
                  <a:moveTo>
                    <a:pt x="587400" y="500100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530763" y="3847096"/>
              <a:ext cx="69215" cy="582295"/>
            </a:xfrm>
            <a:custGeom>
              <a:avLst/>
              <a:gdLst/>
              <a:ahLst/>
              <a:cxnLst/>
              <a:rect l="l" t="t" r="r" b="b"/>
              <a:pathLst>
                <a:path w="69214" h="582295">
                  <a:moveTo>
                    <a:pt x="68999" y="0"/>
                  </a:moveTo>
                  <a:lnTo>
                    <a:pt x="0" y="582002"/>
                  </a:lnTo>
                </a:path>
              </a:pathLst>
            </a:custGeom>
            <a:ln w="95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9500" y="4644898"/>
              <a:ext cx="1714500" cy="4986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5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Protecting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User: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40"/>
              <a:t> </a:t>
            </a:r>
            <a:r>
              <a:rPr dirty="0" spc="-10"/>
              <a:t>Integrity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500" y="1047750"/>
            <a:ext cx="3905885" cy="1714500"/>
            <a:chOff x="571500" y="1047750"/>
            <a:chExt cx="3905885" cy="1714500"/>
          </a:xfrm>
        </p:grpSpPr>
        <p:sp>
          <p:nvSpPr>
            <p:cNvPr id="4" name="object 4" descr=""/>
            <p:cNvSpPr/>
            <p:nvPr/>
          </p:nvSpPr>
          <p:spPr>
            <a:xfrm>
              <a:off x="571500" y="1047750"/>
              <a:ext cx="3905885" cy="1714500"/>
            </a:xfrm>
            <a:custGeom>
              <a:avLst/>
              <a:gdLst/>
              <a:ahLst/>
              <a:cxnLst/>
              <a:rect l="l" t="t" r="r" b="b"/>
              <a:pathLst>
                <a:path w="3905885" h="1714500">
                  <a:moveTo>
                    <a:pt x="3714902" y="0"/>
                  </a:moveTo>
                  <a:lnTo>
                    <a:pt x="190497" y="0"/>
                  </a:lnTo>
                  <a:lnTo>
                    <a:pt x="147039" y="5067"/>
                  </a:lnTo>
                  <a:lnTo>
                    <a:pt x="107028" y="19481"/>
                  </a:lnTo>
                  <a:lnTo>
                    <a:pt x="71646" y="42075"/>
                  </a:lnTo>
                  <a:lnTo>
                    <a:pt x="42071" y="71640"/>
                  </a:lnTo>
                  <a:lnTo>
                    <a:pt x="19484" y="107022"/>
                  </a:lnTo>
                  <a:lnTo>
                    <a:pt x="5067" y="147040"/>
                  </a:lnTo>
                  <a:lnTo>
                    <a:pt x="0" y="190500"/>
                  </a:lnTo>
                  <a:lnTo>
                    <a:pt x="0" y="1524000"/>
                  </a:lnTo>
                  <a:lnTo>
                    <a:pt x="5067" y="1567459"/>
                  </a:lnTo>
                  <a:lnTo>
                    <a:pt x="19484" y="1607464"/>
                  </a:lnTo>
                  <a:lnTo>
                    <a:pt x="42071" y="1642859"/>
                  </a:lnTo>
                  <a:lnTo>
                    <a:pt x="71646" y="1672424"/>
                  </a:lnTo>
                  <a:lnTo>
                    <a:pt x="107028" y="1695018"/>
                  </a:lnTo>
                  <a:lnTo>
                    <a:pt x="147039" y="1709432"/>
                  </a:lnTo>
                  <a:lnTo>
                    <a:pt x="190497" y="1714500"/>
                  </a:lnTo>
                  <a:lnTo>
                    <a:pt x="3714902" y="1714500"/>
                  </a:lnTo>
                  <a:lnTo>
                    <a:pt x="3758361" y="1709432"/>
                  </a:lnTo>
                  <a:lnTo>
                    <a:pt x="3798366" y="1695018"/>
                  </a:lnTo>
                  <a:lnTo>
                    <a:pt x="3833749" y="1672424"/>
                  </a:lnTo>
                  <a:lnTo>
                    <a:pt x="3863327" y="1642859"/>
                  </a:lnTo>
                  <a:lnTo>
                    <a:pt x="3885920" y="1607464"/>
                  </a:lnTo>
                  <a:lnTo>
                    <a:pt x="3900335" y="1567459"/>
                  </a:lnTo>
                  <a:lnTo>
                    <a:pt x="3905402" y="1524000"/>
                  </a:lnTo>
                  <a:lnTo>
                    <a:pt x="3905402" y="190500"/>
                  </a:lnTo>
                  <a:lnTo>
                    <a:pt x="3900335" y="147040"/>
                  </a:lnTo>
                  <a:lnTo>
                    <a:pt x="3885920" y="107022"/>
                  </a:lnTo>
                  <a:lnTo>
                    <a:pt x="3863327" y="71640"/>
                  </a:lnTo>
                  <a:lnTo>
                    <a:pt x="3833749" y="42075"/>
                  </a:lnTo>
                  <a:lnTo>
                    <a:pt x="3798366" y="19481"/>
                  </a:lnTo>
                  <a:lnTo>
                    <a:pt x="3758361" y="5067"/>
                  </a:lnTo>
                  <a:lnTo>
                    <a:pt x="3714902" y="0"/>
                  </a:lnTo>
                  <a:close/>
                </a:path>
              </a:pathLst>
            </a:custGeom>
            <a:solidFill>
              <a:srgbClr val="0021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4250" y="1190625"/>
              <a:ext cx="762000" cy="762000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4667250" y="1047750"/>
            <a:ext cx="3905885" cy="1714500"/>
            <a:chOff x="4667250" y="1047750"/>
            <a:chExt cx="3905885" cy="1714500"/>
          </a:xfrm>
        </p:grpSpPr>
        <p:sp>
          <p:nvSpPr>
            <p:cNvPr id="7" name="object 7" descr=""/>
            <p:cNvSpPr/>
            <p:nvPr/>
          </p:nvSpPr>
          <p:spPr>
            <a:xfrm>
              <a:off x="4667250" y="1047750"/>
              <a:ext cx="3905885" cy="1714500"/>
            </a:xfrm>
            <a:custGeom>
              <a:avLst/>
              <a:gdLst/>
              <a:ahLst/>
              <a:cxnLst/>
              <a:rect l="l" t="t" r="r" b="b"/>
              <a:pathLst>
                <a:path w="3905884" h="1714500">
                  <a:moveTo>
                    <a:pt x="3714902" y="0"/>
                  </a:moveTo>
                  <a:lnTo>
                    <a:pt x="190497" y="0"/>
                  </a:lnTo>
                  <a:lnTo>
                    <a:pt x="147039" y="5067"/>
                  </a:lnTo>
                  <a:lnTo>
                    <a:pt x="107028" y="19481"/>
                  </a:lnTo>
                  <a:lnTo>
                    <a:pt x="71646" y="42075"/>
                  </a:lnTo>
                  <a:lnTo>
                    <a:pt x="42071" y="71640"/>
                  </a:lnTo>
                  <a:lnTo>
                    <a:pt x="19484" y="107022"/>
                  </a:lnTo>
                  <a:lnTo>
                    <a:pt x="5067" y="147040"/>
                  </a:lnTo>
                  <a:lnTo>
                    <a:pt x="0" y="190500"/>
                  </a:lnTo>
                  <a:lnTo>
                    <a:pt x="0" y="1524000"/>
                  </a:lnTo>
                  <a:lnTo>
                    <a:pt x="5067" y="1567459"/>
                  </a:lnTo>
                  <a:lnTo>
                    <a:pt x="19484" y="1607464"/>
                  </a:lnTo>
                  <a:lnTo>
                    <a:pt x="42071" y="1642859"/>
                  </a:lnTo>
                  <a:lnTo>
                    <a:pt x="71646" y="1672424"/>
                  </a:lnTo>
                  <a:lnTo>
                    <a:pt x="107028" y="1695018"/>
                  </a:lnTo>
                  <a:lnTo>
                    <a:pt x="147039" y="1709432"/>
                  </a:lnTo>
                  <a:lnTo>
                    <a:pt x="190497" y="1714500"/>
                  </a:lnTo>
                  <a:lnTo>
                    <a:pt x="3714902" y="1714500"/>
                  </a:lnTo>
                  <a:lnTo>
                    <a:pt x="3758361" y="1709432"/>
                  </a:lnTo>
                  <a:lnTo>
                    <a:pt x="3798366" y="1695018"/>
                  </a:lnTo>
                  <a:lnTo>
                    <a:pt x="3833761" y="1672424"/>
                  </a:lnTo>
                  <a:lnTo>
                    <a:pt x="3863327" y="1642859"/>
                  </a:lnTo>
                  <a:lnTo>
                    <a:pt x="3885920" y="1607464"/>
                  </a:lnTo>
                  <a:lnTo>
                    <a:pt x="3900335" y="1567459"/>
                  </a:lnTo>
                  <a:lnTo>
                    <a:pt x="3905402" y="1524000"/>
                  </a:lnTo>
                  <a:lnTo>
                    <a:pt x="3905402" y="190500"/>
                  </a:lnTo>
                  <a:lnTo>
                    <a:pt x="3900335" y="147040"/>
                  </a:lnTo>
                  <a:lnTo>
                    <a:pt x="3885920" y="107022"/>
                  </a:lnTo>
                  <a:lnTo>
                    <a:pt x="3863327" y="71640"/>
                  </a:lnTo>
                  <a:lnTo>
                    <a:pt x="3833761" y="42075"/>
                  </a:lnTo>
                  <a:lnTo>
                    <a:pt x="3798366" y="19481"/>
                  </a:lnTo>
                  <a:lnTo>
                    <a:pt x="3758361" y="5067"/>
                  </a:lnTo>
                  <a:lnTo>
                    <a:pt x="3714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00" y="1190625"/>
              <a:ext cx="762000" cy="762000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571500" y="2952750"/>
            <a:ext cx="3905885" cy="1714500"/>
            <a:chOff x="571500" y="2952750"/>
            <a:chExt cx="3905885" cy="1714500"/>
          </a:xfrm>
        </p:grpSpPr>
        <p:sp>
          <p:nvSpPr>
            <p:cNvPr id="10" name="object 10" descr=""/>
            <p:cNvSpPr/>
            <p:nvPr/>
          </p:nvSpPr>
          <p:spPr>
            <a:xfrm>
              <a:off x="571500" y="2952750"/>
              <a:ext cx="3905885" cy="1714500"/>
            </a:xfrm>
            <a:custGeom>
              <a:avLst/>
              <a:gdLst/>
              <a:ahLst/>
              <a:cxnLst/>
              <a:rect l="l" t="t" r="r" b="b"/>
              <a:pathLst>
                <a:path w="3905885" h="1714500">
                  <a:moveTo>
                    <a:pt x="3714902" y="0"/>
                  </a:moveTo>
                  <a:lnTo>
                    <a:pt x="190497" y="0"/>
                  </a:lnTo>
                  <a:lnTo>
                    <a:pt x="147039" y="5067"/>
                  </a:lnTo>
                  <a:lnTo>
                    <a:pt x="107028" y="19481"/>
                  </a:lnTo>
                  <a:lnTo>
                    <a:pt x="71646" y="42075"/>
                  </a:lnTo>
                  <a:lnTo>
                    <a:pt x="42071" y="71640"/>
                  </a:lnTo>
                  <a:lnTo>
                    <a:pt x="19484" y="107022"/>
                  </a:lnTo>
                  <a:lnTo>
                    <a:pt x="5067" y="147040"/>
                  </a:lnTo>
                  <a:lnTo>
                    <a:pt x="0" y="190500"/>
                  </a:lnTo>
                  <a:lnTo>
                    <a:pt x="0" y="1524000"/>
                  </a:lnTo>
                  <a:lnTo>
                    <a:pt x="5067" y="1567459"/>
                  </a:lnTo>
                  <a:lnTo>
                    <a:pt x="19484" y="1607464"/>
                  </a:lnTo>
                  <a:lnTo>
                    <a:pt x="42071" y="1642859"/>
                  </a:lnTo>
                  <a:lnTo>
                    <a:pt x="71646" y="1672424"/>
                  </a:lnTo>
                  <a:lnTo>
                    <a:pt x="107028" y="1695018"/>
                  </a:lnTo>
                  <a:lnTo>
                    <a:pt x="147039" y="1709432"/>
                  </a:lnTo>
                  <a:lnTo>
                    <a:pt x="190497" y="1714500"/>
                  </a:lnTo>
                  <a:lnTo>
                    <a:pt x="3714902" y="1714500"/>
                  </a:lnTo>
                  <a:lnTo>
                    <a:pt x="3758361" y="1709432"/>
                  </a:lnTo>
                  <a:lnTo>
                    <a:pt x="3798366" y="1695018"/>
                  </a:lnTo>
                  <a:lnTo>
                    <a:pt x="3833749" y="1672424"/>
                  </a:lnTo>
                  <a:lnTo>
                    <a:pt x="3863327" y="1642859"/>
                  </a:lnTo>
                  <a:lnTo>
                    <a:pt x="3885920" y="1607464"/>
                  </a:lnTo>
                  <a:lnTo>
                    <a:pt x="3900335" y="1567459"/>
                  </a:lnTo>
                  <a:lnTo>
                    <a:pt x="3905402" y="1524000"/>
                  </a:lnTo>
                  <a:lnTo>
                    <a:pt x="3905402" y="190500"/>
                  </a:lnTo>
                  <a:lnTo>
                    <a:pt x="3900335" y="147040"/>
                  </a:lnTo>
                  <a:lnTo>
                    <a:pt x="3885920" y="107022"/>
                  </a:lnTo>
                  <a:lnTo>
                    <a:pt x="3863327" y="71640"/>
                  </a:lnTo>
                  <a:lnTo>
                    <a:pt x="3833749" y="42075"/>
                  </a:lnTo>
                  <a:lnTo>
                    <a:pt x="3798366" y="19481"/>
                  </a:lnTo>
                  <a:lnTo>
                    <a:pt x="3758361" y="5067"/>
                  </a:lnTo>
                  <a:lnTo>
                    <a:pt x="3714902" y="0"/>
                  </a:lnTo>
                  <a:close/>
                </a:path>
              </a:pathLst>
            </a:custGeom>
            <a:solidFill>
              <a:srgbClr val="8A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4250" y="3095625"/>
              <a:ext cx="762000" cy="76200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749299" y="1158595"/>
            <a:ext cx="1717675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Dependency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49299" y="2225125"/>
            <a:ext cx="34645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thrive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massive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amounts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function effectively.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49299" y="3084550"/>
            <a:ext cx="1894839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Governance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49299" y="4151079"/>
            <a:ext cx="336994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Maintain</a:t>
            </a:r>
            <a:r>
              <a:rPr dirty="0" sz="11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clear,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documented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policies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1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collection,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storage,</a:t>
            </a:r>
            <a:r>
              <a:rPr dirty="0" sz="11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1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usage.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667250" y="2952750"/>
            <a:ext cx="3905885" cy="1714500"/>
            <a:chOff x="4667250" y="2952750"/>
            <a:chExt cx="3905885" cy="1714500"/>
          </a:xfrm>
        </p:grpSpPr>
        <p:sp>
          <p:nvSpPr>
            <p:cNvPr id="17" name="object 17" descr=""/>
            <p:cNvSpPr/>
            <p:nvPr/>
          </p:nvSpPr>
          <p:spPr>
            <a:xfrm>
              <a:off x="4667250" y="2952750"/>
              <a:ext cx="3905885" cy="1714500"/>
            </a:xfrm>
            <a:custGeom>
              <a:avLst/>
              <a:gdLst/>
              <a:ahLst/>
              <a:cxnLst/>
              <a:rect l="l" t="t" r="r" b="b"/>
              <a:pathLst>
                <a:path w="3905884" h="1714500">
                  <a:moveTo>
                    <a:pt x="3714902" y="0"/>
                  </a:moveTo>
                  <a:lnTo>
                    <a:pt x="190497" y="0"/>
                  </a:lnTo>
                  <a:lnTo>
                    <a:pt x="147039" y="5067"/>
                  </a:lnTo>
                  <a:lnTo>
                    <a:pt x="107028" y="19481"/>
                  </a:lnTo>
                  <a:lnTo>
                    <a:pt x="71646" y="42075"/>
                  </a:lnTo>
                  <a:lnTo>
                    <a:pt x="42071" y="71640"/>
                  </a:lnTo>
                  <a:lnTo>
                    <a:pt x="19484" y="107022"/>
                  </a:lnTo>
                  <a:lnTo>
                    <a:pt x="5067" y="147040"/>
                  </a:lnTo>
                  <a:lnTo>
                    <a:pt x="0" y="190500"/>
                  </a:lnTo>
                  <a:lnTo>
                    <a:pt x="0" y="1524000"/>
                  </a:lnTo>
                  <a:lnTo>
                    <a:pt x="5067" y="1567459"/>
                  </a:lnTo>
                  <a:lnTo>
                    <a:pt x="19484" y="1607464"/>
                  </a:lnTo>
                  <a:lnTo>
                    <a:pt x="42071" y="1642859"/>
                  </a:lnTo>
                  <a:lnTo>
                    <a:pt x="71646" y="1672424"/>
                  </a:lnTo>
                  <a:lnTo>
                    <a:pt x="107028" y="1695018"/>
                  </a:lnTo>
                  <a:lnTo>
                    <a:pt x="147039" y="1709432"/>
                  </a:lnTo>
                  <a:lnTo>
                    <a:pt x="190497" y="1714500"/>
                  </a:lnTo>
                  <a:lnTo>
                    <a:pt x="3714902" y="1714500"/>
                  </a:lnTo>
                  <a:lnTo>
                    <a:pt x="3758361" y="1709432"/>
                  </a:lnTo>
                  <a:lnTo>
                    <a:pt x="3798366" y="1695018"/>
                  </a:lnTo>
                  <a:lnTo>
                    <a:pt x="3833761" y="1672424"/>
                  </a:lnTo>
                  <a:lnTo>
                    <a:pt x="3863327" y="1642859"/>
                  </a:lnTo>
                  <a:lnTo>
                    <a:pt x="3885920" y="1607464"/>
                  </a:lnTo>
                  <a:lnTo>
                    <a:pt x="3900335" y="1567459"/>
                  </a:lnTo>
                  <a:lnTo>
                    <a:pt x="3905402" y="1524000"/>
                  </a:lnTo>
                  <a:lnTo>
                    <a:pt x="3905402" y="190500"/>
                  </a:lnTo>
                  <a:lnTo>
                    <a:pt x="3900335" y="147040"/>
                  </a:lnTo>
                  <a:lnTo>
                    <a:pt x="3885920" y="107022"/>
                  </a:lnTo>
                  <a:lnTo>
                    <a:pt x="3863327" y="71640"/>
                  </a:lnTo>
                  <a:lnTo>
                    <a:pt x="3833761" y="42075"/>
                  </a:lnTo>
                  <a:lnTo>
                    <a:pt x="3798366" y="19481"/>
                  </a:lnTo>
                  <a:lnTo>
                    <a:pt x="3758361" y="5067"/>
                  </a:lnTo>
                  <a:lnTo>
                    <a:pt x="3714902" y="0"/>
                  </a:lnTo>
                  <a:close/>
                </a:path>
              </a:pathLst>
            </a:custGeom>
            <a:solidFill>
              <a:srgbClr val="00CD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000" y="3095625"/>
              <a:ext cx="762000" cy="762000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4845049" y="1158595"/>
            <a:ext cx="1736725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8A0000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z="1600" b="1">
                <a:solidFill>
                  <a:srgbClr val="001F3E"/>
                </a:solidFill>
                <a:latin typeface="Arial"/>
                <a:cs typeface="Arial"/>
              </a:rPr>
              <a:t>Data</a:t>
            </a:r>
            <a:r>
              <a:rPr dirty="0" sz="1600" spc="-3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01F3E"/>
                </a:solidFill>
                <a:latin typeface="Arial"/>
                <a:cs typeface="Arial"/>
              </a:rPr>
              <a:t>Minimization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45049" y="2225125"/>
            <a:ext cx="32867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001F3E"/>
                </a:solidFill>
                <a:latin typeface="Arial"/>
                <a:cs typeface="Arial"/>
              </a:rPr>
              <a:t>Ethical</a:t>
            </a:r>
            <a:r>
              <a:rPr dirty="0" sz="1100" spc="-20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1F3E"/>
                </a:solidFill>
                <a:latin typeface="Arial"/>
                <a:cs typeface="Arial"/>
              </a:rPr>
              <a:t>models</a:t>
            </a:r>
            <a:r>
              <a:rPr dirty="0" sz="1100" spc="-10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1F3E"/>
                </a:solidFill>
                <a:latin typeface="Arial"/>
                <a:cs typeface="Arial"/>
              </a:rPr>
              <a:t>strictly</a:t>
            </a:r>
            <a:r>
              <a:rPr dirty="0" sz="1100" spc="-15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01F3E"/>
                </a:solidFill>
                <a:latin typeface="Arial"/>
                <a:cs typeface="Arial"/>
              </a:rPr>
              <a:t>prioritize</a:t>
            </a:r>
            <a:r>
              <a:rPr dirty="0" sz="1100" spc="-20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1F3E"/>
                </a:solidFill>
                <a:latin typeface="Arial"/>
                <a:cs typeface="Arial"/>
              </a:rPr>
              <a:t>data</a:t>
            </a:r>
            <a:r>
              <a:rPr dirty="0" sz="1100" spc="-10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001F3E"/>
                </a:solidFill>
                <a:latin typeface="Arial"/>
                <a:cs typeface="Arial"/>
              </a:rPr>
              <a:t>minimization</a:t>
            </a:r>
            <a:r>
              <a:rPr dirty="0" sz="1100" spc="-25">
                <a:solidFill>
                  <a:srgbClr val="001F3E"/>
                </a:solidFill>
                <a:latin typeface="Arial"/>
                <a:cs typeface="Arial"/>
              </a:rPr>
              <a:t> and </a:t>
            </a:r>
            <a:r>
              <a:rPr dirty="0" sz="1100" spc="-10">
                <a:solidFill>
                  <a:srgbClr val="001F3E"/>
                </a:solidFill>
                <a:latin typeface="Arial"/>
                <a:cs typeface="Arial"/>
              </a:rPr>
              <a:t>anonymization.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45049" y="3084550"/>
            <a:ext cx="1736089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001F3E"/>
                </a:solidFill>
                <a:latin typeface="Arial"/>
                <a:cs typeface="Arial"/>
              </a:rPr>
              <a:t>4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z="1600" b="1">
                <a:solidFill>
                  <a:srgbClr val="001F3E"/>
                </a:solidFill>
                <a:latin typeface="Arial"/>
                <a:cs typeface="Arial"/>
              </a:rPr>
              <a:t>Strict</a:t>
            </a:r>
            <a:r>
              <a:rPr dirty="0" sz="1600" spc="-9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01F3E"/>
                </a:solidFill>
                <a:latin typeface="Arial"/>
                <a:cs typeface="Arial"/>
              </a:rPr>
              <a:t>Compliance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845049" y="4151079"/>
            <a:ext cx="29025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001F3E"/>
                </a:solidFill>
                <a:latin typeface="Arial"/>
                <a:cs typeface="Arial"/>
              </a:rPr>
              <a:t>Compliance</a:t>
            </a:r>
            <a:r>
              <a:rPr dirty="0" sz="1100" spc="-40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1F3E"/>
                </a:solidFill>
                <a:latin typeface="Arial"/>
                <a:cs typeface="Arial"/>
              </a:rPr>
              <a:t>with</a:t>
            </a:r>
            <a:r>
              <a:rPr dirty="0" sz="1100" spc="-25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1F3E"/>
                </a:solidFill>
                <a:latin typeface="Arial"/>
                <a:cs typeface="Arial"/>
              </a:rPr>
              <a:t>regulatory</a:t>
            </a:r>
            <a:r>
              <a:rPr dirty="0" sz="1100" spc="-30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1F3E"/>
                </a:solidFill>
                <a:latin typeface="Arial"/>
                <a:cs typeface="Arial"/>
              </a:rPr>
              <a:t>frameworks</a:t>
            </a:r>
            <a:r>
              <a:rPr dirty="0" sz="1100" spc="-25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1F3E"/>
                </a:solidFill>
                <a:latin typeface="Arial"/>
                <a:cs typeface="Arial"/>
              </a:rPr>
              <a:t>is</a:t>
            </a:r>
            <a:r>
              <a:rPr dirty="0" sz="1100" spc="-30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001F3E"/>
                </a:solidFill>
                <a:latin typeface="Arial"/>
                <a:cs typeface="Arial"/>
              </a:rPr>
              <a:t>non- negotiable</a:t>
            </a:r>
            <a:r>
              <a:rPr dirty="0" sz="1100" spc="-15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1F3E"/>
                </a:solidFill>
                <a:latin typeface="Arial"/>
                <a:cs typeface="Arial"/>
              </a:rPr>
              <a:t>(e.g.,</a:t>
            </a:r>
            <a:r>
              <a:rPr dirty="0" sz="1100" spc="10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01F3E"/>
                </a:solidFill>
                <a:latin typeface="Arial"/>
                <a:cs typeface="Arial"/>
              </a:rPr>
              <a:t>GDPR).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57188" y="376238"/>
            <a:ext cx="47625" cy="390525"/>
            <a:chOff x="357188" y="376238"/>
            <a:chExt cx="47625" cy="390525"/>
          </a:xfrm>
        </p:grpSpPr>
        <p:sp>
          <p:nvSpPr>
            <p:cNvPr id="24" name="object 24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950" y="381000"/>
              <a:ext cx="38098" cy="38100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29500" y="4644897"/>
            <a:ext cx="1714500" cy="498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Who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Affected?</a:t>
            </a:r>
            <a:r>
              <a:rPr dirty="0" spc="-25"/>
              <a:t> </a:t>
            </a:r>
            <a:r>
              <a:rPr dirty="0" spc="-20"/>
              <a:t>Real-</a:t>
            </a:r>
            <a:r>
              <a:rPr dirty="0" spc="-10"/>
              <a:t>World Consequences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1047750"/>
            <a:ext cx="7419949" cy="185729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70272" y="1228128"/>
            <a:ext cx="205740" cy="414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5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62036" y="1206016"/>
            <a:ext cx="5350510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990000"/>
                </a:solidFill>
                <a:latin typeface="Arial"/>
                <a:cs typeface="Arial"/>
              </a:rPr>
              <a:t>Legal</a:t>
            </a:r>
            <a:r>
              <a:rPr dirty="0" sz="1700" spc="-90" b="1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990000"/>
                </a:solidFill>
                <a:latin typeface="Arial"/>
                <a:cs typeface="Arial"/>
              </a:rPr>
              <a:t>Jeopardy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Non-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compliance</a:t>
            </a:r>
            <a:r>
              <a:rPr dirty="0" sz="1200" spc="-25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results</a:t>
            </a:r>
            <a:r>
              <a:rPr dirty="0" sz="1200" spc="-25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in</a:t>
            </a: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heavy</a:t>
            </a:r>
            <a:r>
              <a:rPr dirty="0" sz="1200" spc="-25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fines</a:t>
            </a:r>
            <a:r>
              <a:rPr dirty="0" sz="1200" spc="-25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and</a:t>
            </a: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costly</a:t>
            </a:r>
            <a:r>
              <a:rPr dirty="0" sz="1200" spc="-25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discrimination</a:t>
            </a:r>
            <a:r>
              <a:rPr dirty="0" sz="1200" spc="-35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1F3E"/>
                </a:solidFill>
                <a:latin typeface="Arial"/>
                <a:cs typeface="Arial"/>
              </a:rPr>
              <a:t>litigation.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5569" y="217276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62036" y="2146604"/>
            <a:ext cx="4791710" cy="454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4068DF"/>
                </a:solidFill>
                <a:latin typeface="Arial"/>
                <a:cs typeface="Arial"/>
              </a:rPr>
              <a:t>Reputation</a:t>
            </a:r>
            <a:r>
              <a:rPr dirty="0" sz="1600" spc="-100" b="1">
                <a:solidFill>
                  <a:srgbClr val="4068D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4068DF"/>
                </a:solidFill>
                <a:latin typeface="Arial"/>
                <a:cs typeface="Arial"/>
              </a:rPr>
              <a:t>Crisis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A</a:t>
            </a:r>
            <a:r>
              <a:rPr dirty="0" sz="12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single</a:t>
            </a:r>
            <a:r>
              <a:rPr dirty="0" sz="12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bias</a:t>
            </a:r>
            <a:r>
              <a:rPr dirty="0" sz="12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incident</a:t>
            </a:r>
            <a:r>
              <a:rPr dirty="0" sz="12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can</a:t>
            </a:r>
            <a:r>
              <a:rPr dirty="0" sz="1200" spc="-4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dismantle</a:t>
            </a:r>
            <a:r>
              <a:rPr dirty="0" sz="12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years</a:t>
            </a:r>
            <a:r>
              <a:rPr dirty="0" sz="12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of</a:t>
            </a:r>
            <a:r>
              <a:rPr dirty="0" sz="12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brand</a:t>
            </a:r>
            <a:r>
              <a:rPr dirty="0" sz="1200" spc="-4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trust</a:t>
            </a:r>
            <a:r>
              <a:rPr dirty="0" sz="12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1F3E"/>
                </a:solidFill>
                <a:latin typeface="Arial"/>
                <a:cs typeface="Arial"/>
              </a:rPr>
              <a:t>instantly.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2952750"/>
            <a:ext cx="7419949" cy="90479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75569" y="312526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62036" y="3007664"/>
            <a:ext cx="4817745" cy="636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990000"/>
                </a:solidFill>
                <a:latin typeface="Arial"/>
                <a:cs typeface="Arial"/>
              </a:rPr>
              <a:t>Societal</a:t>
            </a:r>
            <a:r>
              <a:rPr dirty="0" sz="1600" spc="-50" b="1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990000"/>
                </a:solidFill>
                <a:latin typeface="Arial"/>
                <a:cs typeface="Arial"/>
              </a:rPr>
              <a:t>Harm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200" spc="-10" b="1">
                <a:solidFill>
                  <a:srgbClr val="001F3E"/>
                </a:solidFill>
                <a:latin typeface="Arial"/>
                <a:cs typeface="Arial"/>
              </a:rPr>
              <a:t>Algorithmic</a:t>
            </a: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1F3E"/>
                </a:solidFill>
                <a:latin typeface="Arial"/>
                <a:cs typeface="Arial"/>
              </a:rPr>
              <a:t>failures</a:t>
            </a: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amplify</a:t>
            </a: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 misinformation</a:t>
            </a:r>
            <a:r>
              <a:rPr dirty="0" sz="1200" spc="-3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and</a:t>
            </a:r>
            <a:r>
              <a:rPr dirty="0" sz="1200" spc="-15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entrench</a:t>
            </a: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1F3E"/>
                </a:solidFill>
                <a:latin typeface="Arial"/>
                <a:cs typeface="Arial"/>
              </a:rPr>
              <a:t>systemic unfairness.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3905250"/>
            <a:ext cx="8572500" cy="123825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975569" y="407776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762035" y="3960164"/>
            <a:ext cx="4909820" cy="636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4068DF"/>
                </a:solidFill>
                <a:latin typeface="Arial"/>
                <a:cs typeface="Arial"/>
              </a:rPr>
              <a:t>Strategic</a:t>
            </a:r>
            <a:r>
              <a:rPr dirty="0" sz="1600" spc="-70" b="1">
                <a:solidFill>
                  <a:srgbClr val="4068D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4068DF"/>
                </a:solidFill>
                <a:latin typeface="Arial"/>
                <a:cs typeface="Arial"/>
              </a:rPr>
              <a:t>Protection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Ethical</a:t>
            </a:r>
            <a:r>
              <a:rPr dirty="0" sz="1200" spc="-7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frameworks</a:t>
            </a:r>
            <a:r>
              <a:rPr dirty="0" sz="1200" spc="-6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safeguard</a:t>
            </a:r>
            <a:r>
              <a:rPr dirty="0" sz="1200" spc="-6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the</a:t>
            </a:r>
            <a:r>
              <a:rPr dirty="0" sz="1200" spc="-6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001F3E"/>
                </a:solidFill>
                <a:latin typeface="Arial"/>
                <a:cs typeface="Arial"/>
              </a:rPr>
              <a:t>end-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user</a:t>
            </a:r>
            <a:r>
              <a:rPr dirty="0" sz="1200" spc="-6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while</a:t>
            </a:r>
            <a:r>
              <a:rPr dirty="0" sz="1200" spc="-65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F3E"/>
                </a:solidFill>
                <a:latin typeface="Arial"/>
                <a:cs typeface="Arial"/>
              </a:rPr>
              <a:t>securing</a:t>
            </a:r>
            <a:r>
              <a:rPr dirty="0" sz="1200" spc="-6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1F3E"/>
                </a:solidFill>
                <a:latin typeface="Arial"/>
                <a:cs typeface="Arial"/>
              </a:rPr>
              <a:t>business longevity.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57188" y="376238"/>
            <a:ext cx="47625" cy="390525"/>
            <a:chOff x="357188" y="376238"/>
            <a:chExt cx="47625" cy="390525"/>
          </a:xfrm>
        </p:grpSpPr>
        <p:sp>
          <p:nvSpPr>
            <p:cNvPr id="16" name="object 16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950" y="381000"/>
              <a:ext cx="38098" cy="38100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1505" y="3774249"/>
            <a:ext cx="2105101" cy="92580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5225" y="3758425"/>
            <a:ext cx="2105101" cy="9258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4099" y="3774249"/>
            <a:ext cx="2105101" cy="92580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0948" y="3758425"/>
            <a:ext cx="2105101" cy="925804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357188" y="154672"/>
            <a:ext cx="47625" cy="390525"/>
            <a:chOff x="357188" y="154672"/>
            <a:chExt cx="47625" cy="390525"/>
          </a:xfrm>
        </p:grpSpPr>
        <p:sp>
          <p:nvSpPr>
            <p:cNvPr id="7" name="object 7" descr=""/>
            <p:cNvSpPr/>
            <p:nvPr/>
          </p:nvSpPr>
          <p:spPr>
            <a:xfrm>
              <a:off x="361950" y="159434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950" y="159434"/>
              <a:ext cx="38098" cy="3810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61950" y="159434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Four</a:t>
            </a:r>
            <a:r>
              <a:rPr dirty="0" spc="-30"/>
              <a:t> </a:t>
            </a:r>
            <a:r>
              <a:rPr dirty="0"/>
              <a:t>Pillars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Responsible</a:t>
            </a:r>
            <a:r>
              <a:rPr dirty="0" spc="-25"/>
              <a:t> </a:t>
            </a:r>
            <a:r>
              <a:rPr dirty="0"/>
              <a:t>AI</a:t>
            </a:r>
            <a:r>
              <a:rPr dirty="0" spc="-25"/>
              <a:t> </a:t>
            </a:r>
            <a:r>
              <a:rPr dirty="0" spc="-10"/>
              <a:t>Design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571500" y="572672"/>
            <a:ext cx="1524000" cy="3000375"/>
            <a:chOff x="571500" y="572672"/>
            <a:chExt cx="1524000" cy="3000375"/>
          </a:xfrm>
        </p:grpSpPr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500" y="1287043"/>
              <a:ext cx="1524000" cy="228600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876300" y="591722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731" y="2374"/>
                  </a:lnTo>
                  <a:lnTo>
                    <a:pt x="365544" y="9359"/>
                  </a:lnTo>
                  <a:lnTo>
                    <a:pt x="321871" y="20700"/>
                  </a:lnTo>
                  <a:lnTo>
                    <a:pt x="279951" y="36169"/>
                  </a:lnTo>
                  <a:lnTo>
                    <a:pt x="240021" y="55524"/>
                  </a:lnTo>
                  <a:lnTo>
                    <a:pt x="202317" y="78524"/>
                  </a:lnTo>
                  <a:lnTo>
                    <a:pt x="167081" y="104952"/>
                  </a:lnTo>
                  <a:lnTo>
                    <a:pt x="134545" y="134543"/>
                  </a:lnTo>
                  <a:lnTo>
                    <a:pt x="104947" y="167081"/>
                  </a:lnTo>
                  <a:lnTo>
                    <a:pt x="78527" y="202323"/>
                  </a:lnTo>
                  <a:lnTo>
                    <a:pt x="55521" y="240017"/>
                  </a:lnTo>
                  <a:lnTo>
                    <a:pt x="36166" y="279946"/>
                  </a:lnTo>
                  <a:lnTo>
                    <a:pt x="20698" y="321868"/>
                  </a:lnTo>
                  <a:lnTo>
                    <a:pt x="9357" y="365544"/>
                  </a:lnTo>
                  <a:lnTo>
                    <a:pt x="2378" y="410730"/>
                  </a:lnTo>
                  <a:lnTo>
                    <a:pt x="0" y="457200"/>
                  </a:lnTo>
                  <a:lnTo>
                    <a:pt x="2378" y="503669"/>
                  </a:lnTo>
                  <a:lnTo>
                    <a:pt x="9357" y="548855"/>
                  </a:lnTo>
                  <a:lnTo>
                    <a:pt x="20698" y="592531"/>
                  </a:lnTo>
                  <a:lnTo>
                    <a:pt x="36166" y="634453"/>
                  </a:lnTo>
                  <a:lnTo>
                    <a:pt x="55521" y="674382"/>
                  </a:lnTo>
                  <a:lnTo>
                    <a:pt x="78527" y="712076"/>
                  </a:lnTo>
                  <a:lnTo>
                    <a:pt x="104947" y="747318"/>
                  </a:lnTo>
                  <a:lnTo>
                    <a:pt x="134545" y="779856"/>
                  </a:lnTo>
                  <a:lnTo>
                    <a:pt x="167081" y="809447"/>
                  </a:lnTo>
                  <a:lnTo>
                    <a:pt x="202317" y="835875"/>
                  </a:lnTo>
                  <a:lnTo>
                    <a:pt x="240021" y="858875"/>
                  </a:lnTo>
                  <a:lnTo>
                    <a:pt x="279951" y="878230"/>
                  </a:lnTo>
                  <a:lnTo>
                    <a:pt x="321871" y="893699"/>
                  </a:lnTo>
                  <a:lnTo>
                    <a:pt x="365544" y="905040"/>
                  </a:lnTo>
                  <a:lnTo>
                    <a:pt x="410731" y="912025"/>
                  </a:lnTo>
                  <a:lnTo>
                    <a:pt x="457200" y="914400"/>
                  </a:lnTo>
                  <a:lnTo>
                    <a:pt x="503666" y="912025"/>
                  </a:lnTo>
                  <a:lnTo>
                    <a:pt x="548854" y="905040"/>
                  </a:lnTo>
                  <a:lnTo>
                    <a:pt x="592527" y="893699"/>
                  </a:lnTo>
                  <a:lnTo>
                    <a:pt x="634447" y="878230"/>
                  </a:lnTo>
                  <a:lnTo>
                    <a:pt x="674377" y="858875"/>
                  </a:lnTo>
                  <a:lnTo>
                    <a:pt x="712081" y="835875"/>
                  </a:lnTo>
                  <a:lnTo>
                    <a:pt x="747317" y="809447"/>
                  </a:lnTo>
                  <a:lnTo>
                    <a:pt x="779853" y="779856"/>
                  </a:lnTo>
                  <a:lnTo>
                    <a:pt x="809451" y="747318"/>
                  </a:lnTo>
                  <a:lnTo>
                    <a:pt x="835870" y="712076"/>
                  </a:lnTo>
                  <a:lnTo>
                    <a:pt x="858876" y="674382"/>
                  </a:lnTo>
                  <a:lnTo>
                    <a:pt x="878231" y="634453"/>
                  </a:lnTo>
                  <a:lnTo>
                    <a:pt x="893700" y="592531"/>
                  </a:lnTo>
                  <a:lnTo>
                    <a:pt x="905041" y="548855"/>
                  </a:lnTo>
                  <a:lnTo>
                    <a:pt x="912020" y="503669"/>
                  </a:lnTo>
                  <a:lnTo>
                    <a:pt x="914400" y="457200"/>
                  </a:lnTo>
                  <a:lnTo>
                    <a:pt x="912020" y="410730"/>
                  </a:lnTo>
                  <a:lnTo>
                    <a:pt x="905041" y="365544"/>
                  </a:lnTo>
                  <a:lnTo>
                    <a:pt x="893700" y="321868"/>
                  </a:lnTo>
                  <a:lnTo>
                    <a:pt x="878231" y="279946"/>
                  </a:lnTo>
                  <a:lnTo>
                    <a:pt x="858876" y="240017"/>
                  </a:lnTo>
                  <a:lnTo>
                    <a:pt x="835870" y="202323"/>
                  </a:lnTo>
                  <a:lnTo>
                    <a:pt x="809451" y="167081"/>
                  </a:lnTo>
                  <a:lnTo>
                    <a:pt x="779853" y="134543"/>
                  </a:lnTo>
                  <a:lnTo>
                    <a:pt x="747317" y="104952"/>
                  </a:lnTo>
                  <a:lnTo>
                    <a:pt x="712081" y="78524"/>
                  </a:lnTo>
                  <a:lnTo>
                    <a:pt x="674377" y="55524"/>
                  </a:lnTo>
                  <a:lnTo>
                    <a:pt x="634447" y="36169"/>
                  </a:lnTo>
                  <a:lnTo>
                    <a:pt x="592527" y="20700"/>
                  </a:lnTo>
                  <a:lnTo>
                    <a:pt x="548854" y="9359"/>
                  </a:lnTo>
                  <a:lnTo>
                    <a:pt x="503666" y="237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76300" y="591722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78" y="410730"/>
                  </a:lnTo>
                  <a:lnTo>
                    <a:pt x="9357" y="365544"/>
                  </a:lnTo>
                  <a:lnTo>
                    <a:pt x="20698" y="321868"/>
                  </a:lnTo>
                  <a:lnTo>
                    <a:pt x="36166" y="279946"/>
                  </a:lnTo>
                  <a:lnTo>
                    <a:pt x="55521" y="240017"/>
                  </a:lnTo>
                  <a:lnTo>
                    <a:pt x="78527" y="202323"/>
                  </a:lnTo>
                  <a:lnTo>
                    <a:pt x="104947" y="167081"/>
                  </a:lnTo>
                  <a:lnTo>
                    <a:pt x="134545" y="134543"/>
                  </a:lnTo>
                  <a:lnTo>
                    <a:pt x="167081" y="104952"/>
                  </a:lnTo>
                  <a:lnTo>
                    <a:pt x="202317" y="78524"/>
                  </a:lnTo>
                  <a:lnTo>
                    <a:pt x="240021" y="55524"/>
                  </a:lnTo>
                  <a:lnTo>
                    <a:pt x="279951" y="36169"/>
                  </a:lnTo>
                  <a:lnTo>
                    <a:pt x="321871" y="20700"/>
                  </a:lnTo>
                  <a:lnTo>
                    <a:pt x="365544" y="9359"/>
                  </a:lnTo>
                  <a:lnTo>
                    <a:pt x="410731" y="2374"/>
                  </a:lnTo>
                  <a:lnTo>
                    <a:pt x="457200" y="0"/>
                  </a:lnTo>
                  <a:lnTo>
                    <a:pt x="503666" y="2374"/>
                  </a:lnTo>
                  <a:lnTo>
                    <a:pt x="548854" y="9359"/>
                  </a:lnTo>
                  <a:lnTo>
                    <a:pt x="592527" y="20700"/>
                  </a:lnTo>
                  <a:lnTo>
                    <a:pt x="634447" y="36169"/>
                  </a:lnTo>
                  <a:lnTo>
                    <a:pt x="674377" y="55524"/>
                  </a:lnTo>
                  <a:lnTo>
                    <a:pt x="712081" y="78524"/>
                  </a:lnTo>
                  <a:lnTo>
                    <a:pt x="747317" y="104952"/>
                  </a:lnTo>
                  <a:lnTo>
                    <a:pt x="779853" y="134543"/>
                  </a:lnTo>
                  <a:lnTo>
                    <a:pt x="809451" y="167081"/>
                  </a:lnTo>
                  <a:lnTo>
                    <a:pt x="835870" y="202323"/>
                  </a:lnTo>
                  <a:lnTo>
                    <a:pt x="858876" y="240017"/>
                  </a:lnTo>
                  <a:lnTo>
                    <a:pt x="878231" y="279946"/>
                  </a:lnTo>
                  <a:lnTo>
                    <a:pt x="893700" y="321868"/>
                  </a:lnTo>
                  <a:lnTo>
                    <a:pt x="905041" y="365544"/>
                  </a:lnTo>
                  <a:lnTo>
                    <a:pt x="912020" y="410730"/>
                  </a:lnTo>
                  <a:lnTo>
                    <a:pt x="914400" y="457200"/>
                  </a:lnTo>
                  <a:lnTo>
                    <a:pt x="912020" y="503669"/>
                  </a:lnTo>
                  <a:lnTo>
                    <a:pt x="905041" y="548855"/>
                  </a:lnTo>
                  <a:lnTo>
                    <a:pt x="893700" y="592531"/>
                  </a:lnTo>
                  <a:lnTo>
                    <a:pt x="878231" y="634453"/>
                  </a:lnTo>
                  <a:lnTo>
                    <a:pt x="858876" y="674382"/>
                  </a:lnTo>
                  <a:lnTo>
                    <a:pt x="835870" y="712076"/>
                  </a:lnTo>
                  <a:lnTo>
                    <a:pt x="809451" y="747318"/>
                  </a:lnTo>
                  <a:lnTo>
                    <a:pt x="779853" y="779856"/>
                  </a:lnTo>
                  <a:lnTo>
                    <a:pt x="747317" y="809447"/>
                  </a:lnTo>
                  <a:lnTo>
                    <a:pt x="712081" y="835875"/>
                  </a:lnTo>
                  <a:lnTo>
                    <a:pt x="674377" y="858875"/>
                  </a:lnTo>
                  <a:lnTo>
                    <a:pt x="634447" y="878230"/>
                  </a:lnTo>
                  <a:lnTo>
                    <a:pt x="592527" y="893699"/>
                  </a:lnTo>
                  <a:lnTo>
                    <a:pt x="548854" y="905040"/>
                  </a:lnTo>
                  <a:lnTo>
                    <a:pt x="503666" y="912025"/>
                  </a:lnTo>
                  <a:lnTo>
                    <a:pt x="457200" y="914400"/>
                  </a:lnTo>
                  <a:lnTo>
                    <a:pt x="410731" y="912025"/>
                  </a:lnTo>
                  <a:lnTo>
                    <a:pt x="365544" y="905040"/>
                  </a:lnTo>
                  <a:lnTo>
                    <a:pt x="321871" y="893699"/>
                  </a:lnTo>
                  <a:lnTo>
                    <a:pt x="279951" y="878230"/>
                  </a:lnTo>
                  <a:lnTo>
                    <a:pt x="240021" y="858875"/>
                  </a:lnTo>
                  <a:lnTo>
                    <a:pt x="202317" y="835875"/>
                  </a:lnTo>
                  <a:lnTo>
                    <a:pt x="167081" y="809447"/>
                  </a:lnTo>
                  <a:lnTo>
                    <a:pt x="134545" y="779856"/>
                  </a:lnTo>
                  <a:lnTo>
                    <a:pt x="104947" y="747318"/>
                  </a:lnTo>
                  <a:lnTo>
                    <a:pt x="78527" y="712076"/>
                  </a:lnTo>
                  <a:lnTo>
                    <a:pt x="55521" y="674382"/>
                  </a:lnTo>
                  <a:lnTo>
                    <a:pt x="36166" y="634453"/>
                  </a:lnTo>
                  <a:lnTo>
                    <a:pt x="20698" y="592531"/>
                  </a:lnTo>
                  <a:lnTo>
                    <a:pt x="9357" y="548855"/>
                  </a:lnTo>
                  <a:lnTo>
                    <a:pt x="2378" y="503669"/>
                  </a:lnTo>
                  <a:lnTo>
                    <a:pt x="0" y="457200"/>
                  </a:lnTo>
                  <a:close/>
                </a:path>
              </a:pathLst>
            </a:custGeom>
            <a:ln w="380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4875" y="620297"/>
              <a:ext cx="857398" cy="857402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280948" y="3758425"/>
            <a:ext cx="2105660" cy="925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905">
              <a:lnSpc>
                <a:spcPts val="1360"/>
              </a:lnSpc>
            </a:pPr>
            <a:r>
              <a:rPr dirty="0" sz="1300" spc="-35" b="1">
                <a:solidFill>
                  <a:srgbClr val="1F1F1F"/>
                </a:solidFill>
                <a:latin typeface="Arial"/>
                <a:cs typeface="Arial"/>
              </a:rPr>
              <a:t>Human-</a:t>
            </a:r>
            <a:r>
              <a:rPr dirty="0" sz="1300" spc="-10" b="1">
                <a:solidFill>
                  <a:srgbClr val="1F1F1F"/>
                </a:solidFill>
                <a:latin typeface="Arial"/>
                <a:cs typeface="Arial"/>
              </a:rPr>
              <a:t>Centric</a:t>
            </a:r>
            <a:endParaRPr sz="1300">
              <a:latin typeface="Arial"/>
              <a:cs typeface="Arial"/>
            </a:endParaRPr>
          </a:p>
          <a:p>
            <a:pPr algn="ctr" marL="312420" marR="297815">
              <a:lnSpc>
                <a:spcPct val="100000"/>
              </a:lnSpc>
              <a:spcBef>
                <a:spcPts val="570"/>
              </a:spcBef>
            </a:pP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Prioritizing</a:t>
            </a:r>
            <a:r>
              <a:rPr dirty="0" sz="1050" spc="-2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human</a:t>
            </a:r>
            <a:r>
              <a:rPr dirty="0" sz="1050" spc="-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1F1F1F"/>
                </a:solidFill>
                <a:latin typeface="Arial"/>
                <a:cs typeface="Arial"/>
              </a:rPr>
              <a:t>well-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being,</a:t>
            </a:r>
            <a:r>
              <a:rPr dirty="0" sz="1050" spc="-7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autonomy,</a:t>
            </a:r>
            <a:r>
              <a:rPr dirty="0" sz="1050" spc="-6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F1F1F"/>
                </a:solidFill>
                <a:latin typeface="Arial"/>
                <a:cs typeface="Arial"/>
              </a:rPr>
              <a:t>and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control</a:t>
            </a:r>
            <a:r>
              <a:rPr dirty="0" sz="1050" spc="-4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in</a:t>
            </a:r>
            <a:r>
              <a:rPr dirty="0" sz="1050" spc="-3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every interaction.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667000" y="604323"/>
            <a:ext cx="1524000" cy="3000375"/>
            <a:chOff x="2667000" y="604323"/>
            <a:chExt cx="1524000" cy="3000375"/>
          </a:xfrm>
        </p:grpSpPr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67000" y="1318704"/>
              <a:ext cx="1524000" cy="22860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971800" y="62337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731" y="2374"/>
                  </a:lnTo>
                  <a:lnTo>
                    <a:pt x="365544" y="9359"/>
                  </a:lnTo>
                  <a:lnTo>
                    <a:pt x="321871" y="20700"/>
                  </a:lnTo>
                  <a:lnTo>
                    <a:pt x="279951" y="36169"/>
                  </a:lnTo>
                  <a:lnTo>
                    <a:pt x="240021" y="55524"/>
                  </a:lnTo>
                  <a:lnTo>
                    <a:pt x="202317" y="78524"/>
                  </a:lnTo>
                  <a:lnTo>
                    <a:pt x="167081" y="104952"/>
                  </a:lnTo>
                  <a:lnTo>
                    <a:pt x="134545" y="134543"/>
                  </a:lnTo>
                  <a:lnTo>
                    <a:pt x="104947" y="167081"/>
                  </a:lnTo>
                  <a:lnTo>
                    <a:pt x="78527" y="202323"/>
                  </a:lnTo>
                  <a:lnTo>
                    <a:pt x="55521" y="240017"/>
                  </a:lnTo>
                  <a:lnTo>
                    <a:pt x="36166" y="279946"/>
                  </a:lnTo>
                  <a:lnTo>
                    <a:pt x="20698" y="321868"/>
                  </a:lnTo>
                  <a:lnTo>
                    <a:pt x="9357" y="365544"/>
                  </a:lnTo>
                  <a:lnTo>
                    <a:pt x="2378" y="410730"/>
                  </a:lnTo>
                  <a:lnTo>
                    <a:pt x="0" y="457200"/>
                  </a:lnTo>
                  <a:lnTo>
                    <a:pt x="2378" y="503669"/>
                  </a:lnTo>
                  <a:lnTo>
                    <a:pt x="9357" y="548855"/>
                  </a:lnTo>
                  <a:lnTo>
                    <a:pt x="20698" y="592531"/>
                  </a:lnTo>
                  <a:lnTo>
                    <a:pt x="36166" y="634453"/>
                  </a:lnTo>
                  <a:lnTo>
                    <a:pt x="55521" y="674382"/>
                  </a:lnTo>
                  <a:lnTo>
                    <a:pt x="78527" y="712076"/>
                  </a:lnTo>
                  <a:lnTo>
                    <a:pt x="104947" y="747318"/>
                  </a:lnTo>
                  <a:lnTo>
                    <a:pt x="134545" y="779856"/>
                  </a:lnTo>
                  <a:lnTo>
                    <a:pt x="167081" y="809447"/>
                  </a:lnTo>
                  <a:lnTo>
                    <a:pt x="202317" y="835875"/>
                  </a:lnTo>
                  <a:lnTo>
                    <a:pt x="240021" y="858875"/>
                  </a:lnTo>
                  <a:lnTo>
                    <a:pt x="279951" y="878230"/>
                  </a:lnTo>
                  <a:lnTo>
                    <a:pt x="321871" y="893699"/>
                  </a:lnTo>
                  <a:lnTo>
                    <a:pt x="365544" y="905040"/>
                  </a:lnTo>
                  <a:lnTo>
                    <a:pt x="410731" y="912025"/>
                  </a:lnTo>
                  <a:lnTo>
                    <a:pt x="457200" y="914400"/>
                  </a:lnTo>
                  <a:lnTo>
                    <a:pt x="503666" y="912025"/>
                  </a:lnTo>
                  <a:lnTo>
                    <a:pt x="548854" y="905040"/>
                  </a:lnTo>
                  <a:lnTo>
                    <a:pt x="592527" y="893699"/>
                  </a:lnTo>
                  <a:lnTo>
                    <a:pt x="634447" y="878230"/>
                  </a:lnTo>
                  <a:lnTo>
                    <a:pt x="674377" y="858875"/>
                  </a:lnTo>
                  <a:lnTo>
                    <a:pt x="712081" y="835875"/>
                  </a:lnTo>
                  <a:lnTo>
                    <a:pt x="747317" y="809447"/>
                  </a:lnTo>
                  <a:lnTo>
                    <a:pt x="779853" y="779856"/>
                  </a:lnTo>
                  <a:lnTo>
                    <a:pt x="809451" y="747318"/>
                  </a:lnTo>
                  <a:lnTo>
                    <a:pt x="835870" y="712076"/>
                  </a:lnTo>
                  <a:lnTo>
                    <a:pt x="858876" y="674382"/>
                  </a:lnTo>
                  <a:lnTo>
                    <a:pt x="878231" y="634453"/>
                  </a:lnTo>
                  <a:lnTo>
                    <a:pt x="893700" y="592531"/>
                  </a:lnTo>
                  <a:lnTo>
                    <a:pt x="905041" y="548855"/>
                  </a:lnTo>
                  <a:lnTo>
                    <a:pt x="912020" y="503669"/>
                  </a:lnTo>
                  <a:lnTo>
                    <a:pt x="914400" y="457200"/>
                  </a:lnTo>
                  <a:lnTo>
                    <a:pt x="912020" y="410730"/>
                  </a:lnTo>
                  <a:lnTo>
                    <a:pt x="905041" y="365544"/>
                  </a:lnTo>
                  <a:lnTo>
                    <a:pt x="893700" y="321868"/>
                  </a:lnTo>
                  <a:lnTo>
                    <a:pt x="878231" y="279946"/>
                  </a:lnTo>
                  <a:lnTo>
                    <a:pt x="858876" y="240017"/>
                  </a:lnTo>
                  <a:lnTo>
                    <a:pt x="835870" y="202323"/>
                  </a:lnTo>
                  <a:lnTo>
                    <a:pt x="809451" y="167081"/>
                  </a:lnTo>
                  <a:lnTo>
                    <a:pt x="779853" y="134543"/>
                  </a:lnTo>
                  <a:lnTo>
                    <a:pt x="747317" y="104952"/>
                  </a:lnTo>
                  <a:lnTo>
                    <a:pt x="712081" y="78524"/>
                  </a:lnTo>
                  <a:lnTo>
                    <a:pt x="674377" y="55524"/>
                  </a:lnTo>
                  <a:lnTo>
                    <a:pt x="634447" y="36169"/>
                  </a:lnTo>
                  <a:lnTo>
                    <a:pt x="592527" y="20700"/>
                  </a:lnTo>
                  <a:lnTo>
                    <a:pt x="548854" y="9359"/>
                  </a:lnTo>
                  <a:lnTo>
                    <a:pt x="503666" y="237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971800" y="62337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78" y="410730"/>
                  </a:lnTo>
                  <a:lnTo>
                    <a:pt x="9357" y="365544"/>
                  </a:lnTo>
                  <a:lnTo>
                    <a:pt x="20698" y="321868"/>
                  </a:lnTo>
                  <a:lnTo>
                    <a:pt x="36166" y="279946"/>
                  </a:lnTo>
                  <a:lnTo>
                    <a:pt x="55521" y="240017"/>
                  </a:lnTo>
                  <a:lnTo>
                    <a:pt x="78527" y="202323"/>
                  </a:lnTo>
                  <a:lnTo>
                    <a:pt x="104947" y="167081"/>
                  </a:lnTo>
                  <a:lnTo>
                    <a:pt x="134545" y="134543"/>
                  </a:lnTo>
                  <a:lnTo>
                    <a:pt x="167081" y="104952"/>
                  </a:lnTo>
                  <a:lnTo>
                    <a:pt x="202317" y="78524"/>
                  </a:lnTo>
                  <a:lnTo>
                    <a:pt x="240021" y="55524"/>
                  </a:lnTo>
                  <a:lnTo>
                    <a:pt x="279951" y="36169"/>
                  </a:lnTo>
                  <a:lnTo>
                    <a:pt x="321871" y="20700"/>
                  </a:lnTo>
                  <a:lnTo>
                    <a:pt x="365544" y="9359"/>
                  </a:lnTo>
                  <a:lnTo>
                    <a:pt x="410731" y="2374"/>
                  </a:lnTo>
                  <a:lnTo>
                    <a:pt x="457200" y="0"/>
                  </a:lnTo>
                  <a:lnTo>
                    <a:pt x="503666" y="2374"/>
                  </a:lnTo>
                  <a:lnTo>
                    <a:pt x="548854" y="9359"/>
                  </a:lnTo>
                  <a:lnTo>
                    <a:pt x="592527" y="20700"/>
                  </a:lnTo>
                  <a:lnTo>
                    <a:pt x="634447" y="36169"/>
                  </a:lnTo>
                  <a:lnTo>
                    <a:pt x="674377" y="55524"/>
                  </a:lnTo>
                  <a:lnTo>
                    <a:pt x="712081" y="78524"/>
                  </a:lnTo>
                  <a:lnTo>
                    <a:pt x="747317" y="104952"/>
                  </a:lnTo>
                  <a:lnTo>
                    <a:pt x="779853" y="134543"/>
                  </a:lnTo>
                  <a:lnTo>
                    <a:pt x="809451" y="167081"/>
                  </a:lnTo>
                  <a:lnTo>
                    <a:pt x="835870" y="202323"/>
                  </a:lnTo>
                  <a:lnTo>
                    <a:pt x="858876" y="240017"/>
                  </a:lnTo>
                  <a:lnTo>
                    <a:pt x="878231" y="279946"/>
                  </a:lnTo>
                  <a:lnTo>
                    <a:pt x="893700" y="321868"/>
                  </a:lnTo>
                  <a:lnTo>
                    <a:pt x="905041" y="365544"/>
                  </a:lnTo>
                  <a:lnTo>
                    <a:pt x="912020" y="410730"/>
                  </a:lnTo>
                  <a:lnTo>
                    <a:pt x="914400" y="457200"/>
                  </a:lnTo>
                  <a:lnTo>
                    <a:pt x="912020" y="503669"/>
                  </a:lnTo>
                  <a:lnTo>
                    <a:pt x="905041" y="548855"/>
                  </a:lnTo>
                  <a:lnTo>
                    <a:pt x="893700" y="592531"/>
                  </a:lnTo>
                  <a:lnTo>
                    <a:pt x="878231" y="634453"/>
                  </a:lnTo>
                  <a:lnTo>
                    <a:pt x="858876" y="674382"/>
                  </a:lnTo>
                  <a:lnTo>
                    <a:pt x="835870" y="712076"/>
                  </a:lnTo>
                  <a:lnTo>
                    <a:pt x="809451" y="747318"/>
                  </a:lnTo>
                  <a:lnTo>
                    <a:pt x="779853" y="779856"/>
                  </a:lnTo>
                  <a:lnTo>
                    <a:pt x="747317" y="809447"/>
                  </a:lnTo>
                  <a:lnTo>
                    <a:pt x="712081" y="835875"/>
                  </a:lnTo>
                  <a:lnTo>
                    <a:pt x="674377" y="858875"/>
                  </a:lnTo>
                  <a:lnTo>
                    <a:pt x="634447" y="878230"/>
                  </a:lnTo>
                  <a:lnTo>
                    <a:pt x="592527" y="893699"/>
                  </a:lnTo>
                  <a:lnTo>
                    <a:pt x="548854" y="905040"/>
                  </a:lnTo>
                  <a:lnTo>
                    <a:pt x="503666" y="912025"/>
                  </a:lnTo>
                  <a:lnTo>
                    <a:pt x="457200" y="914400"/>
                  </a:lnTo>
                  <a:lnTo>
                    <a:pt x="410731" y="912025"/>
                  </a:lnTo>
                  <a:lnTo>
                    <a:pt x="365544" y="905040"/>
                  </a:lnTo>
                  <a:lnTo>
                    <a:pt x="321871" y="893699"/>
                  </a:lnTo>
                  <a:lnTo>
                    <a:pt x="279951" y="878230"/>
                  </a:lnTo>
                  <a:lnTo>
                    <a:pt x="240021" y="858875"/>
                  </a:lnTo>
                  <a:lnTo>
                    <a:pt x="202317" y="835875"/>
                  </a:lnTo>
                  <a:lnTo>
                    <a:pt x="167081" y="809447"/>
                  </a:lnTo>
                  <a:lnTo>
                    <a:pt x="134545" y="779856"/>
                  </a:lnTo>
                  <a:lnTo>
                    <a:pt x="104947" y="747318"/>
                  </a:lnTo>
                  <a:lnTo>
                    <a:pt x="78527" y="712076"/>
                  </a:lnTo>
                  <a:lnTo>
                    <a:pt x="55521" y="674382"/>
                  </a:lnTo>
                  <a:lnTo>
                    <a:pt x="36166" y="634453"/>
                  </a:lnTo>
                  <a:lnTo>
                    <a:pt x="20698" y="592531"/>
                  </a:lnTo>
                  <a:lnTo>
                    <a:pt x="9357" y="548855"/>
                  </a:lnTo>
                  <a:lnTo>
                    <a:pt x="2378" y="503669"/>
                  </a:lnTo>
                  <a:lnTo>
                    <a:pt x="0" y="457200"/>
                  </a:lnTo>
                  <a:close/>
                </a:path>
              </a:pathLst>
            </a:custGeom>
            <a:ln w="380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00375" y="651948"/>
              <a:ext cx="857398" cy="857402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3176183" y="4601767"/>
            <a:ext cx="51371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attacks.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2474099" y="3758425"/>
          <a:ext cx="4332605" cy="925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7885"/>
                <a:gridCol w="2127885"/>
              </a:tblGrid>
              <a:tr h="294640">
                <a:tc>
                  <a:txBody>
                    <a:bodyPr/>
                    <a:lstStyle/>
                    <a:p>
                      <a:pPr marL="574040">
                        <a:lnSpc>
                          <a:spcPts val="790"/>
                        </a:lnSpc>
                      </a:pPr>
                      <a:r>
                        <a:rPr dirty="0" sz="13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Technical</a:t>
                      </a:r>
                      <a:endParaRPr sz="1300">
                        <a:latin typeface="Arial"/>
                        <a:cs typeface="Arial"/>
                      </a:endParaRPr>
                    </a:p>
                    <a:p>
                      <a:pPr marL="488315">
                        <a:lnSpc>
                          <a:spcPts val="1435"/>
                        </a:lnSpc>
                      </a:pPr>
                      <a:r>
                        <a:rPr dirty="0" sz="13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Robustness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571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Clear</a:t>
                      </a:r>
                      <a:r>
                        <a:rPr dirty="0" sz="1300" spc="-3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Accountability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algn="ctr" marL="125730" marR="330200" indent="31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05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Ensuring</a:t>
                      </a:r>
                      <a:r>
                        <a:rPr dirty="0" sz="1050" spc="-5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systems</a:t>
                      </a:r>
                      <a:r>
                        <a:rPr dirty="0" sz="1050" spc="-5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are </a:t>
                      </a: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reliable,</a:t>
                      </a:r>
                      <a:r>
                        <a:rPr dirty="0" sz="105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secure,</a:t>
                      </a:r>
                      <a:r>
                        <a:rPr dirty="0" sz="105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2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resilient </a:t>
                      </a:r>
                      <a:r>
                        <a:rPr dirty="0" sz="105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against </a:t>
                      </a: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adversarial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R w="571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269875">
                        <a:lnSpc>
                          <a:spcPts val="1120"/>
                        </a:lnSpc>
                      </a:pP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Establishing</a:t>
                      </a:r>
                      <a:r>
                        <a:rPr dirty="0" sz="1050" spc="2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human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algn="ctr" marL="238125" marR="505459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oversight</a:t>
                      </a: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defined roles</a:t>
                      </a:r>
                      <a:r>
                        <a:rPr dirty="0" sz="1050" spc="-4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050" spc="-4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algorithmic outcomes.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grpSp>
        <p:nvGrpSpPr>
          <p:cNvPr id="24" name="object 24" descr=""/>
          <p:cNvGrpSpPr/>
          <p:nvPr/>
        </p:nvGrpSpPr>
        <p:grpSpPr>
          <a:xfrm>
            <a:off x="4762500" y="604323"/>
            <a:ext cx="1524000" cy="3000375"/>
            <a:chOff x="4762500" y="604323"/>
            <a:chExt cx="1524000" cy="3000375"/>
          </a:xfrm>
        </p:grpSpPr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62500" y="1318704"/>
              <a:ext cx="1524000" cy="228600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067300" y="62337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731" y="2374"/>
                  </a:lnTo>
                  <a:lnTo>
                    <a:pt x="365544" y="9359"/>
                  </a:lnTo>
                  <a:lnTo>
                    <a:pt x="321871" y="20700"/>
                  </a:lnTo>
                  <a:lnTo>
                    <a:pt x="279951" y="36169"/>
                  </a:lnTo>
                  <a:lnTo>
                    <a:pt x="240021" y="55524"/>
                  </a:lnTo>
                  <a:lnTo>
                    <a:pt x="202317" y="78524"/>
                  </a:lnTo>
                  <a:lnTo>
                    <a:pt x="167081" y="104952"/>
                  </a:lnTo>
                  <a:lnTo>
                    <a:pt x="134545" y="134543"/>
                  </a:lnTo>
                  <a:lnTo>
                    <a:pt x="104947" y="167081"/>
                  </a:lnTo>
                  <a:lnTo>
                    <a:pt x="78527" y="202323"/>
                  </a:lnTo>
                  <a:lnTo>
                    <a:pt x="55521" y="240017"/>
                  </a:lnTo>
                  <a:lnTo>
                    <a:pt x="36166" y="279946"/>
                  </a:lnTo>
                  <a:lnTo>
                    <a:pt x="20698" y="321868"/>
                  </a:lnTo>
                  <a:lnTo>
                    <a:pt x="9357" y="365544"/>
                  </a:lnTo>
                  <a:lnTo>
                    <a:pt x="2378" y="410730"/>
                  </a:lnTo>
                  <a:lnTo>
                    <a:pt x="0" y="457200"/>
                  </a:lnTo>
                  <a:lnTo>
                    <a:pt x="2378" y="503669"/>
                  </a:lnTo>
                  <a:lnTo>
                    <a:pt x="9357" y="548855"/>
                  </a:lnTo>
                  <a:lnTo>
                    <a:pt x="20698" y="592531"/>
                  </a:lnTo>
                  <a:lnTo>
                    <a:pt x="36166" y="634453"/>
                  </a:lnTo>
                  <a:lnTo>
                    <a:pt x="55521" y="674382"/>
                  </a:lnTo>
                  <a:lnTo>
                    <a:pt x="78527" y="712076"/>
                  </a:lnTo>
                  <a:lnTo>
                    <a:pt x="104947" y="747318"/>
                  </a:lnTo>
                  <a:lnTo>
                    <a:pt x="134545" y="779856"/>
                  </a:lnTo>
                  <a:lnTo>
                    <a:pt x="167081" y="809447"/>
                  </a:lnTo>
                  <a:lnTo>
                    <a:pt x="202317" y="835875"/>
                  </a:lnTo>
                  <a:lnTo>
                    <a:pt x="240021" y="858875"/>
                  </a:lnTo>
                  <a:lnTo>
                    <a:pt x="279951" y="878230"/>
                  </a:lnTo>
                  <a:lnTo>
                    <a:pt x="321871" y="893699"/>
                  </a:lnTo>
                  <a:lnTo>
                    <a:pt x="365544" y="905040"/>
                  </a:lnTo>
                  <a:lnTo>
                    <a:pt x="410731" y="912025"/>
                  </a:lnTo>
                  <a:lnTo>
                    <a:pt x="457200" y="914400"/>
                  </a:lnTo>
                  <a:lnTo>
                    <a:pt x="503666" y="912025"/>
                  </a:lnTo>
                  <a:lnTo>
                    <a:pt x="548854" y="905040"/>
                  </a:lnTo>
                  <a:lnTo>
                    <a:pt x="592527" y="893699"/>
                  </a:lnTo>
                  <a:lnTo>
                    <a:pt x="634447" y="878230"/>
                  </a:lnTo>
                  <a:lnTo>
                    <a:pt x="674377" y="858875"/>
                  </a:lnTo>
                  <a:lnTo>
                    <a:pt x="712081" y="835875"/>
                  </a:lnTo>
                  <a:lnTo>
                    <a:pt x="747317" y="809447"/>
                  </a:lnTo>
                  <a:lnTo>
                    <a:pt x="779853" y="779856"/>
                  </a:lnTo>
                  <a:lnTo>
                    <a:pt x="809451" y="747318"/>
                  </a:lnTo>
                  <a:lnTo>
                    <a:pt x="835870" y="712076"/>
                  </a:lnTo>
                  <a:lnTo>
                    <a:pt x="858876" y="674382"/>
                  </a:lnTo>
                  <a:lnTo>
                    <a:pt x="878231" y="634453"/>
                  </a:lnTo>
                  <a:lnTo>
                    <a:pt x="893700" y="592531"/>
                  </a:lnTo>
                  <a:lnTo>
                    <a:pt x="905041" y="548855"/>
                  </a:lnTo>
                  <a:lnTo>
                    <a:pt x="912020" y="503669"/>
                  </a:lnTo>
                  <a:lnTo>
                    <a:pt x="914400" y="457200"/>
                  </a:lnTo>
                  <a:lnTo>
                    <a:pt x="912020" y="410730"/>
                  </a:lnTo>
                  <a:lnTo>
                    <a:pt x="905041" y="365544"/>
                  </a:lnTo>
                  <a:lnTo>
                    <a:pt x="893700" y="321868"/>
                  </a:lnTo>
                  <a:lnTo>
                    <a:pt x="878231" y="279946"/>
                  </a:lnTo>
                  <a:lnTo>
                    <a:pt x="858876" y="240017"/>
                  </a:lnTo>
                  <a:lnTo>
                    <a:pt x="835870" y="202323"/>
                  </a:lnTo>
                  <a:lnTo>
                    <a:pt x="809451" y="167081"/>
                  </a:lnTo>
                  <a:lnTo>
                    <a:pt x="779853" y="134543"/>
                  </a:lnTo>
                  <a:lnTo>
                    <a:pt x="747317" y="104952"/>
                  </a:lnTo>
                  <a:lnTo>
                    <a:pt x="712081" y="78524"/>
                  </a:lnTo>
                  <a:lnTo>
                    <a:pt x="674377" y="55524"/>
                  </a:lnTo>
                  <a:lnTo>
                    <a:pt x="634447" y="36169"/>
                  </a:lnTo>
                  <a:lnTo>
                    <a:pt x="592527" y="20700"/>
                  </a:lnTo>
                  <a:lnTo>
                    <a:pt x="548854" y="9359"/>
                  </a:lnTo>
                  <a:lnTo>
                    <a:pt x="503666" y="237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067300" y="62337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78" y="410730"/>
                  </a:lnTo>
                  <a:lnTo>
                    <a:pt x="9357" y="365544"/>
                  </a:lnTo>
                  <a:lnTo>
                    <a:pt x="20698" y="321868"/>
                  </a:lnTo>
                  <a:lnTo>
                    <a:pt x="36166" y="279946"/>
                  </a:lnTo>
                  <a:lnTo>
                    <a:pt x="55521" y="240017"/>
                  </a:lnTo>
                  <a:lnTo>
                    <a:pt x="78527" y="202323"/>
                  </a:lnTo>
                  <a:lnTo>
                    <a:pt x="104947" y="167081"/>
                  </a:lnTo>
                  <a:lnTo>
                    <a:pt x="134545" y="134543"/>
                  </a:lnTo>
                  <a:lnTo>
                    <a:pt x="167081" y="104952"/>
                  </a:lnTo>
                  <a:lnTo>
                    <a:pt x="202317" y="78524"/>
                  </a:lnTo>
                  <a:lnTo>
                    <a:pt x="240021" y="55524"/>
                  </a:lnTo>
                  <a:lnTo>
                    <a:pt x="279951" y="36169"/>
                  </a:lnTo>
                  <a:lnTo>
                    <a:pt x="321871" y="20700"/>
                  </a:lnTo>
                  <a:lnTo>
                    <a:pt x="365544" y="9359"/>
                  </a:lnTo>
                  <a:lnTo>
                    <a:pt x="410731" y="2374"/>
                  </a:lnTo>
                  <a:lnTo>
                    <a:pt x="457200" y="0"/>
                  </a:lnTo>
                  <a:lnTo>
                    <a:pt x="503666" y="2374"/>
                  </a:lnTo>
                  <a:lnTo>
                    <a:pt x="548854" y="9359"/>
                  </a:lnTo>
                  <a:lnTo>
                    <a:pt x="592527" y="20700"/>
                  </a:lnTo>
                  <a:lnTo>
                    <a:pt x="634447" y="36169"/>
                  </a:lnTo>
                  <a:lnTo>
                    <a:pt x="674377" y="55524"/>
                  </a:lnTo>
                  <a:lnTo>
                    <a:pt x="712081" y="78524"/>
                  </a:lnTo>
                  <a:lnTo>
                    <a:pt x="747317" y="104952"/>
                  </a:lnTo>
                  <a:lnTo>
                    <a:pt x="779853" y="134543"/>
                  </a:lnTo>
                  <a:lnTo>
                    <a:pt x="809451" y="167081"/>
                  </a:lnTo>
                  <a:lnTo>
                    <a:pt x="835870" y="202323"/>
                  </a:lnTo>
                  <a:lnTo>
                    <a:pt x="858876" y="240017"/>
                  </a:lnTo>
                  <a:lnTo>
                    <a:pt x="878231" y="279946"/>
                  </a:lnTo>
                  <a:lnTo>
                    <a:pt x="893700" y="321868"/>
                  </a:lnTo>
                  <a:lnTo>
                    <a:pt x="905041" y="365544"/>
                  </a:lnTo>
                  <a:lnTo>
                    <a:pt x="912020" y="410730"/>
                  </a:lnTo>
                  <a:lnTo>
                    <a:pt x="914400" y="457200"/>
                  </a:lnTo>
                  <a:lnTo>
                    <a:pt x="912020" y="503669"/>
                  </a:lnTo>
                  <a:lnTo>
                    <a:pt x="905041" y="548855"/>
                  </a:lnTo>
                  <a:lnTo>
                    <a:pt x="893700" y="592531"/>
                  </a:lnTo>
                  <a:lnTo>
                    <a:pt x="878231" y="634453"/>
                  </a:lnTo>
                  <a:lnTo>
                    <a:pt x="858876" y="674382"/>
                  </a:lnTo>
                  <a:lnTo>
                    <a:pt x="835870" y="712076"/>
                  </a:lnTo>
                  <a:lnTo>
                    <a:pt x="809451" y="747318"/>
                  </a:lnTo>
                  <a:lnTo>
                    <a:pt x="779853" y="779856"/>
                  </a:lnTo>
                  <a:lnTo>
                    <a:pt x="747317" y="809447"/>
                  </a:lnTo>
                  <a:lnTo>
                    <a:pt x="712081" y="835875"/>
                  </a:lnTo>
                  <a:lnTo>
                    <a:pt x="674377" y="858875"/>
                  </a:lnTo>
                  <a:lnTo>
                    <a:pt x="634447" y="878230"/>
                  </a:lnTo>
                  <a:lnTo>
                    <a:pt x="592527" y="893699"/>
                  </a:lnTo>
                  <a:lnTo>
                    <a:pt x="548854" y="905040"/>
                  </a:lnTo>
                  <a:lnTo>
                    <a:pt x="503666" y="912025"/>
                  </a:lnTo>
                  <a:lnTo>
                    <a:pt x="457200" y="914400"/>
                  </a:lnTo>
                  <a:lnTo>
                    <a:pt x="410731" y="912025"/>
                  </a:lnTo>
                  <a:lnTo>
                    <a:pt x="365544" y="905040"/>
                  </a:lnTo>
                  <a:lnTo>
                    <a:pt x="321871" y="893699"/>
                  </a:lnTo>
                  <a:lnTo>
                    <a:pt x="279951" y="878230"/>
                  </a:lnTo>
                  <a:lnTo>
                    <a:pt x="240021" y="858875"/>
                  </a:lnTo>
                  <a:lnTo>
                    <a:pt x="202317" y="835875"/>
                  </a:lnTo>
                  <a:lnTo>
                    <a:pt x="167081" y="809447"/>
                  </a:lnTo>
                  <a:lnTo>
                    <a:pt x="134545" y="779856"/>
                  </a:lnTo>
                  <a:lnTo>
                    <a:pt x="104947" y="747318"/>
                  </a:lnTo>
                  <a:lnTo>
                    <a:pt x="78527" y="712076"/>
                  </a:lnTo>
                  <a:lnTo>
                    <a:pt x="55521" y="674382"/>
                  </a:lnTo>
                  <a:lnTo>
                    <a:pt x="36166" y="634453"/>
                  </a:lnTo>
                  <a:lnTo>
                    <a:pt x="20698" y="592531"/>
                  </a:lnTo>
                  <a:lnTo>
                    <a:pt x="9357" y="548855"/>
                  </a:lnTo>
                  <a:lnTo>
                    <a:pt x="2378" y="503669"/>
                  </a:lnTo>
                  <a:lnTo>
                    <a:pt x="0" y="457200"/>
                  </a:lnTo>
                  <a:close/>
                </a:path>
              </a:pathLst>
            </a:custGeom>
            <a:ln w="380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95875" y="651948"/>
              <a:ext cx="857398" cy="857402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6958850" y="604323"/>
            <a:ext cx="1524000" cy="3000375"/>
            <a:chOff x="6958850" y="604323"/>
            <a:chExt cx="1524000" cy="3000375"/>
          </a:xfrm>
        </p:grpSpPr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58850" y="1318704"/>
              <a:ext cx="1524000" cy="228600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7263650" y="62337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731" y="2374"/>
                  </a:lnTo>
                  <a:lnTo>
                    <a:pt x="365544" y="9359"/>
                  </a:lnTo>
                  <a:lnTo>
                    <a:pt x="321871" y="20700"/>
                  </a:lnTo>
                  <a:lnTo>
                    <a:pt x="279951" y="36169"/>
                  </a:lnTo>
                  <a:lnTo>
                    <a:pt x="240021" y="55524"/>
                  </a:lnTo>
                  <a:lnTo>
                    <a:pt x="202317" y="78524"/>
                  </a:lnTo>
                  <a:lnTo>
                    <a:pt x="167081" y="104952"/>
                  </a:lnTo>
                  <a:lnTo>
                    <a:pt x="134545" y="134543"/>
                  </a:lnTo>
                  <a:lnTo>
                    <a:pt x="104947" y="167081"/>
                  </a:lnTo>
                  <a:lnTo>
                    <a:pt x="78527" y="202323"/>
                  </a:lnTo>
                  <a:lnTo>
                    <a:pt x="55521" y="240017"/>
                  </a:lnTo>
                  <a:lnTo>
                    <a:pt x="36166" y="279946"/>
                  </a:lnTo>
                  <a:lnTo>
                    <a:pt x="20698" y="321868"/>
                  </a:lnTo>
                  <a:lnTo>
                    <a:pt x="9357" y="365544"/>
                  </a:lnTo>
                  <a:lnTo>
                    <a:pt x="2378" y="410730"/>
                  </a:lnTo>
                  <a:lnTo>
                    <a:pt x="0" y="457200"/>
                  </a:lnTo>
                  <a:lnTo>
                    <a:pt x="2378" y="503669"/>
                  </a:lnTo>
                  <a:lnTo>
                    <a:pt x="9357" y="548855"/>
                  </a:lnTo>
                  <a:lnTo>
                    <a:pt x="20698" y="592531"/>
                  </a:lnTo>
                  <a:lnTo>
                    <a:pt x="36166" y="634453"/>
                  </a:lnTo>
                  <a:lnTo>
                    <a:pt x="55521" y="674382"/>
                  </a:lnTo>
                  <a:lnTo>
                    <a:pt x="78527" y="712076"/>
                  </a:lnTo>
                  <a:lnTo>
                    <a:pt x="104947" y="747318"/>
                  </a:lnTo>
                  <a:lnTo>
                    <a:pt x="134545" y="779856"/>
                  </a:lnTo>
                  <a:lnTo>
                    <a:pt x="167081" y="809447"/>
                  </a:lnTo>
                  <a:lnTo>
                    <a:pt x="202317" y="835875"/>
                  </a:lnTo>
                  <a:lnTo>
                    <a:pt x="240021" y="858875"/>
                  </a:lnTo>
                  <a:lnTo>
                    <a:pt x="279951" y="878230"/>
                  </a:lnTo>
                  <a:lnTo>
                    <a:pt x="321871" y="893699"/>
                  </a:lnTo>
                  <a:lnTo>
                    <a:pt x="365544" y="905040"/>
                  </a:lnTo>
                  <a:lnTo>
                    <a:pt x="410731" y="912025"/>
                  </a:lnTo>
                  <a:lnTo>
                    <a:pt x="457200" y="914400"/>
                  </a:lnTo>
                  <a:lnTo>
                    <a:pt x="503666" y="912025"/>
                  </a:lnTo>
                  <a:lnTo>
                    <a:pt x="548854" y="905040"/>
                  </a:lnTo>
                  <a:lnTo>
                    <a:pt x="592527" y="893699"/>
                  </a:lnTo>
                  <a:lnTo>
                    <a:pt x="634447" y="878230"/>
                  </a:lnTo>
                  <a:lnTo>
                    <a:pt x="674377" y="858875"/>
                  </a:lnTo>
                  <a:lnTo>
                    <a:pt x="712081" y="835875"/>
                  </a:lnTo>
                  <a:lnTo>
                    <a:pt x="747317" y="809447"/>
                  </a:lnTo>
                  <a:lnTo>
                    <a:pt x="779853" y="779856"/>
                  </a:lnTo>
                  <a:lnTo>
                    <a:pt x="809451" y="747318"/>
                  </a:lnTo>
                  <a:lnTo>
                    <a:pt x="835870" y="712076"/>
                  </a:lnTo>
                  <a:lnTo>
                    <a:pt x="858876" y="674382"/>
                  </a:lnTo>
                  <a:lnTo>
                    <a:pt x="878231" y="634453"/>
                  </a:lnTo>
                  <a:lnTo>
                    <a:pt x="893700" y="592531"/>
                  </a:lnTo>
                  <a:lnTo>
                    <a:pt x="905041" y="548855"/>
                  </a:lnTo>
                  <a:lnTo>
                    <a:pt x="912020" y="503669"/>
                  </a:lnTo>
                  <a:lnTo>
                    <a:pt x="914400" y="457200"/>
                  </a:lnTo>
                  <a:lnTo>
                    <a:pt x="912020" y="410730"/>
                  </a:lnTo>
                  <a:lnTo>
                    <a:pt x="905041" y="365544"/>
                  </a:lnTo>
                  <a:lnTo>
                    <a:pt x="893700" y="321868"/>
                  </a:lnTo>
                  <a:lnTo>
                    <a:pt x="878231" y="279946"/>
                  </a:lnTo>
                  <a:lnTo>
                    <a:pt x="858876" y="240017"/>
                  </a:lnTo>
                  <a:lnTo>
                    <a:pt x="835870" y="202323"/>
                  </a:lnTo>
                  <a:lnTo>
                    <a:pt x="809451" y="167081"/>
                  </a:lnTo>
                  <a:lnTo>
                    <a:pt x="779853" y="134543"/>
                  </a:lnTo>
                  <a:lnTo>
                    <a:pt x="747317" y="104952"/>
                  </a:lnTo>
                  <a:lnTo>
                    <a:pt x="712081" y="78524"/>
                  </a:lnTo>
                  <a:lnTo>
                    <a:pt x="674377" y="55524"/>
                  </a:lnTo>
                  <a:lnTo>
                    <a:pt x="634447" y="36169"/>
                  </a:lnTo>
                  <a:lnTo>
                    <a:pt x="592527" y="20700"/>
                  </a:lnTo>
                  <a:lnTo>
                    <a:pt x="548854" y="9359"/>
                  </a:lnTo>
                  <a:lnTo>
                    <a:pt x="503666" y="237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263650" y="62337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78" y="410730"/>
                  </a:lnTo>
                  <a:lnTo>
                    <a:pt x="9357" y="365544"/>
                  </a:lnTo>
                  <a:lnTo>
                    <a:pt x="20698" y="321868"/>
                  </a:lnTo>
                  <a:lnTo>
                    <a:pt x="36166" y="279946"/>
                  </a:lnTo>
                  <a:lnTo>
                    <a:pt x="55521" y="240017"/>
                  </a:lnTo>
                  <a:lnTo>
                    <a:pt x="78527" y="202323"/>
                  </a:lnTo>
                  <a:lnTo>
                    <a:pt x="104947" y="167081"/>
                  </a:lnTo>
                  <a:lnTo>
                    <a:pt x="134545" y="134543"/>
                  </a:lnTo>
                  <a:lnTo>
                    <a:pt x="167081" y="104952"/>
                  </a:lnTo>
                  <a:lnTo>
                    <a:pt x="202317" y="78524"/>
                  </a:lnTo>
                  <a:lnTo>
                    <a:pt x="240021" y="55524"/>
                  </a:lnTo>
                  <a:lnTo>
                    <a:pt x="279951" y="36169"/>
                  </a:lnTo>
                  <a:lnTo>
                    <a:pt x="321871" y="20700"/>
                  </a:lnTo>
                  <a:lnTo>
                    <a:pt x="365544" y="9359"/>
                  </a:lnTo>
                  <a:lnTo>
                    <a:pt x="410731" y="2374"/>
                  </a:lnTo>
                  <a:lnTo>
                    <a:pt x="457200" y="0"/>
                  </a:lnTo>
                  <a:lnTo>
                    <a:pt x="503666" y="2374"/>
                  </a:lnTo>
                  <a:lnTo>
                    <a:pt x="548854" y="9359"/>
                  </a:lnTo>
                  <a:lnTo>
                    <a:pt x="592527" y="20700"/>
                  </a:lnTo>
                  <a:lnTo>
                    <a:pt x="634447" y="36169"/>
                  </a:lnTo>
                  <a:lnTo>
                    <a:pt x="674377" y="55524"/>
                  </a:lnTo>
                  <a:lnTo>
                    <a:pt x="712081" y="78524"/>
                  </a:lnTo>
                  <a:lnTo>
                    <a:pt x="747317" y="104952"/>
                  </a:lnTo>
                  <a:lnTo>
                    <a:pt x="779853" y="134543"/>
                  </a:lnTo>
                  <a:lnTo>
                    <a:pt x="809451" y="167081"/>
                  </a:lnTo>
                  <a:lnTo>
                    <a:pt x="835870" y="202323"/>
                  </a:lnTo>
                  <a:lnTo>
                    <a:pt x="858876" y="240017"/>
                  </a:lnTo>
                  <a:lnTo>
                    <a:pt x="878231" y="279946"/>
                  </a:lnTo>
                  <a:lnTo>
                    <a:pt x="893700" y="321868"/>
                  </a:lnTo>
                  <a:lnTo>
                    <a:pt x="905041" y="365544"/>
                  </a:lnTo>
                  <a:lnTo>
                    <a:pt x="912020" y="410730"/>
                  </a:lnTo>
                  <a:lnTo>
                    <a:pt x="914400" y="457200"/>
                  </a:lnTo>
                  <a:lnTo>
                    <a:pt x="912020" y="503669"/>
                  </a:lnTo>
                  <a:lnTo>
                    <a:pt x="905041" y="548855"/>
                  </a:lnTo>
                  <a:lnTo>
                    <a:pt x="893700" y="592531"/>
                  </a:lnTo>
                  <a:lnTo>
                    <a:pt x="878231" y="634453"/>
                  </a:lnTo>
                  <a:lnTo>
                    <a:pt x="858876" y="674382"/>
                  </a:lnTo>
                  <a:lnTo>
                    <a:pt x="835870" y="712076"/>
                  </a:lnTo>
                  <a:lnTo>
                    <a:pt x="809451" y="747318"/>
                  </a:lnTo>
                  <a:lnTo>
                    <a:pt x="779853" y="779856"/>
                  </a:lnTo>
                  <a:lnTo>
                    <a:pt x="747317" y="809447"/>
                  </a:lnTo>
                  <a:lnTo>
                    <a:pt x="712081" y="835875"/>
                  </a:lnTo>
                  <a:lnTo>
                    <a:pt x="674377" y="858875"/>
                  </a:lnTo>
                  <a:lnTo>
                    <a:pt x="634447" y="878230"/>
                  </a:lnTo>
                  <a:lnTo>
                    <a:pt x="592527" y="893699"/>
                  </a:lnTo>
                  <a:lnTo>
                    <a:pt x="548854" y="905040"/>
                  </a:lnTo>
                  <a:lnTo>
                    <a:pt x="503666" y="912025"/>
                  </a:lnTo>
                  <a:lnTo>
                    <a:pt x="457200" y="914400"/>
                  </a:lnTo>
                  <a:lnTo>
                    <a:pt x="410731" y="912025"/>
                  </a:lnTo>
                  <a:lnTo>
                    <a:pt x="365544" y="905040"/>
                  </a:lnTo>
                  <a:lnTo>
                    <a:pt x="321871" y="893699"/>
                  </a:lnTo>
                  <a:lnTo>
                    <a:pt x="279951" y="878230"/>
                  </a:lnTo>
                  <a:lnTo>
                    <a:pt x="240021" y="858875"/>
                  </a:lnTo>
                  <a:lnTo>
                    <a:pt x="202317" y="835875"/>
                  </a:lnTo>
                  <a:lnTo>
                    <a:pt x="167081" y="809447"/>
                  </a:lnTo>
                  <a:lnTo>
                    <a:pt x="134545" y="779856"/>
                  </a:lnTo>
                  <a:lnTo>
                    <a:pt x="104947" y="747318"/>
                  </a:lnTo>
                  <a:lnTo>
                    <a:pt x="78527" y="712076"/>
                  </a:lnTo>
                  <a:lnTo>
                    <a:pt x="55521" y="674382"/>
                  </a:lnTo>
                  <a:lnTo>
                    <a:pt x="36166" y="634453"/>
                  </a:lnTo>
                  <a:lnTo>
                    <a:pt x="20698" y="592531"/>
                  </a:lnTo>
                  <a:lnTo>
                    <a:pt x="9357" y="548855"/>
                  </a:lnTo>
                  <a:lnTo>
                    <a:pt x="2378" y="503669"/>
                  </a:lnTo>
                  <a:lnTo>
                    <a:pt x="0" y="457200"/>
                  </a:lnTo>
                  <a:close/>
                </a:path>
              </a:pathLst>
            </a:custGeom>
            <a:ln w="380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92225" y="651948"/>
              <a:ext cx="857398" cy="857402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6916995" y="3651060"/>
            <a:ext cx="1609725" cy="103759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300" b="1">
                <a:solidFill>
                  <a:srgbClr val="1F1F1F"/>
                </a:solidFill>
                <a:latin typeface="Arial"/>
                <a:cs typeface="Arial"/>
              </a:rPr>
              <a:t>Social</a:t>
            </a:r>
            <a:r>
              <a:rPr dirty="0" sz="1300" spc="-8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F1F1F"/>
                </a:solidFill>
                <a:latin typeface="Arial"/>
                <a:cs typeface="Arial"/>
              </a:rPr>
              <a:t>Sustainability</a:t>
            </a:r>
            <a:endParaRPr sz="1300">
              <a:latin typeface="Arial"/>
              <a:cs typeface="Arial"/>
            </a:endParaRPr>
          </a:p>
          <a:p>
            <a:pPr algn="ctr" marL="31750" marR="17145" indent="635">
              <a:lnSpc>
                <a:spcPct val="100000"/>
              </a:lnSpc>
              <a:spcBef>
                <a:spcPts val="610"/>
              </a:spcBef>
            </a:pP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Mitigating</a:t>
            </a:r>
            <a:r>
              <a:rPr dirty="0" sz="1050" spc="1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F1F1F"/>
                </a:solidFill>
                <a:latin typeface="Arial"/>
                <a:cs typeface="Arial"/>
              </a:rPr>
              <a:t>the </a:t>
            </a: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environmental</a:t>
            </a:r>
            <a:r>
              <a:rPr dirty="0" sz="1050" spc="1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footprint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and</a:t>
            </a:r>
            <a:r>
              <a:rPr dirty="0" sz="1050" spc="-5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broader</a:t>
            </a:r>
            <a:r>
              <a:rPr dirty="0" sz="1050" spc="-4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social</a:t>
            </a:r>
            <a:r>
              <a:rPr dirty="0" sz="1050" spc="-4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1F1F1F"/>
                </a:solidFill>
                <a:latin typeface="Arial"/>
                <a:cs typeface="Arial"/>
              </a:rPr>
              <a:t>costs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of</a:t>
            </a: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F1F1F"/>
                </a:solidFill>
                <a:latin typeface="Arial"/>
                <a:cs typeface="Arial"/>
              </a:rPr>
              <a:t>AI </a:t>
            </a:r>
            <a:r>
              <a:rPr dirty="0" sz="1050" spc="-10" b="1">
                <a:solidFill>
                  <a:srgbClr val="1F1F1F"/>
                </a:solidFill>
                <a:latin typeface="Arial"/>
                <a:cs typeface="Arial"/>
              </a:rPr>
              <a:t>models.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29500" y="4644897"/>
            <a:ext cx="1714500" cy="498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5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Knowledge</a:t>
            </a:r>
            <a:r>
              <a:rPr dirty="0" spc="-20"/>
              <a:t> </a:t>
            </a:r>
            <a:r>
              <a:rPr dirty="0" spc="-10"/>
              <a:t>Check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71500" y="1047750"/>
            <a:ext cx="4000500" cy="952500"/>
          </a:xfrm>
          <a:custGeom>
            <a:avLst/>
            <a:gdLst/>
            <a:ahLst/>
            <a:cxnLst/>
            <a:rect l="l" t="t" r="r" b="b"/>
            <a:pathLst>
              <a:path w="4000500" h="952500">
                <a:moveTo>
                  <a:pt x="3905250" y="0"/>
                </a:moveTo>
                <a:lnTo>
                  <a:pt x="95248" y="0"/>
                </a:lnTo>
                <a:lnTo>
                  <a:pt x="58322" y="7531"/>
                </a:lnTo>
                <a:lnTo>
                  <a:pt x="28029" y="28028"/>
                </a:lnTo>
                <a:lnTo>
                  <a:pt x="7533" y="58331"/>
                </a:lnTo>
                <a:lnTo>
                  <a:pt x="0" y="95250"/>
                </a:lnTo>
                <a:lnTo>
                  <a:pt x="0" y="857250"/>
                </a:lnTo>
                <a:lnTo>
                  <a:pt x="7533" y="894168"/>
                </a:lnTo>
                <a:lnTo>
                  <a:pt x="28029" y="924471"/>
                </a:lnTo>
                <a:lnTo>
                  <a:pt x="58322" y="944968"/>
                </a:lnTo>
                <a:lnTo>
                  <a:pt x="95248" y="952500"/>
                </a:lnTo>
                <a:lnTo>
                  <a:pt x="3905250" y="952500"/>
                </a:lnTo>
                <a:lnTo>
                  <a:pt x="3942168" y="944968"/>
                </a:lnTo>
                <a:lnTo>
                  <a:pt x="3972471" y="924471"/>
                </a:lnTo>
                <a:lnTo>
                  <a:pt x="3992968" y="894168"/>
                </a:lnTo>
                <a:lnTo>
                  <a:pt x="4000500" y="857250"/>
                </a:lnTo>
                <a:lnTo>
                  <a:pt x="4000500" y="95250"/>
                </a:lnTo>
                <a:lnTo>
                  <a:pt x="3992968" y="58331"/>
                </a:lnTo>
                <a:lnTo>
                  <a:pt x="3972471" y="28028"/>
                </a:lnTo>
                <a:lnTo>
                  <a:pt x="3942168" y="7531"/>
                </a:lnTo>
                <a:lnTo>
                  <a:pt x="3905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49299" y="1227302"/>
            <a:ext cx="29419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1F3E"/>
                </a:solidFill>
                <a:latin typeface="Arial"/>
                <a:cs typeface="Arial"/>
              </a:rPr>
              <a:t>What</a:t>
            </a:r>
            <a:r>
              <a:rPr dirty="0" sz="18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1F3E"/>
                </a:solidFill>
                <a:latin typeface="Arial"/>
                <a:cs typeface="Arial"/>
              </a:rPr>
              <a:t>is</a:t>
            </a:r>
            <a:r>
              <a:rPr dirty="0" sz="1800" spc="-4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1F3E"/>
                </a:solidFill>
                <a:latin typeface="Arial"/>
                <a:cs typeface="Arial"/>
              </a:rPr>
              <a:t>the</a:t>
            </a:r>
            <a:r>
              <a:rPr dirty="0" sz="1800" spc="-4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1F3E"/>
                </a:solidFill>
                <a:latin typeface="Arial"/>
                <a:cs typeface="Arial"/>
              </a:rPr>
              <a:t>primary</a:t>
            </a:r>
            <a:r>
              <a:rPr dirty="0" sz="1800" spc="-5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1F3E"/>
                </a:solidFill>
                <a:latin typeface="Arial"/>
                <a:cs typeface="Arial"/>
              </a:rPr>
              <a:t>goal</a:t>
            </a:r>
            <a:r>
              <a:rPr dirty="0" sz="1800" spc="-4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01F3E"/>
                </a:solidFill>
                <a:latin typeface="Arial"/>
                <a:cs typeface="Arial"/>
              </a:rPr>
              <a:t>of </a:t>
            </a:r>
            <a:r>
              <a:rPr dirty="0" sz="1800" b="1">
                <a:solidFill>
                  <a:srgbClr val="001F3E"/>
                </a:solidFill>
                <a:latin typeface="Arial"/>
                <a:cs typeface="Arial"/>
              </a:rPr>
              <a:t>Explainable</a:t>
            </a:r>
            <a:r>
              <a:rPr dirty="0" sz="1800" spc="-4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1F3E"/>
                </a:solidFill>
                <a:latin typeface="Arial"/>
                <a:cs typeface="Arial"/>
              </a:rPr>
              <a:t>AI</a:t>
            </a:r>
            <a:r>
              <a:rPr dirty="0" sz="1800" spc="-30" b="1">
                <a:solidFill>
                  <a:srgbClr val="001F3E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1F3E"/>
                </a:solidFill>
                <a:latin typeface="Arial"/>
                <a:cs typeface="Arial"/>
              </a:rPr>
              <a:t>(XAI)?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71500" y="2190750"/>
            <a:ext cx="4000500" cy="571500"/>
          </a:xfrm>
          <a:custGeom>
            <a:avLst/>
            <a:gdLst/>
            <a:ahLst/>
            <a:cxnLst/>
            <a:rect l="l" t="t" r="r" b="b"/>
            <a:pathLst>
              <a:path w="4000500" h="571500">
                <a:moveTo>
                  <a:pt x="3924300" y="0"/>
                </a:moveTo>
                <a:lnTo>
                  <a:pt x="76196" y="0"/>
                </a:lnTo>
                <a:lnTo>
                  <a:pt x="46656" y="6019"/>
                </a:lnTo>
                <a:lnTo>
                  <a:pt x="22422" y="22415"/>
                </a:lnTo>
                <a:lnTo>
                  <a:pt x="6026" y="46659"/>
                </a:lnTo>
                <a:lnTo>
                  <a:pt x="0" y="76200"/>
                </a:lnTo>
                <a:lnTo>
                  <a:pt x="0" y="495300"/>
                </a:lnTo>
                <a:lnTo>
                  <a:pt x="6026" y="524840"/>
                </a:lnTo>
                <a:lnTo>
                  <a:pt x="22422" y="549071"/>
                </a:lnTo>
                <a:lnTo>
                  <a:pt x="46656" y="565467"/>
                </a:lnTo>
                <a:lnTo>
                  <a:pt x="76196" y="571500"/>
                </a:lnTo>
                <a:lnTo>
                  <a:pt x="3924300" y="571500"/>
                </a:lnTo>
                <a:lnTo>
                  <a:pt x="3953840" y="565467"/>
                </a:lnTo>
                <a:lnTo>
                  <a:pt x="3978071" y="549071"/>
                </a:lnTo>
                <a:lnTo>
                  <a:pt x="3994467" y="524840"/>
                </a:lnTo>
                <a:lnTo>
                  <a:pt x="4000500" y="495300"/>
                </a:lnTo>
                <a:lnTo>
                  <a:pt x="4000500" y="76200"/>
                </a:lnTo>
                <a:lnTo>
                  <a:pt x="3994467" y="46659"/>
                </a:lnTo>
                <a:lnTo>
                  <a:pt x="3978071" y="22415"/>
                </a:lnTo>
                <a:lnTo>
                  <a:pt x="3953840" y="6019"/>
                </a:lnTo>
                <a:lnTo>
                  <a:pt x="3924300" y="0"/>
                </a:lnTo>
                <a:close/>
              </a:path>
            </a:pathLst>
          </a:custGeom>
          <a:solidFill>
            <a:srgbClr val="001F3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552449" y="2933700"/>
            <a:ext cx="4038600" cy="609600"/>
            <a:chOff x="552449" y="2933700"/>
            <a:chExt cx="4038600" cy="609600"/>
          </a:xfrm>
        </p:grpSpPr>
        <p:sp>
          <p:nvSpPr>
            <p:cNvPr id="7" name="object 7" descr=""/>
            <p:cNvSpPr/>
            <p:nvPr/>
          </p:nvSpPr>
          <p:spPr>
            <a:xfrm>
              <a:off x="571498" y="2952750"/>
              <a:ext cx="4000500" cy="571500"/>
            </a:xfrm>
            <a:custGeom>
              <a:avLst/>
              <a:gdLst/>
              <a:ahLst/>
              <a:cxnLst/>
              <a:rect l="l" t="t" r="r" b="b"/>
              <a:pathLst>
                <a:path w="4000500" h="571500">
                  <a:moveTo>
                    <a:pt x="3924300" y="0"/>
                  </a:moveTo>
                  <a:lnTo>
                    <a:pt x="76196" y="0"/>
                  </a:lnTo>
                  <a:lnTo>
                    <a:pt x="46656" y="6019"/>
                  </a:lnTo>
                  <a:lnTo>
                    <a:pt x="22422" y="22415"/>
                  </a:lnTo>
                  <a:lnTo>
                    <a:pt x="6026" y="46659"/>
                  </a:lnTo>
                  <a:lnTo>
                    <a:pt x="0" y="76200"/>
                  </a:lnTo>
                  <a:lnTo>
                    <a:pt x="0" y="495300"/>
                  </a:lnTo>
                  <a:lnTo>
                    <a:pt x="6026" y="524840"/>
                  </a:lnTo>
                  <a:lnTo>
                    <a:pt x="22422" y="549071"/>
                  </a:lnTo>
                  <a:lnTo>
                    <a:pt x="46656" y="565467"/>
                  </a:lnTo>
                  <a:lnTo>
                    <a:pt x="76196" y="571500"/>
                  </a:lnTo>
                  <a:lnTo>
                    <a:pt x="3924300" y="571500"/>
                  </a:lnTo>
                  <a:lnTo>
                    <a:pt x="3953840" y="565467"/>
                  </a:lnTo>
                  <a:lnTo>
                    <a:pt x="3978071" y="549071"/>
                  </a:lnTo>
                  <a:lnTo>
                    <a:pt x="3994467" y="524840"/>
                  </a:lnTo>
                  <a:lnTo>
                    <a:pt x="4000500" y="495300"/>
                  </a:lnTo>
                  <a:lnTo>
                    <a:pt x="4000500" y="76200"/>
                  </a:lnTo>
                  <a:lnTo>
                    <a:pt x="3994467" y="46659"/>
                  </a:lnTo>
                  <a:lnTo>
                    <a:pt x="3978071" y="22415"/>
                  </a:lnTo>
                  <a:lnTo>
                    <a:pt x="3953840" y="6019"/>
                  </a:lnTo>
                  <a:lnTo>
                    <a:pt x="3924300" y="0"/>
                  </a:lnTo>
                  <a:close/>
                </a:path>
              </a:pathLst>
            </a:custGeom>
            <a:solidFill>
              <a:srgbClr val="4068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1498" y="2952750"/>
              <a:ext cx="4000500" cy="571500"/>
            </a:xfrm>
            <a:custGeom>
              <a:avLst/>
              <a:gdLst/>
              <a:ahLst/>
              <a:cxnLst/>
              <a:rect l="l" t="t" r="r" b="b"/>
              <a:pathLst>
                <a:path w="4000500" h="571500">
                  <a:moveTo>
                    <a:pt x="0" y="76200"/>
                  </a:moveTo>
                  <a:lnTo>
                    <a:pt x="6026" y="46659"/>
                  </a:lnTo>
                  <a:lnTo>
                    <a:pt x="22422" y="22415"/>
                  </a:lnTo>
                  <a:lnTo>
                    <a:pt x="46656" y="6019"/>
                  </a:lnTo>
                  <a:lnTo>
                    <a:pt x="76196" y="0"/>
                  </a:lnTo>
                  <a:lnTo>
                    <a:pt x="3924300" y="0"/>
                  </a:lnTo>
                  <a:lnTo>
                    <a:pt x="3953840" y="6019"/>
                  </a:lnTo>
                  <a:lnTo>
                    <a:pt x="3978071" y="22415"/>
                  </a:lnTo>
                  <a:lnTo>
                    <a:pt x="3994467" y="46659"/>
                  </a:lnTo>
                  <a:lnTo>
                    <a:pt x="4000500" y="76200"/>
                  </a:lnTo>
                  <a:lnTo>
                    <a:pt x="4000500" y="495300"/>
                  </a:lnTo>
                  <a:lnTo>
                    <a:pt x="3994467" y="524840"/>
                  </a:lnTo>
                  <a:lnTo>
                    <a:pt x="3978071" y="549071"/>
                  </a:lnTo>
                  <a:lnTo>
                    <a:pt x="3953840" y="565467"/>
                  </a:lnTo>
                  <a:lnTo>
                    <a:pt x="3924300" y="571500"/>
                  </a:lnTo>
                  <a:lnTo>
                    <a:pt x="76196" y="571500"/>
                  </a:lnTo>
                  <a:lnTo>
                    <a:pt x="46656" y="565467"/>
                  </a:lnTo>
                  <a:lnTo>
                    <a:pt x="22422" y="549071"/>
                  </a:lnTo>
                  <a:lnTo>
                    <a:pt x="6026" y="524840"/>
                  </a:lnTo>
                  <a:lnTo>
                    <a:pt x="0" y="495300"/>
                  </a:lnTo>
                  <a:lnTo>
                    <a:pt x="0" y="76200"/>
                  </a:lnTo>
                  <a:close/>
                </a:path>
              </a:pathLst>
            </a:custGeom>
            <a:ln w="380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23899" y="2268766"/>
            <a:ext cx="362013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825" sz="2100" spc="-1185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400" spc="-18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baseline="-21825" sz="2100" spc="-937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dirty="0" sz="1400" spc="-2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-21825" sz="2100" spc="-352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400" spc="-655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baseline="-21825" sz="2100" spc="-225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1400" spc="-665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baseline="-21825" sz="2100" spc="-37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dirty="0" baseline="-21825" sz="2100" spc="-1132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400" spc="-445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baseline="-21825" sz="2100" spc="-75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400" spc="-76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baseline="-21825" sz="2100" spc="-6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-695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dirty="0" baseline="-21825" sz="2100" spc="-15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baseline="-21825" sz="2100" spc="-12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1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run</a:t>
            </a:r>
            <a:r>
              <a:rPr dirty="0" sz="1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faster</a:t>
            </a:r>
            <a:r>
              <a:rPr dirty="0" sz="1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legacy</a:t>
            </a:r>
            <a:r>
              <a:rPr dirty="0" sz="1400" spc="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-11820" sz="3525" spc="-37">
                <a:solidFill>
                  <a:srgbClr val="FFFFFF"/>
                </a:solidFill>
                <a:latin typeface="Arial"/>
                <a:cs typeface="Arial"/>
              </a:rPr>
              <a:t>ch</a:t>
            </a:r>
            <a:endParaRPr baseline="-11820" sz="3525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3899" y="2516428"/>
            <a:ext cx="363347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ec</a:t>
            </a:r>
            <a:endParaRPr sz="2400">
              <a:latin typeface="Arial"/>
              <a:cs typeface="Arial"/>
            </a:endParaRPr>
          </a:p>
          <a:p>
            <a:pPr algn="r" marR="30480">
              <a:lnSpc>
                <a:spcPts val="2265"/>
              </a:lnSpc>
              <a:tabLst>
                <a:tab pos="3237865" algn="l"/>
              </a:tabLst>
            </a:pPr>
            <a:r>
              <a:rPr dirty="0" baseline="1984" sz="2100">
                <a:solidFill>
                  <a:srgbClr val="FFFFFF"/>
                </a:solidFill>
                <a:latin typeface="Arial"/>
                <a:cs typeface="Arial"/>
              </a:rPr>
              <a:t>B)</a:t>
            </a:r>
            <a:r>
              <a:rPr dirty="0" baseline="1984" sz="2100" spc="-4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1984" sz="21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baseline="1984" sz="2100" spc="-4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1984" sz="210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baseline="1984" sz="2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1984" sz="21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baseline="1984" sz="2100" spc="-4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1984" sz="2100">
                <a:solidFill>
                  <a:srgbClr val="FFFFFF"/>
                </a:solidFill>
                <a:latin typeface="Arial"/>
                <a:cs typeface="Arial"/>
              </a:rPr>
              <a:t>logic</a:t>
            </a:r>
            <a:r>
              <a:rPr dirty="0" baseline="1984" sz="2100" spc="-4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1984" sz="2100">
                <a:solidFill>
                  <a:srgbClr val="FFFFFF"/>
                </a:solidFill>
                <a:latin typeface="Arial"/>
                <a:cs typeface="Arial"/>
              </a:rPr>
              <a:t>behind</a:t>
            </a:r>
            <a:r>
              <a:rPr dirty="0" baseline="1984" sz="2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1984" sz="2100" spc="-37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baseline="1984" sz="21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k_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ts val="2265"/>
              </a:lnSpc>
              <a:tabLst>
                <a:tab pos="3275965" algn="l"/>
              </a:tabLst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AI's</a:t>
            </a: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decision.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baseline="-28935" sz="3600" spc="-37">
                <a:solidFill>
                  <a:srgbClr val="FFFFFF"/>
                </a:solidFill>
                <a:latin typeface="Arial"/>
                <a:cs typeface="Arial"/>
              </a:rPr>
              <a:t>cir</a:t>
            </a:r>
            <a:endParaRPr baseline="-28935" sz="3600">
              <a:latin typeface="Arial"/>
              <a:cs typeface="Arial"/>
            </a:endParaRPr>
          </a:p>
          <a:p>
            <a:pPr marL="3276600" marR="132080">
              <a:lnSpc>
                <a:spcPct val="100000"/>
              </a:lnSpc>
              <a:spcBef>
                <a:spcPts val="1230"/>
              </a:spcBef>
            </a:pP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cl 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71500" y="3714750"/>
            <a:ext cx="4000500" cy="571500"/>
          </a:xfrm>
          <a:custGeom>
            <a:avLst/>
            <a:gdLst/>
            <a:ahLst/>
            <a:cxnLst/>
            <a:rect l="l" t="t" r="r" b="b"/>
            <a:pathLst>
              <a:path w="4000500" h="571500">
                <a:moveTo>
                  <a:pt x="3924300" y="0"/>
                </a:moveTo>
                <a:lnTo>
                  <a:pt x="76196" y="0"/>
                </a:lnTo>
                <a:lnTo>
                  <a:pt x="46656" y="6019"/>
                </a:lnTo>
                <a:lnTo>
                  <a:pt x="22422" y="22415"/>
                </a:lnTo>
                <a:lnTo>
                  <a:pt x="6026" y="46659"/>
                </a:lnTo>
                <a:lnTo>
                  <a:pt x="0" y="76200"/>
                </a:lnTo>
                <a:lnTo>
                  <a:pt x="0" y="495300"/>
                </a:lnTo>
                <a:lnTo>
                  <a:pt x="6026" y="524840"/>
                </a:lnTo>
                <a:lnTo>
                  <a:pt x="22422" y="549071"/>
                </a:lnTo>
                <a:lnTo>
                  <a:pt x="46656" y="565467"/>
                </a:lnTo>
                <a:lnTo>
                  <a:pt x="76196" y="571500"/>
                </a:lnTo>
                <a:lnTo>
                  <a:pt x="3924300" y="571500"/>
                </a:lnTo>
                <a:lnTo>
                  <a:pt x="3953840" y="565467"/>
                </a:lnTo>
                <a:lnTo>
                  <a:pt x="3978071" y="549071"/>
                </a:lnTo>
                <a:lnTo>
                  <a:pt x="3994467" y="524840"/>
                </a:lnTo>
                <a:lnTo>
                  <a:pt x="4000500" y="495300"/>
                </a:lnTo>
                <a:lnTo>
                  <a:pt x="4000500" y="76200"/>
                </a:lnTo>
                <a:lnTo>
                  <a:pt x="3994467" y="46659"/>
                </a:lnTo>
                <a:lnTo>
                  <a:pt x="3978071" y="22415"/>
                </a:lnTo>
                <a:lnTo>
                  <a:pt x="3953840" y="6019"/>
                </a:lnTo>
                <a:lnTo>
                  <a:pt x="3924300" y="0"/>
                </a:lnTo>
                <a:close/>
              </a:path>
            </a:pathLst>
          </a:custGeom>
          <a:solidFill>
            <a:srgbClr val="001F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49299" y="3766921"/>
            <a:ext cx="28098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C)</a:t>
            </a: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automate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collection.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857250"/>
            <a:ext cx="4191000" cy="4286250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357188" y="376238"/>
            <a:ext cx="47625" cy="390525"/>
            <a:chOff x="357188" y="376238"/>
            <a:chExt cx="47625" cy="390525"/>
          </a:xfrm>
        </p:grpSpPr>
        <p:sp>
          <p:nvSpPr>
            <p:cNvPr id="15" name="object 15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950" y="381000"/>
              <a:ext cx="38098" cy="3810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61950" y="381000"/>
              <a:ext cx="38100" cy="381000"/>
            </a:xfrm>
            <a:custGeom>
              <a:avLst/>
              <a:gdLst/>
              <a:ahLst/>
              <a:cxnLst/>
              <a:rect l="l" t="t" r="r" b="b"/>
              <a:pathLst>
                <a:path w="38100" h="381000">
                  <a:moveTo>
                    <a:pt x="0" y="0"/>
                  </a:moveTo>
                  <a:lnTo>
                    <a:pt x="38098" y="0"/>
                  </a:lnTo>
                  <a:lnTo>
                    <a:pt x="3809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523">
              <a:solidFill>
                <a:srgbClr val="406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7307" y="678762"/>
            <a:ext cx="24885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"/>
                <a:cs typeface="Arial"/>
              </a:rPr>
              <a:t>THANK</a:t>
            </a:r>
            <a:r>
              <a:rPr dirty="0" spc="-200" b="0">
                <a:latin typeface="Arial"/>
                <a:cs typeface="Arial"/>
              </a:rPr>
              <a:t> </a:t>
            </a:r>
            <a:r>
              <a:rPr dirty="0" spc="-20" b="0">
                <a:latin typeface="Arial"/>
                <a:cs typeface="Arial"/>
              </a:rPr>
              <a:t>YOU!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66736" y="1995488"/>
            <a:ext cx="3819525" cy="1724025"/>
            <a:chOff x="566736" y="1995488"/>
            <a:chExt cx="3819525" cy="1724025"/>
          </a:xfrm>
        </p:grpSpPr>
        <p:sp>
          <p:nvSpPr>
            <p:cNvPr id="5" name="object 5" descr=""/>
            <p:cNvSpPr/>
            <p:nvPr/>
          </p:nvSpPr>
          <p:spPr>
            <a:xfrm>
              <a:off x="571498" y="2000250"/>
              <a:ext cx="3810000" cy="1714500"/>
            </a:xfrm>
            <a:custGeom>
              <a:avLst/>
              <a:gdLst/>
              <a:ahLst/>
              <a:cxnLst/>
              <a:rect l="l" t="t" r="r" b="b"/>
              <a:pathLst>
                <a:path w="3810000" h="1714500">
                  <a:moveTo>
                    <a:pt x="3667125" y="0"/>
                  </a:moveTo>
                  <a:lnTo>
                    <a:pt x="142868" y="0"/>
                  </a:lnTo>
                  <a:lnTo>
                    <a:pt x="97913" y="7327"/>
                  </a:lnTo>
                  <a:lnTo>
                    <a:pt x="58719" y="27711"/>
                  </a:lnTo>
                  <a:lnTo>
                    <a:pt x="27716" y="58724"/>
                  </a:lnTo>
                  <a:lnTo>
                    <a:pt x="7333" y="97916"/>
                  </a:lnTo>
                  <a:lnTo>
                    <a:pt x="0" y="142875"/>
                  </a:lnTo>
                  <a:lnTo>
                    <a:pt x="0" y="1571625"/>
                  </a:lnTo>
                  <a:lnTo>
                    <a:pt x="7333" y="1616583"/>
                  </a:lnTo>
                  <a:lnTo>
                    <a:pt x="27716" y="1655775"/>
                  </a:lnTo>
                  <a:lnTo>
                    <a:pt x="58719" y="1686775"/>
                  </a:lnTo>
                  <a:lnTo>
                    <a:pt x="97913" y="1707159"/>
                  </a:lnTo>
                  <a:lnTo>
                    <a:pt x="142868" y="1714500"/>
                  </a:lnTo>
                  <a:lnTo>
                    <a:pt x="3667125" y="1714500"/>
                  </a:lnTo>
                  <a:lnTo>
                    <a:pt x="3712083" y="1707159"/>
                  </a:lnTo>
                  <a:lnTo>
                    <a:pt x="3751275" y="1686775"/>
                  </a:lnTo>
                  <a:lnTo>
                    <a:pt x="3782275" y="1655775"/>
                  </a:lnTo>
                  <a:lnTo>
                    <a:pt x="3802659" y="1616583"/>
                  </a:lnTo>
                  <a:lnTo>
                    <a:pt x="3810000" y="1571625"/>
                  </a:lnTo>
                  <a:lnTo>
                    <a:pt x="3810000" y="142875"/>
                  </a:lnTo>
                  <a:lnTo>
                    <a:pt x="3802659" y="97916"/>
                  </a:lnTo>
                  <a:lnTo>
                    <a:pt x="3782275" y="58724"/>
                  </a:lnTo>
                  <a:lnTo>
                    <a:pt x="3751275" y="27711"/>
                  </a:lnTo>
                  <a:lnTo>
                    <a:pt x="3712083" y="7327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FFFFFF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1498" y="2000250"/>
              <a:ext cx="3810000" cy="1714500"/>
            </a:xfrm>
            <a:custGeom>
              <a:avLst/>
              <a:gdLst/>
              <a:ahLst/>
              <a:cxnLst/>
              <a:rect l="l" t="t" r="r" b="b"/>
              <a:pathLst>
                <a:path w="3810000" h="1714500">
                  <a:moveTo>
                    <a:pt x="0" y="142875"/>
                  </a:moveTo>
                  <a:lnTo>
                    <a:pt x="7333" y="97916"/>
                  </a:lnTo>
                  <a:lnTo>
                    <a:pt x="27716" y="58724"/>
                  </a:lnTo>
                  <a:lnTo>
                    <a:pt x="58719" y="27711"/>
                  </a:lnTo>
                  <a:lnTo>
                    <a:pt x="97913" y="7327"/>
                  </a:lnTo>
                  <a:lnTo>
                    <a:pt x="142868" y="0"/>
                  </a:lnTo>
                  <a:lnTo>
                    <a:pt x="3667125" y="0"/>
                  </a:lnTo>
                  <a:lnTo>
                    <a:pt x="3712083" y="7327"/>
                  </a:lnTo>
                  <a:lnTo>
                    <a:pt x="3751275" y="27711"/>
                  </a:lnTo>
                  <a:lnTo>
                    <a:pt x="3782275" y="58724"/>
                  </a:lnTo>
                  <a:lnTo>
                    <a:pt x="3802659" y="97916"/>
                  </a:lnTo>
                  <a:lnTo>
                    <a:pt x="3810000" y="142875"/>
                  </a:lnTo>
                  <a:lnTo>
                    <a:pt x="3810000" y="1571625"/>
                  </a:lnTo>
                  <a:lnTo>
                    <a:pt x="3802659" y="1616583"/>
                  </a:lnTo>
                  <a:lnTo>
                    <a:pt x="3782275" y="1655775"/>
                  </a:lnTo>
                  <a:lnTo>
                    <a:pt x="3751275" y="1686775"/>
                  </a:lnTo>
                  <a:lnTo>
                    <a:pt x="3712083" y="1707159"/>
                  </a:lnTo>
                  <a:lnTo>
                    <a:pt x="3667125" y="1714500"/>
                  </a:lnTo>
                  <a:lnTo>
                    <a:pt x="142868" y="1714500"/>
                  </a:lnTo>
                  <a:lnTo>
                    <a:pt x="97913" y="1707159"/>
                  </a:lnTo>
                  <a:lnTo>
                    <a:pt x="58719" y="1686775"/>
                  </a:lnTo>
                  <a:lnTo>
                    <a:pt x="27716" y="1655775"/>
                  </a:lnTo>
                  <a:lnTo>
                    <a:pt x="7333" y="1616583"/>
                  </a:lnTo>
                  <a:lnTo>
                    <a:pt x="0" y="1571625"/>
                  </a:lnTo>
                  <a:lnTo>
                    <a:pt x="0" y="142875"/>
                  </a:lnTo>
                  <a:close/>
                </a:path>
              </a:pathLst>
            </a:custGeom>
            <a:ln w="95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62685" marR="5080" indent="-1149985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30"/>
              <a:t> </a:t>
            </a:r>
            <a:r>
              <a:rPr dirty="0"/>
              <a:t>you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engaging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/>
              <a:t>this</a:t>
            </a:r>
            <a:r>
              <a:rPr dirty="0" spc="-25"/>
              <a:t> </a:t>
            </a:r>
            <a:r>
              <a:rPr dirty="0" spc="-10"/>
              <a:t>micro- </a:t>
            </a:r>
            <a:r>
              <a:rPr dirty="0"/>
              <a:t>learning</a:t>
            </a:r>
            <a:r>
              <a:rPr dirty="0" spc="-70"/>
              <a:t> </a:t>
            </a:r>
            <a:r>
              <a:rPr dirty="0" spc="-10"/>
              <a:t>module.</a:t>
            </a:r>
          </a:p>
          <a:p>
            <a:pPr marL="165735">
              <a:lnSpc>
                <a:spcPct val="100000"/>
              </a:lnSpc>
              <a:spcBef>
                <a:spcPts val="1225"/>
              </a:spcBef>
            </a:pPr>
            <a:r>
              <a:rPr dirty="0" sz="1500" b="1">
                <a:solidFill>
                  <a:srgbClr val="00CDD1"/>
                </a:solidFill>
                <a:latin typeface="Arial"/>
                <a:cs typeface="Arial"/>
              </a:rPr>
              <a:t>Further</a:t>
            </a:r>
            <a:r>
              <a:rPr dirty="0" sz="1500" spc="-80" b="1">
                <a:solidFill>
                  <a:srgbClr val="00CDD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CDD1"/>
                </a:solidFill>
                <a:latin typeface="Arial"/>
                <a:cs typeface="Arial"/>
              </a:rPr>
              <a:t>Reading</a:t>
            </a:r>
            <a:r>
              <a:rPr dirty="0" sz="1500" spc="-70" b="1">
                <a:solidFill>
                  <a:srgbClr val="00CDD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CDD1"/>
                </a:solidFill>
                <a:latin typeface="Arial"/>
                <a:cs typeface="Arial"/>
              </a:rPr>
              <a:t>&amp;</a:t>
            </a:r>
            <a:r>
              <a:rPr dirty="0" sz="1500" spc="-70" b="1">
                <a:solidFill>
                  <a:srgbClr val="00CDD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0CDD1"/>
                </a:solidFill>
                <a:latin typeface="Arial"/>
                <a:cs typeface="Arial"/>
              </a:rPr>
              <a:t>References</a:t>
            </a:r>
            <a:endParaRPr sz="1500">
              <a:latin typeface="Arial"/>
              <a:cs typeface="Arial"/>
            </a:endParaRPr>
          </a:p>
          <a:p>
            <a:pPr marL="464184" marR="612140" indent="-323850">
              <a:lnSpc>
                <a:spcPct val="100000"/>
              </a:lnSpc>
              <a:spcBef>
                <a:spcPts val="900"/>
              </a:spcBef>
              <a:buClr>
                <a:srgbClr val="00CDD1"/>
              </a:buClr>
              <a:buFont typeface="Arial"/>
              <a:buChar char="●"/>
              <a:tabLst>
                <a:tab pos="464184" algn="l"/>
              </a:tabLst>
            </a:pP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Th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e</a:t>
            </a:r>
            <a:r>
              <a:rPr dirty="0" u="sng" sz="1500" spc="-6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Imperativ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e</a:t>
            </a:r>
            <a:r>
              <a:rPr dirty="0" u="sng" sz="1500" spc="-5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o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f</a:t>
            </a:r>
            <a:r>
              <a:rPr dirty="0" u="sng" sz="1500" spc="-5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Explainabl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e</a:t>
            </a:r>
            <a:r>
              <a:rPr dirty="0" u="sng" sz="1500" spc="-5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spc="-25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AI</a:t>
            </a:r>
            <a:r>
              <a:rPr dirty="0" sz="1500" spc="-25" b="1">
                <a:solidFill>
                  <a:srgbClr val="26268A"/>
                </a:solidFill>
                <a:latin typeface="Arial"/>
                <a:cs typeface="Arial"/>
              </a:rPr>
              <a:t> </a:t>
            </a:r>
            <a:r>
              <a:rPr dirty="0" u="sng" sz="1500" spc="-1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3"/>
              </a:rPr>
              <a:t>(XAI)</a:t>
            </a:r>
            <a:endParaRPr sz="1500">
              <a:latin typeface="Arial"/>
              <a:cs typeface="Arial"/>
            </a:endParaRPr>
          </a:p>
          <a:p>
            <a:pPr marL="464184" marR="245110" indent="-323850">
              <a:lnSpc>
                <a:spcPct val="100000"/>
              </a:lnSpc>
              <a:buClr>
                <a:srgbClr val="00CDD1"/>
              </a:buClr>
              <a:buFont typeface="Arial"/>
              <a:buChar char="●"/>
              <a:tabLst>
                <a:tab pos="464184" algn="l"/>
              </a:tabLst>
            </a:pP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Auditin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g</a:t>
            </a:r>
            <a:r>
              <a:rPr dirty="0" u="sng" sz="1500" spc="-6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Algorithms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:</a:t>
            </a:r>
            <a:r>
              <a:rPr dirty="0" u="sng" sz="1500" spc="-6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Mitigatin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g</a:t>
            </a:r>
            <a:r>
              <a:rPr dirty="0" u="sng" sz="1500" spc="-6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spc="-2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Bias</a:t>
            </a:r>
            <a:r>
              <a:rPr dirty="0" sz="1500" spc="-20" b="1">
                <a:solidFill>
                  <a:srgbClr val="26268A"/>
                </a:solid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i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n</a:t>
            </a:r>
            <a:r>
              <a:rPr dirty="0" u="sng" sz="1500" spc="-6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Machin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e</a:t>
            </a:r>
            <a:r>
              <a:rPr dirty="0" u="sng" sz="1500" spc="-5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spc="-1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4"/>
              </a:rPr>
              <a:t>Learning</a:t>
            </a:r>
            <a:endParaRPr sz="1500">
              <a:latin typeface="Arial"/>
              <a:cs typeface="Arial"/>
            </a:endParaRPr>
          </a:p>
          <a:p>
            <a:pPr marL="464184" marR="814069" indent="-323850">
              <a:lnSpc>
                <a:spcPct val="100000"/>
              </a:lnSpc>
              <a:buClr>
                <a:srgbClr val="00CDD1"/>
              </a:buClr>
              <a:buFont typeface="Arial"/>
              <a:buChar char="●"/>
              <a:tabLst>
                <a:tab pos="464184" algn="l"/>
              </a:tabLst>
            </a:pP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GDP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R</a:t>
            </a:r>
            <a:r>
              <a:rPr dirty="0" u="sng" sz="1500" spc="-3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an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d</a:t>
            </a:r>
            <a:r>
              <a:rPr dirty="0" u="sng" sz="1500" spc="-3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AI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:</a:t>
            </a:r>
            <a:r>
              <a:rPr dirty="0" u="sng" sz="1500" spc="-2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A</a:t>
            </a:r>
            <a:r>
              <a:rPr dirty="0" u="sng" sz="1500" spc="-3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Guid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e</a:t>
            </a:r>
            <a:r>
              <a:rPr dirty="0" u="sng" sz="1500" spc="-2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t</a:t>
            </a:r>
            <a:r>
              <a:rPr dirty="0" u="sng" sz="150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o</a:t>
            </a:r>
            <a:r>
              <a:rPr dirty="0" u="sng" sz="1500" spc="-3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500" spc="-2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Data</a:t>
            </a:r>
            <a:r>
              <a:rPr dirty="0" sz="1500" spc="-20" b="1">
                <a:solidFill>
                  <a:srgbClr val="26268A"/>
                </a:solidFill>
                <a:latin typeface="Arial"/>
                <a:cs typeface="Arial"/>
              </a:rPr>
              <a:t> </a:t>
            </a:r>
            <a:r>
              <a:rPr dirty="0" u="sng" sz="1500" spc="-10" b="1">
                <a:solidFill>
                  <a:srgbClr val="26268A"/>
                </a:solidFill>
                <a:uFill>
                  <a:solidFill>
                    <a:srgbClr val="26268A"/>
                  </a:solidFill>
                </a:uFill>
                <a:latin typeface="Arial"/>
                <a:cs typeface="Arial"/>
                <a:hlinkClick r:id="rId5"/>
              </a:rPr>
              <a:t>Minimization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0" y="666750"/>
            <a:ext cx="4286402" cy="38100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53604" y="4627879"/>
            <a:ext cx="1790395" cy="515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6268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file.pdf</dc:title>
  <dcterms:created xsi:type="dcterms:W3CDTF">2026-05-20T11:49:29Z</dcterms:created>
  <dcterms:modified xsi:type="dcterms:W3CDTF">2026-05-20T11:49:29Z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2026-05-20T00:00:00Z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2026-05-20T00:00:00Z</vt:filetime>
  </property>
  <property fmtid="{D5CDD505-2E9C-101B-9397-08002B2CF9AE}" pid="5" name="Producer">
    <vt:lpwstr>3-Heights(TM) PDF Security Shell 4.8.25.2 (http://www.pdf-tools.com)</vt:lpwstr>
  </property>
</Properties>
</file>