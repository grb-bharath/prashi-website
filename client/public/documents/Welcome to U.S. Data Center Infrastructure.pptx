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0287000" cx="18288000"/>
  <p:notesSz cx="6858000" cy="9144000"/>
  <p:embeddedFontLst>
    <p:embeddedFont>
      <p:font typeface="Urbanist Medium"/>
      <p:regular r:id="rId27"/>
      <p:bold r:id="rId28"/>
      <p:italic r:id="rId29"/>
      <p:boldItalic r:id="rId30"/>
    </p:embeddedFont>
    <p:embeddedFont>
      <p:font typeface="Public Sans Medium"/>
      <p:regular r:id="rId31"/>
      <p:bold r:id="rId32"/>
      <p:italic r:id="rId33"/>
      <p:boldItalic r:id="rId34"/>
    </p:embeddedFont>
    <p:embeddedFont>
      <p:font typeface="Public Sans ExtraBold"/>
      <p:bold r:id="rId35"/>
      <p:boldItalic r:id="rId36"/>
    </p:embeddedFont>
    <p:embeddedFont>
      <p:font typeface="Urbanist"/>
      <p:bold r:id="rId37"/>
      <p:boldItalic r:id="rId38"/>
    </p:embeddedFont>
    <p:embeddedFont>
      <p:font typeface="Public Sans"/>
      <p:regular r:id="rId39"/>
      <p:bold r:id="rId40"/>
      <p:italic r:id="rId41"/>
      <p:boldItalic r:id="rId42"/>
    </p:embeddedFont>
    <p:embeddedFont>
      <p:font typeface="Urbanist ExtraBold"/>
      <p:bold r:id="rId43"/>
      <p:boldItalic r:id="rId44"/>
    </p:embeddedFont>
    <p:embeddedFont>
      <p:font typeface="Merriweather"/>
      <p:regular r:id="rId45"/>
      <p:bold r:id="rId46"/>
      <p:italic r:id="rId47"/>
      <p:boldItalic r:id="rId48"/>
    </p:embeddedFont>
    <p:embeddedFont>
      <p:font typeface="Merriweather ExtraBold"/>
      <p:bold r:id="rId49"/>
      <p:boldItalic r:id="rId50"/>
    </p:embeddedFont>
    <p:embeddedFont>
      <p:font typeface="Public Sans SemiBold"/>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49">
          <p15:clr>
            <a:srgbClr val="000000"/>
          </p15:clr>
        </p15:guide>
        <p15:guide id="3" pos="10583">
          <p15:clr>
            <a:srgbClr val="747775"/>
          </p15:clr>
        </p15:guide>
        <p15:guide id="4" orient="horz" pos="1140">
          <p15:clr>
            <a:srgbClr val="747775"/>
          </p15:clr>
        </p15:guide>
        <p15:guide id="5" pos="11411">
          <p15:clr>
            <a:srgbClr val="747775"/>
          </p15:clr>
        </p15:guide>
      </p15:sldGuideLst>
    </p:ext>
    <p:ext uri="GoogleSlidesCustomDataVersion2">
      <go:slidesCustomData xmlns:go="http://customooxmlschemas.google.com/" r:id="rId55" roundtripDataSignature="AMtx7mgw9Ljzup8+LFXAOgUBUO/VilrU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49"/>
        <p:guide pos="10583"/>
        <p:guide pos="1140" orient="horz"/>
        <p:guide pos="1141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ublicSans-bold.fntdata"/><Relationship Id="rId42" Type="http://schemas.openxmlformats.org/officeDocument/2006/relationships/font" Target="fonts/PublicSans-boldItalic.fntdata"/><Relationship Id="rId41" Type="http://schemas.openxmlformats.org/officeDocument/2006/relationships/font" Target="fonts/PublicSans-italic.fntdata"/><Relationship Id="rId44" Type="http://schemas.openxmlformats.org/officeDocument/2006/relationships/font" Target="fonts/UrbanistExtraBold-boldItalic.fntdata"/><Relationship Id="rId43" Type="http://schemas.openxmlformats.org/officeDocument/2006/relationships/font" Target="fonts/UrbanistExtraBold-bold.fntdata"/><Relationship Id="rId46" Type="http://schemas.openxmlformats.org/officeDocument/2006/relationships/font" Target="fonts/Merriweather-bold.fntdata"/><Relationship Id="rId45" Type="http://schemas.openxmlformats.org/officeDocument/2006/relationships/font" Target="fonts/Merriweather-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erriweather-boldItalic.fntdata"/><Relationship Id="rId47" Type="http://schemas.openxmlformats.org/officeDocument/2006/relationships/font" Target="fonts/Merriweather-italic.fntdata"/><Relationship Id="rId49" Type="http://schemas.openxmlformats.org/officeDocument/2006/relationships/font" Target="fonts/MerriweatherExtra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ublicSansMedium-regular.fntdata"/><Relationship Id="rId30" Type="http://schemas.openxmlformats.org/officeDocument/2006/relationships/font" Target="fonts/UrbanistMedium-boldItalic.fntdata"/><Relationship Id="rId33" Type="http://schemas.openxmlformats.org/officeDocument/2006/relationships/font" Target="fonts/PublicSansMedium-italic.fntdata"/><Relationship Id="rId32" Type="http://schemas.openxmlformats.org/officeDocument/2006/relationships/font" Target="fonts/PublicSansMedium-bold.fntdata"/><Relationship Id="rId35" Type="http://schemas.openxmlformats.org/officeDocument/2006/relationships/font" Target="fonts/PublicSansExtraBold-bold.fntdata"/><Relationship Id="rId34" Type="http://schemas.openxmlformats.org/officeDocument/2006/relationships/font" Target="fonts/PublicSansMedium-boldItalic.fntdata"/><Relationship Id="rId37" Type="http://schemas.openxmlformats.org/officeDocument/2006/relationships/font" Target="fonts/Urbanist-bold.fntdata"/><Relationship Id="rId36" Type="http://schemas.openxmlformats.org/officeDocument/2006/relationships/font" Target="fonts/PublicSansExtraBold-boldItalic.fntdata"/><Relationship Id="rId39" Type="http://schemas.openxmlformats.org/officeDocument/2006/relationships/font" Target="fonts/PublicSans-regular.fntdata"/><Relationship Id="rId38" Type="http://schemas.openxmlformats.org/officeDocument/2006/relationships/font" Target="fonts/Urbanist-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UrbanistMedium-bold.fntdata"/><Relationship Id="rId27" Type="http://schemas.openxmlformats.org/officeDocument/2006/relationships/font" Target="fonts/UrbanistMedium-regular.fntdata"/><Relationship Id="rId29" Type="http://schemas.openxmlformats.org/officeDocument/2006/relationships/font" Target="fonts/UrbanistMedium-italic.fntdata"/><Relationship Id="rId51" Type="http://schemas.openxmlformats.org/officeDocument/2006/relationships/font" Target="fonts/PublicSansSemiBold-regular.fntdata"/><Relationship Id="rId50" Type="http://schemas.openxmlformats.org/officeDocument/2006/relationships/font" Target="fonts/MerriweatherExtraBold-boldItalic.fntdata"/><Relationship Id="rId53" Type="http://schemas.openxmlformats.org/officeDocument/2006/relationships/font" Target="fonts/PublicSansSemiBold-italic.fntdata"/><Relationship Id="rId52" Type="http://schemas.openxmlformats.org/officeDocument/2006/relationships/font" Target="fonts/PublicSansSemiBold-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PublicSansSemiBold-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Welcome to U.S. Data Center Infrastructure. Over the next few minutes, we will explore the critical backbone driving modern digital services, cloud computing, and AI. Let's begin.</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By the end of this course, you will master three critical domains of the modern digital infrastructure landscape.</a:t>
            </a:r>
            <a:endParaRPr/>
          </a:p>
          <a:p>
            <a:pPr indent="-298450" lvl="0" marL="457200" rtl="0" algn="l">
              <a:spcBef>
                <a:spcPts val="0"/>
              </a:spcBef>
              <a:spcAft>
                <a:spcPts val="0"/>
              </a:spcAft>
              <a:buSzPts val="1100"/>
              <a:buChar char="●"/>
            </a:pPr>
            <a:r>
              <a:rPr lang="en-US"/>
              <a:t>First, Core Infrastructure: you will be able to describe data center purposes and physical components.</a:t>
            </a:r>
            <a:endParaRPr/>
          </a:p>
          <a:p>
            <a:pPr indent="-298450" lvl="0" marL="457200" rtl="0" algn="l">
              <a:spcBef>
                <a:spcPts val="0"/>
              </a:spcBef>
              <a:spcAft>
                <a:spcPts val="0"/>
              </a:spcAft>
              <a:buSzPts val="1100"/>
              <a:buChar char="●"/>
            </a:pPr>
            <a:r>
              <a:rPr lang="en-US"/>
              <a:t>Second, Ownership and Scale: you will learn to classify data centers across four categories based on ownership and scale.</a:t>
            </a:r>
            <a:endParaRPr/>
          </a:p>
          <a:p>
            <a:pPr indent="-298450" lvl="0" marL="457200" rtl="0" algn="l">
              <a:spcBef>
                <a:spcPts val="0"/>
              </a:spcBef>
              <a:spcAft>
                <a:spcPts val="0"/>
              </a:spcAft>
              <a:buSzPts val="1100"/>
              <a:buChar char="●"/>
            </a:pPr>
            <a:r>
              <a:rPr lang="en-US"/>
              <a:t>And finally, Markets and Challenges: you will identify major U.S. geographic markets and evaluate core environmental and security challenges.</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Data centers truly are "The foundation on which modern technological infrastructure drives today's world". These facilities are critical—designed to host, manage, and process vast volumes of global business records, scientific computation, and AI applications securely and efficiently. They serve three primary functions: Store, Process, and Distribute. Focusing on Storage, high-density hardware systems and redundant storage arrays secure petabytes of critical user databases, banking records, and AI training datasets with multi-parity fault protection.</a:t>
            </a:r>
            <a:endParaRPr/>
          </a:p>
        </p:txBody>
      </p:sp>
      <p:sp>
        <p:nvSpPr>
          <p:cNvPr id="120" name="Google Shape;12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cdd0eb50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next key function is Processing. Data Processing Facilities execute billions of concurrent calculations using high-performance CPUs and powerful GPUs, like the NVIDIA H100s. This power is essential for real-time AI inferencing, big data analytics, and complex business logic.</a:t>
            </a:r>
            <a:endParaRPr/>
          </a:p>
        </p:txBody>
      </p:sp>
      <p:sp>
        <p:nvSpPr>
          <p:cNvPr id="145" name="Google Shape;145;g3ecdd0eb50c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cdd0eb50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Finally, we have Distribution. Data Distribution Facilities route mission-critical traffic via global fiber-optic networks and ultra-low latency switches. They leverage Content Delivery Networks to stream high-bandwidth content instantly to millions of edge devices.</a:t>
            </a:r>
            <a:endParaRPr/>
          </a:p>
        </p:txBody>
      </p:sp>
      <p:sp>
        <p:nvSpPr>
          <p:cNvPr id="170" name="Google Shape;170;g3ecdd0eb50c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Bringing specialized computing equipment together requires essential hardware and facilities organized into three layers: IT Infrastructure, Environmental Support, and Enhanced Security. IT Infrastructure is the core housing for physical servers, storage systems, and enterprise networking hardware optimized for dense computing workloads. This includes high-density compute servers, multi-petabyte structured storage, and low-latency core switching matrix fabrics.</a:t>
            </a:r>
            <a:endParaRPr/>
          </a:p>
        </p:txBody>
      </p:sp>
      <p:sp>
        <p:nvSpPr>
          <p:cNvPr id="195" name="Google Shape;195;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cdd0eb50c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Next is Environmental Support. These facilities require massive continuous electrical power and advanced thermodynamic cooling architectures to prevent thermal damage. This involves direct-to-chip and liquid immersion loops, multi-megawatt grid links with backup generators, and intelligent hot/cold aisle thermal zoning.</a:t>
            </a:r>
            <a:endParaRPr/>
          </a:p>
        </p:txBody>
      </p:sp>
      <p:sp>
        <p:nvSpPr>
          <p:cNvPr id="218" name="Google Shape;218;g3ecdd0eb50c_0_1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cdd0eb50c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third pillar is Enhanced Security. This involves comprehensive physical protection matrices ensuring data integrity against real-world intrusion threats and natural anomalies. Security systems include biometric dual-factor access gates, CCTV automated monitoring, and hardened structural envelopes protected by features like mantraps.</a:t>
            </a:r>
            <a:endParaRPr/>
          </a:p>
        </p:txBody>
      </p:sp>
      <p:sp>
        <p:nvSpPr>
          <p:cNvPr id="241" name="Google Shape;241;g3ecdd0eb50c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diverse U.S. market includes a mix of data center configurations built for distinct enterprise needs.</a:t>
            </a:r>
            <a:endParaRPr/>
          </a:p>
          <a:p>
            <a:pPr indent="-298450" lvl="0" marL="457200" rtl="0" algn="l">
              <a:spcBef>
                <a:spcPts val="0"/>
              </a:spcBef>
              <a:spcAft>
                <a:spcPts val="0"/>
              </a:spcAft>
              <a:buSzPts val="1100"/>
              <a:buChar char="●"/>
            </a:pPr>
            <a:r>
              <a:rPr lang="en-US"/>
              <a:t>Hyperscale facilities are vast centralized campuses engineered for massive, scalable cloud and AI workloads.</a:t>
            </a:r>
            <a:endParaRPr/>
          </a:p>
          <a:p>
            <a:pPr indent="-298450" lvl="0" marL="457200" rtl="0" algn="l">
              <a:spcBef>
                <a:spcPts val="0"/>
              </a:spcBef>
              <a:spcAft>
                <a:spcPts val="0"/>
              </a:spcAft>
              <a:buSzPts val="1100"/>
              <a:buChar char="●"/>
            </a:pPr>
            <a:r>
              <a:rPr lang="en-US"/>
              <a:t>Colocation refers to shared physical facilities where multiple businesses rent space, power, and cooling.</a:t>
            </a:r>
            <a:endParaRPr/>
          </a:p>
          <a:p>
            <a:pPr indent="-298450" lvl="0" marL="457200" rtl="0" algn="l">
              <a:spcBef>
                <a:spcPts val="0"/>
              </a:spcBef>
              <a:spcAft>
                <a:spcPts val="0"/>
              </a:spcAft>
              <a:buSzPts val="1100"/>
              <a:buChar char="●"/>
            </a:pPr>
            <a:r>
              <a:rPr lang="en-US"/>
              <a:t>Enterprise data centers are privately owned and operated facilities tailored for a single company's specific IT needs.</a:t>
            </a:r>
            <a:endParaRPr/>
          </a:p>
          <a:p>
            <a:pPr indent="-298450" lvl="0" marL="457200" rtl="0" algn="l">
              <a:spcBef>
                <a:spcPts val="0"/>
              </a:spcBef>
              <a:spcAft>
                <a:spcPts val="0"/>
              </a:spcAft>
              <a:buSzPts val="1100"/>
              <a:buChar char="●"/>
            </a:pPr>
            <a:r>
              <a:rPr lang="en-US"/>
              <a:t>Edge data centers are smaller, decentralized facilities placed close to end-users to minimize latency.</a:t>
            </a:r>
            <a:endParaRPr/>
          </a:p>
        </p:txBody>
      </p:sp>
      <p:sp>
        <p:nvSpPr>
          <p:cNvPr id="264" name="Google Shape;264;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ecdd0eb50c_0_4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ecdd0eb50c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Let's review an Infrastructure Advisor scenario. The situation: A developer needs to deploy high-bandwidth 5G and IoT applications but faces extreme geographic data lag. Their target is Network Low Latency, specifically under ten milliseconds, far lower than the Central Hub Delay of one hundred milliseconds. The challenge is to select the data center model built to locate processing power close to end-users and minimize latency. Select one option: A) Enterprise, B) Edge, C) Colocation, or D) Hyperscale.</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cdd0eb50c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Time for a classification challenge. On screen, you see four classification bins: Hyperscale, Colocation, Enterprise, and Edge. You also see source cards describing four types of facilities: AWS/Google Campuses, Rented space &amp; Cooling, Bank Mainframe Facilities, and IoT Edge Micro-nodes. Your task is to match each card to its correct classification bin. Click a card, then click its matching classification bin, and hit 'Submit Classification'.</a:t>
            </a:r>
            <a:endParaRPr/>
          </a:p>
          <a:p>
            <a:pPr indent="0" lvl="0" marL="0" rtl="0" algn="l">
              <a:spcBef>
                <a:spcPts val="0"/>
              </a:spcBef>
              <a:spcAft>
                <a:spcPts val="0"/>
              </a:spcAft>
              <a:buNone/>
            </a:pPr>
            <a:r>
              <a:t/>
            </a:r>
            <a:endParaRPr/>
          </a:p>
        </p:txBody>
      </p:sp>
      <p:sp>
        <p:nvSpPr>
          <p:cNvPr id="345" name="Google Shape;345;g3ecdd0eb50c_0_2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ecdd0eb50c_13_2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ecdd0eb50c_13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Now, let's look at the Geographic Market Hubs in the U.S.</a:t>
            </a:r>
            <a:endParaRPr/>
          </a:p>
          <a:p>
            <a:pPr indent="0" lvl="0" marL="0" rtl="0" algn="l">
              <a:spcBef>
                <a:spcPts val="0"/>
              </a:spcBef>
              <a:spcAft>
                <a:spcPts val="0"/>
              </a:spcAft>
              <a:buNone/>
            </a:pPr>
            <a:r>
              <a:rPr lang="en-US"/>
              <a:t>The Global Epicenter is Northern Virginia, specifically Ashburn, which is the largest data center market in the world. It is backed by extensive physical fiber paths and immediate proximity to critical internet exchange points.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ecdd0eb50c_13_3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ecdd0eb50c_13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Innovation Core is Northern California, or Silicon Valley, a prime location for global software ecosystems and AI training environments. It hosts a vast density of facilities tightly integrated into the venture capital hub.</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ecdd0eb50c_13_3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ecdd0eb50c_13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Finally, we have Strategic Anchors in Illinois and New Jersey. These are vital secondary hubs supporting high-speed financial transaction switches in Chicago and security-focused disaster recovery sites across New Jersey.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ecdd0eb50c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ecdd0eb50c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To synthesize the landscape, let's recap the foundational pillars covered:</a:t>
            </a:r>
            <a:endParaRPr/>
          </a:p>
          <a:p>
            <a:pPr indent="-298450" lvl="0" marL="457200" rtl="0" algn="l">
              <a:spcBef>
                <a:spcPts val="0"/>
              </a:spcBef>
              <a:spcAft>
                <a:spcPts val="0"/>
              </a:spcAft>
              <a:buSzPts val="1100"/>
              <a:buChar char="●"/>
            </a:pPr>
            <a:r>
              <a:rPr lang="en-US"/>
              <a:t>Computing Backbone: Data centers act as the physical container and vital foundation for critical cloud applications, machine learning systems, and digital services.</a:t>
            </a:r>
            <a:endParaRPr/>
          </a:p>
          <a:p>
            <a:pPr indent="-298450" lvl="0" marL="457200" rtl="0" algn="l">
              <a:spcBef>
                <a:spcPts val="0"/>
              </a:spcBef>
              <a:spcAft>
                <a:spcPts val="0"/>
              </a:spcAft>
              <a:buSzPts val="1100"/>
              <a:buChar char="●"/>
            </a:pPr>
            <a:r>
              <a:rPr lang="en-US"/>
              <a:t>Architectural Tiers: Facilities span four distinct models—Hyperscale, Colocation, Enterprise, and Edge—each optimized for scale, security, and latency.</a:t>
            </a:r>
            <a:endParaRPr/>
          </a:p>
          <a:p>
            <a:pPr indent="-298450" lvl="0" marL="457200" rtl="0" algn="l">
              <a:spcBef>
                <a:spcPts val="0"/>
              </a:spcBef>
              <a:spcAft>
                <a:spcPts val="0"/>
              </a:spcAft>
              <a:buSzPts val="1100"/>
              <a:buChar char="●"/>
            </a:pPr>
            <a:r>
              <a:rPr lang="en-US"/>
              <a:t>Drivers and Challenges: Data centers are clustered across fiber routes but are increasingly constrained by cooling needs, land availability, and physical perimeter threats.</a:t>
            </a:r>
            <a:endParaRPr/>
          </a:p>
          <a:p>
            <a:pPr indent="0" lvl="0" marL="0" rtl="0" algn="l">
              <a:spcBef>
                <a:spcPts val="0"/>
              </a:spcBef>
              <a:spcAft>
                <a:spcPts val="0"/>
              </a:spcAft>
              <a:buNone/>
            </a:pPr>
            <a:r>
              <a:rPr lang="en-US"/>
              <a:t>Now, please proceed to the assessment.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ecdd0eb50c_13_4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ecdd0eb50c_13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ecdd0eb50c_13_6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ecdd0eb50c_13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cdd0eb50c_13_8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ecdd0eb50c_13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ecdd0eb50c_13_10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ecdd0eb50c_13_10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ece1f4b49a_0_2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ece1f4b49a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Thank you for visiting this course. We hope this overview of U.S. Data Center Infrastructure has been insightful.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ece1f4b49a_0_13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ece1f4b49a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ce1f4b49a_20_0)">
  <p:cSld name="Generated (g3ece1f4b49a_20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7.png"/><Relationship Id="rId7" Type="http://schemas.openxmlformats.org/officeDocument/2006/relationships/image" Target="../media/image9.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7.png"/><Relationship Id="rId7" Type="http://schemas.openxmlformats.org/officeDocument/2006/relationships/image" Target="../media/image9.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27.png"/><Relationship Id="rId7" Type="http://schemas.openxmlformats.org/officeDocument/2006/relationships/image" Target="../media/image9.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image" Target="../media/image19.png"/><Relationship Id="rId7" Type="http://schemas.openxmlformats.org/officeDocument/2006/relationships/image" Target="../media/image29.png"/><Relationship Id="rId8"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31.png"/><Relationship Id="rId9" Type="http://schemas.openxmlformats.org/officeDocument/2006/relationships/image" Target="../media/image7.png"/><Relationship Id="rId5" Type="http://schemas.openxmlformats.org/officeDocument/2006/relationships/image" Target="../media/image33.png"/><Relationship Id="rId6" Type="http://schemas.openxmlformats.org/officeDocument/2006/relationships/image" Target="../media/image19.png"/><Relationship Id="rId7" Type="http://schemas.openxmlformats.org/officeDocument/2006/relationships/image" Target="../media/image29.png"/><Relationship Id="rId8"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21.png"/><Relationship Id="rId5" Type="http://schemas.openxmlformats.org/officeDocument/2006/relationships/image" Target="../media/image18.png"/><Relationship Id="rId6"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36.png"/><Relationship Id="rId5" Type="http://schemas.openxmlformats.org/officeDocument/2006/relationships/image" Target="../media/image18.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36.png"/><Relationship Id="rId5" Type="http://schemas.openxmlformats.org/officeDocument/2006/relationships/image" Target="../media/image21.png"/><Relationship Id="rId6"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38.jpg"/><Relationship Id="rId6"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696969"/>
            </a:gs>
            <a:gs pos="100000">
              <a:srgbClr val="1D1D1D"/>
            </a:gs>
          </a:gsLst>
          <a:lin ang="5400012" scaled="0"/>
        </a:gradFill>
      </p:bgPr>
    </p:bg>
    <p:spTree>
      <p:nvGrpSpPr>
        <p:cNvPr id="84" name="Shape 84"/>
        <p:cNvGrpSpPr/>
        <p:nvPr/>
      </p:nvGrpSpPr>
      <p:grpSpPr>
        <a:xfrm>
          <a:off x="0" y="0"/>
          <a:ext cx="0" cy="0"/>
          <a:chOff x="0" y="0"/>
          <a:chExt cx="0" cy="0"/>
        </a:xfrm>
      </p:grpSpPr>
      <p:grpSp>
        <p:nvGrpSpPr>
          <p:cNvPr id="85" name="Google Shape;85;p1"/>
          <p:cNvGrpSpPr/>
          <p:nvPr/>
        </p:nvGrpSpPr>
        <p:grpSpPr>
          <a:xfrm>
            <a:off x="355146" y="2004522"/>
            <a:ext cx="8860354" cy="5849085"/>
            <a:chOff x="0" y="-1862818"/>
            <a:chExt cx="11813805" cy="7798780"/>
          </a:xfrm>
        </p:grpSpPr>
        <p:sp>
          <p:nvSpPr>
            <p:cNvPr id="86" name="Google Shape;86;p1"/>
            <p:cNvSpPr txBox="1"/>
            <p:nvPr/>
          </p:nvSpPr>
          <p:spPr>
            <a:xfrm>
              <a:off x="127005" y="-1825288"/>
              <a:ext cx="11686800" cy="5319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Font typeface="Arial"/>
                <a:buNone/>
              </a:pPr>
              <a:r>
                <a:rPr b="1" lang="en-US" sz="8100">
                  <a:solidFill>
                    <a:srgbClr val="FFFFFF"/>
                  </a:solidFill>
                  <a:latin typeface="Public Sans"/>
                  <a:ea typeface="Public Sans"/>
                  <a:cs typeface="Public Sans"/>
                  <a:sym typeface="Public Sans"/>
                </a:rPr>
                <a:t>Welcome to </a:t>
              </a:r>
              <a:r>
                <a:rPr b="1" lang="en-US" sz="8100">
                  <a:solidFill>
                    <a:srgbClr val="FA632A"/>
                  </a:solidFill>
                  <a:latin typeface="Public Sans"/>
                  <a:ea typeface="Public Sans"/>
                  <a:cs typeface="Public Sans"/>
                  <a:sym typeface="Public Sans"/>
                </a:rPr>
                <a:t>U.S. Data Center </a:t>
              </a:r>
              <a:r>
                <a:rPr b="1" lang="en-US" sz="8100">
                  <a:solidFill>
                    <a:srgbClr val="FFFFFF"/>
                  </a:solidFill>
                  <a:latin typeface="Public Sans"/>
                  <a:ea typeface="Public Sans"/>
                  <a:cs typeface="Public Sans"/>
                  <a:sym typeface="Public Sans"/>
                </a:rPr>
                <a:t>Infrastructure</a:t>
              </a:r>
              <a:endParaRPr b="1" sz="400"/>
            </a:p>
          </p:txBody>
        </p:sp>
        <p:sp>
          <p:nvSpPr>
            <p:cNvPr id="87" name="Google Shape;87;p1"/>
            <p:cNvSpPr txBox="1"/>
            <p:nvPr/>
          </p:nvSpPr>
          <p:spPr>
            <a:xfrm>
              <a:off x="127000" y="4704462"/>
              <a:ext cx="10316100" cy="1231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500">
                  <a:solidFill>
                    <a:srgbClr val="FFFFFF"/>
                  </a:solidFill>
                  <a:latin typeface="Public Sans"/>
                  <a:ea typeface="Public Sans"/>
                  <a:cs typeface="Public Sans"/>
                  <a:sym typeface="Public Sans"/>
                </a:rPr>
                <a:t>Explore the critical backbone driving modern digital services, cloud computing, and AI.</a:t>
              </a:r>
              <a:endParaRPr sz="2500">
                <a:solidFill>
                  <a:srgbClr val="FFFFFF"/>
                </a:solidFill>
                <a:latin typeface="Public Sans"/>
                <a:ea typeface="Public Sans"/>
                <a:cs typeface="Public Sans"/>
                <a:sym typeface="Public Sans"/>
              </a:endParaRPr>
            </a:p>
          </p:txBody>
        </p:sp>
        <p:sp>
          <p:nvSpPr>
            <p:cNvPr id="88" name="Google Shape;88;p1"/>
            <p:cNvSpPr txBox="1"/>
            <p:nvPr/>
          </p:nvSpPr>
          <p:spPr>
            <a:xfrm>
              <a:off x="127000" y="-1862818"/>
              <a:ext cx="10316100" cy="287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cxnSp>
          <p:nvCxnSpPr>
            <p:cNvPr id="89" name="Google Shape;89;p1"/>
            <p:cNvCxnSpPr/>
            <p:nvPr/>
          </p:nvCxnSpPr>
          <p:spPr>
            <a:xfrm>
              <a:off x="0" y="4128739"/>
              <a:ext cx="10316100" cy="0"/>
            </a:xfrm>
            <a:prstGeom prst="straightConnector1">
              <a:avLst/>
            </a:prstGeom>
            <a:noFill/>
            <a:ln cap="flat" cmpd="sng" w="139700">
              <a:solidFill>
                <a:srgbClr val="FA632A"/>
              </a:solidFill>
              <a:prstDash val="solid"/>
              <a:round/>
              <a:headEnd len="sm" w="sm" type="none"/>
              <a:tailEnd len="sm" w="sm" type="none"/>
            </a:ln>
          </p:spPr>
        </p:cxnSp>
      </p:grpSp>
      <p:pic>
        <p:nvPicPr>
          <p:cNvPr id="90" name="Google Shape;90;p1" title="istockphoto-2173923576-612x612.jpg"/>
          <p:cNvPicPr preferRelativeResize="0"/>
          <p:nvPr/>
        </p:nvPicPr>
        <p:blipFill rotWithShape="1">
          <a:blip r:embed="rId3">
            <a:alphaModFix/>
          </a:blip>
          <a:srcRect b="0" l="24241" r="26084" t="0"/>
          <a:stretch/>
        </p:blipFill>
        <p:spPr>
          <a:xfrm>
            <a:off x="9705298" y="54923"/>
            <a:ext cx="8541875" cy="10287000"/>
          </a:xfrm>
          <a:prstGeom prst="rect">
            <a:avLst/>
          </a:prstGeom>
          <a:noFill/>
          <a:ln>
            <a:noFill/>
          </a:ln>
        </p:spPr>
      </p:pic>
      <p:sp>
        <p:nvSpPr>
          <p:cNvPr id="91" name="Google Shape;91;p1"/>
          <p:cNvSpPr/>
          <p:nvPr/>
        </p:nvSpPr>
        <p:spPr>
          <a:xfrm>
            <a:off x="-6919239" y="-183707"/>
            <a:ext cx="6796800" cy="1077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High-resolution corporate abstract graphic representing digital connectivity. Icon Style: Line icons for text points. Infographic Type: None. Layout Structure: Large vertical split layout with full-bleed image on left, title and bullets in white card area on right.</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Structure: Minimalist premium split-screen layout with a prominent visual area utilizing the #FF727A brand accent color for title formatting. High contrast text grids ensure immediate legibility.</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Strategic Rationale: This clean design eliminates visual clutter, focusing attention instantly on the course title and core takeaways while establishing the premium corporate color scheme.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None (Linear Navigation - Start Button)</a:t>
            </a:r>
            <a:endParaRPr sz="2800">
              <a:latin typeface="Calibri"/>
              <a:ea typeface="Calibri"/>
              <a:cs typeface="Calibri"/>
              <a:sym typeface="Calibri"/>
            </a:endParaRPr>
          </a:p>
        </p:txBody>
      </p:sp>
      <p:pic>
        <p:nvPicPr>
          <p:cNvPr id="92" name="Google Shape;92;p1" title="genpact-logo-with-black-background_ASC-Social-Media.png"/>
          <p:cNvPicPr preferRelativeResize="0"/>
          <p:nvPr/>
        </p:nvPicPr>
        <p:blipFill rotWithShape="1">
          <a:blip r:embed="rId4">
            <a:alphaModFix/>
          </a:blip>
          <a:srcRect b="17272" l="16760" r="19708" t="18593"/>
          <a:stretch/>
        </p:blipFill>
        <p:spPr>
          <a:xfrm>
            <a:off x="355150" y="278700"/>
            <a:ext cx="1695525" cy="898601"/>
          </a:xfrm>
          <a:prstGeom prst="rect">
            <a:avLst/>
          </a:prstGeom>
          <a:noFill/>
          <a:ln>
            <a:noFill/>
          </a:ln>
        </p:spPr>
      </p:pic>
      <p:sp>
        <p:nvSpPr>
          <p:cNvPr id="93" name="Google Shape;93;p1"/>
          <p:cNvSpPr/>
          <p:nvPr/>
        </p:nvSpPr>
        <p:spPr>
          <a:xfrm>
            <a:off x="474225" y="8408345"/>
            <a:ext cx="1842300" cy="656700"/>
          </a:xfrm>
          <a:prstGeom prst="roundRect">
            <a:avLst>
              <a:gd fmla="val 16667" name="adj"/>
            </a:avLst>
          </a:prstGeom>
          <a:solidFill>
            <a:srgbClr val="FA632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chemeClr val="lt1"/>
                </a:solidFill>
                <a:latin typeface="Public Sans"/>
                <a:ea typeface="Public Sans"/>
                <a:cs typeface="Public Sans"/>
                <a:sym typeface="Public Sans"/>
              </a:rPr>
              <a:t>START</a:t>
            </a:r>
            <a:endParaRPr b="1" sz="2600">
              <a:solidFill>
                <a:schemeClr val="lt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696969"/>
            </a:gs>
            <a:gs pos="100000">
              <a:srgbClr val="1D1D1D"/>
            </a:gs>
          </a:gsLst>
          <a:path path="circle">
            <a:fillToRect b="50%" l="50%" r="50%" t="50%"/>
          </a:path>
          <a:tileRect/>
        </a:gradFill>
      </p:bgPr>
    </p:bg>
    <p:spTree>
      <p:nvGrpSpPr>
        <p:cNvPr id="97" name="Shape 97"/>
        <p:cNvGrpSpPr/>
        <p:nvPr/>
      </p:nvGrpSpPr>
      <p:grpSpPr>
        <a:xfrm>
          <a:off x="0" y="0"/>
          <a:ext cx="0" cy="0"/>
          <a:chOff x="0" y="0"/>
          <a:chExt cx="0" cy="0"/>
        </a:xfrm>
      </p:grpSpPr>
      <p:grpSp>
        <p:nvGrpSpPr>
          <p:cNvPr id="98" name="Google Shape;98;p2"/>
          <p:cNvGrpSpPr/>
          <p:nvPr/>
        </p:nvGrpSpPr>
        <p:grpSpPr>
          <a:xfrm>
            <a:off x="1355748" y="814615"/>
            <a:ext cx="14921775" cy="1598133"/>
            <a:chOff x="-844742" y="5118"/>
            <a:chExt cx="19895700" cy="2130844"/>
          </a:xfrm>
        </p:grpSpPr>
        <p:sp>
          <p:nvSpPr>
            <p:cNvPr id="99" name="Google Shape;99;p2"/>
            <p:cNvSpPr txBox="1"/>
            <p:nvPr/>
          </p:nvSpPr>
          <p:spPr>
            <a:xfrm>
              <a:off x="-6" y="5118"/>
              <a:ext cx="18078600" cy="1313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6400">
                  <a:solidFill>
                    <a:srgbClr val="FFFFFF"/>
                  </a:solidFill>
                  <a:latin typeface="Public Sans"/>
                  <a:ea typeface="Public Sans"/>
                  <a:cs typeface="Public Sans"/>
                  <a:sym typeface="Public Sans"/>
                </a:rPr>
                <a:t>What You will</a:t>
              </a:r>
              <a:r>
                <a:rPr b="1" i="0" lang="en-US" sz="6400" u="none" cap="none" strike="noStrike">
                  <a:solidFill>
                    <a:srgbClr val="FFFFFF"/>
                  </a:solidFill>
                  <a:latin typeface="Public Sans"/>
                  <a:ea typeface="Public Sans"/>
                  <a:cs typeface="Public Sans"/>
                  <a:sym typeface="Public Sans"/>
                </a:rPr>
                <a:t> </a:t>
              </a:r>
              <a:r>
                <a:rPr b="1" lang="en-US" sz="6400">
                  <a:solidFill>
                    <a:srgbClr val="FA632A"/>
                  </a:solidFill>
                  <a:latin typeface="Public Sans"/>
                  <a:ea typeface="Public Sans"/>
                  <a:cs typeface="Public Sans"/>
                  <a:sym typeface="Public Sans"/>
                </a:rPr>
                <a:t>Achieve?</a:t>
              </a:r>
              <a:endParaRPr b="1" sz="6400"/>
            </a:p>
          </p:txBody>
        </p:sp>
        <p:sp>
          <p:nvSpPr>
            <p:cNvPr id="100" name="Google Shape;100;p2"/>
            <p:cNvSpPr txBox="1"/>
            <p:nvPr/>
          </p:nvSpPr>
          <p:spPr>
            <a:xfrm>
              <a:off x="-844742" y="1684462"/>
              <a:ext cx="19895700" cy="451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Font typeface="Arial"/>
                <a:buNone/>
              </a:pPr>
              <a:r>
                <a:rPr lang="en-US" sz="2200">
                  <a:solidFill>
                    <a:srgbClr val="FFFFFF"/>
                  </a:solidFill>
                  <a:latin typeface="Public Sans"/>
                  <a:ea typeface="Public Sans"/>
                  <a:cs typeface="Public Sans"/>
                  <a:sym typeface="Public Sans"/>
                </a:rPr>
                <a:t>Master three critical domains of the modern digital infrastructure landscape:</a:t>
              </a:r>
              <a:endParaRPr sz="2200"/>
            </a:p>
          </p:txBody>
        </p:sp>
      </p:grpSp>
      <p:cxnSp>
        <p:nvCxnSpPr>
          <p:cNvPr id="101" name="Google Shape;101;p2"/>
          <p:cNvCxnSpPr/>
          <p:nvPr/>
        </p:nvCxnSpPr>
        <p:spPr>
          <a:xfrm>
            <a:off x="3332670" y="2720549"/>
            <a:ext cx="10961100" cy="0"/>
          </a:xfrm>
          <a:prstGeom prst="straightConnector1">
            <a:avLst/>
          </a:prstGeom>
          <a:noFill/>
          <a:ln cap="flat" cmpd="sng" w="104775">
            <a:solidFill>
              <a:srgbClr val="FA632A"/>
            </a:solidFill>
            <a:prstDash val="solid"/>
            <a:round/>
            <a:headEnd len="sm" w="sm" type="none"/>
            <a:tailEnd len="sm" w="sm" type="none"/>
          </a:ln>
        </p:spPr>
      </p:cxnSp>
      <p:sp>
        <p:nvSpPr>
          <p:cNvPr id="102" name="Google Shape;102;p2"/>
          <p:cNvSpPr txBox="1"/>
          <p:nvPr/>
        </p:nvSpPr>
        <p:spPr>
          <a:xfrm>
            <a:off x="17449800" y="9391650"/>
            <a:ext cx="152400" cy="2095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000" u="none" cap="none" strike="noStrike">
                <a:solidFill>
                  <a:srgbClr val="FA632A"/>
                </a:solidFill>
                <a:latin typeface="Public Sans"/>
                <a:ea typeface="Public Sans"/>
                <a:cs typeface="Public Sans"/>
                <a:sym typeface="Public Sans"/>
              </a:rPr>
              <a:t>2</a:t>
            </a:r>
            <a:endParaRPr/>
          </a:p>
        </p:txBody>
      </p:sp>
      <p:sp>
        <p:nvSpPr>
          <p:cNvPr id="103" name="Google Shape;103;p2"/>
          <p:cNvSpPr/>
          <p:nvPr/>
        </p:nvSpPr>
        <p:spPr>
          <a:xfrm>
            <a:off x="1163425" y="3429000"/>
            <a:ext cx="4421100" cy="54729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4" name="Google Shape;104;p2"/>
          <p:cNvSpPr/>
          <p:nvPr/>
        </p:nvSpPr>
        <p:spPr>
          <a:xfrm>
            <a:off x="6979801" y="3429000"/>
            <a:ext cx="4421100" cy="54729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sp>
        <p:nvSpPr>
          <p:cNvPr id="105" name="Google Shape;105;p2"/>
          <p:cNvSpPr/>
          <p:nvPr/>
        </p:nvSpPr>
        <p:spPr>
          <a:xfrm>
            <a:off x="12490025" y="3429000"/>
            <a:ext cx="4421100" cy="5472900"/>
          </a:xfrm>
          <a:prstGeom prst="roundRect">
            <a:avLst>
              <a:gd fmla="val 16667"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latin typeface="Calibri"/>
              <a:ea typeface="Calibri"/>
              <a:cs typeface="Calibri"/>
              <a:sym typeface="Calibri"/>
            </a:endParaRPr>
          </a:p>
        </p:txBody>
      </p:sp>
      <p:sp>
        <p:nvSpPr>
          <p:cNvPr id="106" name="Google Shape;106;p2"/>
          <p:cNvSpPr txBox="1"/>
          <p:nvPr/>
        </p:nvSpPr>
        <p:spPr>
          <a:xfrm>
            <a:off x="1500200" y="4378100"/>
            <a:ext cx="1408200" cy="11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100">
                <a:solidFill>
                  <a:schemeClr val="accent6"/>
                </a:solidFill>
                <a:latin typeface="Calibri"/>
                <a:ea typeface="Calibri"/>
                <a:cs typeface="Calibri"/>
                <a:sym typeface="Calibri"/>
              </a:rPr>
              <a:t>01</a:t>
            </a:r>
            <a:endParaRPr b="1" sz="4100">
              <a:solidFill>
                <a:schemeClr val="accent6"/>
              </a:solidFill>
              <a:latin typeface="Calibri"/>
              <a:ea typeface="Calibri"/>
              <a:cs typeface="Calibri"/>
              <a:sym typeface="Calibri"/>
            </a:endParaRPr>
          </a:p>
        </p:txBody>
      </p:sp>
      <p:pic>
        <p:nvPicPr>
          <p:cNvPr id="107" name="Google Shape;107;p2"/>
          <p:cNvPicPr preferRelativeResize="0"/>
          <p:nvPr/>
        </p:nvPicPr>
        <p:blipFill>
          <a:blip r:embed="rId3">
            <a:alphaModFix/>
          </a:blip>
          <a:stretch>
            <a:fillRect/>
          </a:stretch>
        </p:blipFill>
        <p:spPr>
          <a:xfrm>
            <a:off x="4224318" y="3635250"/>
            <a:ext cx="1080300" cy="1080300"/>
          </a:xfrm>
          <a:prstGeom prst="rect">
            <a:avLst/>
          </a:prstGeom>
          <a:noFill/>
          <a:ln>
            <a:noFill/>
          </a:ln>
        </p:spPr>
      </p:pic>
      <p:sp>
        <p:nvSpPr>
          <p:cNvPr id="108" name="Google Shape;108;p2"/>
          <p:cNvSpPr txBox="1"/>
          <p:nvPr/>
        </p:nvSpPr>
        <p:spPr>
          <a:xfrm>
            <a:off x="1193293" y="5174861"/>
            <a:ext cx="16655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Font typeface="Arial"/>
              <a:buNone/>
            </a:pPr>
            <a:r>
              <a:rPr b="1" lang="en-US" sz="3000">
                <a:solidFill>
                  <a:srgbClr val="1E293B"/>
                </a:solidFill>
                <a:latin typeface="Public Sans"/>
                <a:ea typeface="Public Sans"/>
                <a:cs typeface="Public Sans"/>
                <a:sym typeface="Public Sans"/>
              </a:rPr>
              <a:t>    Core Infrastructure   </a:t>
            </a:r>
            <a:r>
              <a:rPr b="1" lang="en-US" sz="3000">
                <a:solidFill>
                  <a:schemeClr val="dk1"/>
                </a:solidFill>
                <a:latin typeface="Public Sans"/>
                <a:ea typeface="Public Sans"/>
                <a:cs typeface="Public Sans"/>
                <a:sym typeface="Public Sans"/>
              </a:rPr>
              <a:t> </a:t>
            </a:r>
            <a:r>
              <a:rPr b="1" lang="en-US" sz="3200">
                <a:solidFill>
                  <a:schemeClr val="dk1"/>
                </a:solidFill>
                <a:latin typeface="Public Sans"/>
                <a:ea typeface="Public Sans"/>
                <a:cs typeface="Public Sans"/>
                <a:sym typeface="Public Sans"/>
              </a:rPr>
              <a:t>                  </a:t>
            </a:r>
            <a:r>
              <a:rPr b="1" lang="en-US" sz="2700">
                <a:solidFill>
                  <a:srgbClr val="1E293B"/>
                </a:solidFill>
                <a:latin typeface="Public Sans"/>
                <a:ea typeface="Public Sans"/>
                <a:cs typeface="Public Sans"/>
                <a:sym typeface="Public Sans"/>
              </a:rPr>
              <a:t>     </a:t>
            </a:r>
            <a:r>
              <a:rPr b="1" lang="en-US" sz="3000">
                <a:solidFill>
                  <a:srgbClr val="1E293B"/>
                </a:solidFill>
                <a:latin typeface="Public Sans"/>
                <a:ea typeface="Public Sans"/>
                <a:cs typeface="Public Sans"/>
                <a:sym typeface="Public Sans"/>
              </a:rPr>
              <a:t>Ownership &amp; Scale </a:t>
            </a:r>
            <a:r>
              <a:rPr b="1" lang="en-US" sz="2700">
                <a:solidFill>
                  <a:srgbClr val="1E293B"/>
                </a:solidFill>
                <a:latin typeface="Public Sans"/>
                <a:ea typeface="Public Sans"/>
                <a:cs typeface="Public Sans"/>
                <a:sym typeface="Public Sans"/>
              </a:rPr>
              <a:t>            </a:t>
            </a:r>
            <a:r>
              <a:rPr b="1" lang="en-US" sz="3200">
                <a:solidFill>
                  <a:schemeClr val="dk1"/>
                </a:solidFill>
                <a:latin typeface="Public Sans"/>
                <a:ea typeface="Public Sans"/>
                <a:cs typeface="Public Sans"/>
                <a:sym typeface="Public Sans"/>
              </a:rPr>
              <a:t>     </a:t>
            </a:r>
            <a:r>
              <a:rPr b="1" lang="en-US" sz="2700">
                <a:solidFill>
                  <a:srgbClr val="1E293B"/>
                </a:solidFill>
                <a:latin typeface="Public Sans"/>
                <a:ea typeface="Public Sans"/>
                <a:cs typeface="Public Sans"/>
                <a:sym typeface="Public Sans"/>
              </a:rPr>
              <a:t>     </a:t>
            </a:r>
            <a:r>
              <a:rPr b="1" lang="en-US" sz="3000">
                <a:solidFill>
                  <a:srgbClr val="1E293B"/>
                </a:solidFill>
                <a:latin typeface="Public Sans"/>
                <a:ea typeface="Public Sans"/>
                <a:cs typeface="Public Sans"/>
                <a:sym typeface="Public Sans"/>
              </a:rPr>
              <a:t>Markets &amp; Challenges</a:t>
            </a:r>
            <a:endParaRPr b="1" sz="2700">
              <a:solidFill>
                <a:srgbClr val="1E293B"/>
              </a:solidFill>
              <a:latin typeface="Public Sans"/>
              <a:ea typeface="Public Sans"/>
              <a:cs typeface="Public Sans"/>
              <a:sym typeface="Public Sans"/>
            </a:endParaRPr>
          </a:p>
        </p:txBody>
      </p:sp>
      <p:sp>
        <p:nvSpPr>
          <p:cNvPr id="109" name="Google Shape;109;p2"/>
          <p:cNvSpPr txBox="1"/>
          <p:nvPr/>
        </p:nvSpPr>
        <p:spPr>
          <a:xfrm>
            <a:off x="7347175" y="4378100"/>
            <a:ext cx="1408200" cy="89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100">
                <a:solidFill>
                  <a:schemeClr val="accent6"/>
                </a:solidFill>
                <a:latin typeface="Calibri"/>
                <a:ea typeface="Calibri"/>
                <a:cs typeface="Calibri"/>
                <a:sym typeface="Calibri"/>
              </a:rPr>
              <a:t>02</a:t>
            </a:r>
            <a:endParaRPr b="1" sz="4100">
              <a:solidFill>
                <a:schemeClr val="accent6"/>
              </a:solidFill>
              <a:latin typeface="Calibri"/>
              <a:ea typeface="Calibri"/>
              <a:cs typeface="Calibri"/>
              <a:sym typeface="Calibri"/>
            </a:endParaRPr>
          </a:p>
        </p:txBody>
      </p:sp>
      <p:sp>
        <p:nvSpPr>
          <p:cNvPr id="110" name="Google Shape;110;p2"/>
          <p:cNvSpPr txBox="1"/>
          <p:nvPr/>
        </p:nvSpPr>
        <p:spPr>
          <a:xfrm>
            <a:off x="12796175" y="4378100"/>
            <a:ext cx="1408200" cy="6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100">
                <a:solidFill>
                  <a:schemeClr val="accent6"/>
                </a:solidFill>
                <a:latin typeface="Calibri"/>
                <a:ea typeface="Calibri"/>
                <a:cs typeface="Calibri"/>
                <a:sym typeface="Calibri"/>
              </a:rPr>
              <a:t>03</a:t>
            </a:r>
            <a:endParaRPr b="1" sz="4100">
              <a:solidFill>
                <a:schemeClr val="accent6"/>
              </a:solidFill>
              <a:latin typeface="Calibri"/>
              <a:ea typeface="Calibri"/>
              <a:cs typeface="Calibri"/>
              <a:sym typeface="Calibri"/>
            </a:endParaRPr>
          </a:p>
        </p:txBody>
      </p:sp>
      <p:sp>
        <p:nvSpPr>
          <p:cNvPr id="111" name="Google Shape;111;p2"/>
          <p:cNvSpPr txBox="1"/>
          <p:nvPr/>
        </p:nvSpPr>
        <p:spPr>
          <a:xfrm>
            <a:off x="1285893" y="6158111"/>
            <a:ext cx="3888300" cy="1828500"/>
          </a:xfrm>
          <a:prstGeom prst="rect">
            <a:avLst/>
          </a:prstGeom>
          <a:noFill/>
          <a:ln>
            <a:noFill/>
          </a:ln>
        </p:spPr>
        <p:txBody>
          <a:bodyPr anchorCtr="0" anchor="t" bIns="91425" lIns="91425" spcFirstLastPara="1" rIns="91425" wrap="square" tIns="91425">
            <a:spAutoFit/>
          </a:bodyPr>
          <a:lstStyle/>
          <a:p>
            <a:pPr indent="0" lvl="0" marL="228600" rtl="0" algn="l">
              <a:lnSpc>
                <a:spcPct val="115000"/>
              </a:lnSpc>
              <a:spcBef>
                <a:spcPts val="0"/>
              </a:spcBef>
              <a:spcAft>
                <a:spcPts val="0"/>
              </a:spcAft>
              <a:buNone/>
            </a:pPr>
            <a:r>
              <a:rPr lang="en-US" sz="2400">
                <a:solidFill>
                  <a:srgbClr val="475569"/>
                </a:solidFill>
                <a:latin typeface="Public Sans"/>
                <a:ea typeface="Public Sans"/>
                <a:cs typeface="Public Sans"/>
                <a:sym typeface="Public Sans"/>
              </a:rPr>
              <a:t>Describe data center purposes and physical infrastructure components.</a:t>
            </a:r>
            <a:endParaRPr sz="2400">
              <a:solidFill>
                <a:srgbClr val="475569"/>
              </a:solidFill>
              <a:latin typeface="Public Sans"/>
              <a:ea typeface="Public Sans"/>
              <a:cs typeface="Public Sans"/>
              <a:sym typeface="Public Sans"/>
            </a:endParaRPr>
          </a:p>
        </p:txBody>
      </p:sp>
      <p:sp>
        <p:nvSpPr>
          <p:cNvPr id="112" name="Google Shape;112;p2"/>
          <p:cNvSpPr txBox="1"/>
          <p:nvPr/>
        </p:nvSpPr>
        <p:spPr>
          <a:xfrm>
            <a:off x="7169882" y="6121184"/>
            <a:ext cx="3888300" cy="1828500"/>
          </a:xfrm>
          <a:prstGeom prst="rect">
            <a:avLst/>
          </a:prstGeom>
          <a:noFill/>
          <a:ln>
            <a:noFill/>
          </a:ln>
        </p:spPr>
        <p:txBody>
          <a:bodyPr anchorCtr="0" anchor="t" bIns="91425" lIns="91425" spcFirstLastPara="1" rIns="91425" wrap="square" tIns="91425">
            <a:spAutoFit/>
          </a:bodyPr>
          <a:lstStyle/>
          <a:p>
            <a:pPr indent="0" lvl="0" marL="228600" rtl="0" algn="l">
              <a:lnSpc>
                <a:spcPct val="115000"/>
              </a:lnSpc>
              <a:spcBef>
                <a:spcPts val="0"/>
              </a:spcBef>
              <a:spcAft>
                <a:spcPts val="0"/>
              </a:spcAft>
              <a:buNone/>
            </a:pPr>
            <a:r>
              <a:rPr lang="en-US" sz="2400">
                <a:solidFill>
                  <a:srgbClr val="475569"/>
                </a:solidFill>
                <a:latin typeface="Public Sans"/>
                <a:ea typeface="Public Sans"/>
                <a:cs typeface="Public Sans"/>
                <a:sym typeface="Public Sans"/>
              </a:rPr>
              <a:t>Classify data centers across four categories based on ownership and scale.</a:t>
            </a:r>
            <a:endParaRPr sz="2400">
              <a:solidFill>
                <a:srgbClr val="475569"/>
              </a:solidFill>
              <a:latin typeface="Public Sans"/>
              <a:ea typeface="Public Sans"/>
              <a:cs typeface="Public Sans"/>
              <a:sym typeface="Public Sans"/>
            </a:endParaRPr>
          </a:p>
        </p:txBody>
      </p:sp>
      <p:pic>
        <p:nvPicPr>
          <p:cNvPr id="113" name="Google Shape;113;p2"/>
          <p:cNvPicPr preferRelativeResize="0"/>
          <p:nvPr/>
        </p:nvPicPr>
        <p:blipFill>
          <a:blip r:embed="rId4">
            <a:alphaModFix/>
          </a:blip>
          <a:stretch>
            <a:fillRect/>
          </a:stretch>
        </p:blipFill>
        <p:spPr>
          <a:xfrm>
            <a:off x="10102627" y="3678450"/>
            <a:ext cx="1080300" cy="1080300"/>
          </a:xfrm>
          <a:prstGeom prst="rect">
            <a:avLst/>
          </a:prstGeom>
          <a:noFill/>
          <a:ln>
            <a:noFill/>
          </a:ln>
        </p:spPr>
      </p:pic>
      <p:sp>
        <p:nvSpPr>
          <p:cNvPr id="114" name="Google Shape;114;p2"/>
          <p:cNvSpPr txBox="1"/>
          <p:nvPr/>
        </p:nvSpPr>
        <p:spPr>
          <a:xfrm>
            <a:off x="12796175" y="6070007"/>
            <a:ext cx="4017600" cy="2253300"/>
          </a:xfrm>
          <a:prstGeom prst="rect">
            <a:avLst/>
          </a:prstGeom>
          <a:noFill/>
          <a:ln>
            <a:noFill/>
          </a:ln>
        </p:spPr>
        <p:txBody>
          <a:bodyPr anchorCtr="0" anchor="t" bIns="91425" lIns="91425" spcFirstLastPara="1" rIns="91425" wrap="square" tIns="91425">
            <a:spAutoFit/>
          </a:bodyPr>
          <a:lstStyle/>
          <a:p>
            <a:pPr indent="0" lvl="0" marL="228600" rtl="0" algn="l">
              <a:lnSpc>
                <a:spcPct val="115000"/>
              </a:lnSpc>
              <a:spcBef>
                <a:spcPts val="0"/>
              </a:spcBef>
              <a:spcAft>
                <a:spcPts val="1000"/>
              </a:spcAft>
              <a:buNone/>
            </a:pPr>
            <a:r>
              <a:rPr lang="en-US" sz="2400">
                <a:solidFill>
                  <a:srgbClr val="475569"/>
                </a:solidFill>
                <a:latin typeface="Public Sans"/>
                <a:ea typeface="Public Sans"/>
                <a:cs typeface="Public Sans"/>
                <a:sym typeface="Public Sans"/>
              </a:rPr>
              <a:t>Identify major U.S. geographic markets and evaluate core environmental and security challenges.</a:t>
            </a:r>
            <a:endParaRPr sz="2400">
              <a:solidFill>
                <a:srgbClr val="475569"/>
              </a:solidFill>
              <a:latin typeface="Public Sans"/>
              <a:ea typeface="Public Sans"/>
              <a:cs typeface="Public Sans"/>
              <a:sym typeface="Public Sans"/>
            </a:endParaRPr>
          </a:p>
        </p:txBody>
      </p:sp>
      <p:pic>
        <p:nvPicPr>
          <p:cNvPr id="115" name="Google Shape;115;p2"/>
          <p:cNvPicPr preferRelativeResize="0"/>
          <p:nvPr/>
        </p:nvPicPr>
        <p:blipFill>
          <a:blip r:embed="rId5">
            <a:alphaModFix/>
          </a:blip>
          <a:stretch>
            <a:fillRect/>
          </a:stretch>
        </p:blipFill>
        <p:spPr>
          <a:xfrm>
            <a:off x="15641875" y="3512777"/>
            <a:ext cx="1080300" cy="1080300"/>
          </a:xfrm>
          <a:prstGeom prst="rect">
            <a:avLst/>
          </a:prstGeom>
          <a:noFill/>
          <a:ln>
            <a:noFill/>
          </a:ln>
        </p:spPr>
      </p:pic>
      <p:sp>
        <p:nvSpPr>
          <p:cNvPr id="116" name="Google Shape;116;p2"/>
          <p:cNvSpPr/>
          <p:nvPr/>
        </p:nvSpPr>
        <p:spPr>
          <a:xfrm>
            <a:off x="-6949855" y="-214323"/>
            <a:ext cx="6796800" cy="1077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&amp; Layout Strategy</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Minimalist graphic showing structured learning pathways. Icon Style: 3 distinct numbered icons corresponding to objectives. Infographic Type: 3-column horizontal objective layout. Layout Structure: Card-based grid across three parallel columns.</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Structure: 3 distinct horizontal content cards aligned neatly on a solid white background, utilizing the #FF727A accent color for number callouts.</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Strategic Rationale: Dividing the learning objectives into distinct visual cards ensures that each competency is digestible, preventing cognitive overload at the start of the course.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Hover interaction on each card to reveal full competency details.</a:t>
            </a:r>
            <a:endParaRPr sz="2800">
              <a:latin typeface="Calibri"/>
              <a:ea typeface="Calibri"/>
              <a:cs typeface="Calibri"/>
              <a:sym typeface="Calibri"/>
            </a:endParaRPr>
          </a:p>
        </p:txBody>
      </p:sp>
      <p:pic>
        <p:nvPicPr>
          <p:cNvPr id="117" name="Google Shape;117;p2" title="genpact-logo-with-black-background_ASC-Social-Media.png"/>
          <p:cNvPicPr preferRelativeResize="0"/>
          <p:nvPr/>
        </p:nvPicPr>
        <p:blipFill rotWithShape="1">
          <a:blip r:embed="rId6">
            <a:alphaModFix/>
          </a:blip>
          <a:srcRect b="17272" l="16760" r="19708" t="18593"/>
          <a:stretch/>
        </p:blipFill>
        <p:spPr>
          <a:xfrm>
            <a:off x="355150" y="278700"/>
            <a:ext cx="1695525" cy="898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1" name="Shape 121"/>
        <p:cNvGrpSpPr/>
        <p:nvPr/>
      </p:nvGrpSpPr>
      <p:grpSpPr>
        <a:xfrm>
          <a:off x="0" y="0"/>
          <a:ext cx="0" cy="0"/>
          <a:chOff x="0" y="0"/>
          <a:chExt cx="0" cy="0"/>
        </a:xfrm>
      </p:grpSpPr>
      <p:sp>
        <p:nvSpPr>
          <p:cNvPr id="122" name="Google Shape;122;p5"/>
          <p:cNvSpPr txBox="1"/>
          <p:nvPr/>
        </p:nvSpPr>
        <p:spPr>
          <a:xfrm>
            <a:off x="571491" y="1549670"/>
            <a:ext cx="15668100" cy="985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6400">
                <a:solidFill>
                  <a:srgbClr val="191919"/>
                </a:solidFill>
                <a:latin typeface="Public Sans"/>
                <a:ea typeface="Public Sans"/>
                <a:cs typeface="Public Sans"/>
                <a:sym typeface="Public Sans"/>
              </a:rPr>
              <a:t>The Backbone of </a:t>
            </a:r>
            <a:r>
              <a:rPr b="1" lang="en-US" sz="6400">
                <a:solidFill>
                  <a:srgbClr val="FA632A"/>
                </a:solidFill>
                <a:latin typeface="Public Sans"/>
                <a:ea typeface="Public Sans"/>
                <a:cs typeface="Public Sans"/>
                <a:sym typeface="Public Sans"/>
              </a:rPr>
              <a:t>Modern Information</a:t>
            </a:r>
            <a:endParaRPr b="1" sz="6400"/>
          </a:p>
        </p:txBody>
      </p:sp>
      <p:sp>
        <p:nvSpPr>
          <p:cNvPr id="123" name="Google Shape;123;p5"/>
          <p:cNvSpPr txBox="1"/>
          <p:nvPr/>
        </p:nvSpPr>
        <p:spPr>
          <a:xfrm>
            <a:off x="17449800" y="9391650"/>
            <a:ext cx="1524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000">
                <a:solidFill>
                  <a:srgbClr val="FA632A"/>
                </a:solidFill>
                <a:latin typeface="Public Sans"/>
                <a:ea typeface="Public Sans"/>
                <a:cs typeface="Public Sans"/>
                <a:sym typeface="Public Sans"/>
              </a:rPr>
              <a:t>3</a:t>
            </a:r>
            <a:endParaRPr/>
          </a:p>
        </p:txBody>
      </p:sp>
      <p:sp>
        <p:nvSpPr>
          <p:cNvPr id="124" name="Google Shape;124;p5"/>
          <p:cNvSpPr/>
          <p:nvPr/>
        </p:nvSpPr>
        <p:spPr>
          <a:xfrm>
            <a:off x="610273" y="5354957"/>
            <a:ext cx="152400" cy="1379100"/>
          </a:xfrm>
          <a:prstGeom prst="rect">
            <a:avLst/>
          </a:prstGeom>
          <a:solidFill>
            <a:srgbClr val="FA63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25" name="Google Shape;125;p5"/>
          <p:cNvSpPr/>
          <p:nvPr/>
        </p:nvSpPr>
        <p:spPr>
          <a:xfrm>
            <a:off x="762679" y="5376554"/>
            <a:ext cx="9218100" cy="1379100"/>
          </a:xfrm>
          <a:prstGeom prst="rect">
            <a:avLst/>
          </a:prstGeom>
          <a:solidFill>
            <a:srgbClr val="F8FAFC"/>
          </a:solidFill>
          <a:ln>
            <a:noFill/>
          </a:ln>
        </p:spPr>
        <p:txBody>
          <a:bodyPr anchorCtr="0" anchor="ctr" bIns="45700" lIns="91425" spcFirstLastPara="1" rIns="91425" wrap="square" tIns="45700">
            <a:noAutofit/>
          </a:bodyPr>
          <a:lstStyle/>
          <a:p>
            <a:pPr indent="0" lvl="0" marL="0" rtl="0" algn="l">
              <a:lnSpc>
                <a:spcPct val="149955"/>
              </a:lnSpc>
              <a:spcBef>
                <a:spcPts val="0"/>
              </a:spcBef>
              <a:spcAft>
                <a:spcPts val="0"/>
              </a:spcAft>
              <a:buClr>
                <a:schemeClr val="dk1"/>
              </a:buClr>
              <a:buFont typeface="Arial"/>
              <a:buNone/>
            </a:pPr>
            <a:r>
              <a:rPr i="1" lang="en-US" sz="2400">
                <a:solidFill>
                  <a:srgbClr val="475569"/>
                </a:solidFill>
                <a:latin typeface="Public Sans"/>
                <a:ea typeface="Public Sans"/>
                <a:cs typeface="Public Sans"/>
                <a:sym typeface="Public Sans"/>
              </a:rPr>
              <a:t> "The foundation on which modern technological infrastructure drives today's world." </a:t>
            </a:r>
            <a:endParaRPr i="1" sz="2700">
              <a:solidFill>
                <a:schemeClr val="dk1"/>
              </a:solidFill>
            </a:endParaRPr>
          </a:p>
        </p:txBody>
      </p:sp>
      <p:sp>
        <p:nvSpPr>
          <p:cNvPr id="126" name="Google Shape;126;p5"/>
          <p:cNvSpPr txBox="1"/>
          <p:nvPr/>
        </p:nvSpPr>
        <p:spPr>
          <a:xfrm>
            <a:off x="571500" y="3052879"/>
            <a:ext cx="9593100" cy="1551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2400">
                <a:solidFill>
                  <a:srgbClr val="475569"/>
                </a:solidFill>
                <a:latin typeface="Public Sans"/>
                <a:ea typeface="Public Sans"/>
                <a:cs typeface="Public Sans"/>
                <a:sym typeface="Public Sans"/>
              </a:rPr>
              <a:t>Data centers serve as critical facilities designed to host, manage, and process vast volumes of global business records, scientific computation, and AI applications securely and efficiently.</a:t>
            </a:r>
            <a:endParaRPr b="1" sz="2400">
              <a:latin typeface="Merriweather"/>
              <a:ea typeface="Merriweather"/>
              <a:cs typeface="Merriweather"/>
              <a:sym typeface="Merriweather"/>
            </a:endParaRPr>
          </a:p>
        </p:txBody>
      </p:sp>
      <p:sp>
        <p:nvSpPr>
          <p:cNvPr id="127" name="Google Shape;127;p5"/>
          <p:cNvSpPr txBox="1"/>
          <p:nvPr/>
        </p:nvSpPr>
        <p:spPr>
          <a:xfrm>
            <a:off x="1431484" y="7298594"/>
            <a:ext cx="30384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Banking Systems</a:t>
            </a:r>
            <a:endParaRPr b="1" sz="2600">
              <a:latin typeface="Merriweather"/>
              <a:ea typeface="Merriweather"/>
              <a:cs typeface="Merriweather"/>
              <a:sym typeface="Merriweather"/>
            </a:endParaRPr>
          </a:p>
        </p:txBody>
      </p:sp>
      <p:pic>
        <p:nvPicPr>
          <p:cNvPr id="128" name="Google Shape;128;p5"/>
          <p:cNvPicPr preferRelativeResize="0"/>
          <p:nvPr/>
        </p:nvPicPr>
        <p:blipFill>
          <a:blip r:embed="rId3">
            <a:alphaModFix/>
          </a:blip>
          <a:stretch>
            <a:fillRect/>
          </a:stretch>
        </p:blipFill>
        <p:spPr>
          <a:xfrm>
            <a:off x="183699" y="6936726"/>
            <a:ext cx="1062000" cy="1062000"/>
          </a:xfrm>
          <a:prstGeom prst="rect">
            <a:avLst/>
          </a:prstGeom>
          <a:noFill/>
          <a:ln>
            <a:noFill/>
          </a:ln>
        </p:spPr>
      </p:pic>
      <p:sp>
        <p:nvSpPr>
          <p:cNvPr id="129" name="Google Shape;129;p5"/>
          <p:cNvSpPr txBox="1"/>
          <p:nvPr/>
        </p:nvSpPr>
        <p:spPr>
          <a:xfrm>
            <a:off x="6359984" y="7294619"/>
            <a:ext cx="3038400" cy="415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US" sz="2700">
                <a:solidFill>
                  <a:srgbClr val="1E293B"/>
                </a:solidFill>
                <a:latin typeface="Public Sans Medium"/>
                <a:ea typeface="Public Sans Medium"/>
                <a:cs typeface="Public Sans Medium"/>
                <a:sym typeface="Public Sans Medium"/>
              </a:rPr>
              <a:t>Cloud Computing</a:t>
            </a:r>
            <a:endParaRPr sz="2700">
              <a:solidFill>
                <a:srgbClr val="1E293B"/>
              </a:solidFill>
              <a:latin typeface="Public Sans Medium"/>
              <a:ea typeface="Public Sans Medium"/>
              <a:cs typeface="Public Sans Medium"/>
              <a:sym typeface="Public Sans Medium"/>
            </a:endParaRPr>
          </a:p>
        </p:txBody>
      </p:sp>
      <p:pic>
        <p:nvPicPr>
          <p:cNvPr id="130" name="Google Shape;130;p5"/>
          <p:cNvPicPr preferRelativeResize="0"/>
          <p:nvPr/>
        </p:nvPicPr>
        <p:blipFill>
          <a:blip r:embed="rId4">
            <a:alphaModFix/>
          </a:blip>
          <a:stretch>
            <a:fillRect/>
          </a:stretch>
        </p:blipFill>
        <p:spPr>
          <a:xfrm>
            <a:off x="5081655" y="6858116"/>
            <a:ext cx="1219200" cy="1219200"/>
          </a:xfrm>
          <a:prstGeom prst="rect">
            <a:avLst/>
          </a:prstGeom>
          <a:noFill/>
          <a:ln>
            <a:noFill/>
          </a:ln>
        </p:spPr>
      </p:pic>
      <p:sp>
        <p:nvSpPr>
          <p:cNvPr id="131" name="Google Shape;131;p5"/>
          <p:cNvSpPr txBox="1"/>
          <p:nvPr/>
        </p:nvSpPr>
        <p:spPr>
          <a:xfrm>
            <a:off x="1431484" y="8524521"/>
            <a:ext cx="30384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Hard Software</a:t>
            </a:r>
            <a:endParaRPr b="1" sz="2600">
              <a:latin typeface="Merriweather"/>
              <a:ea typeface="Merriweather"/>
              <a:cs typeface="Merriweather"/>
              <a:sym typeface="Merriweather"/>
            </a:endParaRPr>
          </a:p>
        </p:txBody>
      </p:sp>
      <p:sp>
        <p:nvSpPr>
          <p:cNvPr id="132" name="Google Shape;132;p5"/>
          <p:cNvSpPr txBox="1"/>
          <p:nvPr/>
        </p:nvSpPr>
        <p:spPr>
          <a:xfrm>
            <a:off x="6392707" y="8370769"/>
            <a:ext cx="3038400" cy="83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Zero downtime security</a:t>
            </a:r>
            <a:endParaRPr b="1" sz="2600">
              <a:latin typeface="Merriweather"/>
              <a:ea typeface="Merriweather"/>
              <a:cs typeface="Merriweather"/>
              <a:sym typeface="Merriweather"/>
            </a:endParaRPr>
          </a:p>
        </p:txBody>
      </p:sp>
      <p:pic>
        <p:nvPicPr>
          <p:cNvPr id="133" name="Google Shape;133;p5"/>
          <p:cNvPicPr preferRelativeResize="0"/>
          <p:nvPr/>
        </p:nvPicPr>
        <p:blipFill>
          <a:blip r:embed="rId5">
            <a:alphaModFix/>
          </a:blip>
          <a:stretch>
            <a:fillRect/>
          </a:stretch>
        </p:blipFill>
        <p:spPr>
          <a:xfrm>
            <a:off x="258180" y="8179801"/>
            <a:ext cx="891100" cy="891100"/>
          </a:xfrm>
          <a:prstGeom prst="rect">
            <a:avLst/>
          </a:prstGeom>
          <a:noFill/>
          <a:ln>
            <a:noFill/>
          </a:ln>
        </p:spPr>
      </p:pic>
      <p:pic>
        <p:nvPicPr>
          <p:cNvPr id="134" name="Google Shape;134;p5"/>
          <p:cNvPicPr preferRelativeResize="0"/>
          <p:nvPr/>
        </p:nvPicPr>
        <p:blipFill>
          <a:blip r:embed="rId6">
            <a:alphaModFix/>
          </a:blip>
          <a:stretch>
            <a:fillRect/>
          </a:stretch>
        </p:blipFill>
        <p:spPr>
          <a:xfrm>
            <a:off x="5142882" y="8118561"/>
            <a:ext cx="1062000" cy="1062000"/>
          </a:xfrm>
          <a:prstGeom prst="rect">
            <a:avLst/>
          </a:prstGeom>
          <a:noFill/>
          <a:ln>
            <a:noFill/>
          </a:ln>
        </p:spPr>
      </p:pic>
      <p:pic>
        <p:nvPicPr>
          <p:cNvPr descr="image.png" id="135" name="Google Shape;135;p5"/>
          <p:cNvPicPr preferRelativeResize="0"/>
          <p:nvPr/>
        </p:nvPicPr>
        <p:blipFill rotWithShape="1">
          <a:blip r:embed="rId7">
            <a:alphaModFix/>
          </a:blip>
          <a:srcRect b="0" l="0" r="0" t="0"/>
          <a:stretch/>
        </p:blipFill>
        <p:spPr>
          <a:xfrm>
            <a:off x="10699650" y="3052879"/>
            <a:ext cx="7056325" cy="5817850"/>
          </a:xfrm>
          <a:prstGeom prst="rect">
            <a:avLst/>
          </a:prstGeom>
          <a:noFill/>
          <a:ln>
            <a:noFill/>
          </a:ln>
        </p:spPr>
      </p:pic>
      <p:sp>
        <p:nvSpPr>
          <p:cNvPr id="136" name="Google Shape;136;p5"/>
          <p:cNvSpPr/>
          <p:nvPr/>
        </p:nvSpPr>
        <p:spPr>
          <a:xfrm>
            <a:off x="10868695" y="3376304"/>
            <a:ext cx="6734100" cy="1062000"/>
          </a:xfrm>
          <a:prstGeom prst="roundRect">
            <a:avLst>
              <a:gd fmla="val 16667" name="adj"/>
            </a:avLst>
          </a:prstGeom>
          <a:solidFill>
            <a:srgbClr val="F5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rgbClr val="888888"/>
                </a:solidFill>
                <a:latin typeface="Merriweather ExtraBold"/>
                <a:ea typeface="Merriweather ExtraBold"/>
                <a:cs typeface="Merriweather ExtraBold"/>
                <a:sym typeface="Merriweather ExtraBold"/>
              </a:rPr>
              <a:t> </a:t>
            </a:r>
            <a:r>
              <a:rPr lang="en-US" sz="3400">
                <a:solidFill>
                  <a:srgbClr val="888888"/>
                </a:solidFill>
                <a:latin typeface="Merriweather ExtraBold"/>
                <a:ea typeface="Merriweather ExtraBold"/>
                <a:cs typeface="Merriweather ExtraBold"/>
                <a:sym typeface="Merriweather ExtraBold"/>
              </a:rPr>
              <a:t>P              Process   Distribute</a:t>
            </a:r>
            <a:endParaRPr>
              <a:solidFill>
                <a:srgbClr val="888888"/>
              </a:solidFill>
              <a:latin typeface="Calibri"/>
              <a:ea typeface="Calibri"/>
              <a:cs typeface="Calibri"/>
              <a:sym typeface="Calibri"/>
            </a:endParaRPr>
          </a:p>
        </p:txBody>
      </p:sp>
      <p:sp>
        <p:nvSpPr>
          <p:cNvPr id="137" name="Google Shape;137;p5"/>
          <p:cNvSpPr/>
          <p:nvPr/>
        </p:nvSpPr>
        <p:spPr>
          <a:xfrm>
            <a:off x="10730274" y="3376304"/>
            <a:ext cx="2128500" cy="1062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rgbClr val="FA632A"/>
                </a:solidFill>
                <a:latin typeface="Merriweather ExtraBold"/>
                <a:ea typeface="Merriweather ExtraBold"/>
                <a:cs typeface="Merriweather ExtraBold"/>
                <a:sym typeface="Merriweather ExtraBold"/>
              </a:rPr>
              <a:t>Store</a:t>
            </a:r>
            <a:endParaRPr sz="3400">
              <a:solidFill>
                <a:srgbClr val="FA632A"/>
              </a:solidFill>
              <a:latin typeface="Merriweather ExtraBold"/>
              <a:ea typeface="Merriweather ExtraBold"/>
              <a:cs typeface="Merriweather ExtraBold"/>
              <a:sym typeface="Merriweather ExtraBold"/>
            </a:endParaRPr>
          </a:p>
        </p:txBody>
      </p:sp>
      <p:sp>
        <p:nvSpPr>
          <p:cNvPr id="138" name="Google Shape;138;p5"/>
          <p:cNvSpPr txBox="1"/>
          <p:nvPr/>
        </p:nvSpPr>
        <p:spPr>
          <a:xfrm>
            <a:off x="12513802" y="4821377"/>
            <a:ext cx="42333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700">
                <a:solidFill>
                  <a:srgbClr val="1E293B"/>
                </a:solidFill>
                <a:latin typeface="Public Sans Medium"/>
                <a:ea typeface="Public Sans Medium"/>
                <a:cs typeface="Public Sans Medium"/>
                <a:sym typeface="Public Sans Medium"/>
              </a:rPr>
              <a:t>Data Storage Facilities</a:t>
            </a:r>
            <a:endParaRPr sz="2700">
              <a:solidFill>
                <a:srgbClr val="1E293B"/>
              </a:solidFill>
              <a:latin typeface="Public Sans Medium"/>
              <a:ea typeface="Public Sans Medium"/>
              <a:cs typeface="Public Sans Medium"/>
              <a:sym typeface="Public Sans Medium"/>
            </a:endParaRPr>
          </a:p>
        </p:txBody>
      </p:sp>
      <p:pic>
        <p:nvPicPr>
          <p:cNvPr id="139" name="Google Shape;139;p5"/>
          <p:cNvPicPr preferRelativeResize="0"/>
          <p:nvPr/>
        </p:nvPicPr>
        <p:blipFill>
          <a:blip r:embed="rId8">
            <a:alphaModFix/>
          </a:blip>
          <a:stretch>
            <a:fillRect/>
          </a:stretch>
        </p:blipFill>
        <p:spPr>
          <a:xfrm>
            <a:off x="11144321" y="4438304"/>
            <a:ext cx="1061999" cy="1062001"/>
          </a:xfrm>
          <a:prstGeom prst="rect">
            <a:avLst/>
          </a:prstGeom>
          <a:noFill/>
          <a:ln>
            <a:noFill/>
          </a:ln>
        </p:spPr>
      </p:pic>
      <p:sp>
        <p:nvSpPr>
          <p:cNvPr id="140" name="Google Shape;140;p5"/>
          <p:cNvSpPr txBox="1"/>
          <p:nvPr/>
        </p:nvSpPr>
        <p:spPr>
          <a:xfrm>
            <a:off x="10960629" y="5459374"/>
            <a:ext cx="6458400" cy="2918100"/>
          </a:xfrm>
          <a:prstGeom prst="rect">
            <a:avLst/>
          </a:prstGeom>
          <a:noFill/>
          <a:ln>
            <a:noFill/>
          </a:ln>
        </p:spPr>
        <p:txBody>
          <a:bodyPr anchorCtr="0" anchor="t" bIns="91425" lIns="91425" spcFirstLastPara="1" rIns="91425" wrap="square" tIns="91425">
            <a:spAutoFit/>
          </a:bodyPr>
          <a:lstStyle/>
          <a:p>
            <a:pPr indent="0" lvl="0" marL="0" rtl="0" algn="l">
              <a:lnSpc>
                <a:spcPct val="159981"/>
              </a:lnSpc>
              <a:spcBef>
                <a:spcPts val="0"/>
              </a:spcBef>
              <a:spcAft>
                <a:spcPts val="0"/>
              </a:spcAft>
              <a:buNone/>
            </a:pPr>
            <a:r>
              <a:rPr lang="en-US" sz="2400">
                <a:solidFill>
                  <a:srgbClr val="475569"/>
                </a:solidFill>
                <a:latin typeface="Public Sans"/>
                <a:ea typeface="Public Sans"/>
                <a:cs typeface="Public Sans"/>
                <a:sym typeface="Public Sans"/>
              </a:rPr>
              <a:t>High-density hardware systems and redundant storage arrays secure petabytes of critical user databases, banking records, and AI training datasets with multi-parity fault protection.</a:t>
            </a:r>
            <a:endParaRPr sz="2400">
              <a:latin typeface="Merriweather ExtraBold"/>
              <a:ea typeface="Merriweather ExtraBold"/>
              <a:cs typeface="Merriweather ExtraBold"/>
              <a:sym typeface="Merriweather ExtraBold"/>
            </a:endParaRPr>
          </a:p>
        </p:txBody>
      </p:sp>
      <p:sp>
        <p:nvSpPr>
          <p:cNvPr id="141" name="Google Shape;141;p5"/>
          <p:cNvSpPr/>
          <p:nvPr/>
        </p:nvSpPr>
        <p:spPr>
          <a:xfrm>
            <a:off x="-6980471" y="-61243"/>
            <a:ext cx="6796800" cy="1077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&amp; Layout Strategy</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Abstract digital data flow graphic. Icon Style: Flat minimalist monochrome. Infographic Type: Central concept anchor with surrounding detail nodes. Layout Structure: Centralized card containing a prominent graphic area flanked by key text statements.</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Structure: Centralized single card layout focusing heavily on high-contrast text and a large visual area.</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Strategic Rationale: By highlighting 'Banking Systems' and 'Cloud Computing' as key pillars, this minimalist layout grounds the technical definition in recognizable real-world applications.</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Click to reveal definitions of store, process, and distribute functions.</a:t>
            </a:r>
            <a:endParaRPr sz="2800">
              <a:latin typeface="Calibri"/>
              <a:ea typeface="Calibri"/>
              <a:cs typeface="Calibri"/>
              <a:sym typeface="Calibri"/>
            </a:endParaRPr>
          </a:p>
        </p:txBody>
      </p:sp>
      <p:pic>
        <p:nvPicPr>
          <p:cNvPr id="142" name="Google Shape;142;p5" title="genpact_Logo.png"/>
          <p:cNvPicPr preferRelativeResize="0"/>
          <p:nvPr/>
        </p:nvPicPr>
        <p:blipFill rotWithShape="1">
          <a:blip r:embed="rId9">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6" name="Shape 146"/>
        <p:cNvGrpSpPr/>
        <p:nvPr/>
      </p:nvGrpSpPr>
      <p:grpSpPr>
        <a:xfrm>
          <a:off x="0" y="0"/>
          <a:ext cx="0" cy="0"/>
          <a:chOff x="0" y="0"/>
          <a:chExt cx="0" cy="0"/>
        </a:xfrm>
      </p:grpSpPr>
      <p:sp>
        <p:nvSpPr>
          <p:cNvPr id="147" name="Google Shape;147;g3ecdd0eb50c_0_72"/>
          <p:cNvSpPr txBox="1"/>
          <p:nvPr/>
        </p:nvSpPr>
        <p:spPr>
          <a:xfrm>
            <a:off x="17449800" y="9391650"/>
            <a:ext cx="1524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148" name="Google Shape;148;g3ecdd0eb50c_0_72"/>
          <p:cNvSpPr/>
          <p:nvPr/>
        </p:nvSpPr>
        <p:spPr>
          <a:xfrm>
            <a:off x="610273" y="5354957"/>
            <a:ext cx="152400" cy="1379100"/>
          </a:xfrm>
          <a:prstGeom prst="rect">
            <a:avLst/>
          </a:prstGeom>
          <a:solidFill>
            <a:srgbClr val="FA63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49" name="Google Shape;149;g3ecdd0eb50c_0_72"/>
          <p:cNvSpPr/>
          <p:nvPr/>
        </p:nvSpPr>
        <p:spPr>
          <a:xfrm>
            <a:off x="762679" y="5376554"/>
            <a:ext cx="9218100" cy="1379100"/>
          </a:xfrm>
          <a:prstGeom prst="rect">
            <a:avLst/>
          </a:prstGeom>
          <a:solidFill>
            <a:srgbClr val="F8FAFC"/>
          </a:solidFill>
          <a:ln>
            <a:noFill/>
          </a:ln>
        </p:spPr>
        <p:txBody>
          <a:bodyPr anchorCtr="0" anchor="ctr" bIns="45700" lIns="91425" spcFirstLastPara="1" rIns="91425" wrap="square" tIns="45700">
            <a:noAutofit/>
          </a:bodyPr>
          <a:lstStyle/>
          <a:p>
            <a:pPr indent="0" lvl="0" marL="0" rtl="0" algn="l">
              <a:lnSpc>
                <a:spcPct val="149955"/>
              </a:lnSpc>
              <a:spcBef>
                <a:spcPts val="0"/>
              </a:spcBef>
              <a:spcAft>
                <a:spcPts val="0"/>
              </a:spcAft>
              <a:buNone/>
            </a:pPr>
            <a:r>
              <a:rPr i="1" lang="en-US" sz="2400">
                <a:solidFill>
                  <a:srgbClr val="475569"/>
                </a:solidFill>
                <a:latin typeface="Public Sans"/>
                <a:ea typeface="Public Sans"/>
                <a:cs typeface="Public Sans"/>
                <a:sym typeface="Public Sans"/>
              </a:rPr>
              <a:t> "The foundation on which modern technological infrastructure drives today's world." </a:t>
            </a:r>
            <a:endParaRPr sz="2700">
              <a:solidFill>
                <a:schemeClr val="dk1"/>
              </a:solidFill>
            </a:endParaRPr>
          </a:p>
        </p:txBody>
      </p:sp>
      <p:sp>
        <p:nvSpPr>
          <p:cNvPr id="150" name="Google Shape;150;g3ecdd0eb50c_0_72"/>
          <p:cNvSpPr txBox="1"/>
          <p:nvPr/>
        </p:nvSpPr>
        <p:spPr>
          <a:xfrm>
            <a:off x="571500" y="3052879"/>
            <a:ext cx="9593100" cy="1551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2400">
                <a:solidFill>
                  <a:srgbClr val="475569"/>
                </a:solidFill>
                <a:latin typeface="Public Sans"/>
                <a:ea typeface="Public Sans"/>
                <a:cs typeface="Public Sans"/>
                <a:sym typeface="Public Sans"/>
              </a:rPr>
              <a:t>Data centers serve as critical facilities designed to host, manage, and process vast volumes of global business records, scientific computation, and AI applications securely and efficiently.</a:t>
            </a:r>
            <a:endParaRPr sz="2400">
              <a:solidFill>
                <a:srgbClr val="475569"/>
              </a:solidFill>
              <a:latin typeface="Public Sans"/>
              <a:ea typeface="Public Sans"/>
              <a:cs typeface="Public Sans"/>
              <a:sym typeface="Public Sans"/>
            </a:endParaRPr>
          </a:p>
        </p:txBody>
      </p:sp>
      <p:sp>
        <p:nvSpPr>
          <p:cNvPr id="151" name="Google Shape;151;g3ecdd0eb50c_0_72"/>
          <p:cNvSpPr txBox="1"/>
          <p:nvPr/>
        </p:nvSpPr>
        <p:spPr>
          <a:xfrm>
            <a:off x="1431484" y="7298594"/>
            <a:ext cx="30384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Banking Systems</a:t>
            </a:r>
            <a:endParaRPr b="1" sz="2600">
              <a:latin typeface="Merriweather"/>
              <a:ea typeface="Merriweather"/>
              <a:cs typeface="Merriweather"/>
              <a:sym typeface="Merriweather"/>
            </a:endParaRPr>
          </a:p>
        </p:txBody>
      </p:sp>
      <p:pic>
        <p:nvPicPr>
          <p:cNvPr id="152" name="Google Shape;152;g3ecdd0eb50c_0_72"/>
          <p:cNvPicPr preferRelativeResize="0"/>
          <p:nvPr/>
        </p:nvPicPr>
        <p:blipFill>
          <a:blip r:embed="rId3">
            <a:alphaModFix/>
          </a:blip>
          <a:stretch>
            <a:fillRect/>
          </a:stretch>
        </p:blipFill>
        <p:spPr>
          <a:xfrm>
            <a:off x="183699" y="6936726"/>
            <a:ext cx="1062000" cy="1062000"/>
          </a:xfrm>
          <a:prstGeom prst="rect">
            <a:avLst/>
          </a:prstGeom>
          <a:noFill/>
          <a:ln>
            <a:noFill/>
          </a:ln>
        </p:spPr>
      </p:pic>
      <p:sp>
        <p:nvSpPr>
          <p:cNvPr id="153" name="Google Shape;153;g3ecdd0eb50c_0_72"/>
          <p:cNvSpPr txBox="1"/>
          <p:nvPr/>
        </p:nvSpPr>
        <p:spPr>
          <a:xfrm>
            <a:off x="6359984" y="7294619"/>
            <a:ext cx="30384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Cloud Computing</a:t>
            </a:r>
            <a:endParaRPr b="1" sz="2600">
              <a:latin typeface="Merriweather"/>
              <a:ea typeface="Merriweather"/>
              <a:cs typeface="Merriweather"/>
              <a:sym typeface="Merriweather"/>
            </a:endParaRPr>
          </a:p>
        </p:txBody>
      </p:sp>
      <p:pic>
        <p:nvPicPr>
          <p:cNvPr id="154" name="Google Shape;154;g3ecdd0eb50c_0_72"/>
          <p:cNvPicPr preferRelativeResize="0"/>
          <p:nvPr/>
        </p:nvPicPr>
        <p:blipFill>
          <a:blip r:embed="rId4">
            <a:alphaModFix/>
          </a:blip>
          <a:stretch>
            <a:fillRect/>
          </a:stretch>
        </p:blipFill>
        <p:spPr>
          <a:xfrm>
            <a:off x="5081655" y="6858116"/>
            <a:ext cx="1219200" cy="1219200"/>
          </a:xfrm>
          <a:prstGeom prst="rect">
            <a:avLst/>
          </a:prstGeom>
          <a:noFill/>
          <a:ln>
            <a:noFill/>
          </a:ln>
        </p:spPr>
      </p:pic>
      <p:sp>
        <p:nvSpPr>
          <p:cNvPr id="155" name="Google Shape;155;g3ecdd0eb50c_0_72"/>
          <p:cNvSpPr txBox="1"/>
          <p:nvPr/>
        </p:nvSpPr>
        <p:spPr>
          <a:xfrm>
            <a:off x="1431484" y="8524521"/>
            <a:ext cx="30384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Hard Software</a:t>
            </a:r>
            <a:endParaRPr b="1" sz="2600">
              <a:latin typeface="Merriweather"/>
              <a:ea typeface="Merriweather"/>
              <a:cs typeface="Merriweather"/>
              <a:sym typeface="Merriweather"/>
            </a:endParaRPr>
          </a:p>
        </p:txBody>
      </p:sp>
      <p:sp>
        <p:nvSpPr>
          <p:cNvPr id="156" name="Google Shape;156;g3ecdd0eb50c_0_72"/>
          <p:cNvSpPr txBox="1"/>
          <p:nvPr/>
        </p:nvSpPr>
        <p:spPr>
          <a:xfrm>
            <a:off x="6392707" y="8370769"/>
            <a:ext cx="3038400" cy="83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Zero downtime security</a:t>
            </a:r>
            <a:endParaRPr b="1" sz="2600">
              <a:latin typeface="Merriweather"/>
              <a:ea typeface="Merriweather"/>
              <a:cs typeface="Merriweather"/>
              <a:sym typeface="Merriweather"/>
            </a:endParaRPr>
          </a:p>
        </p:txBody>
      </p:sp>
      <p:pic>
        <p:nvPicPr>
          <p:cNvPr id="157" name="Google Shape;157;g3ecdd0eb50c_0_72"/>
          <p:cNvPicPr preferRelativeResize="0"/>
          <p:nvPr/>
        </p:nvPicPr>
        <p:blipFill>
          <a:blip r:embed="rId5">
            <a:alphaModFix/>
          </a:blip>
          <a:stretch>
            <a:fillRect/>
          </a:stretch>
        </p:blipFill>
        <p:spPr>
          <a:xfrm>
            <a:off x="258180" y="8179801"/>
            <a:ext cx="891100" cy="891100"/>
          </a:xfrm>
          <a:prstGeom prst="rect">
            <a:avLst/>
          </a:prstGeom>
          <a:noFill/>
          <a:ln>
            <a:noFill/>
          </a:ln>
        </p:spPr>
      </p:pic>
      <p:pic>
        <p:nvPicPr>
          <p:cNvPr id="158" name="Google Shape;158;g3ecdd0eb50c_0_72"/>
          <p:cNvPicPr preferRelativeResize="0"/>
          <p:nvPr/>
        </p:nvPicPr>
        <p:blipFill>
          <a:blip r:embed="rId6">
            <a:alphaModFix/>
          </a:blip>
          <a:stretch>
            <a:fillRect/>
          </a:stretch>
        </p:blipFill>
        <p:spPr>
          <a:xfrm>
            <a:off x="5142882" y="8118561"/>
            <a:ext cx="1062000" cy="1062000"/>
          </a:xfrm>
          <a:prstGeom prst="rect">
            <a:avLst/>
          </a:prstGeom>
          <a:noFill/>
          <a:ln>
            <a:noFill/>
          </a:ln>
        </p:spPr>
      </p:pic>
      <p:pic>
        <p:nvPicPr>
          <p:cNvPr descr="image.png" id="159" name="Google Shape;159;g3ecdd0eb50c_0_72"/>
          <p:cNvPicPr preferRelativeResize="0"/>
          <p:nvPr/>
        </p:nvPicPr>
        <p:blipFill rotWithShape="1">
          <a:blip r:embed="rId7">
            <a:alphaModFix/>
          </a:blip>
          <a:srcRect b="0" l="0" r="0" t="0"/>
          <a:stretch/>
        </p:blipFill>
        <p:spPr>
          <a:xfrm>
            <a:off x="10699650" y="3052879"/>
            <a:ext cx="7056325" cy="5817850"/>
          </a:xfrm>
          <a:prstGeom prst="rect">
            <a:avLst/>
          </a:prstGeom>
          <a:noFill/>
          <a:ln>
            <a:noFill/>
          </a:ln>
        </p:spPr>
      </p:pic>
      <p:sp>
        <p:nvSpPr>
          <p:cNvPr id="160" name="Google Shape;160;g3ecdd0eb50c_0_72"/>
          <p:cNvSpPr/>
          <p:nvPr/>
        </p:nvSpPr>
        <p:spPr>
          <a:xfrm>
            <a:off x="10868695" y="3376304"/>
            <a:ext cx="6734100" cy="1062000"/>
          </a:xfrm>
          <a:prstGeom prst="roundRect">
            <a:avLst>
              <a:gd fmla="val 16667" name="adj"/>
            </a:avLst>
          </a:prstGeom>
          <a:solidFill>
            <a:srgbClr val="F5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3400">
                <a:solidFill>
                  <a:srgbClr val="888888"/>
                </a:solidFill>
                <a:latin typeface="Merriweather ExtraBold"/>
                <a:ea typeface="Merriweather ExtraBold"/>
                <a:cs typeface="Merriweather ExtraBold"/>
                <a:sym typeface="Merriweather ExtraBold"/>
              </a:rPr>
              <a:t>    </a:t>
            </a:r>
            <a:r>
              <a:rPr lang="en-US" sz="3400">
                <a:solidFill>
                  <a:srgbClr val="888888"/>
                </a:solidFill>
                <a:latin typeface="Merriweather ExtraBold"/>
                <a:ea typeface="Merriweather ExtraBold"/>
                <a:cs typeface="Merriweather ExtraBold"/>
                <a:sym typeface="Merriweather ExtraBold"/>
              </a:rPr>
              <a:t>Store                         Distribute</a:t>
            </a:r>
            <a:endParaRPr>
              <a:solidFill>
                <a:srgbClr val="888888"/>
              </a:solidFill>
              <a:latin typeface="Calibri"/>
              <a:ea typeface="Calibri"/>
              <a:cs typeface="Calibri"/>
              <a:sym typeface="Calibri"/>
            </a:endParaRPr>
          </a:p>
        </p:txBody>
      </p:sp>
      <p:sp>
        <p:nvSpPr>
          <p:cNvPr id="161" name="Google Shape;161;g3ecdd0eb50c_0_72"/>
          <p:cNvSpPr/>
          <p:nvPr/>
        </p:nvSpPr>
        <p:spPr>
          <a:xfrm>
            <a:off x="12689702" y="3376304"/>
            <a:ext cx="2128500" cy="1062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rgbClr val="FA632A"/>
                </a:solidFill>
                <a:latin typeface="Merriweather ExtraBold"/>
                <a:ea typeface="Merriweather ExtraBold"/>
                <a:cs typeface="Merriweather ExtraBold"/>
                <a:sym typeface="Merriweather ExtraBold"/>
              </a:rPr>
              <a:t>Process</a:t>
            </a:r>
            <a:endParaRPr sz="3400">
              <a:solidFill>
                <a:srgbClr val="FA632A"/>
              </a:solidFill>
              <a:latin typeface="Merriweather ExtraBold"/>
              <a:ea typeface="Merriweather ExtraBold"/>
              <a:cs typeface="Merriweather ExtraBold"/>
              <a:sym typeface="Merriweather ExtraBold"/>
            </a:endParaRPr>
          </a:p>
        </p:txBody>
      </p:sp>
      <p:sp>
        <p:nvSpPr>
          <p:cNvPr id="162" name="Google Shape;162;g3ecdd0eb50c_0_72"/>
          <p:cNvSpPr txBox="1"/>
          <p:nvPr/>
        </p:nvSpPr>
        <p:spPr>
          <a:xfrm>
            <a:off x="12390021" y="4821379"/>
            <a:ext cx="4540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Data Processing</a:t>
            </a:r>
            <a:r>
              <a:rPr lang="en-US" sz="2650">
                <a:solidFill>
                  <a:srgbClr val="0F172A"/>
                </a:solidFill>
                <a:latin typeface="Merriweather ExtraBold"/>
                <a:ea typeface="Merriweather ExtraBold"/>
                <a:cs typeface="Merriweather ExtraBold"/>
                <a:sym typeface="Merriweather ExtraBold"/>
              </a:rPr>
              <a:t> </a:t>
            </a:r>
            <a:r>
              <a:rPr lang="en-US" sz="2700">
                <a:solidFill>
                  <a:srgbClr val="1E293B"/>
                </a:solidFill>
                <a:latin typeface="Public Sans Medium"/>
                <a:ea typeface="Public Sans Medium"/>
                <a:cs typeface="Public Sans Medium"/>
                <a:sym typeface="Public Sans Medium"/>
              </a:rPr>
              <a:t>Facilities</a:t>
            </a:r>
            <a:endParaRPr sz="2700">
              <a:latin typeface="Merriweather ExtraBold"/>
              <a:ea typeface="Merriweather ExtraBold"/>
              <a:cs typeface="Merriweather ExtraBold"/>
              <a:sym typeface="Merriweather ExtraBold"/>
            </a:endParaRPr>
          </a:p>
        </p:txBody>
      </p:sp>
      <p:sp>
        <p:nvSpPr>
          <p:cNvPr id="163" name="Google Shape;163;g3ecdd0eb50c_0_72"/>
          <p:cNvSpPr txBox="1"/>
          <p:nvPr/>
        </p:nvSpPr>
        <p:spPr>
          <a:xfrm>
            <a:off x="10960629" y="5551222"/>
            <a:ext cx="6458400" cy="2918100"/>
          </a:xfrm>
          <a:prstGeom prst="rect">
            <a:avLst/>
          </a:prstGeom>
          <a:noFill/>
          <a:ln>
            <a:noFill/>
          </a:ln>
        </p:spPr>
        <p:txBody>
          <a:bodyPr anchorCtr="0" anchor="t" bIns="91425" lIns="91425" spcFirstLastPara="1" rIns="91425" wrap="square" tIns="91425">
            <a:spAutoFit/>
          </a:bodyPr>
          <a:lstStyle/>
          <a:p>
            <a:pPr indent="0" lvl="0" marL="0" rtl="0" algn="l">
              <a:lnSpc>
                <a:spcPct val="159981"/>
              </a:lnSpc>
              <a:spcBef>
                <a:spcPts val="0"/>
              </a:spcBef>
              <a:spcAft>
                <a:spcPts val="0"/>
              </a:spcAft>
              <a:buNone/>
            </a:pPr>
            <a:r>
              <a:rPr lang="en-US" sz="2400">
                <a:solidFill>
                  <a:srgbClr val="475569"/>
                </a:solidFill>
                <a:latin typeface="Public Sans"/>
                <a:ea typeface="Public Sans"/>
                <a:cs typeface="Public Sans"/>
                <a:sym typeface="Public Sans"/>
              </a:rPr>
              <a:t>Executes billions of concurrent calculations using high-performance CPUs and NVIDIA H100 GPUs. Powers real-time AI inferencing, big data analytics, and complex business logic.</a:t>
            </a:r>
            <a:endParaRPr sz="2400">
              <a:solidFill>
                <a:srgbClr val="475569"/>
              </a:solidFill>
              <a:latin typeface="Public Sans"/>
              <a:ea typeface="Public Sans"/>
              <a:cs typeface="Public Sans"/>
              <a:sym typeface="Public Sans"/>
            </a:endParaRPr>
          </a:p>
        </p:txBody>
      </p:sp>
      <p:pic>
        <p:nvPicPr>
          <p:cNvPr id="164" name="Google Shape;164;g3ecdd0eb50c_0_72"/>
          <p:cNvPicPr preferRelativeResize="0"/>
          <p:nvPr/>
        </p:nvPicPr>
        <p:blipFill>
          <a:blip r:embed="rId8">
            <a:alphaModFix/>
          </a:blip>
          <a:stretch>
            <a:fillRect/>
          </a:stretch>
        </p:blipFill>
        <p:spPr>
          <a:xfrm>
            <a:off x="11170825" y="4530152"/>
            <a:ext cx="1061999" cy="1061978"/>
          </a:xfrm>
          <a:prstGeom prst="rect">
            <a:avLst/>
          </a:prstGeom>
          <a:noFill/>
          <a:ln>
            <a:noFill/>
          </a:ln>
        </p:spPr>
      </p:pic>
      <p:pic>
        <p:nvPicPr>
          <p:cNvPr id="165" name="Google Shape;165;g3ecdd0eb50c_0_72" title="genpact_Logo.png"/>
          <p:cNvPicPr preferRelativeResize="0"/>
          <p:nvPr/>
        </p:nvPicPr>
        <p:blipFill rotWithShape="1">
          <a:blip r:embed="rId9">
            <a:alphaModFix/>
          </a:blip>
          <a:srcRect b="0" l="377" r="377" t="0"/>
          <a:stretch/>
        </p:blipFill>
        <p:spPr>
          <a:xfrm>
            <a:off x="258175" y="245275"/>
            <a:ext cx="2128500" cy="1128069"/>
          </a:xfrm>
          <a:prstGeom prst="rect">
            <a:avLst/>
          </a:prstGeom>
          <a:noFill/>
          <a:ln>
            <a:noFill/>
          </a:ln>
        </p:spPr>
      </p:pic>
      <p:sp>
        <p:nvSpPr>
          <p:cNvPr id="166" name="Google Shape;166;g3ecdd0eb50c_0_72"/>
          <p:cNvSpPr txBox="1"/>
          <p:nvPr/>
        </p:nvSpPr>
        <p:spPr>
          <a:xfrm>
            <a:off x="571491" y="1549670"/>
            <a:ext cx="15668100" cy="985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6400">
                <a:solidFill>
                  <a:srgbClr val="191919"/>
                </a:solidFill>
                <a:latin typeface="Public Sans"/>
                <a:ea typeface="Public Sans"/>
                <a:cs typeface="Public Sans"/>
                <a:sym typeface="Public Sans"/>
              </a:rPr>
              <a:t>The Backbone of </a:t>
            </a:r>
            <a:r>
              <a:rPr b="1" lang="en-US" sz="6400">
                <a:solidFill>
                  <a:srgbClr val="FA632A"/>
                </a:solidFill>
                <a:latin typeface="Public Sans"/>
                <a:ea typeface="Public Sans"/>
                <a:cs typeface="Public Sans"/>
                <a:sym typeface="Public Sans"/>
              </a:rPr>
              <a:t>Modern Information</a:t>
            </a:r>
            <a:endParaRPr b="1" sz="6400"/>
          </a:p>
        </p:txBody>
      </p:sp>
      <p:sp>
        <p:nvSpPr>
          <p:cNvPr id="167" name="Google Shape;167;g3ecdd0eb50c_0_72"/>
          <p:cNvSpPr txBox="1"/>
          <p:nvPr/>
        </p:nvSpPr>
        <p:spPr>
          <a:xfrm>
            <a:off x="17449800" y="9391650"/>
            <a:ext cx="1524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000">
                <a:solidFill>
                  <a:srgbClr val="FA632A"/>
                </a:solidFill>
                <a:latin typeface="Public Sans"/>
                <a:ea typeface="Public Sans"/>
                <a:cs typeface="Public Sans"/>
                <a:sym typeface="Public Sans"/>
              </a:rP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1" name="Shape 171"/>
        <p:cNvGrpSpPr/>
        <p:nvPr/>
      </p:nvGrpSpPr>
      <p:grpSpPr>
        <a:xfrm>
          <a:off x="0" y="0"/>
          <a:ext cx="0" cy="0"/>
          <a:chOff x="0" y="0"/>
          <a:chExt cx="0" cy="0"/>
        </a:xfrm>
      </p:grpSpPr>
      <p:sp>
        <p:nvSpPr>
          <p:cNvPr id="172" name="Google Shape;172;g3ecdd0eb50c_0_95"/>
          <p:cNvSpPr txBox="1"/>
          <p:nvPr/>
        </p:nvSpPr>
        <p:spPr>
          <a:xfrm>
            <a:off x="17449800" y="9391650"/>
            <a:ext cx="152400" cy="215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t/>
            </a:r>
            <a:endParaRPr/>
          </a:p>
        </p:txBody>
      </p:sp>
      <p:sp>
        <p:nvSpPr>
          <p:cNvPr id="173" name="Google Shape;173;g3ecdd0eb50c_0_95"/>
          <p:cNvSpPr/>
          <p:nvPr/>
        </p:nvSpPr>
        <p:spPr>
          <a:xfrm>
            <a:off x="610273" y="5354957"/>
            <a:ext cx="152400" cy="1379100"/>
          </a:xfrm>
          <a:prstGeom prst="rect">
            <a:avLst/>
          </a:prstGeom>
          <a:solidFill>
            <a:srgbClr val="FA63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174" name="Google Shape;174;g3ecdd0eb50c_0_95"/>
          <p:cNvSpPr/>
          <p:nvPr/>
        </p:nvSpPr>
        <p:spPr>
          <a:xfrm>
            <a:off x="762679" y="5376554"/>
            <a:ext cx="9218100" cy="1379100"/>
          </a:xfrm>
          <a:prstGeom prst="rect">
            <a:avLst/>
          </a:prstGeom>
          <a:solidFill>
            <a:srgbClr val="F8FAFC"/>
          </a:solidFill>
          <a:ln>
            <a:noFill/>
          </a:ln>
        </p:spPr>
        <p:txBody>
          <a:bodyPr anchorCtr="0" anchor="ctr" bIns="45700" lIns="91425" spcFirstLastPara="1" rIns="91425" wrap="square" tIns="45700">
            <a:noAutofit/>
          </a:bodyPr>
          <a:lstStyle/>
          <a:p>
            <a:pPr indent="0" lvl="0" marL="0" rtl="0" algn="l">
              <a:lnSpc>
                <a:spcPct val="149955"/>
              </a:lnSpc>
              <a:spcBef>
                <a:spcPts val="0"/>
              </a:spcBef>
              <a:spcAft>
                <a:spcPts val="0"/>
              </a:spcAft>
              <a:buNone/>
            </a:pPr>
            <a:r>
              <a:rPr i="1" lang="en-US" sz="2400">
                <a:solidFill>
                  <a:srgbClr val="475569"/>
                </a:solidFill>
                <a:latin typeface="Public Sans"/>
                <a:ea typeface="Public Sans"/>
                <a:cs typeface="Public Sans"/>
                <a:sym typeface="Public Sans"/>
              </a:rPr>
              <a:t> "The foundation on which modern technological infrastructure drives today's world." </a:t>
            </a:r>
            <a:endParaRPr sz="2700">
              <a:solidFill>
                <a:schemeClr val="dk1"/>
              </a:solidFill>
            </a:endParaRPr>
          </a:p>
        </p:txBody>
      </p:sp>
      <p:sp>
        <p:nvSpPr>
          <p:cNvPr id="175" name="Google Shape;175;g3ecdd0eb50c_0_95"/>
          <p:cNvSpPr txBox="1"/>
          <p:nvPr/>
        </p:nvSpPr>
        <p:spPr>
          <a:xfrm>
            <a:off x="571500" y="3052879"/>
            <a:ext cx="9593100" cy="1551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2400">
                <a:solidFill>
                  <a:srgbClr val="475569"/>
                </a:solidFill>
                <a:latin typeface="Public Sans"/>
                <a:ea typeface="Public Sans"/>
                <a:cs typeface="Public Sans"/>
                <a:sym typeface="Public Sans"/>
              </a:rPr>
              <a:t>Data centers serve as critical facilities designed to host, manage, and process vast volumes of global business records, scientific computation, and AI applications securely and efficiently.</a:t>
            </a:r>
            <a:endParaRPr sz="2400">
              <a:solidFill>
                <a:srgbClr val="475569"/>
              </a:solidFill>
              <a:latin typeface="Public Sans"/>
              <a:ea typeface="Public Sans"/>
              <a:cs typeface="Public Sans"/>
              <a:sym typeface="Public Sans"/>
            </a:endParaRPr>
          </a:p>
        </p:txBody>
      </p:sp>
      <p:sp>
        <p:nvSpPr>
          <p:cNvPr id="176" name="Google Shape;176;g3ecdd0eb50c_0_95"/>
          <p:cNvSpPr txBox="1"/>
          <p:nvPr/>
        </p:nvSpPr>
        <p:spPr>
          <a:xfrm>
            <a:off x="1431484" y="7298594"/>
            <a:ext cx="30384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Banking Systems</a:t>
            </a:r>
            <a:endParaRPr b="1" sz="2600">
              <a:latin typeface="Merriweather"/>
              <a:ea typeface="Merriweather"/>
              <a:cs typeface="Merriweather"/>
              <a:sym typeface="Merriweather"/>
            </a:endParaRPr>
          </a:p>
        </p:txBody>
      </p:sp>
      <p:pic>
        <p:nvPicPr>
          <p:cNvPr id="177" name="Google Shape;177;g3ecdd0eb50c_0_95"/>
          <p:cNvPicPr preferRelativeResize="0"/>
          <p:nvPr/>
        </p:nvPicPr>
        <p:blipFill>
          <a:blip r:embed="rId3">
            <a:alphaModFix/>
          </a:blip>
          <a:stretch>
            <a:fillRect/>
          </a:stretch>
        </p:blipFill>
        <p:spPr>
          <a:xfrm>
            <a:off x="183699" y="6936726"/>
            <a:ext cx="1062000" cy="1062000"/>
          </a:xfrm>
          <a:prstGeom prst="rect">
            <a:avLst/>
          </a:prstGeom>
          <a:noFill/>
          <a:ln>
            <a:noFill/>
          </a:ln>
        </p:spPr>
      </p:pic>
      <p:sp>
        <p:nvSpPr>
          <p:cNvPr id="178" name="Google Shape;178;g3ecdd0eb50c_0_95"/>
          <p:cNvSpPr txBox="1"/>
          <p:nvPr/>
        </p:nvSpPr>
        <p:spPr>
          <a:xfrm>
            <a:off x="6359984" y="7294619"/>
            <a:ext cx="30384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Cloud Computing</a:t>
            </a:r>
            <a:endParaRPr b="1" sz="2600">
              <a:latin typeface="Merriweather"/>
              <a:ea typeface="Merriweather"/>
              <a:cs typeface="Merriweather"/>
              <a:sym typeface="Merriweather"/>
            </a:endParaRPr>
          </a:p>
        </p:txBody>
      </p:sp>
      <p:pic>
        <p:nvPicPr>
          <p:cNvPr id="179" name="Google Shape;179;g3ecdd0eb50c_0_95"/>
          <p:cNvPicPr preferRelativeResize="0"/>
          <p:nvPr/>
        </p:nvPicPr>
        <p:blipFill>
          <a:blip r:embed="rId4">
            <a:alphaModFix/>
          </a:blip>
          <a:stretch>
            <a:fillRect/>
          </a:stretch>
        </p:blipFill>
        <p:spPr>
          <a:xfrm>
            <a:off x="5081655" y="6858116"/>
            <a:ext cx="1219200" cy="1219200"/>
          </a:xfrm>
          <a:prstGeom prst="rect">
            <a:avLst/>
          </a:prstGeom>
          <a:noFill/>
          <a:ln>
            <a:noFill/>
          </a:ln>
        </p:spPr>
      </p:pic>
      <p:sp>
        <p:nvSpPr>
          <p:cNvPr id="180" name="Google Shape;180;g3ecdd0eb50c_0_95"/>
          <p:cNvSpPr txBox="1"/>
          <p:nvPr/>
        </p:nvSpPr>
        <p:spPr>
          <a:xfrm>
            <a:off x="1431484" y="8524521"/>
            <a:ext cx="3038400" cy="41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Hard Software</a:t>
            </a:r>
            <a:endParaRPr b="1" sz="2600">
              <a:latin typeface="Merriweather"/>
              <a:ea typeface="Merriweather"/>
              <a:cs typeface="Merriweather"/>
              <a:sym typeface="Merriweather"/>
            </a:endParaRPr>
          </a:p>
        </p:txBody>
      </p:sp>
      <p:sp>
        <p:nvSpPr>
          <p:cNvPr id="181" name="Google Shape;181;g3ecdd0eb50c_0_95"/>
          <p:cNvSpPr txBox="1"/>
          <p:nvPr/>
        </p:nvSpPr>
        <p:spPr>
          <a:xfrm>
            <a:off x="6392707" y="8370769"/>
            <a:ext cx="3038400" cy="83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2700">
                <a:solidFill>
                  <a:srgbClr val="1E293B"/>
                </a:solidFill>
                <a:latin typeface="Public Sans Medium"/>
                <a:ea typeface="Public Sans Medium"/>
                <a:cs typeface="Public Sans Medium"/>
                <a:sym typeface="Public Sans Medium"/>
              </a:rPr>
              <a:t>Zero downtime security</a:t>
            </a:r>
            <a:endParaRPr sz="2700">
              <a:solidFill>
                <a:srgbClr val="1E293B"/>
              </a:solidFill>
              <a:latin typeface="Public Sans Medium"/>
              <a:ea typeface="Public Sans Medium"/>
              <a:cs typeface="Public Sans Medium"/>
              <a:sym typeface="Public Sans Medium"/>
            </a:endParaRPr>
          </a:p>
        </p:txBody>
      </p:sp>
      <p:pic>
        <p:nvPicPr>
          <p:cNvPr id="182" name="Google Shape;182;g3ecdd0eb50c_0_95"/>
          <p:cNvPicPr preferRelativeResize="0"/>
          <p:nvPr/>
        </p:nvPicPr>
        <p:blipFill>
          <a:blip r:embed="rId5">
            <a:alphaModFix/>
          </a:blip>
          <a:stretch>
            <a:fillRect/>
          </a:stretch>
        </p:blipFill>
        <p:spPr>
          <a:xfrm>
            <a:off x="258180" y="8179801"/>
            <a:ext cx="891100" cy="891100"/>
          </a:xfrm>
          <a:prstGeom prst="rect">
            <a:avLst/>
          </a:prstGeom>
          <a:noFill/>
          <a:ln>
            <a:noFill/>
          </a:ln>
        </p:spPr>
      </p:pic>
      <p:pic>
        <p:nvPicPr>
          <p:cNvPr id="183" name="Google Shape;183;g3ecdd0eb50c_0_95"/>
          <p:cNvPicPr preferRelativeResize="0"/>
          <p:nvPr/>
        </p:nvPicPr>
        <p:blipFill>
          <a:blip r:embed="rId6">
            <a:alphaModFix/>
          </a:blip>
          <a:stretch>
            <a:fillRect/>
          </a:stretch>
        </p:blipFill>
        <p:spPr>
          <a:xfrm>
            <a:off x="5142882" y="8118561"/>
            <a:ext cx="1062000" cy="1062000"/>
          </a:xfrm>
          <a:prstGeom prst="rect">
            <a:avLst/>
          </a:prstGeom>
          <a:noFill/>
          <a:ln>
            <a:noFill/>
          </a:ln>
        </p:spPr>
      </p:pic>
      <p:pic>
        <p:nvPicPr>
          <p:cNvPr descr="image.png" id="184" name="Google Shape;184;g3ecdd0eb50c_0_95"/>
          <p:cNvPicPr preferRelativeResize="0"/>
          <p:nvPr/>
        </p:nvPicPr>
        <p:blipFill rotWithShape="1">
          <a:blip r:embed="rId7">
            <a:alphaModFix/>
          </a:blip>
          <a:srcRect b="0" l="0" r="0" t="0"/>
          <a:stretch/>
        </p:blipFill>
        <p:spPr>
          <a:xfrm>
            <a:off x="10699650" y="3052879"/>
            <a:ext cx="7056325" cy="5817850"/>
          </a:xfrm>
          <a:prstGeom prst="rect">
            <a:avLst/>
          </a:prstGeom>
          <a:noFill/>
          <a:ln>
            <a:noFill/>
          </a:ln>
        </p:spPr>
      </p:pic>
      <p:sp>
        <p:nvSpPr>
          <p:cNvPr id="185" name="Google Shape;185;g3ecdd0eb50c_0_95"/>
          <p:cNvSpPr/>
          <p:nvPr/>
        </p:nvSpPr>
        <p:spPr>
          <a:xfrm>
            <a:off x="10868695" y="3376304"/>
            <a:ext cx="6734100" cy="1062000"/>
          </a:xfrm>
          <a:prstGeom prst="roundRect">
            <a:avLst>
              <a:gd fmla="val 16667" name="adj"/>
            </a:avLst>
          </a:prstGeom>
          <a:solidFill>
            <a:srgbClr val="F5F5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3400">
                <a:solidFill>
                  <a:srgbClr val="888888"/>
                </a:solidFill>
                <a:latin typeface="Merriweather ExtraBold"/>
                <a:ea typeface="Merriweather ExtraBold"/>
                <a:cs typeface="Merriweather ExtraBold"/>
                <a:sym typeface="Merriweather ExtraBold"/>
              </a:rPr>
              <a:t>    Store</a:t>
            </a:r>
            <a:r>
              <a:rPr lang="en-US" sz="3400">
                <a:solidFill>
                  <a:srgbClr val="888888"/>
                </a:solidFill>
                <a:latin typeface="Merriweather ExtraBold"/>
                <a:ea typeface="Merriweather ExtraBold"/>
                <a:cs typeface="Merriweather ExtraBold"/>
                <a:sym typeface="Merriweather ExtraBold"/>
              </a:rPr>
              <a:t>    Process   </a:t>
            </a:r>
            <a:endParaRPr>
              <a:solidFill>
                <a:srgbClr val="888888"/>
              </a:solidFill>
              <a:latin typeface="Calibri"/>
              <a:ea typeface="Calibri"/>
              <a:cs typeface="Calibri"/>
              <a:sym typeface="Calibri"/>
            </a:endParaRPr>
          </a:p>
        </p:txBody>
      </p:sp>
      <p:sp>
        <p:nvSpPr>
          <p:cNvPr id="186" name="Google Shape;186;g3ecdd0eb50c_0_95"/>
          <p:cNvSpPr/>
          <p:nvPr/>
        </p:nvSpPr>
        <p:spPr>
          <a:xfrm>
            <a:off x="14910025" y="3388254"/>
            <a:ext cx="2692200" cy="1062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rgbClr val="FA632A"/>
                </a:solidFill>
                <a:latin typeface="Merriweather ExtraBold"/>
                <a:ea typeface="Merriweather ExtraBold"/>
                <a:cs typeface="Merriweather ExtraBold"/>
                <a:sym typeface="Merriweather ExtraBold"/>
              </a:rPr>
              <a:t>Distribute</a:t>
            </a:r>
            <a:endParaRPr sz="3400">
              <a:solidFill>
                <a:srgbClr val="FA632A"/>
              </a:solidFill>
              <a:latin typeface="Merriweather ExtraBold"/>
              <a:ea typeface="Merriweather ExtraBold"/>
              <a:cs typeface="Merriweather ExtraBold"/>
              <a:sym typeface="Merriweather ExtraBold"/>
            </a:endParaRPr>
          </a:p>
        </p:txBody>
      </p:sp>
      <p:sp>
        <p:nvSpPr>
          <p:cNvPr id="187" name="Google Shape;187;g3ecdd0eb50c_0_95"/>
          <p:cNvSpPr txBox="1"/>
          <p:nvPr/>
        </p:nvSpPr>
        <p:spPr>
          <a:xfrm>
            <a:off x="12513800" y="4821379"/>
            <a:ext cx="50889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700">
                <a:solidFill>
                  <a:srgbClr val="1E293B"/>
                </a:solidFill>
                <a:latin typeface="Public Sans Medium"/>
                <a:ea typeface="Public Sans Medium"/>
                <a:cs typeface="Public Sans Medium"/>
                <a:sym typeface="Public Sans Medium"/>
              </a:rPr>
              <a:t>Data Distribution Facilities</a:t>
            </a:r>
            <a:endParaRPr sz="2700">
              <a:solidFill>
                <a:srgbClr val="1E293B"/>
              </a:solidFill>
              <a:latin typeface="Public Sans Medium"/>
              <a:ea typeface="Public Sans Medium"/>
              <a:cs typeface="Public Sans Medium"/>
              <a:sym typeface="Public Sans Medium"/>
            </a:endParaRPr>
          </a:p>
        </p:txBody>
      </p:sp>
      <p:sp>
        <p:nvSpPr>
          <p:cNvPr id="188" name="Google Shape;188;g3ecdd0eb50c_0_95"/>
          <p:cNvSpPr txBox="1"/>
          <p:nvPr/>
        </p:nvSpPr>
        <p:spPr>
          <a:xfrm>
            <a:off x="10960629" y="5551222"/>
            <a:ext cx="6458400" cy="2918100"/>
          </a:xfrm>
          <a:prstGeom prst="rect">
            <a:avLst/>
          </a:prstGeom>
          <a:noFill/>
          <a:ln>
            <a:noFill/>
          </a:ln>
        </p:spPr>
        <p:txBody>
          <a:bodyPr anchorCtr="0" anchor="t" bIns="91425" lIns="91425" spcFirstLastPara="1" rIns="91425" wrap="square" tIns="91425">
            <a:spAutoFit/>
          </a:bodyPr>
          <a:lstStyle/>
          <a:p>
            <a:pPr indent="0" lvl="0" marL="0" rtl="0" algn="l">
              <a:lnSpc>
                <a:spcPct val="159981"/>
              </a:lnSpc>
              <a:spcBef>
                <a:spcPts val="0"/>
              </a:spcBef>
              <a:spcAft>
                <a:spcPts val="0"/>
              </a:spcAft>
              <a:buNone/>
            </a:pPr>
            <a:r>
              <a:rPr lang="en-US" sz="2400">
                <a:solidFill>
                  <a:srgbClr val="475569"/>
                </a:solidFill>
                <a:latin typeface="Public Sans"/>
                <a:ea typeface="Public Sans"/>
                <a:cs typeface="Public Sans"/>
                <a:sym typeface="Public Sans"/>
              </a:rPr>
              <a:t>Routes mission-critical traffic via global fiber-optic networks and ultra-low latency switches. Leverages CDNs to stream high-bandwidth content to millions of edge devices instantly.</a:t>
            </a:r>
            <a:endParaRPr sz="2400">
              <a:solidFill>
                <a:srgbClr val="475569"/>
              </a:solidFill>
              <a:latin typeface="Public Sans"/>
              <a:ea typeface="Public Sans"/>
              <a:cs typeface="Public Sans"/>
              <a:sym typeface="Public Sans"/>
            </a:endParaRPr>
          </a:p>
        </p:txBody>
      </p:sp>
      <p:pic>
        <p:nvPicPr>
          <p:cNvPr id="189" name="Google Shape;189;g3ecdd0eb50c_0_95"/>
          <p:cNvPicPr preferRelativeResize="0"/>
          <p:nvPr/>
        </p:nvPicPr>
        <p:blipFill>
          <a:blip r:embed="rId8">
            <a:alphaModFix/>
          </a:blip>
          <a:stretch>
            <a:fillRect/>
          </a:stretch>
        </p:blipFill>
        <p:spPr>
          <a:xfrm>
            <a:off x="11235425" y="4499543"/>
            <a:ext cx="1085718" cy="1085718"/>
          </a:xfrm>
          <a:prstGeom prst="rect">
            <a:avLst/>
          </a:prstGeom>
          <a:noFill/>
          <a:ln>
            <a:noFill/>
          </a:ln>
        </p:spPr>
      </p:pic>
      <p:pic>
        <p:nvPicPr>
          <p:cNvPr id="190" name="Google Shape;190;g3ecdd0eb50c_0_95" title="genpact_Logo.png"/>
          <p:cNvPicPr preferRelativeResize="0"/>
          <p:nvPr/>
        </p:nvPicPr>
        <p:blipFill rotWithShape="1">
          <a:blip r:embed="rId9">
            <a:alphaModFix/>
          </a:blip>
          <a:srcRect b="0" l="377" r="377" t="0"/>
          <a:stretch/>
        </p:blipFill>
        <p:spPr>
          <a:xfrm>
            <a:off x="258175" y="245275"/>
            <a:ext cx="2128500" cy="1128069"/>
          </a:xfrm>
          <a:prstGeom prst="rect">
            <a:avLst/>
          </a:prstGeom>
          <a:noFill/>
          <a:ln>
            <a:noFill/>
          </a:ln>
        </p:spPr>
      </p:pic>
      <p:sp>
        <p:nvSpPr>
          <p:cNvPr id="191" name="Google Shape;191;g3ecdd0eb50c_0_95"/>
          <p:cNvSpPr txBox="1"/>
          <p:nvPr/>
        </p:nvSpPr>
        <p:spPr>
          <a:xfrm>
            <a:off x="571491" y="1549670"/>
            <a:ext cx="15668100" cy="985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6400">
                <a:solidFill>
                  <a:srgbClr val="191919"/>
                </a:solidFill>
                <a:latin typeface="Public Sans"/>
                <a:ea typeface="Public Sans"/>
                <a:cs typeface="Public Sans"/>
                <a:sym typeface="Public Sans"/>
              </a:rPr>
              <a:t>The Backbone of </a:t>
            </a:r>
            <a:r>
              <a:rPr b="1" lang="en-US" sz="6400">
                <a:solidFill>
                  <a:srgbClr val="FA632A"/>
                </a:solidFill>
                <a:latin typeface="Public Sans"/>
                <a:ea typeface="Public Sans"/>
                <a:cs typeface="Public Sans"/>
                <a:sym typeface="Public Sans"/>
              </a:rPr>
              <a:t>Modern Information</a:t>
            </a:r>
            <a:endParaRPr b="1" sz="6400"/>
          </a:p>
        </p:txBody>
      </p:sp>
      <p:sp>
        <p:nvSpPr>
          <p:cNvPr id="192" name="Google Shape;192;g3ecdd0eb50c_0_95"/>
          <p:cNvSpPr txBox="1"/>
          <p:nvPr/>
        </p:nvSpPr>
        <p:spPr>
          <a:xfrm>
            <a:off x="17449800" y="9391650"/>
            <a:ext cx="1524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000">
                <a:solidFill>
                  <a:srgbClr val="FA632A"/>
                </a:solidFill>
                <a:latin typeface="Public Sans"/>
                <a:ea typeface="Public Sans"/>
                <a:cs typeface="Public Sans"/>
                <a:sym typeface="Public Sans"/>
              </a:rPr>
              <a:t>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6" name="Shape 196"/>
        <p:cNvGrpSpPr/>
        <p:nvPr/>
      </p:nvGrpSpPr>
      <p:grpSpPr>
        <a:xfrm>
          <a:off x="0" y="0"/>
          <a:ext cx="0" cy="0"/>
          <a:chOff x="0" y="0"/>
          <a:chExt cx="0" cy="0"/>
        </a:xfrm>
      </p:grpSpPr>
      <p:grpSp>
        <p:nvGrpSpPr>
          <p:cNvPr id="197" name="Google Shape;197;p6"/>
          <p:cNvGrpSpPr/>
          <p:nvPr/>
        </p:nvGrpSpPr>
        <p:grpSpPr>
          <a:xfrm>
            <a:off x="571500" y="1333500"/>
            <a:ext cx="17145000" cy="1809750"/>
            <a:chOff x="571500" y="1333500"/>
            <a:chExt cx="17145000" cy="1809750"/>
          </a:xfrm>
        </p:grpSpPr>
        <p:sp>
          <p:nvSpPr>
            <p:cNvPr id="198" name="Google Shape;198;p6"/>
            <p:cNvSpPr txBox="1"/>
            <p:nvPr/>
          </p:nvSpPr>
          <p:spPr>
            <a:xfrm>
              <a:off x="571500" y="1333500"/>
              <a:ext cx="17145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6400">
                  <a:solidFill>
                    <a:srgbClr val="191919"/>
                  </a:solidFill>
                  <a:latin typeface="Public Sans"/>
                  <a:ea typeface="Public Sans"/>
                  <a:cs typeface="Public Sans"/>
                  <a:sym typeface="Public Sans"/>
                </a:rPr>
                <a:t>Essential </a:t>
              </a:r>
              <a:r>
                <a:rPr b="1" lang="en-US" sz="6400">
                  <a:solidFill>
                    <a:srgbClr val="FA632A"/>
                  </a:solidFill>
                  <a:latin typeface="Public Sans"/>
                  <a:ea typeface="Public Sans"/>
                  <a:cs typeface="Public Sans"/>
                  <a:sym typeface="Public Sans"/>
                </a:rPr>
                <a:t>Hardware &amp; Facilities</a:t>
              </a:r>
              <a:endParaRPr b="1" sz="6400">
                <a:solidFill>
                  <a:srgbClr val="191919"/>
                </a:solidFill>
                <a:latin typeface="Public Sans"/>
                <a:ea typeface="Public Sans"/>
                <a:cs typeface="Public Sans"/>
                <a:sym typeface="Public Sans"/>
              </a:endParaRPr>
            </a:p>
          </p:txBody>
        </p:sp>
        <p:sp>
          <p:nvSpPr>
            <p:cNvPr id="199" name="Google Shape;199;p6"/>
            <p:cNvSpPr txBox="1"/>
            <p:nvPr/>
          </p:nvSpPr>
          <p:spPr>
            <a:xfrm>
              <a:off x="571500" y="2571750"/>
              <a:ext cx="16053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475569"/>
                  </a:solidFill>
                  <a:latin typeface="Public Sans"/>
                  <a:ea typeface="Public Sans"/>
                  <a:cs typeface="Public Sans"/>
                  <a:sym typeface="Public Sans"/>
                </a:rPr>
                <a:t>Bringing specialized computing equipment together into a centralized, highly secure location.</a:t>
              </a:r>
              <a:endParaRPr b="1" sz="2220">
                <a:solidFill>
                  <a:srgbClr val="475569"/>
                </a:solidFill>
                <a:latin typeface="Merriweather"/>
                <a:ea typeface="Merriweather"/>
                <a:cs typeface="Merriweather"/>
                <a:sym typeface="Merriweather"/>
              </a:endParaRPr>
            </a:p>
          </p:txBody>
        </p:sp>
      </p:grpSp>
      <p:grpSp>
        <p:nvGrpSpPr>
          <p:cNvPr id="200" name="Google Shape;200;p6"/>
          <p:cNvGrpSpPr/>
          <p:nvPr/>
        </p:nvGrpSpPr>
        <p:grpSpPr>
          <a:xfrm>
            <a:off x="571500" y="3048000"/>
            <a:ext cx="17145150" cy="6096000"/>
            <a:chOff x="571500" y="3048000"/>
            <a:chExt cx="17145150" cy="6096000"/>
          </a:xfrm>
        </p:grpSpPr>
        <p:sp>
          <p:nvSpPr>
            <p:cNvPr id="201" name="Google Shape;201;p6"/>
            <p:cNvSpPr/>
            <p:nvPr/>
          </p:nvSpPr>
          <p:spPr>
            <a:xfrm>
              <a:off x="571500" y="3048000"/>
              <a:ext cx="5238900" cy="6096000"/>
            </a:xfrm>
            <a:prstGeom prst="roundRect">
              <a:avLst>
                <a:gd fmla="val 363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02" name="Google Shape;202;p6"/>
            <p:cNvGrpSpPr/>
            <p:nvPr/>
          </p:nvGrpSpPr>
          <p:grpSpPr>
            <a:xfrm>
              <a:off x="762000" y="3429000"/>
              <a:ext cx="4857900" cy="1143000"/>
              <a:chOff x="762000" y="3429000"/>
              <a:chExt cx="4857900" cy="1143000"/>
            </a:xfrm>
          </p:grpSpPr>
          <p:sp>
            <p:nvSpPr>
              <p:cNvPr id="203" name="Google Shape;203;p6"/>
              <p:cNvSpPr/>
              <p:nvPr/>
            </p:nvSpPr>
            <p:spPr>
              <a:xfrm>
                <a:off x="762000" y="3429000"/>
                <a:ext cx="4857900" cy="1143000"/>
              </a:xfrm>
              <a:prstGeom prst="roundRect">
                <a:avLst>
                  <a:gd fmla="val 12500" name="adj"/>
                </a:avLst>
              </a:prstGeom>
              <a:solidFill>
                <a:srgbClr val="FFFFFF"/>
              </a:solidFill>
              <a:ln cap="flat" cmpd="sng" w="28575">
                <a:solidFill>
                  <a:srgbClr val="FA632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6"/>
              <p:cNvSpPr txBox="1"/>
              <p:nvPr/>
            </p:nvSpPr>
            <p:spPr>
              <a:xfrm>
                <a:off x="1047750" y="3429000"/>
                <a:ext cx="42864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A632A"/>
                    </a:solidFill>
                    <a:latin typeface="Public Sans"/>
                    <a:ea typeface="Public Sans"/>
                    <a:cs typeface="Public Sans"/>
                    <a:sym typeface="Public Sans"/>
                  </a:rPr>
                  <a:t>01 | </a:t>
                </a:r>
                <a:r>
                  <a:rPr b="1" lang="en-US" sz="2400">
                    <a:solidFill>
                      <a:srgbClr val="191919"/>
                    </a:solidFill>
                    <a:latin typeface="Public Sans"/>
                    <a:ea typeface="Public Sans"/>
                    <a:cs typeface="Public Sans"/>
                    <a:sym typeface="Public Sans"/>
                  </a:rPr>
                  <a:t>IT Infrastructure</a:t>
                </a:r>
                <a:endParaRPr b="1" sz="2400">
                  <a:solidFill>
                    <a:srgbClr val="FA632A"/>
                  </a:solidFill>
                  <a:latin typeface="Public Sans"/>
                  <a:ea typeface="Public Sans"/>
                  <a:cs typeface="Public Sans"/>
                  <a:sym typeface="Public Sans"/>
                </a:endParaRPr>
              </a:p>
            </p:txBody>
          </p:sp>
        </p:grpSp>
        <p:grpSp>
          <p:nvGrpSpPr>
            <p:cNvPr id="205" name="Google Shape;205;p6"/>
            <p:cNvGrpSpPr/>
            <p:nvPr/>
          </p:nvGrpSpPr>
          <p:grpSpPr>
            <a:xfrm>
              <a:off x="762000" y="4762500"/>
              <a:ext cx="4857900" cy="1143000"/>
              <a:chOff x="762000" y="4762500"/>
              <a:chExt cx="4857900" cy="1143000"/>
            </a:xfrm>
          </p:grpSpPr>
          <p:sp>
            <p:nvSpPr>
              <p:cNvPr id="206" name="Google Shape;206;p6"/>
              <p:cNvSpPr/>
              <p:nvPr/>
            </p:nvSpPr>
            <p:spPr>
              <a:xfrm>
                <a:off x="762000" y="4762500"/>
                <a:ext cx="4857900" cy="1143000"/>
              </a:xfrm>
              <a:prstGeom prst="roundRect">
                <a:avLst>
                  <a:gd fmla="val 125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6"/>
              <p:cNvSpPr txBox="1"/>
              <p:nvPr/>
            </p:nvSpPr>
            <p:spPr>
              <a:xfrm>
                <a:off x="1047750" y="4762500"/>
                <a:ext cx="42864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888888"/>
                    </a:solidFill>
                    <a:latin typeface="Public Sans"/>
                    <a:ea typeface="Public Sans"/>
                    <a:cs typeface="Public Sans"/>
                    <a:sym typeface="Public Sans"/>
                  </a:rPr>
                  <a:t>02 | </a:t>
                </a:r>
                <a:r>
                  <a:rPr b="1" lang="en-US" sz="2400">
                    <a:solidFill>
                      <a:srgbClr val="64748B"/>
                    </a:solidFill>
                    <a:latin typeface="Public Sans"/>
                    <a:ea typeface="Public Sans"/>
                    <a:cs typeface="Public Sans"/>
                    <a:sym typeface="Public Sans"/>
                  </a:rPr>
                  <a:t>Environmental Support</a:t>
                </a:r>
                <a:endParaRPr b="1" sz="2400">
                  <a:solidFill>
                    <a:srgbClr val="888888"/>
                  </a:solidFill>
                  <a:latin typeface="Public Sans"/>
                  <a:ea typeface="Public Sans"/>
                  <a:cs typeface="Public Sans"/>
                  <a:sym typeface="Public Sans"/>
                </a:endParaRPr>
              </a:p>
            </p:txBody>
          </p:sp>
        </p:grpSp>
        <p:grpSp>
          <p:nvGrpSpPr>
            <p:cNvPr id="208" name="Google Shape;208;p6"/>
            <p:cNvGrpSpPr/>
            <p:nvPr/>
          </p:nvGrpSpPr>
          <p:grpSpPr>
            <a:xfrm>
              <a:off x="762000" y="6096000"/>
              <a:ext cx="4857900" cy="1143000"/>
              <a:chOff x="762000" y="6096000"/>
              <a:chExt cx="4857900" cy="1143000"/>
            </a:xfrm>
          </p:grpSpPr>
          <p:sp>
            <p:nvSpPr>
              <p:cNvPr id="209" name="Google Shape;209;p6"/>
              <p:cNvSpPr/>
              <p:nvPr/>
            </p:nvSpPr>
            <p:spPr>
              <a:xfrm>
                <a:off x="762000" y="6096000"/>
                <a:ext cx="4857900" cy="1143000"/>
              </a:xfrm>
              <a:prstGeom prst="roundRect">
                <a:avLst>
                  <a:gd fmla="val 125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6"/>
              <p:cNvSpPr txBox="1"/>
              <p:nvPr/>
            </p:nvSpPr>
            <p:spPr>
              <a:xfrm>
                <a:off x="1047750" y="6096000"/>
                <a:ext cx="42864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888888"/>
                    </a:solidFill>
                    <a:latin typeface="Public Sans"/>
                    <a:ea typeface="Public Sans"/>
                    <a:cs typeface="Public Sans"/>
                    <a:sym typeface="Public Sans"/>
                  </a:rPr>
                  <a:t>03 | </a:t>
                </a:r>
                <a:r>
                  <a:rPr b="1" lang="en-US" sz="2400">
                    <a:solidFill>
                      <a:srgbClr val="64748B"/>
                    </a:solidFill>
                    <a:latin typeface="Public Sans"/>
                    <a:ea typeface="Public Sans"/>
                    <a:cs typeface="Public Sans"/>
                    <a:sym typeface="Public Sans"/>
                  </a:rPr>
                  <a:t>Enhanced Security</a:t>
                </a:r>
                <a:endParaRPr b="1" sz="2400">
                  <a:solidFill>
                    <a:srgbClr val="888888"/>
                  </a:solidFill>
                  <a:latin typeface="Public Sans"/>
                  <a:ea typeface="Public Sans"/>
                  <a:cs typeface="Public Sans"/>
                  <a:sym typeface="Public Sans"/>
                </a:endParaRPr>
              </a:p>
            </p:txBody>
          </p:sp>
        </p:grpSp>
        <p:sp>
          <p:nvSpPr>
            <p:cNvPr id="211" name="Google Shape;211;p6"/>
            <p:cNvSpPr/>
            <p:nvPr/>
          </p:nvSpPr>
          <p:spPr>
            <a:xfrm>
              <a:off x="6191250" y="3048000"/>
              <a:ext cx="11525400" cy="6096000"/>
            </a:xfrm>
            <a:prstGeom prst="roundRect">
              <a:avLst>
                <a:gd fmla="val 312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6"/>
            <p:cNvSpPr txBox="1"/>
            <p:nvPr/>
          </p:nvSpPr>
          <p:spPr>
            <a:xfrm>
              <a:off x="6762750" y="3619500"/>
              <a:ext cx="10382400" cy="495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4200">
                  <a:solidFill>
                    <a:srgbClr val="FA632A"/>
                  </a:solidFill>
                  <a:latin typeface="Merriweather"/>
                  <a:ea typeface="Merriweather"/>
                  <a:cs typeface="Merriweather"/>
                  <a:sym typeface="Merriweather"/>
                </a:rPr>
                <a:t>IT Infrastructure</a:t>
              </a:r>
              <a:endParaRPr b="1" sz="4200">
                <a:solidFill>
                  <a:srgbClr val="FA632A"/>
                </a:solidFill>
                <a:latin typeface="Merriweather"/>
                <a:ea typeface="Merriweather"/>
                <a:cs typeface="Merriweather"/>
                <a:sym typeface="Merriweather"/>
              </a:endParaRPr>
            </a:p>
            <a:p>
              <a:pPr indent="0" lvl="0" marL="0" rtl="0" algn="l">
                <a:spcBef>
                  <a:spcPts val="1875"/>
                </a:spcBef>
                <a:spcAft>
                  <a:spcPts val="0"/>
                </a:spcAft>
                <a:buNone/>
              </a:pPr>
              <a:r>
                <a:rPr b="0" lang="en-US" sz="2400">
                  <a:solidFill>
                    <a:srgbClr val="475569"/>
                  </a:solidFill>
                  <a:latin typeface="Public Sans"/>
                  <a:ea typeface="Public Sans"/>
                  <a:cs typeface="Public Sans"/>
                  <a:sym typeface="Public Sans"/>
                </a:rPr>
                <a:t>Core housing for physical servers, storage systems, and enterprise networking hardware optimized for dense computing workloads.</a:t>
              </a:r>
              <a:endParaRPr b="0" sz="2400">
                <a:solidFill>
                  <a:srgbClr val="475569"/>
                </a:solidFill>
                <a:latin typeface="Public Sans"/>
                <a:ea typeface="Public Sans"/>
                <a:cs typeface="Public Sans"/>
                <a:sym typeface="Public Sans"/>
              </a:endParaRPr>
            </a:p>
            <a:p>
              <a:pPr indent="0" lvl="0" marL="0" rtl="0" algn="l">
                <a:spcBef>
                  <a:spcPts val="3000"/>
                </a:spcBef>
                <a:spcAft>
                  <a:spcPts val="0"/>
                </a:spcAft>
                <a:buNone/>
              </a:pPr>
              <a:r>
                <a:rPr lang="en-US" sz="3200">
                  <a:solidFill>
                    <a:srgbClr val="FA632A"/>
                  </a:solidFill>
                  <a:latin typeface="Material Icons"/>
                  <a:ea typeface="Material Icons"/>
                  <a:cs typeface="Material Icons"/>
                  <a:sym typeface="Material Icons"/>
                </a:rPr>
                <a:t>check_circle</a:t>
              </a:r>
              <a:r>
                <a:rPr b="0" lang="en-US" sz="2200">
                  <a:solidFill>
                    <a:srgbClr val="1E293B"/>
                  </a:solidFill>
                  <a:latin typeface="Public Sans Medium"/>
                  <a:ea typeface="Public Sans Medium"/>
                  <a:cs typeface="Public Sans Medium"/>
                  <a:sym typeface="Public Sans Medium"/>
                </a:rPr>
                <a:t>High-density compute servers (CPUs &amp; GPUs)</a:t>
              </a:r>
              <a:endParaRPr>
                <a:solidFill>
                  <a:srgbClr val="1E293B"/>
                </a:solidFill>
                <a:latin typeface="Public Sans"/>
                <a:ea typeface="Public Sans"/>
                <a:cs typeface="Public Sans"/>
                <a:sym typeface="Public Sans"/>
              </a:endParaRPr>
            </a:p>
            <a:p>
              <a:pPr indent="0" lvl="0" marL="0" rtl="0" algn="l">
                <a:spcBef>
                  <a:spcPts val="1875"/>
                </a:spcBef>
                <a:spcAft>
                  <a:spcPts val="0"/>
                </a:spcAft>
                <a:buNone/>
              </a:pPr>
              <a:r>
                <a:rPr lang="en-US" sz="3200">
                  <a:solidFill>
                    <a:srgbClr val="FA632A"/>
                  </a:solidFill>
                  <a:latin typeface="Material Icons"/>
                  <a:ea typeface="Material Icons"/>
                  <a:cs typeface="Material Icons"/>
                  <a:sym typeface="Material Icons"/>
                </a:rPr>
                <a:t>check_circle</a:t>
              </a:r>
              <a:r>
                <a:rPr b="0" lang="en-US" sz="2200">
                  <a:solidFill>
                    <a:srgbClr val="1E293B"/>
                  </a:solidFill>
                  <a:latin typeface="Public Sans Medium"/>
                  <a:ea typeface="Public Sans Medium"/>
                  <a:cs typeface="Public Sans Medium"/>
                  <a:sym typeface="Public Sans Medium"/>
                </a:rPr>
                <a:t>Multi-petabyte structured storage (SAN/NAS)</a:t>
              </a:r>
              <a:endParaRPr>
                <a:solidFill>
                  <a:srgbClr val="1E293B"/>
                </a:solidFill>
                <a:latin typeface="Public Sans"/>
                <a:ea typeface="Public Sans"/>
                <a:cs typeface="Public Sans"/>
                <a:sym typeface="Public Sans"/>
              </a:endParaRPr>
            </a:p>
            <a:p>
              <a:pPr indent="0" lvl="0" marL="0" rtl="0" algn="l">
                <a:spcBef>
                  <a:spcPts val="1875"/>
                </a:spcBef>
                <a:spcAft>
                  <a:spcPts val="0"/>
                </a:spcAft>
                <a:buNone/>
              </a:pPr>
              <a:r>
                <a:rPr lang="en-US" sz="3200">
                  <a:solidFill>
                    <a:srgbClr val="FA632A"/>
                  </a:solidFill>
                  <a:latin typeface="Material Icons"/>
                  <a:ea typeface="Material Icons"/>
                  <a:cs typeface="Material Icons"/>
                  <a:sym typeface="Material Icons"/>
                </a:rPr>
                <a:t>check_circle</a:t>
              </a:r>
              <a:r>
                <a:rPr b="0" lang="en-US" sz="2200">
                  <a:solidFill>
                    <a:srgbClr val="1E293B"/>
                  </a:solidFill>
                  <a:latin typeface="Public Sans Medium"/>
                  <a:ea typeface="Public Sans Medium"/>
                  <a:cs typeface="Public Sans Medium"/>
                  <a:sym typeface="Public Sans Medium"/>
                </a:rPr>
                <a:t>Low-latency core switching matrix fabrics</a:t>
              </a:r>
              <a:endParaRPr>
                <a:solidFill>
                  <a:srgbClr val="1E293B"/>
                </a:solidFill>
                <a:latin typeface="Public Sans"/>
                <a:ea typeface="Public Sans"/>
                <a:cs typeface="Public Sans"/>
                <a:sym typeface="Public Sans"/>
              </a:endParaRPr>
            </a:p>
          </p:txBody>
        </p:sp>
      </p:grpSp>
      <p:sp>
        <p:nvSpPr>
          <p:cNvPr id="213" name="Google Shape;213;p6"/>
          <p:cNvSpPr txBox="1"/>
          <p:nvPr/>
        </p:nvSpPr>
        <p:spPr>
          <a:xfrm>
            <a:off x="17430750" y="9525000"/>
            <a:ext cx="2859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4</a:t>
            </a:r>
            <a:endParaRPr b="1" sz="2000">
              <a:solidFill>
                <a:srgbClr val="FA632A"/>
              </a:solidFill>
              <a:latin typeface="Public Sans"/>
              <a:ea typeface="Public Sans"/>
              <a:cs typeface="Public Sans"/>
              <a:sym typeface="Public Sans"/>
            </a:endParaRPr>
          </a:p>
        </p:txBody>
      </p:sp>
      <p:sp>
        <p:nvSpPr>
          <p:cNvPr id="214" name="Google Shape;214;p6"/>
          <p:cNvSpPr/>
          <p:nvPr/>
        </p:nvSpPr>
        <p:spPr>
          <a:xfrm>
            <a:off x="-6980475" y="-61250"/>
            <a:ext cx="6796800" cy="12212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&amp; Layout Strategy</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High-quality technical vector layout showing physical infrastructure layers. Icon Style: Modern outline symbols for Server, Cooling, and Security. Infographic Type: Component breakdown matrix. Layout Structure: 3 stacked horizontal rows or blocks with an integrated graphic callout area.</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Structure: Stacked card layout with horizontal blocks that guide the eye vertically from hardware to environmental management and security systems.</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Strategic Rationale: A structured component breakdown maps out the physical realities of data centers, allowing learners to clearly distinguish between computing gear and environmental support systems.</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Tabs interaction to click through IT Infrastructure, Environmental Support, and Enhanced Security.</a:t>
            </a:r>
            <a:endParaRPr sz="2800">
              <a:latin typeface="Calibri"/>
              <a:ea typeface="Calibri"/>
              <a:cs typeface="Calibri"/>
              <a:sym typeface="Calibri"/>
            </a:endParaRPr>
          </a:p>
        </p:txBody>
      </p:sp>
      <p:pic>
        <p:nvPicPr>
          <p:cNvPr id="215" name="Google Shape;215;p6" title="genpact_Logo.png"/>
          <p:cNvPicPr preferRelativeResize="0"/>
          <p:nvPr/>
        </p:nvPicPr>
        <p:blipFill rotWithShape="1">
          <a:blip r:embed="rId3">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9" name="Shape 219"/>
        <p:cNvGrpSpPr/>
        <p:nvPr/>
      </p:nvGrpSpPr>
      <p:grpSpPr>
        <a:xfrm>
          <a:off x="0" y="0"/>
          <a:ext cx="0" cy="0"/>
          <a:chOff x="0" y="0"/>
          <a:chExt cx="0" cy="0"/>
        </a:xfrm>
      </p:grpSpPr>
      <p:sp>
        <p:nvSpPr>
          <p:cNvPr id="220" name="Google Shape;220;g3ecdd0eb50c_0_148"/>
          <p:cNvSpPr/>
          <p:nvPr/>
        </p:nvSpPr>
        <p:spPr>
          <a:xfrm>
            <a:off x="571500" y="3029683"/>
            <a:ext cx="5238900" cy="6286500"/>
          </a:xfrm>
          <a:prstGeom prst="roundRect">
            <a:avLst>
              <a:gd fmla="val 3636"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1" name="Google Shape;221;g3ecdd0eb50c_0_148"/>
          <p:cNvGrpSpPr/>
          <p:nvPr/>
        </p:nvGrpSpPr>
        <p:grpSpPr>
          <a:xfrm>
            <a:off x="762000" y="3333750"/>
            <a:ext cx="4857900" cy="952500"/>
            <a:chOff x="762000" y="2952750"/>
            <a:chExt cx="4857900" cy="952500"/>
          </a:xfrm>
        </p:grpSpPr>
        <p:sp>
          <p:nvSpPr>
            <p:cNvPr id="222" name="Google Shape;222;g3ecdd0eb50c_0_148"/>
            <p:cNvSpPr/>
            <p:nvPr/>
          </p:nvSpPr>
          <p:spPr>
            <a:xfrm>
              <a:off x="762000" y="2952750"/>
              <a:ext cx="4857900" cy="952500"/>
            </a:xfrm>
            <a:prstGeom prst="roundRect">
              <a:avLst>
                <a:gd fmla="val 15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g3ecdd0eb50c_0_148"/>
            <p:cNvSpPr txBox="1"/>
            <p:nvPr/>
          </p:nvSpPr>
          <p:spPr>
            <a:xfrm>
              <a:off x="1047750" y="2952750"/>
              <a:ext cx="4286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94A3B8"/>
                  </a:solidFill>
                  <a:latin typeface="Public Sans"/>
                  <a:ea typeface="Public Sans"/>
                  <a:cs typeface="Public Sans"/>
                  <a:sym typeface="Public Sans"/>
                </a:rPr>
                <a:t>01 | </a:t>
              </a:r>
              <a:r>
                <a:rPr b="0" lang="en-US" sz="2400">
                  <a:solidFill>
                    <a:srgbClr val="1E293B"/>
                  </a:solidFill>
                  <a:latin typeface="Public Sans"/>
                  <a:ea typeface="Public Sans"/>
                  <a:cs typeface="Public Sans"/>
                  <a:sym typeface="Public Sans"/>
                </a:rPr>
                <a:t>IT Infrastructure</a:t>
              </a:r>
              <a:endParaRPr b="1" sz="2400">
                <a:solidFill>
                  <a:srgbClr val="94A3B8"/>
                </a:solidFill>
                <a:latin typeface="Public Sans"/>
                <a:ea typeface="Public Sans"/>
                <a:cs typeface="Public Sans"/>
                <a:sym typeface="Public Sans"/>
              </a:endParaRPr>
            </a:p>
          </p:txBody>
        </p:sp>
      </p:grpSp>
      <p:grpSp>
        <p:nvGrpSpPr>
          <p:cNvPr id="224" name="Google Shape;224;g3ecdd0eb50c_0_148"/>
          <p:cNvGrpSpPr/>
          <p:nvPr/>
        </p:nvGrpSpPr>
        <p:grpSpPr>
          <a:xfrm>
            <a:off x="762000" y="4476750"/>
            <a:ext cx="4857900" cy="1143000"/>
            <a:chOff x="762000" y="4095750"/>
            <a:chExt cx="4857900" cy="1143000"/>
          </a:xfrm>
        </p:grpSpPr>
        <p:sp>
          <p:nvSpPr>
            <p:cNvPr id="225" name="Google Shape;225;g3ecdd0eb50c_0_148"/>
            <p:cNvSpPr/>
            <p:nvPr/>
          </p:nvSpPr>
          <p:spPr>
            <a:xfrm>
              <a:off x="762000" y="4095750"/>
              <a:ext cx="4857900" cy="1143000"/>
            </a:xfrm>
            <a:prstGeom prst="roundRect">
              <a:avLst>
                <a:gd fmla="val 12500" name="adj"/>
              </a:avLst>
            </a:prstGeom>
            <a:solidFill>
              <a:srgbClr val="FFFFFF"/>
            </a:solidFill>
            <a:ln cap="flat" cmpd="sng" w="28575">
              <a:solidFill>
                <a:srgbClr val="FA632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g3ecdd0eb50c_0_148"/>
            <p:cNvSpPr txBox="1"/>
            <p:nvPr/>
          </p:nvSpPr>
          <p:spPr>
            <a:xfrm>
              <a:off x="1047750" y="4095750"/>
              <a:ext cx="4572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FA632A"/>
                  </a:solidFill>
                  <a:latin typeface="Public Sans"/>
                  <a:ea typeface="Public Sans"/>
                  <a:cs typeface="Public Sans"/>
                  <a:sym typeface="Public Sans"/>
                </a:rPr>
                <a:t>02 | </a:t>
              </a:r>
              <a:r>
                <a:rPr b="1" lang="en-US" sz="2600">
                  <a:solidFill>
                    <a:srgbClr val="1E293B"/>
                  </a:solidFill>
                  <a:latin typeface="Public Sans"/>
                  <a:ea typeface="Public Sans"/>
                  <a:cs typeface="Public Sans"/>
                  <a:sym typeface="Public Sans"/>
                </a:rPr>
                <a:t>Environmental Support</a:t>
              </a:r>
              <a:endParaRPr b="1" sz="2600">
                <a:solidFill>
                  <a:srgbClr val="FA632A"/>
                </a:solidFill>
                <a:latin typeface="Public Sans"/>
                <a:ea typeface="Public Sans"/>
                <a:cs typeface="Public Sans"/>
                <a:sym typeface="Public Sans"/>
              </a:endParaRPr>
            </a:p>
          </p:txBody>
        </p:sp>
      </p:grpSp>
      <p:grpSp>
        <p:nvGrpSpPr>
          <p:cNvPr id="227" name="Google Shape;227;g3ecdd0eb50c_0_148"/>
          <p:cNvGrpSpPr/>
          <p:nvPr/>
        </p:nvGrpSpPr>
        <p:grpSpPr>
          <a:xfrm>
            <a:off x="762000" y="5810250"/>
            <a:ext cx="4857900" cy="952500"/>
            <a:chOff x="762000" y="5429250"/>
            <a:chExt cx="4857900" cy="952500"/>
          </a:xfrm>
        </p:grpSpPr>
        <p:sp>
          <p:nvSpPr>
            <p:cNvPr id="228" name="Google Shape;228;g3ecdd0eb50c_0_148"/>
            <p:cNvSpPr/>
            <p:nvPr/>
          </p:nvSpPr>
          <p:spPr>
            <a:xfrm>
              <a:off x="762000" y="5429250"/>
              <a:ext cx="4857900" cy="952500"/>
            </a:xfrm>
            <a:prstGeom prst="roundRect">
              <a:avLst>
                <a:gd fmla="val 15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g3ecdd0eb50c_0_148"/>
            <p:cNvSpPr txBox="1"/>
            <p:nvPr/>
          </p:nvSpPr>
          <p:spPr>
            <a:xfrm>
              <a:off x="1047750" y="5429250"/>
              <a:ext cx="4286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94A3B8"/>
                  </a:solidFill>
                  <a:latin typeface="Public Sans"/>
                  <a:ea typeface="Public Sans"/>
                  <a:cs typeface="Public Sans"/>
                  <a:sym typeface="Public Sans"/>
                </a:rPr>
                <a:t>03 | </a:t>
              </a:r>
              <a:r>
                <a:rPr b="0" lang="en-US" sz="2400">
                  <a:solidFill>
                    <a:srgbClr val="1E293B"/>
                  </a:solidFill>
                  <a:latin typeface="Public Sans"/>
                  <a:ea typeface="Public Sans"/>
                  <a:cs typeface="Public Sans"/>
                  <a:sym typeface="Public Sans"/>
                </a:rPr>
                <a:t>Enhanced Security</a:t>
              </a:r>
              <a:endParaRPr b="1" sz="2400">
                <a:solidFill>
                  <a:srgbClr val="94A3B8"/>
                </a:solidFill>
                <a:latin typeface="Public Sans"/>
                <a:ea typeface="Public Sans"/>
                <a:cs typeface="Public Sans"/>
                <a:sym typeface="Public Sans"/>
              </a:endParaRPr>
            </a:p>
          </p:txBody>
        </p:sp>
      </p:grpSp>
      <p:grpSp>
        <p:nvGrpSpPr>
          <p:cNvPr id="230" name="Google Shape;230;g3ecdd0eb50c_0_148"/>
          <p:cNvGrpSpPr/>
          <p:nvPr/>
        </p:nvGrpSpPr>
        <p:grpSpPr>
          <a:xfrm>
            <a:off x="6096000" y="3048000"/>
            <a:ext cx="11620500" cy="6286500"/>
            <a:chOff x="6096000" y="2667000"/>
            <a:chExt cx="11620500" cy="6286500"/>
          </a:xfrm>
        </p:grpSpPr>
        <p:sp>
          <p:nvSpPr>
            <p:cNvPr id="231" name="Google Shape;231;g3ecdd0eb50c_0_148"/>
            <p:cNvSpPr/>
            <p:nvPr/>
          </p:nvSpPr>
          <p:spPr>
            <a:xfrm>
              <a:off x="6096000" y="2667000"/>
              <a:ext cx="11620500" cy="6286500"/>
            </a:xfrm>
            <a:prstGeom prst="roundRect">
              <a:avLst>
                <a:gd fmla="val 303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g3ecdd0eb50c_0_148"/>
            <p:cNvSpPr txBox="1"/>
            <p:nvPr/>
          </p:nvSpPr>
          <p:spPr>
            <a:xfrm>
              <a:off x="6572250" y="3143250"/>
              <a:ext cx="10668000" cy="533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4200">
                  <a:solidFill>
                    <a:srgbClr val="FA632A"/>
                  </a:solidFill>
                  <a:latin typeface="Merriweather"/>
                  <a:ea typeface="Merriweather"/>
                  <a:cs typeface="Merriweather"/>
                  <a:sym typeface="Merriweather"/>
                </a:rPr>
                <a:t>Environmental Support</a:t>
              </a:r>
              <a:endParaRPr b="1" sz="4200">
                <a:solidFill>
                  <a:srgbClr val="FA632A"/>
                </a:solidFill>
                <a:latin typeface="Merriweather"/>
                <a:ea typeface="Merriweather"/>
                <a:cs typeface="Merriweather"/>
                <a:sym typeface="Merriweather"/>
              </a:endParaRPr>
            </a:p>
            <a:p>
              <a:pPr indent="0" lvl="0" marL="0" rtl="0" algn="l">
                <a:spcBef>
                  <a:spcPts val="1875"/>
                </a:spcBef>
                <a:spcAft>
                  <a:spcPts val="0"/>
                </a:spcAft>
                <a:buNone/>
              </a:pPr>
              <a:r>
                <a:rPr b="0" lang="en-US" sz="2400">
                  <a:solidFill>
                    <a:srgbClr val="1E293B"/>
                  </a:solidFill>
                  <a:latin typeface="Public Sans"/>
                  <a:ea typeface="Public Sans"/>
                  <a:cs typeface="Public Sans"/>
                  <a:sym typeface="Public Sans"/>
                </a:rPr>
                <a:t>Requires massive continuous electrical power and advanced thermodynamic cooling architectures to prevent thermal damage.</a:t>
              </a:r>
              <a:endParaRPr b="0" sz="2400">
                <a:solidFill>
                  <a:srgbClr val="1E293B"/>
                </a:solidFill>
                <a:latin typeface="Public Sans"/>
                <a:ea typeface="Public Sans"/>
                <a:cs typeface="Public Sans"/>
                <a:sym typeface="Public Sans"/>
              </a:endParaRPr>
            </a:p>
            <a:p>
              <a:pPr indent="0" lvl="0" marL="0" rtl="0" algn="l">
                <a:spcBef>
                  <a:spcPts val="3375"/>
                </a:spcBef>
                <a:spcAft>
                  <a:spcPts val="0"/>
                </a:spcAft>
                <a:buNone/>
              </a:pPr>
              <a:r>
                <a:rPr lang="en-US" sz="3200">
                  <a:solidFill>
                    <a:srgbClr val="FA632A"/>
                  </a:solidFill>
                  <a:latin typeface="Material Icons"/>
                  <a:ea typeface="Material Icons"/>
                  <a:cs typeface="Material Icons"/>
                  <a:sym typeface="Material Icons"/>
                </a:rPr>
                <a:t>check_circle</a:t>
              </a:r>
              <a:r>
                <a:rPr lang="en-US"/>
                <a:t> </a:t>
              </a:r>
              <a:r>
                <a:rPr b="0" lang="en-US" sz="2200">
                  <a:solidFill>
                    <a:srgbClr val="334155"/>
                  </a:solidFill>
                  <a:latin typeface="Public Sans Medium"/>
                  <a:ea typeface="Public Sans Medium"/>
                  <a:cs typeface="Public Sans Medium"/>
                  <a:sym typeface="Public Sans Medium"/>
                </a:rPr>
                <a:t>Direct-to-chip &amp; liquid immersion loops</a:t>
              </a:r>
              <a:endParaRPr/>
            </a:p>
            <a:p>
              <a:pPr indent="0" lvl="0" marL="0" rtl="0" algn="l">
                <a:spcBef>
                  <a:spcPts val="2625"/>
                </a:spcBef>
                <a:spcAft>
                  <a:spcPts val="0"/>
                </a:spcAft>
                <a:buNone/>
              </a:pPr>
              <a:r>
                <a:rPr lang="en-US" sz="3200">
                  <a:solidFill>
                    <a:srgbClr val="FA632A"/>
                  </a:solidFill>
                  <a:latin typeface="Material Icons"/>
                  <a:ea typeface="Material Icons"/>
                  <a:cs typeface="Material Icons"/>
                  <a:sym typeface="Material Icons"/>
                </a:rPr>
                <a:t>check_circle</a:t>
              </a:r>
              <a:r>
                <a:rPr lang="en-US"/>
                <a:t> </a:t>
              </a:r>
              <a:r>
                <a:rPr b="0" lang="en-US" sz="2200">
                  <a:solidFill>
                    <a:srgbClr val="334155"/>
                  </a:solidFill>
                  <a:latin typeface="Public Sans Medium"/>
                  <a:ea typeface="Public Sans Medium"/>
                  <a:cs typeface="Public Sans Medium"/>
                  <a:sym typeface="Public Sans Medium"/>
                </a:rPr>
                <a:t>Multi-megawatt grid links with backup generators</a:t>
              </a:r>
              <a:endParaRPr/>
            </a:p>
            <a:p>
              <a:pPr indent="0" lvl="0" marL="0" rtl="0" algn="l">
                <a:spcBef>
                  <a:spcPts val="2625"/>
                </a:spcBef>
                <a:spcAft>
                  <a:spcPts val="0"/>
                </a:spcAft>
                <a:buNone/>
              </a:pPr>
              <a:r>
                <a:rPr lang="en-US" sz="3200">
                  <a:solidFill>
                    <a:srgbClr val="FA632A"/>
                  </a:solidFill>
                  <a:latin typeface="Material Icons"/>
                  <a:ea typeface="Material Icons"/>
                  <a:cs typeface="Material Icons"/>
                  <a:sym typeface="Material Icons"/>
                </a:rPr>
                <a:t>check_circle</a:t>
              </a:r>
              <a:r>
                <a:rPr lang="en-US"/>
                <a:t> </a:t>
              </a:r>
              <a:r>
                <a:rPr b="0" lang="en-US" sz="2200">
                  <a:solidFill>
                    <a:srgbClr val="334155"/>
                  </a:solidFill>
                  <a:latin typeface="Public Sans Medium"/>
                  <a:ea typeface="Public Sans Medium"/>
                  <a:cs typeface="Public Sans Medium"/>
                  <a:sym typeface="Public Sans Medium"/>
                </a:rPr>
                <a:t>Intelligent hot/cold aisle thermal zoning</a:t>
              </a:r>
              <a:endParaRPr/>
            </a:p>
          </p:txBody>
        </p:sp>
      </p:grpSp>
      <p:sp>
        <p:nvSpPr>
          <p:cNvPr id="233" name="Google Shape;233;g3ecdd0eb50c_0_148"/>
          <p:cNvSpPr txBox="1"/>
          <p:nvPr/>
        </p:nvSpPr>
        <p:spPr>
          <a:xfrm>
            <a:off x="17335500" y="9906000"/>
            <a:ext cx="3810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t/>
            </a:r>
            <a:endParaRPr b="1" sz="2000">
              <a:solidFill>
                <a:srgbClr val="FA632A"/>
              </a:solidFill>
              <a:latin typeface="Public Sans"/>
              <a:ea typeface="Public Sans"/>
              <a:cs typeface="Public Sans"/>
              <a:sym typeface="Public Sans"/>
            </a:endParaRPr>
          </a:p>
        </p:txBody>
      </p:sp>
      <p:grpSp>
        <p:nvGrpSpPr>
          <p:cNvPr id="234" name="Google Shape;234;g3ecdd0eb50c_0_148"/>
          <p:cNvGrpSpPr/>
          <p:nvPr/>
        </p:nvGrpSpPr>
        <p:grpSpPr>
          <a:xfrm>
            <a:off x="571500" y="1333500"/>
            <a:ext cx="17145000" cy="1809750"/>
            <a:chOff x="571500" y="1333500"/>
            <a:chExt cx="17145000" cy="1809750"/>
          </a:xfrm>
        </p:grpSpPr>
        <p:sp>
          <p:nvSpPr>
            <p:cNvPr id="235" name="Google Shape;235;g3ecdd0eb50c_0_148"/>
            <p:cNvSpPr txBox="1"/>
            <p:nvPr/>
          </p:nvSpPr>
          <p:spPr>
            <a:xfrm>
              <a:off x="571500" y="1333500"/>
              <a:ext cx="17145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6400">
                  <a:solidFill>
                    <a:srgbClr val="191919"/>
                  </a:solidFill>
                  <a:latin typeface="Public Sans"/>
                  <a:ea typeface="Public Sans"/>
                  <a:cs typeface="Public Sans"/>
                  <a:sym typeface="Public Sans"/>
                </a:rPr>
                <a:t>Essential </a:t>
              </a:r>
              <a:r>
                <a:rPr b="1" lang="en-US" sz="6400">
                  <a:solidFill>
                    <a:srgbClr val="FA632A"/>
                  </a:solidFill>
                  <a:latin typeface="Public Sans"/>
                  <a:ea typeface="Public Sans"/>
                  <a:cs typeface="Public Sans"/>
                  <a:sym typeface="Public Sans"/>
                </a:rPr>
                <a:t>Hardware &amp; Facilities</a:t>
              </a:r>
              <a:endParaRPr b="1" sz="6400">
                <a:solidFill>
                  <a:srgbClr val="191919"/>
                </a:solidFill>
                <a:latin typeface="Public Sans"/>
                <a:ea typeface="Public Sans"/>
                <a:cs typeface="Public Sans"/>
                <a:sym typeface="Public Sans"/>
              </a:endParaRPr>
            </a:p>
          </p:txBody>
        </p:sp>
        <p:sp>
          <p:nvSpPr>
            <p:cNvPr id="236" name="Google Shape;236;g3ecdd0eb50c_0_148"/>
            <p:cNvSpPr txBox="1"/>
            <p:nvPr/>
          </p:nvSpPr>
          <p:spPr>
            <a:xfrm>
              <a:off x="571500" y="2571750"/>
              <a:ext cx="16053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475569"/>
                  </a:solidFill>
                  <a:latin typeface="Public Sans"/>
                  <a:ea typeface="Public Sans"/>
                  <a:cs typeface="Public Sans"/>
                  <a:sym typeface="Public Sans"/>
                </a:rPr>
                <a:t>Bringing specialized computing equipment together into a centralized, highly secure location.</a:t>
              </a:r>
              <a:endParaRPr b="1" sz="2220">
                <a:solidFill>
                  <a:srgbClr val="475569"/>
                </a:solidFill>
                <a:latin typeface="Merriweather"/>
                <a:ea typeface="Merriweather"/>
                <a:cs typeface="Merriweather"/>
                <a:sym typeface="Merriweather"/>
              </a:endParaRPr>
            </a:p>
          </p:txBody>
        </p:sp>
      </p:grpSp>
      <p:sp>
        <p:nvSpPr>
          <p:cNvPr id="237" name="Google Shape;237;g3ecdd0eb50c_0_148"/>
          <p:cNvSpPr txBox="1"/>
          <p:nvPr/>
        </p:nvSpPr>
        <p:spPr>
          <a:xfrm>
            <a:off x="17430750" y="9525000"/>
            <a:ext cx="2859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4</a:t>
            </a:r>
            <a:endParaRPr b="1" sz="2000">
              <a:solidFill>
                <a:srgbClr val="FA632A"/>
              </a:solidFill>
              <a:latin typeface="Public Sans"/>
              <a:ea typeface="Public Sans"/>
              <a:cs typeface="Public Sans"/>
              <a:sym typeface="Public Sans"/>
            </a:endParaRPr>
          </a:p>
        </p:txBody>
      </p:sp>
      <p:pic>
        <p:nvPicPr>
          <p:cNvPr id="238" name="Google Shape;238;g3ecdd0eb50c_0_148" title="genpact_Logo.png"/>
          <p:cNvPicPr preferRelativeResize="0"/>
          <p:nvPr/>
        </p:nvPicPr>
        <p:blipFill rotWithShape="1">
          <a:blip r:embed="rId3">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grpSp>
        <p:nvGrpSpPr>
          <p:cNvPr id="243" name="Google Shape;243;g3ecdd0eb50c_0_164"/>
          <p:cNvGrpSpPr/>
          <p:nvPr/>
        </p:nvGrpSpPr>
        <p:grpSpPr>
          <a:xfrm>
            <a:off x="571500" y="3105150"/>
            <a:ext cx="5238900" cy="6286500"/>
            <a:chOff x="571500" y="2667000"/>
            <a:chExt cx="5238900" cy="6286500"/>
          </a:xfrm>
        </p:grpSpPr>
        <p:sp>
          <p:nvSpPr>
            <p:cNvPr id="244" name="Google Shape;244;g3ecdd0eb50c_0_164"/>
            <p:cNvSpPr/>
            <p:nvPr/>
          </p:nvSpPr>
          <p:spPr>
            <a:xfrm>
              <a:off x="571500" y="2667000"/>
              <a:ext cx="5238900" cy="6286500"/>
            </a:xfrm>
            <a:prstGeom prst="roundRect">
              <a:avLst>
                <a:gd fmla="val 3636"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5" name="Google Shape;245;g3ecdd0eb50c_0_164"/>
            <p:cNvGrpSpPr/>
            <p:nvPr/>
          </p:nvGrpSpPr>
          <p:grpSpPr>
            <a:xfrm>
              <a:off x="762000" y="2952750"/>
              <a:ext cx="4857900" cy="952500"/>
              <a:chOff x="762000" y="2952750"/>
              <a:chExt cx="4857900" cy="952500"/>
            </a:xfrm>
          </p:grpSpPr>
          <p:sp>
            <p:nvSpPr>
              <p:cNvPr id="246" name="Google Shape;246;g3ecdd0eb50c_0_164"/>
              <p:cNvSpPr/>
              <p:nvPr/>
            </p:nvSpPr>
            <p:spPr>
              <a:xfrm>
                <a:off x="762000" y="2952750"/>
                <a:ext cx="4857900" cy="952500"/>
              </a:xfrm>
              <a:prstGeom prst="roundRect">
                <a:avLst>
                  <a:gd fmla="val 15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g3ecdd0eb50c_0_164"/>
              <p:cNvSpPr txBox="1"/>
              <p:nvPr/>
            </p:nvSpPr>
            <p:spPr>
              <a:xfrm>
                <a:off x="1047750" y="2952750"/>
                <a:ext cx="4286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94A3B8"/>
                    </a:solidFill>
                    <a:latin typeface="Public Sans"/>
                    <a:ea typeface="Public Sans"/>
                    <a:cs typeface="Public Sans"/>
                    <a:sym typeface="Public Sans"/>
                  </a:rPr>
                  <a:t>01 | </a:t>
                </a:r>
                <a:r>
                  <a:rPr b="0" lang="en-US" sz="2400">
                    <a:solidFill>
                      <a:srgbClr val="1E293B"/>
                    </a:solidFill>
                    <a:latin typeface="Public Sans"/>
                    <a:ea typeface="Public Sans"/>
                    <a:cs typeface="Public Sans"/>
                    <a:sym typeface="Public Sans"/>
                  </a:rPr>
                  <a:t>IT Infrastructure</a:t>
                </a:r>
                <a:endParaRPr b="1" sz="2400">
                  <a:solidFill>
                    <a:srgbClr val="94A3B8"/>
                  </a:solidFill>
                  <a:latin typeface="Public Sans"/>
                  <a:ea typeface="Public Sans"/>
                  <a:cs typeface="Public Sans"/>
                  <a:sym typeface="Public Sans"/>
                </a:endParaRPr>
              </a:p>
            </p:txBody>
          </p:sp>
        </p:grpSp>
        <p:grpSp>
          <p:nvGrpSpPr>
            <p:cNvPr id="248" name="Google Shape;248;g3ecdd0eb50c_0_164"/>
            <p:cNvGrpSpPr/>
            <p:nvPr/>
          </p:nvGrpSpPr>
          <p:grpSpPr>
            <a:xfrm>
              <a:off x="762000" y="4095750"/>
              <a:ext cx="4857900" cy="952500"/>
              <a:chOff x="762000" y="4095750"/>
              <a:chExt cx="4857900" cy="952500"/>
            </a:xfrm>
          </p:grpSpPr>
          <p:sp>
            <p:nvSpPr>
              <p:cNvPr id="249" name="Google Shape;249;g3ecdd0eb50c_0_164"/>
              <p:cNvSpPr/>
              <p:nvPr/>
            </p:nvSpPr>
            <p:spPr>
              <a:xfrm>
                <a:off x="762000" y="4095750"/>
                <a:ext cx="4857900" cy="952500"/>
              </a:xfrm>
              <a:prstGeom prst="roundRect">
                <a:avLst>
                  <a:gd fmla="val 15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g3ecdd0eb50c_0_164"/>
              <p:cNvSpPr txBox="1"/>
              <p:nvPr/>
            </p:nvSpPr>
            <p:spPr>
              <a:xfrm>
                <a:off x="1047750" y="4095750"/>
                <a:ext cx="42864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94A3B8"/>
                    </a:solidFill>
                    <a:latin typeface="Public Sans"/>
                    <a:ea typeface="Public Sans"/>
                    <a:cs typeface="Public Sans"/>
                    <a:sym typeface="Public Sans"/>
                  </a:rPr>
                  <a:t>02 | </a:t>
                </a:r>
                <a:r>
                  <a:rPr b="0" lang="en-US" sz="2400">
                    <a:solidFill>
                      <a:srgbClr val="1E293B"/>
                    </a:solidFill>
                    <a:latin typeface="Public Sans"/>
                    <a:ea typeface="Public Sans"/>
                    <a:cs typeface="Public Sans"/>
                    <a:sym typeface="Public Sans"/>
                  </a:rPr>
                  <a:t>Environmental Support</a:t>
                </a:r>
                <a:endParaRPr b="1" sz="2400">
                  <a:solidFill>
                    <a:srgbClr val="94A3B8"/>
                  </a:solidFill>
                  <a:latin typeface="Public Sans"/>
                  <a:ea typeface="Public Sans"/>
                  <a:cs typeface="Public Sans"/>
                  <a:sym typeface="Public Sans"/>
                </a:endParaRPr>
              </a:p>
            </p:txBody>
          </p:sp>
        </p:grpSp>
        <p:grpSp>
          <p:nvGrpSpPr>
            <p:cNvPr id="251" name="Google Shape;251;g3ecdd0eb50c_0_164"/>
            <p:cNvGrpSpPr/>
            <p:nvPr/>
          </p:nvGrpSpPr>
          <p:grpSpPr>
            <a:xfrm>
              <a:off x="762000" y="5238750"/>
              <a:ext cx="4857900" cy="1143000"/>
              <a:chOff x="762000" y="5238750"/>
              <a:chExt cx="4857900" cy="1143000"/>
            </a:xfrm>
          </p:grpSpPr>
          <p:sp>
            <p:nvSpPr>
              <p:cNvPr id="252" name="Google Shape;252;g3ecdd0eb50c_0_164"/>
              <p:cNvSpPr/>
              <p:nvPr/>
            </p:nvSpPr>
            <p:spPr>
              <a:xfrm>
                <a:off x="762000" y="5238750"/>
                <a:ext cx="4857900" cy="1143000"/>
              </a:xfrm>
              <a:prstGeom prst="roundRect">
                <a:avLst>
                  <a:gd fmla="val 12500" name="adj"/>
                </a:avLst>
              </a:prstGeom>
              <a:solidFill>
                <a:srgbClr val="FFFFFF"/>
              </a:solidFill>
              <a:ln cap="flat" cmpd="sng" w="28575">
                <a:solidFill>
                  <a:srgbClr val="FA632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g3ecdd0eb50c_0_164"/>
              <p:cNvSpPr txBox="1"/>
              <p:nvPr/>
            </p:nvSpPr>
            <p:spPr>
              <a:xfrm>
                <a:off x="1047750" y="5238750"/>
                <a:ext cx="42864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FA632A"/>
                    </a:solidFill>
                    <a:latin typeface="Public Sans"/>
                    <a:ea typeface="Public Sans"/>
                    <a:cs typeface="Public Sans"/>
                    <a:sym typeface="Public Sans"/>
                  </a:rPr>
                  <a:t>03 | </a:t>
                </a:r>
                <a:r>
                  <a:rPr b="1" lang="en-US" sz="2600">
                    <a:solidFill>
                      <a:srgbClr val="1E293B"/>
                    </a:solidFill>
                    <a:latin typeface="Public Sans"/>
                    <a:ea typeface="Public Sans"/>
                    <a:cs typeface="Public Sans"/>
                    <a:sym typeface="Public Sans"/>
                  </a:rPr>
                  <a:t>Enhanced Security</a:t>
                </a:r>
                <a:endParaRPr b="1" sz="2600">
                  <a:solidFill>
                    <a:srgbClr val="FA632A"/>
                  </a:solidFill>
                  <a:latin typeface="Public Sans"/>
                  <a:ea typeface="Public Sans"/>
                  <a:cs typeface="Public Sans"/>
                  <a:sym typeface="Public Sans"/>
                </a:endParaRPr>
              </a:p>
            </p:txBody>
          </p:sp>
        </p:grpSp>
      </p:grpSp>
      <p:grpSp>
        <p:nvGrpSpPr>
          <p:cNvPr id="254" name="Google Shape;254;g3ecdd0eb50c_0_164"/>
          <p:cNvGrpSpPr/>
          <p:nvPr/>
        </p:nvGrpSpPr>
        <p:grpSpPr>
          <a:xfrm>
            <a:off x="6096000" y="3105150"/>
            <a:ext cx="11620500" cy="6286500"/>
            <a:chOff x="6096000" y="2667000"/>
            <a:chExt cx="11620500" cy="6286500"/>
          </a:xfrm>
        </p:grpSpPr>
        <p:sp>
          <p:nvSpPr>
            <p:cNvPr id="255" name="Google Shape;255;g3ecdd0eb50c_0_164"/>
            <p:cNvSpPr/>
            <p:nvPr/>
          </p:nvSpPr>
          <p:spPr>
            <a:xfrm>
              <a:off x="6096000" y="2667000"/>
              <a:ext cx="11620500" cy="6286500"/>
            </a:xfrm>
            <a:prstGeom prst="roundRect">
              <a:avLst>
                <a:gd fmla="val 303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g3ecdd0eb50c_0_164"/>
            <p:cNvSpPr txBox="1"/>
            <p:nvPr/>
          </p:nvSpPr>
          <p:spPr>
            <a:xfrm>
              <a:off x="6667500" y="3143250"/>
              <a:ext cx="10477500" cy="533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4200">
                  <a:solidFill>
                    <a:srgbClr val="FA632A"/>
                  </a:solidFill>
                  <a:latin typeface="Merriweather"/>
                  <a:ea typeface="Merriweather"/>
                  <a:cs typeface="Merriweather"/>
                  <a:sym typeface="Merriweather"/>
                </a:rPr>
                <a:t>Enhanced Security</a:t>
              </a:r>
              <a:endParaRPr b="1" sz="4200">
                <a:solidFill>
                  <a:srgbClr val="FA632A"/>
                </a:solidFill>
                <a:latin typeface="Merriweather"/>
                <a:ea typeface="Merriweather"/>
                <a:cs typeface="Merriweather"/>
                <a:sym typeface="Merriweather"/>
              </a:endParaRPr>
            </a:p>
            <a:p>
              <a:pPr indent="0" lvl="0" marL="0" rtl="0" algn="l">
                <a:spcBef>
                  <a:spcPts val="1875"/>
                </a:spcBef>
                <a:spcAft>
                  <a:spcPts val="0"/>
                </a:spcAft>
                <a:buNone/>
              </a:pPr>
              <a:r>
                <a:rPr b="0" lang="en-US" sz="2400">
                  <a:solidFill>
                    <a:srgbClr val="1E293B"/>
                  </a:solidFill>
                  <a:latin typeface="Public Sans"/>
                  <a:ea typeface="Public Sans"/>
                  <a:cs typeface="Public Sans"/>
                  <a:sym typeface="Public Sans"/>
                </a:rPr>
                <a:t>Comprehensive physical protection matrices ensuring data integrity against real-world intrusion threats and natural anomalies.</a:t>
              </a:r>
              <a:endParaRPr b="0" sz="2400">
                <a:solidFill>
                  <a:srgbClr val="1E293B"/>
                </a:solidFill>
                <a:latin typeface="Public Sans"/>
                <a:ea typeface="Public Sans"/>
                <a:cs typeface="Public Sans"/>
                <a:sym typeface="Public Sans"/>
              </a:endParaRPr>
            </a:p>
            <a:p>
              <a:pPr indent="0" lvl="0" marL="0" rtl="0" algn="l">
                <a:spcBef>
                  <a:spcPts val="3000"/>
                </a:spcBef>
                <a:spcAft>
                  <a:spcPts val="0"/>
                </a:spcAft>
                <a:buNone/>
              </a:pPr>
              <a:r>
                <a:rPr lang="en-US" sz="3200">
                  <a:solidFill>
                    <a:srgbClr val="FA632A"/>
                  </a:solidFill>
                  <a:latin typeface="Material Icons"/>
                  <a:ea typeface="Material Icons"/>
                  <a:cs typeface="Material Icons"/>
                  <a:sym typeface="Material Icons"/>
                </a:rPr>
                <a:t>check_circle</a:t>
              </a:r>
              <a:r>
                <a:rPr lang="en-US">
                  <a:latin typeface="Public Sans"/>
                  <a:ea typeface="Public Sans"/>
                  <a:cs typeface="Public Sans"/>
                  <a:sym typeface="Public Sans"/>
                </a:rPr>
                <a:t> </a:t>
              </a:r>
              <a:r>
                <a:rPr b="0" lang="en-US" sz="2200">
                  <a:solidFill>
                    <a:srgbClr val="334155"/>
                  </a:solidFill>
                  <a:latin typeface="Public Sans Medium"/>
                  <a:ea typeface="Public Sans Medium"/>
                  <a:cs typeface="Public Sans Medium"/>
                  <a:sym typeface="Public Sans Medium"/>
                </a:rPr>
                <a:t>Biometric dual-factor access gates</a:t>
              </a:r>
              <a:endParaRPr>
                <a:latin typeface="Public Sans"/>
                <a:ea typeface="Public Sans"/>
                <a:cs typeface="Public Sans"/>
                <a:sym typeface="Public Sans"/>
              </a:endParaRPr>
            </a:p>
            <a:p>
              <a:pPr indent="0" lvl="0" marL="0" rtl="0" algn="l">
                <a:spcBef>
                  <a:spcPts val="1875"/>
                </a:spcBef>
                <a:spcAft>
                  <a:spcPts val="0"/>
                </a:spcAft>
                <a:buNone/>
              </a:pPr>
              <a:r>
                <a:rPr lang="en-US" sz="3200">
                  <a:solidFill>
                    <a:srgbClr val="FA632A"/>
                  </a:solidFill>
                  <a:latin typeface="Material Icons"/>
                  <a:ea typeface="Material Icons"/>
                  <a:cs typeface="Material Icons"/>
                  <a:sym typeface="Material Icons"/>
                </a:rPr>
                <a:t>check_circle</a:t>
              </a:r>
              <a:r>
                <a:rPr lang="en-US">
                  <a:latin typeface="Public Sans"/>
                  <a:ea typeface="Public Sans"/>
                  <a:cs typeface="Public Sans"/>
                  <a:sym typeface="Public Sans"/>
                </a:rPr>
                <a:t> </a:t>
              </a:r>
              <a:r>
                <a:rPr b="0" lang="en-US" sz="2200">
                  <a:solidFill>
                    <a:srgbClr val="334155"/>
                  </a:solidFill>
                  <a:latin typeface="Public Sans Medium"/>
                  <a:ea typeface="Public Sans Medium"/>
                  <a:cs typeface="Public Sans Medium"/>
                  <a:sym typeface="Public Sans Medium"/>
                </a:rPr>
                <a:t>CCTV automated monitoring &amp; entry corridors</a:t>
              </a:r>
              <a:endParaRPr>
                <a:latin typeface="Public Sans"/>
                <a:ea typeface="Public Sans"/>
                <a:cs typeface="Public Sans"/>
                <a:sym typeface="Public Sans"/>
              </a:endParaRPr>
            </a:p>
            <a:p>
              <a:pPr indent="0" lvl="0" marL="0" rtl="0" algn="l">
                <a:spcBef>
                  <a:spcPts val="1875"/>
                </a:spcBef>
                <a:spcAft>
                  <a:spcPts val="0"/>
                </a:spcAft>
                <a:buNone/>
              </a:pPr>
              <a:r>
                <a:rPr lang="en-US" sz="3200">
                  <a:solidFill>
                    <a:srgbClr val="FA632A"/>
                  </a:solidFill>
                  <a:latin typeface="Material Icons"/>
                  <a:ea typeface="Material Icons"/>
                  <a:cs typeface="Material Icons"/>
                  <a:sym typeface="Material Icons"/>
                </a:rPr>
                <a:t>check_circle</a:t>
              </a:r>
              <a:r>
                <a:rPr lang="en-US">
                  <a:latin typeface="Public Sans"/>
                  <a:ea typeface="Public Sans"/>
                  <a:cs typeface="Public Sans"/>
                  <a:sym typeface="Public Sans"/>
                </a:rPr>
                <a:t> </a:t>
              </a:r>
              <a:r>
                <a:rPr b="0" lang="en-US" sz="2200">
                  <a:solidFill>
                    <a:srgbClr val="334155"/>
                  </a:solidFill>
                  <a:latin typeface="Public Sans Medium"/>
                  <a:ea typeface="Public Sans Medium"/>
                  <a:cs typeface="Public Sans Medium"/>
                  <a:sym typeface="Public Sans Medium"/>
                </a:rPr>
                <a:t>Mantraps &amp; hardened structural envelopes</a:t>
              </a:r>
              <a:endParaRPr>
                <a:latin typeface="Public Sans"/>
                <a:ea typeface="Public Sans"/>
                <a:cs typeface="Public Sans"/>
                <a:sym typeface="Public Sans"/>
              </a:endParaRPr>
            </a:p>
          </p:txBody>
        </p:sp>
      </p:grpSp>
      <p:grpSp>
        <p:nvGrpSpPr>
          <p:cNvPr id="257" name="Google Shape;257;g3ecdd0eb50c_0_164"/>
          <p:cNvGrpSpPr/>
          <p:nvPr/>
        </p:nvGrpSpPr>
        <p:grpSpPr>
          <a:xfrm>
            <a:off x="571500" y="1333500"/>
            <a:ext cx="17145000" cy="1809750"/>
            <a:chOff x="571500" y="1333500"/>
            <a:chExt cx="17145000" cy="1809750"/>
          </a:xfrm>
        </p:grpSpPr>
        <p:sp>
          <p:nvSpPr>
            <p:cNvPr id="258" name="Google Shape;258;g3ecdd0eb50c_0_164"/>
            <p:cNvSpPr txBox="1"/>
            <p:nvPr/>
          </p:nvSpPr>
          <p:spPr>
            <a:xfrm>
              <a:off x="571500" y="1333500"/>
              <a:ext cx="17145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6400">
                  <a:solidFill>
                    <a:srgbClr val="191919"/>
                  </a:solidFill>
                  <a:latin typeface="Public Sans"/>
                  <a:ea typeface="Public Sans"/>
                  <a:cs typeface="Public Sans"/>
                  <a:sym typeface="Public Sans"/>
                </a:rPr>
                <a:t>Essential </a:t>
              </a:r>
              <a:r>
                <a:rPr b="1" lang="en-US" sz="6400">
                  <a:solidFill>
                    <a:srgbClr val="FA632A"/>
                  </a:solidFill>
                  <a:latin typeface="Public Sans"/>
                  <a:ea typeface="Public Sans"/>
                  <a:cs typeface="Public Sans"/>
                  <a:sym typeface="Public Sans"/>
                </a:rPr>
                <a:t>Hardware &amp; Facilities</a:t>
              </a:r>
              <a:endParaRPr b="1" sz="6400">
                <a:solidFill>
                  <a:srgbClr val="191919"/>
                </a:solidFill>
                <a:latin typeface="Public Sans"/>
                <a:ea typeface="Public Sans"/>
                <a:cs typeface="Public Sans"/>
                <a:sym typeface="Public Sans"/>
              </a:endParaRPr>
            </a:p>
          </p:txBody>
        </p:sp>
        <p:sp>
          <p:nvSpPr>
            <p:cNvPr id="259" name="Google Shape;259;g3ecdd0eb50c_0_164"/>
            <p:cNvSpPr txBox="1"/>
            <p:nvPr/>
          </p:nvSpPr>
          <p:spPr>
            <a:xfrm>
              <a:off x="571500" y="2571750"/>
              <a:ext cx="16053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475569"/>
                  </a:solidFill>
                  <a:latin typeface="Public Sans"/>
                  <a:ea typeface="Public Sans"/>
                  <a:cs typeface="Public Sans"/>
                  <a:sym typeface="Public Sans"/>
                </a:rPr>
                <a:t>Bringing specialized computing equipment together into a centralized, highly secure location.</a:t>
              </a:r>
              <a:endParaRPr b="1" sz="2220">
                <a:solidFill>
                  <a:srgbClr val="475569"/>
                </a:solidFill>
                <a:latin typeface="Merriweather"/>
                <a:ea typeface="Merriweather"/>
                <a:cs typeface="Merriweather"/>
                <a:sym typeface="Merriweather"/>
              </a:endParaRPr>
            </a:p>
          </p:txBody>
        </p:sp>
      </p:grpSp>
      <p:sp>
        <p:nvSpPr>
          <p:cNvPr id="260" name="Google Shape;260;g3ecdd0eb50c_0_164"/>
          <p:cNvSpPr txBox="1"/>
          <p:nvPr/>
        </p:nvSpPr>
        <p:spPr>
          <a:xfrm>
            <a:off x="17430750" y="9525000"/>
            <a:ext cx="2859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4</a:t>
            </a:r>
            <a:endParaRPr b="1" sz="2000">
              <a:solidFill>
                <a:srgbClr val="FA632A"/>
              </a:solidFill>
              <a:latin typeface="Public Sans"/>
              <a:ea typeface="Public Sans"/>
              <a:cs typeface="Public Sans"/>
              <a:sym typeface="Public Sans"/>
            </a:endParaRPr>
          </a:p>
        </p:txBody>
      </p:sp>
      <p:pic>
        <p:nvPicPr>
          <p:cNvPr id="261" name="Google Shape;261;g3ecdd0eb50c_0_164" title="genpact_Logo.png"/>
          <p:cNvPicPr preferRelativeResize="0"/>
          <p:nvPr/>
        </p:nvPicPr>
        <p:blipFill rotWithShape="1">
          <a:blip r:embed="rId4">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5" name="Shape 265"/>
        <p:cNvGrpSpPr/>
        <p:nvPr/>
      </p:nvGrpSpPr>
      <p:grpSpPr>
        <a:xfrm>
          <a:off x="0" y="0"/>
          <a:ext cx="0" cy="0"/>
          <a:chOff x="0" y="0"/>
          <a:chExt cx="0" cy="0"/>
        </a:xfrm>
      </p:grpSpPr>
      <p:sp>
        <p:nvSpPr>
          <p:cNvPr id="266" name="Google Shape;266;p3"/>
          <p:cNvSpPr txBox="1"/>
          <p:nvPr/>
        </p:nvSpPr>
        <p:spPr>
          <a:xfrm>
            <a:off x="1047750" y="1342213"/>
            <a:ext cx="16192500" cy="985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6400">
                <a:solidFill>
                  <a:srgbClr val="1E293B"/>
                </a:solidFill>
                <a:latin typeface="Public Sans"/>
                <a:ea typeface="Public Sans"/>
                <a:cs typeface="Public Sans"/>
                <a:sym typeface="Public Sans"/>
              </a:rPr>
              <a:t>The Datacenter </a:t>
            </a:r>
            <a:r>
              <a:rPr b="1" i="0" lang="en-US" sz="6400">
                <a:solidFill>
                  <a:srgbClr val="FA632A"/>
                </a:solidFill>
                <a:latin typeface="Public Sans"/>
                <a:ea typeface="Public Sans"/>
                <a:cs typeface="Public Sans"/>
                <a:sym typeface="Public Sans"/>
              </a:rPr>
              <a:t>Landscape</a:t>
            </a:r>
            <a:endParaRPr b="1" i="0" sz="6400">
              <a:solidFill>
                <a:srgbClr val="1E293B"/>
              </a:solidFill>
              <a:latin typeface="Public Sans"/>
              <a:ea typeface="Public Sans"/>
              <a:cs typeface="Public Sans"/>
              <a:sym typeface="Public Sans"/>
            </a:endParaRPr>
          </a:p>
        </p:txBody>
      </p:sp>
      <p:sp>
        <p:nvSpPr>
          <p:cNvPr id="267" name="Google Shape;267;p3"/>
          <p:cNvSpPr txBox="1"/>
          <p:nvPr/>
        </p:nvSpPr>
        <p:spPr>
          <a:xfrm>
            <a:off x="1047750" y="2499867"/>
            <a:ext cx="161925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i="0" lang="en-US" sz="2400">
                <a:solidFill>
                  <a:srgbClr val="64748B"/>
                </a:solidFill>
                <a:latin typeface="Public Sans"/>
                <a:ea typeface="Public Sans"/>
                <a:cs typeface="Public Sans"/>
                <a:sym typeface="Public Sans"/>
              </a:rPr>
              <a:t>The diverse U.S. market includes a mix of data center configurations built for distinct enterprise needs.</a:t>
            </a:r>
            <a:endParaRPr b="0" i="0" sz="2400">
              <a:solidFill>
                <a:srgbClr val="64748B"/>
              </a:solidFill>
              <a:latin typeface="Public Sans"/>
              <a:ea typeface="Public Sans"/>
              <a:cs typeface="Public Sans"/>
              <a:sym typeface="Public Sans"/>
            </a:endParaRPr>
          </a:p>
        </p:txBody>
      </p:sp>
      <p:grpSp>
        <p:nvGrpSpPr>
          <p:cNvPr id="268" name="Google Shape;268;p3"/>
          <p:cNvGrpSpPr/>
          <p:nvPr/>
        </p:nvGrpSpPr>
        <p:grpSpPr>
          <a:xfrm>
            <a:off x="1047750" y="3408405"/>
            <a:ext cx="7429500" cy="2667000"/>
            <a:chOff x="1047750" y="3048000"/>
            <a:chExt cx="7429500" cy="2667000"/>
          </a:xfrm>
        </p:grpSpPr>
        <p:sp>
          <p:nvSpPr>
            <p:cNvPr id="269" name="Google Shape;269;p3"/>
            <p:cNvSpPr/>
            <p:nvPr/>
          </p:nvSpPr>
          <p:spPr>
            <a:xfrm>
              <a:off x="1047750" y="3048000"/>
              <a:ext cx="7429500" cy="2667000"/>
            </a:xfrm>
            <a:prstGeom prst="roundRect">
              <a:avLst>
                <a:gd fmla="val 7142"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3"/>
            <p:cNvSpPr/>
            <p:nvPr/>
          </p:nvSpPr>
          <p:spPr>
            <a:xfrm>
              <a:off x="1047750" y="3048000"/>
              <a:ext cx="7429500" cy="1143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271" name="Google Shape;271;p3"/>
          <p:cNvPicPr preferRelativeResize="0"/>
          <p:nvPr/>
        </p:nvPicPr>
        <p:blipFill rotWithShape="1">
          <a:blip r:embed="rId4">
            <a:alphaModFix/>
          </a:blip>
          <a:srcRect b="0" l="0" r="0" t="0"/>
          <a:stretch/>
        </p:blipFill>
        <p:spPr>
          <a:xfrm>
            <a:off x="1428750" y="3429000"/>
            <a:ext cx="762000" cy="762000"/>
          </a:xfrm>
          <a:prstGeom prst="rect">
            <a:avLst/>
          </a:prstGeom>
          <a:noFill/>
          <a:ln>
            <a:noFill/>
          </a:ln>
        </p:spPr>
      </p:pic>
      <p:sp>
        <p:nvSpPr>
          <p:cNvPr id="272" name="Google Shape;272;p3"/>
          <p:cNvSpPr txBox="1"/>
          <p:nvPr/>
        </p:nvSpPr>
        <p:spPr>
          <a:xfrm>
            <a:off x="2381250" y="3789405"/>
            <a:ext cx="4762500" cy="554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3600">
                <a:solidFill>
                  <a:srgbClr val="1E293B"/>
                </a:solidFill>
                <a:latin typeface="Public Sans"/>
                <a:ea typeface="Public Sans"/>
                <a:cs typeface="Public Sans"/>
                <a:sym typeface="Public Sans"/>
              </a:rPr>
              <a:t>Hyperscale</a:t>
            </a:r>
            <a:endParaRPr b="1" i="0" sz="3600">
              <a:solidFill>
                <a:srgbClr val="1E293B"/>
              </a:solidFill>
              <a:latin typeface="Public Sans"/>
              <a:ea typeface="Public Sans"/>
              <a:cs typeface="Public Sans"/>
              <a:sym typeface="Public Sans"/>
            </a:endParaRPr>
          </a:p>
        </p:txBody>
      </p:sp>
      <p:sp>
        <p:nvSpPr>
          <p:cNvPr id="273" name="Google Shape;273;p3"/>
          <p:cNvSpPr txBox="1"/>
          <p:nvPr/>
        </p:nvSpPr>
        <p:spPr>
          <a:xfrm>
            <a:off x="1428750" y="4741905"/>
            <a:ext cx="6286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200">
                <a:solidFill>
                  <a:srgbClr val="1E293B"/>
                </a:solidFill>
                <a:latin typeface="Public Sans Medium"/>
                <a:ea typeface="Public Sans Medium"/>
                <a:cs typeface="Public Sans Medium"/>
                <a:sym typeface="Public Sans Medium"/>
              </a:rPr>
              <a:t>Vast centralized campuses engineered for massive, scalable cloud and AI workloads.</a:t>
            </a:r>
            <a:endParaRPr b="0" i="0" sz="2000">
              <a:solidFill>
                <a:srgbClr val="475569"/>
              </a:solidFill>
              <a:latin typeface="Public Sans"/>
              <a:ea typeface="Public Sans"/>
              <a:cs typeface="Public Sans"/>
              <a:sym typeface="Public Sans"/>
            </a:endParaRPr>
          </a:p>
        </p:txBody>
      </p:sp>
      <p:grpSp>
        <p:nvGrpSpPr>
          <p:cNvPr id="274" name="Google Shape;274;p3"/>
          <p:cNvGrpSpPr/>
          <p:nvPr/>
        </p:nvGrpSpPr>
        <p:grpSpPr>
          <a:xfrm>
            <a:off x="9810750" y="3408405"/>
            <a:ext cx="7429500" cy="2667000"/>
            <a:chOff x="9810750" y="3048000"/>
            <a:chExt cx="7429500" cy="2667000"/>
          </a:xfrm>
        </p:grpSpPr>
        <p:sp>
          <p:nvSpPr>
            <p:cNvPr id="275" name="Google Shape;275;p3"/>
            <p:cNvSpPr/>
            <p:nvPr/>
          </p:nvSpPr>
          <p:spPr>
            <a:xfrm>
              <a:off x="9810750" y="3048000"/>
              <a:ext cx="7429500" cy="2667000"/>
            </a:xfrm>
            <a:prstGeom prst="roundRect">
              <a:avLst>
                <a:gd fmla="val 7142"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3"/>
            <p:cNvSpPr/>
            <p:nvPr/>
          </p:nvSpPr>
          <p:spPr>
            <a:xfrm>
              <a:off x="9810750" y="3048000"/>
              <a:ext cx="7429500" cy="1143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277" name="Google Shape;277;p3"/>
          <p:cNvPicPr preferRelativeResize="0"/>
          <p:nvPr/>
        </p:nvPicPr>
        <p:blipFill rotWithShape="1">
          <a:blip r:embed="rId5">
            <a:alphaModFix/>
          </a:blip>
          <a:srcRect b="0" l="0" r="0" t="0"/>
          <a:stretch/>
        </p:blipFill>
        <p:spPr>
          <a:xfrm>
            <a:off x="10191750" y="3789405"/>
            <a:ext cx="762000" cy="762000"/>
          </a:xfrm>
          <a:prstGeom prst="rect">
            <a:avLst/>
          </a:prstGeom>
          <a:noFill/>
          <a:ln>
            <a:noFill/>
          </a:ln>
        </p:spPr>
      </p:pic>
      <p:sp>
        <p:nvSpPr>
          <p:cNvPr id="278" name="Google Shape;278;p3"/>
          <p:cNvSpPr txBox="1"/>
          <p:nvPr/>
        </p:nvSpPr>
        <p:spPr>
          <a:xfrm>
            <a:off x="11144250" y="3789405"/>
            <a:ext cx="4762500" cy="554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3600">
                <a:solidFill>
                  <a:srgbClr val="1E293B"/>
                </a:solidFill>
                <a:latin typeface="Public Sans"/>
                <a:ea typeface="Public Sans"/>
                <a:cs typeface="Public Sans"/>
                <a:sym typeface="Public Sans"/>
              </a:rPr>
              <a:t>Colocation</a:t>
            </a:r>
            <a:endParaRPr b="1" i="0" sz="3600">
              <a:solidFill>
                <a:srgbClr val="1E293B"/>
              </a:solidFill>
              <a:latin typeface="Public Sans"/>
              <a:ea typeface="Public Sans"/>
              <a:cs typeface="Public Sans"/>
              <a:sym typeface="Public Sans"/>
            </a:endParaRPr>
          </a:p>
        </p:txBody>
      </p:sp>
      <p:sp>
        <p:nvSpPr>
          <p:cNvPr id="279" name="Google Shape;279;p3"/>
          <p:cNvSpPr txBox="1"/>
          <p:nvPr/>
        </p:nvSpPr>
        <p:spPr>
          <a:xfrm>
            <a:off x="10191750" y="4741905"/>
            <a:ext cx="6286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200">
                <a:solidFill>
                  <a:srgbClr val="1E293B"/>
                </a:solidFill>
                <a:latin typeface="Public Sans Medium"/>
                <a:ea typeface="Public Sans Medium"/>
                <a:cs typeface="Public Sans Medium"/>
                <a:sym typeface="Public Sans Medium"/>
              </a:rPr>
              <a:t>Shared physical facilities where multiple businesses rent space, power, and cooling.</a:t>
            </a:r>
            <a:endParaRPr sz="2200">
              <a:solidFill>
                <a:srgbClr val="1E293B"/>
              </a:solidFill>
              <a:latin typeface="Public Sans Medium"/>
              <a:ea typeface="Public Sans Medium"/>
              <a:cs typeface="Public Sans Medium"/>
              <a:sym typeface="Public Sans Medium"/>
            </a:endParaRPr>
          </a:p>
        </p:txBody>
      </p:sp>
      <p:grpSp>
        <p:nvGrpSpPr>
          <p:cNvPr id="280" name="Google Shape;280;p3"/>
          <p:cNvGrpSpPr/>
          <p:nvPr/>
        </p:nvGrpSpPr>
        <p:grpSpPr>
          <a:xfrm>
            <a:off x="1047750" y="6551655"/>
            <a:ext cx="7429500" cy="2667000"/>
            <a:chOff x="1047750" y="6191250"/>
            <a:chExt cx="7429500" cy="2667000"/>
          </a:xfrm>
        </p:grpSpPr>
        <p:sp>
          <p:nvSpPr>
            <p:cNvPr id="281" name="Google Shape;281;p3"/>
            <p:cNvSpPr/>
            <p:nvPr/>
          </p:nvSpPr>
          <p:spPr>
            <a:xfrm>
              <a:off x="1047750" y="6191250"/>
              <a:ext cx="7429500" cy="2667000"/>
            </a:xfrm>
            <a:prstGeom prst="roundRect">
              <a:avLst>
                <a:gd fmla="val 7142"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3"/>
            <p:cNvSpPr/>
            <p:nvPr/>
          </p:nvSpPr>
          <p:spPr>
            <a:xfrm>
              <a:off x="1047750" y="6191250"/>
              <a:ext cx="7429500" cy="1143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283" name="Google Shape;283;p3"/>
          <p:cNvPicPr preferRelativeResize="0"/>
          <p:nvPr/>
        </p:nvPicPr>
        <p:blipFill rotWithShape="1">
          <a:blip r:embed="rId6">
            <a:alphaModFix/>
          </a:blip>
          <a:srcRect b="0" l="0" r="0" t="0"/>
          <a:stretch/>
        </p:blipFill>
        <p:spPr>
          <a:xfrm>
            <a:off x="1428750" y="6572250"/>
            <a:ext cx="762000" cy="762000"/>
          </a:xfrm>
          <a:prstGeom prst="rect">
            <a:avLst/>
          </a:prstGeom>
          <a:noFill/>
          <a:ln>
            <a:noFill/>
          </a:ln>
        </p:spPr>
      </p:pic>
      <p:sp>
        <p:nvSpPr>
          <p:cNvPr id="284" name="Google Shape;284;p3"/>
          <p:cNvSpPr txBox="1"/>
          <p:nvPr/>
        </p:nvSpPr>
        <p:spPr>
          <a:xfrm>
            <a:off x="2381250" y="6932655"/>
            <a:ext cx="4762500" cy="554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3600">
                <a:solidFill>
                  <a:srgbClr val="1E293B"/>
                </a:solidFill>
                <a:latin typeface="Public Sans"/>
                <a:ea typeface="Public Sans"/>
                <a:cs typeface="Public Sans"/>
                <a:sym typeface="Public Sans"/>
              </a:rPr>
              <a:t>Enterprise</a:t>
            </a:r>
            <a:endParaRPr b="1" i="0" sz="3600">
              <a:solidFill>
                <a:srgbClr val="1E293B"/>
              </a:solidFill>
              <a:latin typeface="Public Sans"/>
              <a:ea typeface="Public Sans"/>
              <a:cs typeface="Public Sans"/>
              <a:sym typeface="Public Sans"/>
            </a:endParaRPr>
          </a:p>
        </p:txBody>
      </p:sp>
      <p:sp>
        <p:nvSpPr>
          <p:cNvPr id="285" name="Google Shape;285;p3"/>
          <p:cNvSpPr txBox="1"/>
          <p:nvPr/>
        </p:nvSpPr>
        <p:spPr>
          <a:xfrm>
            <a:off x="1428750" y="7885155"/>
            <a:ext cx="6286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200">
                <a:solidFill>
                  <a:srgbClr val="1E293B"/>
                </a:solidFill>
                <a:latin typeface="Public Sans Medium"/>
                <a:ea typeface="Public Sans Medium"/>
                <a:cs typeface="Public Sans Medium"/>
                <a:sym typeface="Public Sans Medium"/>
              </a:rPr>
              <a:t>Privately owned and operated facilities tailored for a single company's specific IT needs.</a:t>
            </a:r>
            <a:endParaRPr b="0" i="0" sz="2000">
              <a:solidFill>
                <a:srgbClr val="475569"/>
              </a:solidFill>
              <a:latin typeface="Public Sans"/>
              <a:ea typeface="Public Sans"/>
              <a:cs typeface="Public Sans"/>
              <a:sym typeface="Public Sans"/>
            </a:endParaRPr>
          </a:p>
        </p:txBody>
      </p:sp>
      <p:grpSp>
        <p:nvGrpSpPr>
          <p:cNvPr id="286" name="Google Shape;286;p3"/>
          <p:cNvGrpSpPr/>
          <p:nvPr/>
        </p:nvGrpSpPr>
        <p:grpSpPr>
          <a:xfrm>
            <a:off x="9810750" y="6551655"/>
            <a:ext cx="7429500" cy="2667000"/>
            <a:chOff x="9810750" y="6191250"/>
            <a:chExt cx="7429500" cy="2667000"/>
          </a:xfrm>
        </p:grpSpPr>
        <p:sp>
          <p:nvSpPr>
            <p:cNvPr id="287" name="Google Shape;287;p3"/>
            <p:cNvSpPr/>
            <p:nvPr/>
          </p:nvSpPr>
          <p:spPr>
            <a:xfrm>
              <a:off x="9810750" y="6191250"/>
              <a:ext cx="7429500" cy="2667000"/>
            </a:xfrm>
            <a:prstGeom prst="roundRect">
              <a:avLst>
                <a:gd fmla="val 7142"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3"/>
            <p:cNvSpPr/>
            <p:nvPr/>
          </p:nvSpPr>
          <p:spPr>
            <a:xfrm>
              <a:off x="9810750" y="6191250"/>
              <a:ext cx="7429500" cy="1143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289" name="Google Shape;289;p3"/>
          <p:cNvPicPr preferRelativeResize="0"/>
          <p:nvPr/>
        </p:nvPicPr>
        <p:blipFill rotWithShape="1">
          <a:blip r:embed="rId7">
            <a:alphaModFix/>
          </a:blip>
          <a:srcRect b="0" l="0" r="0" t="0"/>
          <a:stretch/>
        </p:blipFill>
        <p:spPr>
          <a:xfrm>
            <a:off x="10191750" y="6932655"/>
            <a:ext cx="762000" cy="762000"/>
          </a:xfrm>
          <a:prstGeom prst="rect">
            <a:avLst/>
          </a:prstGeom>
          <a:noFill/>
          <a:ln>
            <a:noFill/>
          </a:ln>
        </p:spPr>
      </p:pic>
      <p:sp>
        <p:nvSpPr>
          <p:cNvPr id="290" name="Google Shape;290;p3"/>
          <p:cNvSpPr txBox="1"/>
          <p:nvPr/>
        </p:nvSpPr>
        <p:spPr>
          <a:xfrm>
            <a:off x="11144250" y="6932655"/>
            <a:ext cx="4762500" cy="554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3600">
                <a:solidFill>
                  <a:srgbClr val="1E293B"/>
                </a:solidFill>
                <a:latin typeface="Public Sans"/>
                <a:ea typeface="Public Sans"/>
                <a:cs typeface="Public Sans"/>
                <a:sym typeface="Public Sans"/>
              </a:rPr>
              <a:t>Edge</a:t>
            </a:r>
            <a:endParaRPr b="1" i="0" sz="3600">
              <a:solidFill>
                <a:srgbClr val="1E293B"/>
              </a:solidFill>
              <a:latin typeface="Public Sans"/>
              <a:ea typeface="Public Sans"/>
              <a:cs typeface="Public Sans"/>
              <a:sym typeface="Public Sans"/>
            </a:endParaRPr>
          </a:p>
        </p:txBody>
      </p:sp>
      <p:sp>
        <p:nvSpPr>
          <p:cNvPr id="291" name="Google Shape;291;p3"/>
          <p:cNvSpPr txBox="1"/>
          <p:nvPr/>
        </p:nvSpPr>
        <p:spPr>
          <a:xfrm>
            <a:off x="10191750" y="7885155"/>
            <a:ext cx="62865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200">
                <a:solidFill>
                  <a:srgbClr val="1E293B"/>
                </a:solidFill>
                <a:latin typeface="Public Sans Medium"/>
                <a:ea typeface="Public Sans Medium"/>
                <a:cs typeface="Public Sans Medium"/>
                <a:sym typeface="Public Sans Medium"/>
              </a:rPr>
              <a:t>Smaller, decentralized facilities placed close to end-users to minimize latency.</a:t>
            </a:r>
            <a:endParaRPr b="0" i="0" sz="2000">
              <a:solidFill>
                <a:srgbClr val="475569"/>
              </a:solidFill>
              <a:latin typeface="Public Sans"/>
              <a:ea typeface="Public Sans"/>
              <a:cs typeface="Public Sans"/>
              <a:sym typeface="Public Sans"/>
            </a:endParaRPr>
          </a:p>
        </p:txBody>
      </p:sp>
      <p:sp>
        <p:nvSpPr>
          <p:cNvPr id="292" name="Google Shape;292;p3"/>
          <p:cNvSpPr txBox="1"/>
          <p:nvPr/>
        </p:nvSpPr>
        <p:spPr>
          <a:xfrm>
            <a:off x="16954500" y="9525000"/>
            <a:ext cx="762000" cy="277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r">
              <a:spcBef>
                <a:spcPts val="0"/>
              </a:spcBef>
              <a:spcAft>
                <a:spcPts val="0"/>
              </a:spcAft>
              <a:buNone/>
            </a:pPr>
            <a:r>
              <a:t/>
            </a:r>
            <a:endParaRPr b="1" i="0" sz="1800">
              <a:solidFill>
                <a:srgbClr val="94A3B8"/>
              </a:solidFill>
              <a:latin typeface="Public Sans"/>
              <a:ea typeface="Public Sans"/>
              <a:cs typeface="Public Sans"/>
              <a:sym typeface="Public Sans"/>
            </a:endParaRPr>
          </a:p>
        </p:txBody>
      </p:sp>
      <p:sp>
        <p:nvSpPr>
          <p:cNvPr id="293" name="Google Shape;293;p3"/>
          <p:cNvSpPr txBox="1"/>
          <p:nvPr/>
        </p:nvSpPr>
        <p:spPr>
          <a:xfrm>
            <a:off x="17430750" y="9525000"/>
            <a:ext cx="2859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5</a:t>
            </a:r>
            <a:endParaRPr b="1" sz="2000">
              <a:solidFill>
                <a:srgbClr val="FA632A"/>
              </a:solidFill>
              <a:latin typeface="Public Sans"/>
              <a:ea typeface="Public Sans"/>
              <a:cs typeface="Public Sans"/>
              <a:sym typeface="Public Sans"/>
            </a:endParaRPr>
          </a:p>
        </p:txBody>
      </p:sp>
      <p:sp>
        <p:nvSpPr>
          <p:cNvPr id="294" name="Google Shape;294;p3"/>
          <p:cNvSpPr/>
          <p:nvPr/>
        </p:nvSpPr>
        <p:spPr>
          <a:xfrm>
            <a:off x="-6980471" y="-61243"/>
            <a:ext cx="6796800" cy="1077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&amp; Layout Strategy</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Architectural conceptual icon grid. Icon Style: Clean, corporate 2-color line icons. Infographic Type: 2x2 quadrant matrix or grid. Layout Structure: Card-based 4-quadrant layout with large visual icons inside each card.</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Structure: A beautifully balanced 2x2 quadrant card grid utilizing clean margins and the #FF727A accent line on each card header.</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Strategic Rationale: The quadrant design enables a simultaneous comparative look at all four facility types, highlighting differences in size, ownership, and proximity before deep-diving into individual screens.</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Grid-based selection allowing learners to jump into deep-dives for any specific type.</a:t>
            </a:r>
            <a:endParaRPr sz="2800">
              <a:latin typeface="Calibri"/>
              <a:ea typeface="Calibri"/>
              <a:cs typeface="Calibri"/>
              <a:sym typeface="Calibri"/>
            </a:endParaRPr>
          </a:p>
        </p:txBody>
      </p:sp>
      <p:pic>
        <p:nvPicPr>
          <p:cNvPr id="295" name="Google Shape;295;p3" title="genpact_Logo.png"/>
          <p:cNvPicPr preferRelativeResize="0"/>
          <p:nvPr/>
        </p:nvPicPr>
        <p:blipFill rotWithShape="1">
          <a:blip r:embed="rId8">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9" name="Shape 299"/>
        <p:cNvGrpSpPr/>
        <p:nvPr/>
      </p:nvGrpSpPr>
      <p:grpSpPr>
        <a:xfrm>
          <a:off x="0" y="0"/>
          <a:ext cx="0" cy="0"/>
          <a:chOff x="0" y="0"/>
          <a:chExt cx="0" cy="0"/>
        </a:xfrm>
      </p:grpSpPr>
      <p:grpSp>
        <p:nvGrpSpPr>
          <p:cNvPr id="300" name="Google Shape;300;g3ecdd0eb50c_0_410"/>
          <p:cNvGrpSpPr/>
          <p:nvPr/>
        </p:nvGrpSpPr>
        <p:grpSpPr>
          <a:xfrm>
            <a:off x="0" y="0"/>
            <a:ext cx="18288000" cy="1714650"/>
            <a:chOff x="0" y="0"/>
            <a:chExt cx="18288000" cy="1714650"/>
          </a:xfrm>
        </p:grpSpPr>
        <p:sp>
          <p:nvSpPr>
            <p:cNvPr id="301" name="Google Shape;301;g3ecdd0eb50c_0_410"/>
            <p:cNvSpPr/>
            <p:nvPr/>
          </p:nvSpPr>
          <p:spPr>
            <a:xfrm>
              <a:off x="0" y="0"/>
              <a:ext cx="18288000" cy="1714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g3ecdd0eb50c_0_410"/>
            <p:cNvSpPr/>
            <p:nvPr/>
          </p:nvSpPr>
          <p:spPr>
            <a:xfrm>
              <a:off x="0" y="1695450"/>
              <a:ext cx="1828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3" name="Google Shape;303;g3ecdd0eb50c_0_410"/>
          <p:cNvSpPr txBox="1"/>
          <p:nvPr/>
        </p:nvSpPr>
        <p:spPr>
          <a:xfrm>
            <a:off x="2476500" y="381000"/>
            <a:ext cx="11430000" cy="985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6400">
                <a:solidFill>
                  <a:srgbClr val="1E293B"/>
                </a:solidFill>
                <a:latin typeface="Public Sans"/>
                <a:ea typeface="Public Sans"/>
                <a:cs typeface="Public Sans"/>
                <a:sym typeface="Public Sans"/>
              </a:rPr>
              <a:t>Infrastructure </a:t>
            </a:r>
            <a:r>
              <a:rPr b="1" lang="en-US" sz="6400">
                <a:solidFill>
                  <a:srgbClr val="FA632A"/>
                </a:solidFill>
                <a:latin typeface="Public Sans"/>
                <a:ea typeface="Public Sans"/>
                <a:cs typeface="Public Sans"/>
                <a:sym typeface="Public Sans"/>
              </a:rPr>
              <a:t>Advisor</a:t>
            </a:r>
            <a:endParaRPr b="1" sz="6400">
              <a:solidFill>
                <a:srgbClr val="1E293B"/>
              </a:solidFill>
              <a:latin typeface="Public Sans"/>
              <a:ea typeface="Public Sans"/>
              <a:cs typeface="Public Sans"/>
              <a:sym typeface="Public Sans"/>
            </a:endParaRPr>
          </a:p>
        </p:txBody>
      </p:sp>
      <p:sp>
        <p:nvSpPr>
          <p:cNvPr id="304" name="Google Shape;304;g3ecdd0eb50c_0_410"/>
          <p:cNvSpPr txBox="1"/>
          <p:nvPr/>
        </p:nvSpPr>
        <p:spPr>
          <a:xfrm>
            <a:off x="571500" y="2000250"/>
            <a:ext cx="171450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lang="en-US" sz="2400">
                <a:solidFill>
                  <a:srgbClr val="475569"/>
                </a:solidFill>
                <a:latin typeface="Public Sans"/>
                <a:ea typeface="Public Sans"/>
                <a:cs typeface="Public Sans"/>
                <a:sym typeface="Public Sans"/>
              </a:rPr>
              <a:t>Evaluate the operational bottleneck below and select the most viable engineering solution.</a:t>
            </a:r>
            <a:endParaRPr b="1" sz="2220">
              <a:solidFill>
                <a:srgbClr val="475569"/>
              </a:solidFill>
              <a:latin typeface="Merriweather"/>
              <a:ea typeface="Merriweather"/>
              <a:cs typeface="Merriweather"/>
              <a:sym typeface="Merriweather"/>
            </a:endParaRPr>
          </a:p>
        </p:txBody>
      </p:sp>
      <p:grpSp>
        <p:nvGrpSpPr>
          <p:cNvPr id="305" name="Google Shape;305;g3ecdd0eb50c_0_410"/>
          <p:cNvGrpSpPr/>
          <p:nvPr/>
        </p:nvGrpSpPr>
        <p:grpSpPr>
          <a:xfrm>
            <a:off x="571500" y="2667000"/>
            <a:ext cx="10953900" cy="6477000"/>
            <a:chOff x="571500" y="2667000"/>
            <a:chExt cx="10953900" cy="6477000"/>
          </a:xfrm>
        </p:grpSpPr>
        <p:sp>
          <p:nvSpPr>
            <p:cNvPr id="306" name="Google Shape;306;g3ecdd0eb50c_0_410"/>
            <p:cNvSpPr/>
            <p:nvPr/>
          </p:nvSpPr>
          <p:spPr>
            <a:xfrm>
              <a:off x="571500" y="2667000"/>
              <a:ext cx="10953900" cy="6477000"/>
            </a:xfrm>
            <a:prstGeom prst="roundRect">
              <a:avLst>
                <a:gd fmla="val 2941"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g3ecdd0eb50c_0_410"/>
            <p:cNvSpPr/>
            <p:nvPr/>
          </p:nvSpPr>
          <p:spPr>
            <a:xfrm>
              <a:off x="571500" y="2667000"/>
              <a:ext cx="10953900" cy="762000"/>
            </a:xfrm>
            <a:prstGeom prst="roundRect">
              <a:avLst>
                <a:gd fmla="val 25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g3ecdd0eb50c_0_410"/>
            <p:cNvSpPr/>
            <p:nvPr/>
          </p:nvSpPr>
          <p:spPr>
            <a:xfrm>
              <a:off x="571500" y="3238500"/>
              <a:ext cx="10953900" cy="1905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g3ecdd0eb50c_0_410"/>
            <p:cNvSpPr txBox="1"/>
            <p:nvPr/>
          </p:nvSpPr>
          <p:spPr>
            <a:xfrm>
              <a:off x="952500" y="2809875"/>
              <a:ext cx="381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000">
                  <a:solidFill>
                    <a:srgbClr val="FA632A"/>
                  </a:solidFill>
                  <a:latin typeface="Public Sans ExtraBold"/>
                  <a:ea typeface="Public Sans ExtraBold"/>
                  <a:cs typeface="Public Sans ExtraBold"/>
                  <a:sym typeface="Public Sans ExtraBold"/>
                </a:rPr>
                <a:t>5G &amp; IOT Scenario</a:t>
              </a:r>
              <a:endParaRPr b="0" sz="3000">
                <a:solidFill>
                  <a:srgbClr val="FA632A"/>
                </a:solidFill>
                <a:latin typeface="Public Sans ExtraBold"/>
                <a:ea typeface="Public Sans ExtraBold"/>
                <a:cs typeface="Public Sans ExtraBold"/>
                <a:sym typeface="Public Sans ExtraBold"/>
              </a:endParaRPr>
            </a:p>
          </p:txBody>
        </p:sp>
      </p:grpSp>
      <p:sp>
        <p:nvSpPr>
          <p:cNvPr id="310" name="Google Shape;310;g3ecdd0eb50c_0_410"/>
          <p:cNvSpPr txBox="1"/>
          <p:nvPr/>
        </p:nvSpPr>
        <p:spPr>
          <a:xfrm>
            <a:off x="952500" y="3619500"/>
            <a:ext cx="10191900" cy="400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2600">
                <a:solidFill>
                  <a:srgbClr val="1E293B"/>
                </a:solidFill>
                <a:latin typeface="Public Sans"/>
                <a:ea typeface="Public Sans"/>
                <a:cs typeface="Public Sans"/>
                <a:sym typeface="Public Sans"/>
              </a:rPr>
              <a:t>The Situation</a:t>
            </a:r>
            <a:endParaRPr b="0" sz="2400">
              <a:solidFill>
                <a:srgbClr val="1E293B"/>
              </a:solidFill>
              <a:latin typeface="Urbanist ExtraBold"/>
              <a:ea typeface="Urbanist ExtraBold"/>
              <a:cs typeface="Urbanist ExtraBold"/>
              <a:sym typeface="Urbanist ExtraBold"/>
            </a:endParaRPr>
          </a:p>
        </p:txBody>
      </p:sp>
      <p:sp>
        <p:nvSpPr>
          <p:cNvPr id="311" name="Google Shape;311;g3ecdd0eb50c_0_410"/>
          <p:cNvSpPr txBox="1"/>
          <p:nvPr/>
        </p:nvSpPr>
        <p:spPr>
          <a:xfrm>
            <a:off x="952500" y="4095750"/>
            <a:ext cx="10191900" cy="677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2200">
                <a:solidFill>
                  <a:srgbClr val="334155"/>
                </a:solidFill>
                <a:latin typeface="Public Sans Medium"/>
                <a:ea typeface="Public Sans Medium"/>
                <a:cs typeface="Public Sans Medium"/>
                <a:sym typeface="Public Sans Medium"/>
              </a:rPr>
              <a:t>A developer needs to deploy high-bandwidth 5G and IoT applications but faces extreme geographic data lag.</a:t>
            </a:r>
            <a:endParaRPr b="0" sz="2000">
              <a:solidFill>
                <a:srgbClr val="475569"/>
              </a:solidFill>
              <a:latin typeface="Urbanist Medium"/>
              <a:ea typeface="Urbanist Medium"/>
              <a:cs typeface="Urbanist Medium"/>
              <a:sym typeface="Urbanist Medium"/>
            </a:endParaRPr>
          </a:p>
        </p:txBody>
      </p:sp>
      <p:grpSp>
        <p:nvGrpSpPr>
          <p:cNvPr id="312" name="Google Shape;312;g3ecdd0eb50c_0_410"/>
          <p:cNvGrpSpPr/>
          <p:nvPr/>
        </p:nvGrpSpPr>
        <p:grpSpPr>
          <a:xfrm>
            <a:off x="952500" y="5048250"/>
            <a:ext cx="10191900" cy="1428900"/>
            <a:chOff x="952500" y="5048250"/>
            <a:chExt cx="10191900" cy="1428900"/>
          </a:xfrm>
        </p:grpSpPr>
        <p:sp>
          <p:nvSpPr>
            <p:cNvPr id="313" name="Google Shape;313;g3ecdd0eb50c_0_410"/>
            <p:cNvSpPr/>
            <p:nvPr/>
          </p:nvSpPr>
          <p:spPr>
            <a:xfrm>
              <a:off x="952500" y="5048250"/>
              <a:ext cx="10191900" cy="1428900"/>
            </a:xfrm>
            <a:prstGeom prst="roundRect">
              <a:avLst>
                <a:gd fmla="val 8000" name="adj"/>
              </a:avLst>
            </a:prstGeom>
            <a:solidFill>
              <a:srgbClr val="F8FAFC"/>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g3ecdd0eb50c_0_410"/>
            <p:cNvSpPr txBox="1"/>
            <p:nvPr/>
          </p:nvSpPr>
          <p:spPr>
            <a:xfrm>
              <a:off x="1238250" y="5286375"/>
              <a:ext cx="1905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900">
                  <a:solidFill>
                    <a:srgbClr val="64748B"/>
                  </a:solidFill>
                  <a:latin typeface="Urbanist"/>
                  <a:ea typeface="Urbanist"/>
                  <a:cs typeface="Urbanist"/>
                  <a:sym typeface="Urbanist"/>
                </a:rPr>
                <a:t>Network Target:</a:t>
              </a:r>
              <a:endParaRPr b="1" sz="1900">
                <a:solidFill>
                  <a:srgbClr val="64748B"/>
                </a:solidFill>
                <a:latin typeface="Urbanist"/>
                <a:ea typeface="Urbanist"/>
                <a:cs typeface="Urbanist"/>
                <a:sym typeface="Urbanist"/>
              </a:endParaRPr>
            </a:p>
            <a:p>
              <a:pPr indent="0" lvl="0" marL="0" rtl="0" algn="l">
                <a:spcBef>
                  <a:spcPts val="0"/>
                </a:spcBef>
                <a:spcAft>
                  <a:spcPts val="0"/>
                </a:spcAft>
                <a:buNone/>
              </a:pPr>
              <a:r>
                <a:rPr b="1" lang="en-US" sz="1900">
                  <a:solidFill>
                    <a:srgbClr val="1E293B"/>
                  </a:solidFill>
                  <a:latin typeface="Urbanist"/>
                  <a:ea typeface="Urbanist"/>
                  <a:cs typeface="Urbanist"/>
                  <a:sym typeface="Urbanist"/>
                </a:rPr>
                <a:t>Low Latency</a:t>
              </a:r>
              <a:endParaRPr b="1" sz="1900">
                <a:solidFill>
                  <a:srgbClr val="1E293B"/>
                </a:solidFill>
                <a:latin typeface="Urbanist"/>
                <a:ea typeface="Urbanist"/>
                <a:cs typeface="Urbanist"/>
                <a:sym typeface="Urbanist"/>
              </a:endParaRPr>
            </a:p>
          </p:txBody>
        </p:sp>
        <p:cxnSp>
          <p:nvCxnSpPr>
            <p:cNvPr id="315" name="Google Shape;315;g3ecdd0eb50c_0_410"/>
            <p:cNvCxnSpPr/>
            <p:nvPr/>
          </p:nvCxnSpPr>
          <p:spPr>
            <a:xfrm>
              <a:off x="3333750" y="5334000"/>
              <a:ext cx="0" cy="857400"/>
            </a:xfrm>
            <a:prstGeom prst="straightConnector1">
              <a:avLst/>
            </a:prstGeom>
            <a:solidFill>
              <a:srgbClr val="FFFFFF"/>
            </a:solidFill>
            <a:ln cap="flat" cmpd="sng" w="19050">
              <a:solidFill>
                <a:srgbClr val="E2E8F0"/>
              </a:solidFill>
              <a:prstDash val="solid"/>
              <a:round/>
              <a:headEnd len="sm" w="sm" type="none"/>
              <a:tailEnd len="sm" w="sm" type="none"/>
            </a:ln>
          </p:spPr>
        </p:cxnSp>
        <p:sp>
          <p:nvSpPr>
            <p:cNvPr id="316" name="Google Shape;316;g3ecdd0eb50c_0_410"/>
            <p:cNvSpPr txBox="1"/>
            <p:nvPr/>
          </p:nvSpPr>
          <p:spPr>
            <a:xfrm>
              <a:off x="3619500" y="5286375"/>
              <a:ext cx="2857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900">
                  <a:solidFill>
                    <a:srgbClr val="64748B"/>
                  </a:solidFill>
                  <a:latin typeface="Urbanist"/>
                  <a:ea typeface="Urbanist"/>
                  <a:cs typeface="Urbanist"/>
                  <a:sym typeface="Urbanist"/>
                </a:rPr>
                <a:t>Central Hub Delay</a:t>
              </a:r>
              <a:endParaRPr b="1" sz="1900">
                <a:solidFill>
                  <a:srgbClr val="64748B"/>
                </a:solidFill>
                <a:latin typeface="Urbanist"/>
                <a:ea typeface="Urbanist"/>
                <a:cs typeface="Urbanist"/>
                <a:sym typeface="Urbanist"/>
              </a:endParaRPr>
            </a:p>
            <a:p>
              <a:pPr indent="0" lvl="0" marL="0" rtl="0" algn="l">
                <a:spcBef>
                  <a:spcPts val="0"/>
                </a:spcBef>
                <a:spcAft>
                  <a:spcPts val="0"/>
                </a:spcAft>
                <a:buNone/>
              </a:pPr>
              <a:r>
                <a:rPr b="1" lang="en-US" sz="1900">
                  <a:solidFill>
                    <a:srgbClr val="EF4444"/>
                  </a:solidFill>
                  <a:latin typeface="Urbanist"/>
                  <a:ea typeface="Urbanist"/>
                  <a:cs typeface="Urbanist"/>
                  <a:sym typeface="Urbanist"/>
                </a:rPr>
                <a:t>100 ms</a:t>
              </a:r>
              <a:endParaRPr b="1" sz="1900">
                <a:solidFill>
                  <a:srgbClr val="EF4444"/>
                </a:solidFill>
                <a:latin typeface="Urbanist"/>
                <a:ea typeface="Urbanist"/>
                <a:cs typeface="Urbanist"/>
                <a:sym typeface="Urbanist"/>
              </a:endParaRPr>
            </a:p>
          </p:txBody>
        </p:sp>
        <p:sp>
          <p:nvSpPr>
            <p:cNvPr id="317" name="Google Shape;317;g3ecdd0eb50c_0_410"/>
            <p:cNvSpPr txBox="1"/>
            <p:nvPr/>
          </p:nvSpPr>
          <p:spPr>
            <a:xfrm>
              <a:off x="6953250" y="5286375"/>
              <a:ext cx="2857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900">
                  <a:solidFill>
                    <a:srgbClr val="64748B"/>
                  </a:solidFill>
                  <a:latin typeface="Urbanist"/>
                  <a:ea typeface="Urbanist"/>
                  <a:cs typeface="Urbanist"/>
                  <a:sym typeface="Urbanist"/>
                </a:rPr>
                <a:t>Edge Solution</a:t>
              </a:r>
              <a:endParaRPr b="1" sz="1900">
                <a:solidFill>
                  <a:srgbClr val="64748B"/>
                </a:solidFill>
                <a:latin typeface="Urbanist"/>
                <a:ea typeface="Urbanist"/>
                <a:cs typeface="Urbanist"/>
                <a:sym typeface="Urbanist"/>
              </a:endParaRPr>
            </a:p>
            <a:p>
              <a:pPr indent="0" lvl="0" marL="0" rtl="0" algn="l">
                <a:spcBef>
                  <a:spcPts val="0"/>
                </a:spcBef>
                <a:spcAft>
                  <a:spcPts val="0"/>
                </a:spcAft>
                <a:buNone/>
              </a:pPr>
              <a:r>
                <a:rPr b="1" lang="en-US" sz="1900">
                  <a:solidFill>
                    <a:srgbClr val="22C55E"/>
                  </a:solidFill>
                  <a:latin typeface="Urbanist"/>
                  <a:ea typeface="Urbanist"/>
                  <a:cs typeface="Urbanist"/>
                  <a:sym typeface="Urbanist"/>
                </a:rPr>
                <a:t>&lt; 10 ms</a:t>
              </a:r>
              <a:endParaRPr b="1" sz="1900">
                <a:solidFill>
                  <a:srgbClr val="22C55E"/>
                </a:solidFill>
                <a:latin typeface="Urbanist"/>
                <a:ea typeface="Urbanist"/>
                <a:cs typeface="Urbanist"/>
                <a:sym typeface="Urbanist"/>
              </a:endParaRPr>
            </a:p>
          </p:txBody>
        </p:sp>
      </p:grpSp>
      <p:sp>
        <p:nvSpPr>
          <p:cNvPr id="318" name="Google Shape;318;g3ecdd0eb50c_0_410"/>
          <p:cNvSpPr txBox="1"/>
          <p:nvPr/>
        </p:nvSpPr>
        <p:spPr>
          <a:xfrm>
            <a:off x="952500" y="6858000"/>
            <a:ext cx="10191900" cy="400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2600">
                <a:solidFill>
                  <a:srgbClr val="1E293B"/>
                </a:solidFill>
                <a:latin typeface="Public Sans"/>
                <a:ea typeface="Public Sans"/>
                <a:cs typeface="Public Sans"/>
                <a:sym typeface="Public Sans"/>
              </a:rPr>
              <a:t>The Challenge</a:t>
            </a:r>
            <a:endParaRPr b="0" sz="2200">
              <a:solidFill>
                <a:srgbClr val="1E293B"/>
              </a:solidFill>
              <a:latin typeface="Urbanist ExtraBold"/>
              <a:ea typeface="Urbanist ExtraBold"/>
              <a:cs typeface="Urbanist ExtraBold"/>
              <a:sym typeface="Urbanist ExtraBold"/>
            </a:endParaRPr>
          </a:p>
        </p:txBody>
      </p:sp>
      <p:sp>
        <p:nvSpPr>
          <p:cNvPr id="319" name="Google Shape;319;g3ecdd0eb50c_0_410"/>
          <p:cNvSpPr txBox="1"/>
          <p:nvPr/>
        </p:nvSpPr>
        <p:spPr>
          <a:xfrm>
            <a:off x="952500" y="7334250"/>
            <a:ext cx="10191900" cy="677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2200">
                <a:solidFill>
                  <a:srgbClr val="334155"/>
                </a:solidFill>
                <a:latin typeface="Public Sans Medium"/>
                <a:ea typeface="Public Sans Medium"/>
                <a:cs typeface="Public Sans Medium"/>
                <a:sym typeface="Public Sans Medium"/>
              </a:rPr>
              <a:t>Select the data center model built to locate processing power close to end-users and minimize latency.</a:t>
            </a:r>
            <a:endParaRPr sz="2200">
              <a:solidFill>
                <a:srgbClr val="334155"/>
              </a:solidFill>
              <a:latin typeface="Public Sans Medium"/>
              <a:ea typeface="Public Sans Medium"/>
              <a:cs typeface="Public Sans Medium"/>
              <a:sym typeface="Public Sans Medium"/>
            </a:endParaRPr>
          </a:p>
        </p:txBody>
      </p:sp>
      <p:grpSp>
        <p:nvGrpSpPr>
          <p:cNvPr id="320" name="Google Shape;320;g3ecdd0eb50c_0_410"/>
          <p:cNvGrpSpPr/>
          <p:nvPr/>
        </p:nvGrpSpPr>
        <p:grpSpPr>
          <a:xfrm>
            <a:off x="12096750" y="2667000"/>
            <a:ext cx="5619900" cy="6477000"/>
            <a:chOff x="12096750" y="2667000"/>
            <a:chExt cx="5619900" cy="6477000"/>
          </a:xfrm>
        </p:grpSpPr>
        <p:sp>
          <p:nvSpPr>
            <p:cNvPr id="321" name="Google Shape;321;g3ecdd0eb50c_0_410"/>
            <p:cNvSpPr/>
            <p:nvPr/>
          </p:nvSpPr>
          <p:spPr>
            <a:xfrm>
              <a:off x="12096750" y="2667000"/>
              <a:ext cx="5619900" cy="6477000"/>
            </a:xfrm>
            <a:prstGeom prst="roundRect">
              <a:avLst>
                <a:gd fmla="val 3389"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g3ecdd0eb50c_0_410"/>
            <p:cNvSpPr txBox="1"/>
            <p:nvPr/>
          </p:nvSpPr>
          <p:spPr>
            <a:xfrm>
              <a:off x="12477750" y="2952750"/>
              <a:ext cx="4857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1E293B"/>
                  </a:solidFill>
                  <a:latin typeface="Public Sans"/>
                  <a:ea typeface="Public Sans"/>
                  <a:cs typeface="Public Sans"/>
                  <a:sym typeface="Public Sans"/>
                </a:rPr>
                <a:t>Select One Option:</a:t>
              </a:r>
              <a:endParaRPr b="1" sz="2600">
                <a:solidFill>
                  <a:srgbClr val="1E293B"/>
                </a:solidFill>
                <a:latin typeface="Public Sans"/>
                <a:ea typeface="Public Sans"/>
                <a:cs typeface="Public Sans"/>
                <a:sym typeface="Public Sans"/>
              </a:endParaRPr>
            </a:p>
          </p:txBody>
        </p:sp>
      </p:grpSp>
      <p:sp>
        <p:nvSpPr>
          <p:cNvPr id="323" name="Google Shape;323;g3ecdd0eb50c_0_410"/>
          <p:cNvSpPr/>
          <p:nvPr/>
        </p:nvSpPr>
        <p:spPr>
          <a:xfrm>
            <a:off x="12477750" y="3619500"/>
            <a:ext cx="4857900" cy="1047900"/>
          </a:xfrm>
          <a:prstGeom prst="roundRect">
            <a:avLst>
              <a:gd fmla="val 1363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g3ecdd0eb50c_0_410"/>
          <p:cNvSpPr txBox="1"/>
          <p:nvPr/>
        </p:nvSpPr>
        <p:spPr>
          <a:xfrm>
            <a:off x="13620750" y="3956277"/>
            <a:ext cx="3333900" cy="384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2500">
                <a:solidFill>
                  <a:srgbClr val="334155"/>
                </a:solidFill>
                <a:latin typeface="Urbanist"/>
                <a:ea typeface="Urbanist"/>
                <a:cs typeface="Urbanist"/>
                <a:sym typeface="Urbanist"/>
              </a:rPr>
              <a:t>Enterprise</a:t>
            </a:r>
            <a:endParaRPr b="1" sz="2500">
              <a:solidFill>
                <a:srgbClr val="334155"/>
              </a:solidFill>
              <a:latin typeface="Urbanist"/>
              <a:ea typeface="Urbanist"/>
              <a:cs typeface="Urbanist"/>
              <a:sym typeface="Urbanist"/>
            </a:endParaRPr>
          </a:p>
        </p:txBody>
      </p:sp>
      <p:sp>
        <p:nvSpPr>
          <p:cNvPr id="325" name="Google Shape;325;g3ecdd0eb50c_0_410"/>
          <p:cNvSpPr/>
          <p:nvPr/>
        </p:nvSpPr>
        <p:spPr>
          <a:xfrm>
            <a:off x="12477750" y="4905375"/>
            <a:ext cx="4857900" cy="1047900"/>
          </a:xfrm>
          <a:prstGeom prst="roundRect">
            <a:avLst>
              <a:gd fmla="val 13636" name="adj"/>
            </a:avLst>
          </a:prstGeom>
          <a:solidFill>
            <a:srgbClr val="DCFCE7"/>
          </a:solidFill>
          <a:ln cap="flat" cmpd="sng" w="28575">
            <a:solidFill>
              <a:srgbClr val="22C55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g3ecdd0eb50c_0_410"/>
          <p:cNvSpPr txBox="1"/>
          <p:nvPr/>
        </p:nvSpPr>
        <p:spPr>
          <a:xfrm>
            <a:off x="13620750" y="5211536"/>
            <a:ext cx="3333900" cy="384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2500">
                <a:solidFill>
                  <a:srgbClr val="166534"/>
                </a:solidFill>
                <a:latin typeface="Urbanist ExtraBold"/>
                <a:ea typeface="Urbanist ExtraBold"/>
                <a:cs typeface="Urbanist ExtraBold"/>
                <a:sym typeface="Urbanist ExtraBold"/>
              </a:rPr>
              <a:t>Edge</a:t>
            </a:r>
            <a:endParaRPr b="0" sz="2500">
              <a:solidFill>
                <a:srgbClr val="166534"/>
              </a:solidFill>
              <a:latin typeface="Urbanist ExtraBold"/>
              <a:ea typeface="Urbanist ExtraBold"/>
              <a:cs typeface="Urbanist ExtraBold"/>
              <a:sym typeface="Urbanist ExtraBold"/>
            </a:endParaRPr>
          </a:p>
        </p:txBody>
      </p:sp>
      <p:sp>
        <p:nvSpPr>
          <p:cNvPr id="327" name="Google Shape;327;g3ecdd0eb50c_0_410"/>
          <p:cNvSpPr/>
          <p:nvPr/>
        </p:nvSpPr>
        <p:spPr>
          <a:xfrm>
            <a:off x="12477750" y="6191250"/>
            <a:ext cx="4857900" cy="1047900"/>
          </a:xfrm>
          <a:prstGeom prst="roundRect">
            <a:avLst>
              <a:gd fmla="val 1363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g3ecdd0eb50c_0_410"/>
          <p:cNvSpPr txBox="1"/>
          <p:nvPr/>
        </p:nvSpPr>
        <p:spPr>
          <a:xfrm>
            <a:off x="13620750" y="6528027"/>
            <a:ext cx="3333900" cy="384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2500">
                <a:solidFill>
                  <a:srgbClr val="334155"/>
                </a:solidFill>
                <a:latin typeface="Urbanist"/>
                <a:ea typeface="Urbanist"/>
                <a:cs typeface="Urbanist"/>
                <a:sym typeface="Urbanist"/>
              </a:rPr>
              <a:t>Colocation</a:t>
            </a:r>
            <a:endParaRPr b="1" sz="2500">
              <a:solidFill>
                <a:srgbClr val="334155"/>
              </a:solidFill>
              <a:latin typeface="Urbanist"/>
              <a:ea typeface="Urbanist"/>
              <a:cs typeface="Urbanist"/>
              <a:sym typeface="Urbanist"/>
            </a:endParaRPr>
          </a:p>
        </p:txBody>
      </p:sp>
      <p:sp>
        <p:nvSpPr>
          <p:cNvPr id="329" name="Google Shape;329;g3ecdd0eb50c_0_410"/>
          <p:cNvSpPr/>
          <p:nvPr/>
        </p:nvSpPr>
        <p:spPr>
          <a:xfrm>
            <a:off x="12477750" y="7477125"/>
            <a:ext cx="4857900" cy="1047900"/>
          </a:xfrm>
          <a:prstGeom prst="roundRect">
            <a:avLst>
              <a:gd fmla="val 1363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g3ecdd0eb50c_0_410"/>
          <p:cNvSpPr txBox="1"/>
          <p:nvPr/>
        </p:nvSpPr>
        <p:spPr>
          <a:xfrm>
            <a:off x="13620750" y="7813902"/>
            <a:ext cx="3333900" cy="384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2500">
                <a:solidFill>
                  <a:srgbClr val="334155"/>
                </a:solidFill>
                <a:latin typeface="Urbanist"/>
                <a:ea typeface="Urbanist"/>
                <a:cs typeface="Urbanist"/>
                <a:sym typeface="Urbanist"/>
              </a:rPr>
              <a:t>Hyperscale</a:t>
            </a:r>
            <a:endParaRPr b="1" sz="2500">
              <a:solidFill>
                <a:srgbClr val="334155"/>
              </a:solidFill>
              <a:latin typeface="Urbanist"/>
              <a:ea typeface="Urbanist"/>
              <a:cs typeface="Urbanist"/>
              <a:sym typeface="Urbanist"/>
            </a:endParaRPr>
          </a:p>
        </p:txBody>
      </p:sp>
      <p:grpSp>
        <p:nvGrpSpPr>
          <p:cNvPr id="331" name="Google Shape;331;g3ecdd0eb50c_0_410"/>
          <p:cNvGrpSpPr/>
          <p:nvPr/>
        </p:nvGrpSpPr>
        <p:grpSpPr>
          <a:xfrm>
            <a:off x="12734925" y="3905250"/>
            <a:ext cx="533400" cy="4334025"/>
            <a:chOff x="12734925" y="3905250"/>
            <a:chExt cx="533400" cy="4334025"/>
          </a:xfrm>
        </p:grpSpPr>
        <p:sp>
          <p:nvSpPr>
            <p:cNvPr id="332" name="Google Shape;332;g3ecdd0eb50c_0_410"/>
            <p:cNvSpPr/>
            <p:nvPr/>
          </p:nvSpPr>
          <p:spPr>
            <a:xfrm>
              <a:off x="12763500" y="3905250"/>
              <a:ext cx="476400" cy="476400"/>
            </a:xfrm>
            <a:prstGeom prst="ellipse">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g3ecdd0eb50c_0_410"/>
            <p:cNvSpPr txBox="1"/>
            <p:nvPr/>
          </p:nvSpPr>
          <p:spPr>
            <a:xfrm>
              <a:off x="12763500" y="3905250"/>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94A3B8"/>
                  </a:solidFill>
                  <a:latin typeface="Urbanist ExtraBold"/>
                  <a:ea typeface="Urbanist ExtraBold"/>
                  <a:cs typeface="Urbanist ExtraBold"/>
                  <a:sym typeface="Urbanist ExtraBold"/>
                </a:rPr>
                <a:t>A</a:t>
              </a:r>
              <a:endParaRPr b="0" sz="1600">
                <a:solidFill>
                  <a:srgbClr val="94A3B8"/>
                </a:solidFill>
                <a:latin typeface="Urbanist ExtraBold"/>
                <a:ea typeface="Urbanist ExtraBold"/>
                <a:cs typeface="Urbanist ExtraBold"/>
                <a:sym typeface="Urbanist ExtraBold"/>
              </a:endParaRPr>
            </a:p>
          </p:txBody>
        </p:sp>
        <p:sp>
          <p:nvSpPr>
            <p:cNvPr id="334" name="Google Shape;334;g3ecdd0eb50c_0_410"/>
            <p:cNvSpPr/>
            <p:nvPr/>
          </p:nvSpPr>
          <p:spPr>
            <a:xfrm>
              <a:off x="12734925" y="5162550"/>
              <a:ext cx="533400" cy="533400"/>
            </a:xfrm>
            <a:prstGeom prst="ellipse">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g3ecdd0eb50c_0_410"/>
            <p:cNvSpPr txBox="1"/>
            <p:nvPr/>
          </p:nvSpPr>
          <p:spPr>
            <a:xfrm>
              <a:off x="12763500" y="5191125"/>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FFFFFF"/>
                  </a:solidFill>
                  <a:latin typeface="Urbanist ExtraBold"/>
                  <a:ea typeface="Urbanist ExtraBold"/>
                  <a:cs typeface="Urbanist ExtraBold"/>
                  <a:sym typeface="Urbanist ExtraBold"/>
                </a:rPr>
                <a:t>B</a:t>
              </a:r>
              <a:endParaRPr b="0" sz="1600">
                <a:solidFill>
                  <a:srgbClr val="FFFFFF"/>
                </a:solidFill>
                <a:latin typeface="Urbanist ExtraBold"/>
                <a:ea typeface="Urbanist ExtraBold"/>
                <a:cs typeface="Urbanist ExtraBold"/>
                <a:sym typeface="Urbanist ExtraBold"/>
              </a:endParaRPr>
            </a:p>
          </p:txBody>
        </p:sp>
        <p:sp>
          <p:nvSpPr>
            <p:cNvPr id="336" name="Google Shape;336;g3ecdd0eb50c_0_410"/>
            <p:cNvSpPr/>
            <p:nvPr/>
          </p:nvSpPr>
          <p:spPr>
            <a:xfrm>
              <a:off x="12763500" y="6477000"/>
              <a:ext cx="476400" cy="476400"/>
            </a:xfrm>
            <a:prstGeom prst="ellipse">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g3ecdd0eb50c_0_410"/>
            <p:cNvSpPr txBox="1"/>
            <p:nvPr/>
          </p:nvSpPr>
          <p:spPr>
            <a:xfrm>
              <a:off x="12763500" y="6477000"/>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94A3B8"/>
                  </a:solidFill>
                  <a:latin typeface="Urbanist ExtraBold"/>
                  <a:ea typeface="Urbanist ExtraBold"/>
                  <a:cs typeface="Urbanist ExtraBold"/>
                  <a:sym typeface="Urbanist ExtraBold"/>
                </a:rPr>
                <a:t>C</a:t>
              </a:r>
              <a:endParaRPr b="0" sz="1600">
                <a:solidFill>
                  <a:srgbClr val="94A3B8"/>
                </a:solidFill>
                <a:latin typeface="Urbanist ExtraBold"/>
                <a:ea typeface="Urbanist ExtraBold"/>
                <a:cs typeface="Urbanist ExtraBold"/>
                <a:sym typeface="Urbanist ExtraBold"/>
              </a:endParaRPr>
            </a:p>
          </p:txBody>
        </p:sp>
        <p:sp>
          <p:nvSpPr>
            <p:cNvPr id="338" name="Google Shape;338;g3ecdd0eb50c_0_410"/>
            <p:cNvSpPr/>
            <p:nvPr/>
          </p:nvSpPr>
          <p:spPr>
            <a:xfrm>
              <a:off x="12763500" y="7762875"/>
              <a:ext cx="476400" cy="476400"/>
            </a:xfrm>
            <a:prstGeom prst="ellipse">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g3ecdd0eb50c_0_410"/>
            <p:cNvSpPr txBox="1"/>
            <p:nvPr/>
          </p:nvSpPr>
          <p:spPr>
            <a:xfrm>
              <a:off x="12763500" y="7762875"/>
              <a:ext cx="4764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94A3B8"/>
                  </a:solidFill>
                  <a:latin typeface="Urbanist ExtraBold"/>
                  <a:ea typeface="Urbanist ExtraBold"/>
                  <a:cs typeface="Urbanist ExtraBold"/>
                  <a:sym typeface="Urbanist ExtraBold"/>
                </a:rPr>
                <a:t>D</a:t>
              </a:r>
              <a:endParaRPr b="0" sz="1600">
                <a:solidFill>
                  <a:srgbClr val="94A3B8"/>
                </a:solidFill>
                <a:latin typeface="Urbanist ExtraBold"/>
                <a:ea typeface="Urbanist ExtraBold"/>
                <a:cs typeface="Urbanist ExtraBold"/>
                <a:sym typeface="Urbanist ExtraBold"/>
              </a:endParaRPr>
            </a:p>
          </p:txBody>
        </p:sp>
      </p:grpSp>
      <p:sp>
        <p:nvSpPr>
          <p:cNvPr id="340" name="Google Shape;340;g3ecdd0eb50c_0_410"/>
          <p:cNvSpPr/>
          <p:nvPr/>
        </p:nvSpPr>
        <p:spPr>
          <a:xfrm>
            <a:off x="-6980475" y="-1836975"/>
            <a:ext cx="6796800" cy="1437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Conceptual network map vector visualizing data packets passing from a centralized hub out to small peripheral nodes near localized device clusters. Icon Style: Thin line-art symbols representing a 5G signal tower and an IoT device node. Infographic Type: Horizontal progressive comparison layout showing distance vs. latency speed. Layout Structure: Two-column card block framework; left column holds the challenge narrative card, right column lists interactive option selection buttons.</a:t>
            </a:r>
            <a:endParaRPr sz="2800">
              <a:latin typeface="Calibri"/>
              <a:ea typeface="Calibri"/>
              <a:cs typeface="Calibri"/>
              <a:sym typeface="Calibri"/>
            </a:endParaRPr>
          </a:p>
          <a:p>
            <a:pPr indent="0" lvl="0" marL="0" rtl="0" algn="ctr">
              <a:spcBef>
                <a:spcPts val="0"/>
              </a:spcBef>
              <a:spcAft>
                <a:spcPts val="0"/>
              </a:spcAft>
              <a:buNone/>
            </a:pPr>
            <a:r>
              <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Recommendation: Minimalist card-based layout featuring a crisp solid white background (#FFFFFF) and rich black text layout grids. The active question card container is framed by an architectural left-accent border line highlighted in the #FF727A brand color to draw the learner's eye immediately to the problem statement.</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Branching multiple-choice selection buttons triggering immediate, targeted slide layer pop-up feedback cards (Correct / Incorrect states) based on selection.</a:t>
            </a:r>
            <a:endParaRPr sz="2800">
              <a:latin typeface="Calibri"/>
              <a:ea typeface="Calibri"/>
              <a:cs typeface="Calibri"/>
              <a:sym typeface="Calibri"/>
            </a:endParaRPr>
          </a:p>
        </p:txBody>
      </p:sp>
      <p:sp>
        <p:nvSpPr>
          <p:cNvPr id="341" name="Google Shape;341;g3ecdd0eb50c_0_410"/>
          <p:cNvSpPr txBox="1"/>
          <p:nvPr/>
        </p:nvSpPr>
        <p:spPr>
          <a:xfrm>
            <a:off x="17335500" y="9870750"/>
            <a:ext cx="7797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6</a:t>
            </a:r>
            <a:endParaRPr b="1" sz="2000">
              <a:solidFill>
                <a:srgbClr val="FA632A"/>
              </a:solidFill>
              <a:latin typeface="Public Sans"/>
              <a:ea typeface="Public Sans"/>
              <a:cs typeface="Public Sans"/>
              <a:sym typeface="Public Sans"/>
            </a:endParaRPr>
          </a:p>
        </p:txBody>
      </p:sp>
      <p:pic>
        <p:nvPicPr>
          <p:cNvPr id="342" name="Google Shape;342;g3ecdd0eb50c_0_410" title="genpact_Logo.png"/>
          <p:cNvPicPr preferRelativeResize="0"/>
          <p:nvPr/>
        </p:nvPicPr>
        <p:blipFill rotWithShape="1">
          <a:blip r:embed="rId4">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6" name="Shape 346"/>
        <p:cNvGrpSpPr/>
        <p:nvPr/>
      </p:nvGrpSpPr>
      <p:grpSpPr>
        <a:xfrm>
          <a:off x="0" y="0"/>
          <a:ext cx="0" cy="0"/>
          <a:chOff x="0" y="0"/>
          <a:chExt cx="0" cy="0"/>
        </a:xfrm>
      </p:grpSpPr>
      <p:sp>
        <p:nvSpPr>
          <p:cNvPr id="347" name="Google Shape;347;g3ecdd0eb50c_0_255"/>
          <p:cNvSpPr txBox="1"/>
          <p:nvPr/>
        </p:nvSpPr>
        <p:spPr>
          <a:xfrm>
            <a:off x="571500" y="1567265"/>
            <a:ext cx="16193700" cy="985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6400">
                <a:solidFill>
                  <a:srgbClr val="1E293B"/>
                </a:solidFill>
                <a:latin typeface="Public Sans"/>
                <a:ea typeface="Public Sans"/>
                <a:cs typeface="Public Sans"/>
                <a:sym typeface="Public Sans"/>
              </a:rPr>
              <a:t>Challenge: </a:t>
            </a:r>
            <a:r>
              <a:rPr b="1" lang="en-US" sz="6400">
                <a:solidFill>
                  <a:srgbClr val="FA632A"/>
                </a:solidFill>
                <a:latin typeface="Public Sans"/>
                <a:ea typeface="Public Sans"/>
                <a:cs typeface="Public Sans"/>
                <a:sym typeface="Public Sans"/>
              </a:rPr>
              <a:t>Identification Classification</a:t>
            </a:r>
            <a:endParaRPr b="1" sz="6400">
              <a:solidFill>
                <a:srgbClr val="1E293B"/>
              </a:solidFill>
              <a:latin typeface="Public Sans"/>
              <a:ea typeface="Public Sans"/>
              <a:cs typeface="Public Sans"/>
              <a:sym typeface="Public Sans"/>
            </a:endParaRPr>
          </a:p>
        </p:txBody>
      </p:sp>
      <p:grpSp>
        <p:nvGrpSpPr>
          <p:cNvPr id="348" name="Google Shape;348;g3ecdd0eb50c_0_255"/>
          <p:cNvGrpSpPr/>
          <p:nvPr/>
        </p:nvGrpSpPr>
        <p:grpSpPr>
          <a:xfrm>
            <a:off x="5612425" y="3309690"/>
            <a:ext cx="8382000" cy="4953000"/>
            <a:chOff x="4953000" y="2857500"/>
            <a:chExt cx="8382000" cy="4953000"/>
          </a:xfrm>
        </p:grpSpPr>
        <p:grpSp>
          <p:nvGrpSpPr>
            <p:cNvPr id="349" name="Google Shape;349;g3ecdd0eb50c_0_255"/>
            <p:cNvGrpSpPr/>
            <p:nvPr/>
          </p:nvGrpSpPr>
          <p:grpSpPr>
            <a:xfrm>
              <a:off x="4953000" y="2857500"/>
              <a:ext cx="4000500" cy="2286000"/>
              <a:chOff x="4953000" y="2857500"/>
              <a:chExt cx="4000500" cy="2286000"/>
            </a:xfrm>
          </p:grpSpPr>
          <p:sp>
            <p:nvSpPr>
              <p:cNvPr id="350" name="Google Shape;350;g3ecdd0eb50c_0_255"/>
              <p:cNvSpPr/>
              <p:nvPr/>
            </p:nvSpPr>
            <p:spPr>
              <a:xfrm>
                <a:off x="4953000" y="2857500"/>
                <a:ext cx="4000500" cy="2286000"/>
              </a:xfrm>
              <a:prstGeom prst="roundRect">
                <a:avLst>
                  <a:gd fmla="val 8333"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g3ecdd0eb50c_0_255"/>
              <p:cNvSpPr/>
              <p:nvPr/>
            </p:nvSpPr>
            <p:spPr>
              <a:xfrm>
                <a:off x="4953000" y="2857500"/>
                <a:ext cx="4000500" cy="954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52" name="Google Shape;352;g3ecdd0eb50c_0_255"/>
              <p:cNvPicPr preferRelativeResize="0"/>
              <p:nvPr/>
            </p:nvPicPr>
            <p:blipFill rotWithShape="1">
              <a:blip r:embed="rId4">
                <a:alphaModFix/>
              </a:blip>
              <a:srcRect b="10000" l="0" r="0" t="10000"/>
              <a:stretch/>
            </p:blipFill>
            <p:spPr>
              <a:xfrm>
                <a:off x="5191125" y="3095625"/>
                <a:ext cx="666900" cy="533400"/>
              </a:xfrm>
              <a:prstGeom prst="rect">
                <a:avLst/>
              </a:prstGeom>
              <a:noFill/>
              <a:ln>
                <a:noFill/>
              </a:ln>
            </p:spPr>
          </p:pic>
          <p:sp>
            <p:nvSpPr>
              <p:cNvPr id="353" name="Google Shape;353;g3ecdd0eb50c_0_255"/>
              <p:cNvSpPr txBox="1"/>
              <p:nvPr/>
            </p:nvSpPr>
            <p:spPr>
              <a:xfrm>
                <a:off x="5953125" y="3095625"/>
                <a:ext cx="2762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293B"/>
                    </a:solidFill>
                    <a:latin typeface="Public Sans"/>
                    <a:ea typeface="Public Sans"/>
                    <a:cs typeface="Public Sans"/>
                    <a:sym typeface="Public Sans"/>
                  </a:rPr>
                  <a:t>Hyperscale</a:t>
                </a:r>
                <a:endParaRPr b="1" sz="2400">
                  <a:solidFill>
                    <a:srgbClr val="1E293B"/>
                  </a:solidFill>
                  <a:latin typeface="Public Sans"/>
                  <a:ea typeface="Public Sans"/>
                  <a:cs typeface="Public Sans"/>
                  <a:sym typeface="Public Sans"/>
                </a:endParaRPr>
              </a:p>
            </p:txBody>
          </p:sp>
          <p:sp>
            <p:nvSpPr>
              <p:cNvPr id="354" name="Google Shape;354;g3ecdd0eb50c_0_255"/>
              <p:cNvSpPr txBox="1"/>
              <p:nvPr/>
            </p:nvSpPr>
            <p:spPr>
              <a:xfrm>
                <a:off x="5191125" y="3810000"/>
                <a:ext cx="35244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US" sz="1600">
                    <a:solidFill>
                      <a:srgbClr val="64748B"/>
                    </a:solidFill>
                    <a:latin typeface="Public Sans"/>
                    <a:ea typeface="Public Sans"/>
                    <a:cs typeface="Public Sans"/>
                    <a:sym typeface="Public Sans"/>
                  </a:rPr>
                  <a:t>Assign card here...</a:t>
                </a:r>
                <a:endParaRPr b="0" i="1" sz="1600">
                  <a:solidFill>
                    <a:srgbClr val="64748B"/>
                  </a:solidFill>
                  <a:latin typeface="Public Sans"/>
                  <a:ea typeface="Public Sans"/>
                  <a:cs typeface="Public Sans"/>
                  <a:sym typeface="Public Sans"/>
                </a:endParaRPr>
              </a:p>
            </p:txBody>
          </p:sp>
        </p:grpSp>
        <p:grpSp>
          <p:nvGrpSpPr>
            <p:cNvPr id="355" name="Google Shape;355;g3ecdd0eb50c_0_255"/>
            <p:cNvGrpSpPr/>
            <p:nvPr/>
          </p:nvGrpSpPr>
          <p:grpSpPr>
            <a:xfrm>
              <a:off x="9334500" y="2857500"/>
              <a:ext cx="4000500" cy="2286000"/>
              <a:chOff x="9334500" y="2857500"/>
              <a:chExt cx="4000500" cy="2286000"/>
            </a:xfrm>
          </p:grpSpPr>
          <p:sp>
            <p:nvSpPr>
              <p:cNvPr id="356" name="Google Shape;356;g3ecdd0eb50c_0_255"/>
              <p:cNvSpPr/>
              <p:nvPr/>
            </p:nvSpPr>
            <p:spPr>
              <a:xfrm>
                <a:off x="9334500" y="2857500"/>
                <a:ext cx="4000500" cy="2286000"/>
              </a:xfrm>
              <a:prstGeom prst="roundRect">
                <a:avLst>
                  <a:gd fmla="val 8333"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g3ecdd0eb50c_0_255"/>
              <p:cNvSpPr/>
              <p:nvPr/>
            </p:nvSpPr>
            <p:spPr>
              <a:xfrm>
                <a:off x="9334500" y="2857500"/>
                <a:ext cx="4000500" cy="954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58" name="Google Shape;358;g3ecdd0eb50c_0_255"/>
              <p:cNvPicPr preferRelativeResize="0"/>
              <p:nvPr/>
            </p:nvPicPr>
            <p:blipFill rotWithShape="1">
              <a:blip r:embed="rId5">
                <a:alphaModFix/>
              </a:blip>
              <a:srcRect b="10000" l="0" r="0" t="10000"/>
              <a:stretch/>
            </p:blipFill>
            <p:spPr>
              <a:xfrm>
                <a:off x="9572625" y="3095625"/>
                <a:ext cx="666900" cy="533400"/>
              </a:xfrm>
              <a:prstGeom prst="rect">
                <a:avLst/>
              </a:prstGeom>
              <a:noFill/>
              <a:ln>
                <a:noFill/>
              </a:ln>
            </p:spPr>
          </p:pic>
          <p:sp>
            <p:nvSpPr>
              <p:cNvPr id="359" name="Google Shape;359;g3ecdd0eb50c_0_255"/>
              <p:cNvSpPr txBox="1"/>
              <p:nvPr/>
            </p:nvSpPr>
            <p:spPr>
              <a:xfrm>
                <a:off x="10334625" y="3095625"/>
                <a:ext cx="2762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293B"/>
                    </a:solidFill>
                    <a:latin typeface="Public Sans"/>
                    <a:ea typeface="Public Sans"/>
                    <a:cs typeface="Public Sans"/>
                    <a:sym typeface="Public Sans"/>
                  </a:rPr>
                  <a:t>Colocation</a:t>
                </a:r>
                <a:endParaRPr b="1" sz="2400">
                  <a:solidFill>
                    <a:srgbClr val="1E293B"/>
                  </a:solidFill>
                  <a:latin typeface="Public Sans"/>
                  <a:ea typeface="Public Sans"/>
                  <a:cs typeface="Public Sans"/>
                  <a:sym typeface="Public Sans"/>
                </a:endParaRPr>
              </a:p>
            </p:txBody>
          </p:sp>
          <p:sp>
            <p:nvSpPr>
              <p:cNvPr id="360" name="Google Shape;360;g3ecdd0eb50c_0_255"/>
              <p:cNvSpPr txBox="1"/>
              <p:nvPr/>
            </p:nvSpPr>
            <p:spPr>
              <a:xfrm>
                <a:off x="9572625" y="3810000"/>
                <a:ext cx="35244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US" sz="1600">
                    <a:solidFill>
                      <a:srgbClr val="64748B"/>
                    </a:solidFill>
                    <a:latin typeface="Public Sans"/>
                    <a:ea typeface="Public Sans"/>
                    <a:cs typeface="Public Sans"/>
                    <a:sym typeface="Public Sans"/>
                  </a:rPr>
                  <a:t>Assign card here...</a:t>
                </a:r>
                <a:endParaRPr b="0" i="1" sz="1600">
                  <a:solidFill>
                    <a:srgbClr val="64748B"/>
                  </a:solidFill>
                  <a:latin typeface="Public Sans"/>
                  <a:ea typeface="Public Sans"/>
                  <a:cs typeface="Public Sans"/>
                  <a:sym typeface="Public Sans"/>
                </a:endParaRPr>
              </a:p>
            </p:txBody>
          </p:sp>
        </p:grpSp>
        <p:grpSp>
          <p:nvGrpSpPr>
            <p:cNvPr id="361" name="Google Shape;361;g3ecdd0eb50c_0_255"/>
            <p:cNvGrpSpPr/>
            <p:nvPr/>
          </p:nvGrpSpPr>
          <p:grpSpPr>
            <a:xfrm>
              <a:off x="4953000" y="5524500"/>
              <a:ext cx="4000500" cy="2286000"/>
              <a:chOff x="4953000" y="5524500"/>
              <a:chExt cx="4000500" cy="2286000"/>
            </a:xfrm>
          </p:grpSpPr>
          <p:sp>
            <p:nvSpPr>
              <p:cNvPr id="362" name="Google Shape;362;g3ecdd0eb50c_0_255"/>
              <p:cNvSpPr/>
              <p:nvPr/>
            </p:nvSpPr>
            <p:spPr>
              <a:xfrm>
                <a:off x="4953000" y="5524500"/>
                <a:ext cx="4000500" cy="2286000"/>
              </a:xfrm>
              <a:prstGeom prst="roundRect">
                <a:avLst>
                  <a:gd fmla="val 8333"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g3ecdd0eb50c_0_255"/>
              <p:cNvSpPr/>
              <p:nvPr/>
            </p:nvSpPr>
            <p:spPr>
              <a:xfrm>
                <a:off x="4953000" y="5524500"/>
                <a:ext cx="4000500" cy="954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64" name="Google Shape;364;g3ecdd0eb50c_0_255"/>
              <p:cNvPicPr preferRelativeResize="0"/>
              <p:nvPr/>
            </p:nvPicPr>
            <p:blipFill rotWithShape="1">
              <a:blip r:embed="rId6">
                <a:alphaModFix/>
              </a:blip>
              <a:srcRect b="10000" l="0" r="0" t="10000"/>
              <a:stretch/>
            </p:blipFill>
            <p:spPr>
              <a:xfrm>
                <a:off x="5191125" y="5762625"/>
                <a:ext cx="666900" cy="533400"/>
              </a:xfrm>
              <a:prstGeom prst="rect">
                <a:avLst/>
              </a:prstGeom>
              <a:noFill/>
              <a:ln>
                <a:noFill/>
              </a:ln>
            </p:spPr>
          </p:pic>
          <p:sp>
            <p:nvSpPr>
              <p:cNvPr id="365" name="Google Shape;365;g3ecdd0eb50c_0_255"/>
              <p:cNvSpPr txBox="1"/>
              <p:nvPr/>
            </p:nvSpPr>
            <p:spPr>
              <a:xfrm>
                <a:off x="5953125" y="5762625"/>
                <a:ext cx="2762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293B"/>
                    </a:solidFill>
                    <a:latin typeface="Public Sans"/>
                    <a:ea typeface="Public Sans"/>
                    <a:cs typeface="Public Sans"/>
                    <a:sym typeface="Public Sans"/>
                  </a:rPr>
                  <a:t>Enterprise</a:t>
                </a:r>
                <a:endParaRPr b="1" sz="2400">
                  <a:solidFill>
                    <a:srgbClr val="1E293B"/>
                  </a:solidFill>
                  <a:latin typeface="Public Sans"/>
                  <a:ea typeface="Public Sans"/>
                  <a:cs typeface="Public Sans"/>
                  <a:sym typeface="Public Sans"/>
                </a:endParaRPr>
              </a:p>
            </p:txBody>
          </p:sp>
          <p:sp>
            <p:nvSpPr>
              <p:cNvPr id="366" name="Google Shape;366;g3ecdd0eb50c_0_255"/>
              <p:cNvSpPr txBox="1"/>
              <p:nvPr/>
            </p:nvSpPr>
            <p:spPr>
              <a:xfrm>
                <a:off x="5191125" y="6477000"/>
                <a:ext cx="35244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US" sz="1600">
                    <a:solidFill>
                      <a:srgbClr val="64748B"/>
                    </a:solidFill>
                    <a:latin typeface="Public Sans"/>
                    <a:ea typeface="Public Sans"/>
                    <a:cs typeface="Public Sans"/>
                    <a:sym typeface="Public Sans"/>
                  </a:rPr>
                  <a:t>Assign card here...</a:t>
                </a:r>
                <a:endParaRPr b="0" i="1" sz="1600">
                  <a:solidFill>
                    <a:srgbClr val="64748B"/>
                  </a:solidFill>
                  <a:latin typeface="Public Sans"/>
                  <a:ea typeface="Public Sans"/>
                  <a:cs typeface="Public Sans"/>
                  <a:sym typeface="Public Sans"/>
                </a:endParaRPr>
              </a:p>
            </p:txBody>
          </p:sp>
        </p:grpSp>
        <p:grpSp>
          <p:nvGrpSpPr>
            <p:cNvPr id="367" name="Google Shape;367;g3ecdd0eb50c_0_255"/>
            <p:cNvGrpSpPr/>
            <p:nvPr/>
          </p:nvGrpSpPr>
          <p:grpSpPr>
            <a:xfrm>
              <a:off x="9334500" y="5524500"/>
              <a:ext cx="4000500" cy="2286000"/>
              <a:chOff x="9334500" y="5524500"/>
              <a:chExt cx="4000500" cy="2286000"/>
            </a:xfrm>
          </p:grpSpPr>
          <p:sp>
            <p:nvSpPr>
              <p:cNvPr id="368" name="Google Shape;368;g3ecdd0eb50c_0_255"/>
              <p:cNvSpPr/>
              <p:nvPr/>
            </p:nvSpPr>
            <p:spPr>
              <a:xfrm>
                <a:off x="9334500" y="5524500"/>
                <a:ext cx="4000500" cy="2286000"/>
              </a:xfrm>
              <a:prstGeom prst="roundRect">
                <a:avLst>
                  <a:gd fmla="val 8333"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g3ecdd0eb50c_0_255"/>
              <p:cNvSpPr/>
              <p:nvPr/>
            </p:nvSpPr>
            <p:spPr>
              <a:xfrm>
                <a:off x="9334500" y="5524500"/>
                <a:ext cx="4000500" cy="954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70" name="Google Shape;370;g3ecdd0eb50c_0_255"/>
              <p:cNvPicPr preferRelativeResize="0"/>
              <p:nvPr/>
            </p:nvPicPr>
            <p:blipFill rotWithShape="1">
              <a:blip r:embed="rId7">
                <a:alphaModFix/>
              </a:blip>
              <a:srcRect b="10000" l="0" r="0" t="10000"/>
              <a:stretch/>
            </p:blipFill>
            <p:spPr>
              <a:xfrm>
                <a:off x="9572625" y="5762625"/>
                <a:ext cx="666900" cy="533400"/>
              </a:xfrm>
              <a:prstGeom prst="rect">
                <a:avLst/>
              </a:prstGeom>
              <a:noFill/>
              <a:ln>
                <a:noFill/>
              </a:ln>
            </p:spPr>
          </p:pic>
          <p:sp>
            <p:nvSpPr>
              <p:cNvPr id="371" name="Google Shape;371;g3ecdd0eb50c_0_255"/>
              <p:cNvSpPr txBox="1"/>
              <p:nvPr/>
            </p:nvSpPr>
            <p:spPr>
              <a:xfrm>
                <a:off x="10334625" y="5762625"/>
                <a:ext cx="2762400" cy="533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293B"/>
                    </a:solidFill>
                    <a:latin typeface="Public Sans"/>
                    <a:ea typeface="Public Sans"/>
                    <a:cs typeface="Public Sans"/>
                    <a:sym typeface="Public Sans"/>
                  </a:rPr>
                  <a:t>Edge</a:t>
                </a:r>
                <a:endParaRPr b="1" sz="2400">
                  <a:solidFill>
                    <a:srgbClr val="1E293B"/>
                  </a:solidFill>
                  <a:latin typeface="Public Sans"/>
                  <a:ea typeface="Public Sans"/>
                  <a:cs typeface="Public Sans"/>
                  <a:sym typeface="Public Sans"/>
                </a:endParaRPr>
              </a:p>
            </p:txBody>
          </p:sp>
          <p:sp>
            <p:nvSpPr>
              <p:cNvPr id="372" name="Google Shape;372;g3ecdd0eb50c_0_255"/>
              <p:cNvSpPr txBox="1"/>
              <p:nvPr/>
            </p:nvSpPr>
            <p:spPr>
              <a:xfrm>
                <a:off x="9572625" y="6477000"/>
                <a:ext cx="35244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1" lang="en-US" sz="1600">
                    <a:solidFill>
                      <a:srgbClr val="64748B"/>
                    </a:solidFill>
                    <a:latin typeface="Public Sans"/>
                    <a:ea typeface="Public Sans"/>
                    <a:cs typeface="Public Sans"/>
                    <a:sym typeface="Public Sans"/>
                  </a:rPr>
                  <a:t>Assign card here...</a:t>
                </a:r>
                <a:endParaRPr b="0" i="1" sz="1600">
                  <a:solidFill>
                    <a:srgbClr val="64748B"/>
                  </a:solidFill>
                  <a:latin typeface="Public Sans"/>
                  <a:ea typeface="Public Sans"/>
                  <a:cs typeface="Public Sans"/>
                  <a:sym typeface="Public Sans"/>
                </a:endParaRPr>
              </a:p>
            </p:txBody>
          </p:sp>
        </p:grpSp>
      </p:grpSp>
      <p:grpSp>
        <p:nvGrpSpPr>
          <p:cNvPr id="373" name="Google Shape;373;g3ecdd0eb50c_0_255"/>
          <p:cNvGrpSpPr/>
          <p:nvPr/>
        </p:nvGrpSpPr>
        <p:grpSpPr>
          <a:xfrm>
            <a:off x="571500" y="3269392"/>
            <a:ext cx="3810000" cy="5143500"/>
            <a:chOff x="571500" y="2857500"/>
            <a:chExt cx="3810000" cy="5143500"/>
          </a:xfrm>
        </p:grpSpPr>
        <p:sp>
          <p:nvSpPr>
            <p:cNvPr id="374" name="Google Shape;374;g3ecdd0eb50c_0_255"/>
            <p:cNvSpPr/>
            <p:nvPr/>
          </p:nvSpPr>
          <p:spPr>
            <a:xfrm>
              <a:off x="571500" y="2857500"/>
              <a:ext cx="3810000" cy="5143500"/>
            </a:xfrm>
            <a:prstGeom prst="roundRect">
              <a:avLst>
                <a:gd fmla="val 5000"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g3ecdd0eb50c_0_255"/>
            <p:cNvSpPr txBox="1"/>
            <p:nvPr/>
          </p:nvSpPr>
          <p:spPr>
            <a:xfrm>
              <a:off x="762000" y="3048000"/>
              <a:ext cx="3429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64748B"/>
                  </a:solidFill>
                  <a:latin typeface="Public Sans ExtraBold"/>
                  <a:ea typeface="Public Sans ExtraBold"/>
                  <a:cs typeface="Public Sans ExtraBold"/>
                  <a:sym typeface="Public Sans ExtraBold"/>
                </a:rPr>
                <a:t>SOURCE CARD DECK</a:t>
              </a:r>
              <a:endParaRPr b="0" sz="1400">
                <a:solidFill>
                  <a:srgbClr val="64748B"/>
                </a:solidFill>
                <a:latin typeface="Public Sans ExtraBold"/>
                <a:ea typeface="Public Sans ExtraBold"/>
                <a:cs typeface="Public Sans ExtraBold"/>
                <a:sym typeface="Public Sans ExtraBold"/>
              </a:endParaRPr>
            </a:p>
          </p:txBody>
        </p:sp>
      </p:grpSp>
      <p:sp>
        <p:nvSpPr>
          <p:cNvPr id="376" name="Google Shape;376;g3ecdd0eb50c_0_255"/>
          <p:cNvSpPr/>
          <p:nvPr/>
        </p:nvSpPr>
        <p:spPr>
          <a:xfrm>
            <a:off x="762000" y="3936142"/>
            <a:ext cx="3429000" cy="762000"/>
          </a:xfrm>
          <a:prstGeom prst="roundRect">
            <a:avLst>
              <a:gd fmla="val 15000" name="adj"/>
            </a:avLst>
          </a:prstGeom>
          <a:solidFill>
            <a:srgbClr val="FA632A"/>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1800">
                <a:solidFill>
                  <a:srgbClr val="FFFFFF"/>
                </a:solidFill>
                <a:latin typeface="Public Sans"/>
                <a:ea typeface="Public Sans"/>
                <a:cs typeface="Public Sans"/>
                <a:sym typeface="Public Sans"/>
              </a:rPr>
              <a:t>AWS/Google Campuses</a:t>
            </a:r>
            <a:endParaRPr b="1" sz="1800">
              <a:solidFill>
                <a:srgbClr val="FFFFFF"/>
              </a:solidFill>
              <a:latin typeface="Public Sans"/>
              <a:ea typeface="Public Sans"/>
              <a:cs typeface="Public Sans"/>
              <a:sym typeface="Public Sans"/>
            </a:endParaRPr>
          </a:p>
        </p:txBody>
      </p:sp>
      <p:sp>
        <p:nvSpPr>
          <p:cNvPr id="377" name="Google Shape;377;g3ecdd0eb50c_0_255"/>
          <p:cNvSpPr/>
          <p:nvPr/>
        </p:nvSpPr>
        <p:spPr>
          <a:xfrm>
            <a:off x="762000" y="4888642"/>
            <a:ext cx="3429000" cy="762000"/>
          </a:xfrm>
          <a:prstGeom prst="roundRect">
            <a:avLst>
              <a:gd fmla="val 15000" name="adj"/>
            </a:avLst>
          </a:prstGeom>
          <a:solidFill>
            <a:srgbClr val="FA632A"/>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1800">
                <a:solidFill>
                  <a:srgbClr val="FFFFFF"/>
                </a:solidFill>
                <a:latin typeface="Public Sans"/>
                <a:ea typeface="Public Sans"/>
                <a:cs typeface="Public Sans"/>
                <a:sym typeface="Public Sans"/>
              </a:rPr>
              <a:t>Rented space &amp; Cooling</a:t>
            </a:r>
            <a:endParaRPr b="1" sz="1800">
              <a:solidFill>
                <a:srgbClr val="FFFFFF"/>
              </a:solidFill>
              <a:latin typeface="Public Sans"/>
              <a:ea typeface="Public Sans"/>
              <a:cs typeface="Public Sans"/>
              <a:sym typeface="Public Sans"/>
            </a:endParaRPr>
          </a:p>
        </p:txBody>
      </p:sp>
      <p:sp>
        <p:nvSpPr>
          <p:cNvPr id="378" name="Google Shape;378;g3ecdd0eb50c_0_255"/>
          <p:cNvSpPr/>
          <p:nvPr/>
        </p:nvSpPr>
        <p:spPr>
          <a:xfrm>
            <a:off x="762000" y="5841142"/>
            <a:ext cx="3429000" cy="762000"/>
          </a:xfrm>
          <a:prstGeom prst="roundRect">
            <a:avLst>
              <a:gd fmla="val 15000" name="adj"/>
            </a:avLst>
          </a:prstGeom>
          <a:solidFill>
            <a:srgbClr val="FA632A"/>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1800">
                <a:solidFill>
                  <a:srgbClr val="FFFFFF"/>
                </a:solidFill>
                <a:latin typeface="Public Sans"/>
                <a:ea typeface="Public Sans"/>
                <a:cs typeface="Public Sans"/>
                <a:sym typeface="Public Sans"/>
              </a:rPr>
              <a:t>Bank Mainframe Facilities</a:t>
            </a:r>
            <a:endParaRPr b="1" sz="1800">
              <a:solidFill>
                <a:srgbClr val="FFFFFF"/>
              </a:solidFill>
              <a:latin typeface="Public Sans"/>
              <a:ea typeface="Public Sans"/>
              <a:cs typeface="Public Sans"/>
              <a:sym typeface="Public Sans"/>
            </a:endParaRPr>
          </a:p>
        </p:txBody>
      </p:sp>
      <p:sp>
        <p:nvSpPr>
          <p:cNvPr id="379" name="Google Shape;379;g3ecdd0eb50c_0_255"/>
          <p:cNvSpPr/>
          <p:nvPr/>
        </p:nvSpPr>
        <p:spPr>
          <a:xfrm>
            <a:off x="762000" y="6793642"/>
            <a:ext cx="3429000" cy="762000"/>
          </a:xfrm>
          <a:prstGeom prst="roundRect">
            <a:avLst>
              <a:gd fmla="val 15000" name="adj"/>
            </a:avLst>
          </a:prstGeom>
          <a:solidFill>
            <a:srgbClr val="FA632A"/>
          </a:solidFill>
          <a:ln>
            <a:noFill/>
          </a:ln>
        </p:spPr>
        <p:txBody>
          <a:bodyPr anchorCtr="0" anchor="ctr" bIns="0" lIns="95250" spcFirstLastPara="1" rIns="0" wrap="square" tIns="0">
            <a:noAutofit/>
          </a:bodyPr>
          <a:lstStyle/>
          <a:p>
            <a:pPr indent="0" lvl="0" marL="0" rtl="0" algn="l">
              <a:spcBef>
                <a:spcPts val="0"/>
              </a:spcBef>
              <a:spcAft>
                <a:spcPts val="0"/>
              </a:spcAft>
              <a:buNone/>
            </a:pPr>
            <a:r>
              <a:rPr b="1" lang="en-US" sz="1800">
                <a:solidFill>
                  <a:srgbClr val="FFFFFF"/>
                </a:solidFill>
                <a:latin typeface="Public Sans"/>
                <a:ea typeface="Public Sans"/>
                <a:cs typeface="Public Sans"/>
                <a:sym typeface="Public Sans"/>
              </a:rPr>
              <a:t>IOT Edge Micro-nodes</a:t>
            </a:r>
            <a:endParaRPr b="1" sz="1800">
              <a:solidFill>
                <a:srgbClr val="FFFFFF"/>
              </a:solidFill>
              <a:latin typeface="Public Sans"/>
              <a:ea typeface="Public Sans"/>
              <a:cs typeface="Public Sans"/>
              <a:sym typeface="Public Sans"/>
            </a:endParaRPr>
          </a:p>
        </p:txBody>
      </p:sp>
      <p:sp>
        <p:nvSpPr>
          <p:cNvPr id="380" name="Google Shape;380;g3ecdd0eb50c_0_255"/>
          <p:cNvSpPr txBox="1"/>
          <p:nvPr/>
        </p:nvSpPr>
        <p:spPr>
          <a:xfrm>
            <a:off x="0" y="0"/>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2400">
              <a:solidFill>
                <a:schemeClr val="lt1"/>
              </a:solidFill>
              <a:latin typeface="Merriweather"/>
              <a:ea typeface="Merriweather"/>
              <a:cs typeface="Merriweather"/>
              <a:sym typeface="Merriweather"/>
            </a:endParaRPr>
          </a:p>
        </p:txBody>
      </p:sp>
      <p:grpSp>
        <p:nvGrpSpPr>
          <p:cNvPr id="381" name="Google Shape;381;g3ecdd0eb50c_0_255"/>
          <p:cNvGrpSpPr/>
          <p:nvPr/>
        </p:nvGrpSpPr>
        <p:grpSpPr>
          <a:xfrm>
            <a:off x="0" y="9144000"/>
            <a:ext cx="18288000" cy="1143000"/>
            <a:chOff x="0" y="9144000"/>
            <a:chExt cx="18288000" cy="1143000"/>
          </a:xfrm>
        </p:grpSpPr>
        <p:sp>
          <p:nvSpPr>
            <p:cNvPr id="382" name="Google Shape;382;g3ecdd0eb50c_0_255"/>
            <p:cNvSpPr/>
            <p:nvPr/>
          </p:nvSpPr>
          <p:spPr>
            <a:xfrm>
              <a:off x="0" y="9144000"/>
              <a:ext cx="18288000" cy="1143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g3ecdd0eb50c_0_255"/>
            <p:cNvSpPr/>
            <p:nvPr/>
          </p:nvSpPr>
          <p:spPr>
            <a:xfrm>
              <a:off x="0" y="9144000"/>
              <a:ext cx="1828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84" name="Google Shape;384;g3ecdd0eb50c_0_255"/>
            <p:cNvPicPr preferRelativeResize="0"/>
            <p:nvPr/>
          </p:nvPicPr>
          <p:blipFill rotWithShape="1">
            <a:blip r:embed="rId8">
              <a:alphaModFix/>
            </a:blip>
            <a:srcRect b="0" l="0" r="0" t="0"/>
            <a:stretch/>
          </p:blipFill>
          <p:spPr>
            <a:xfrm>
              <a:off x="571500" y="9525000"/>
              <a:ext cx="381000" cy="381000"/>
            </a:xfrm>
            <a:prstGeom prst="rect">
              <a:avLst/>
            </a:prstGeom>
            <a:noFill/>
            <a:ln>
              <a:noFill/>
            </a:ln>
          </p:spPr>
        </p:pic>
        <p:sp>
          <p:nvSpPr>
            <p:cNvPr id="385" name="Google Shape;385;g3ecdd0eb50c_0_255"/>
            <p:cNvSpPr txBox="1"/>
            <p:nvPr/>
          </p:nvSpPr>
          <p:spPr>
            <a:xfrm>
              <a:off x="1047750" y="9525000"/>
              <a:ext cx="7620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64748B"/>
                  </a:solidFill>
                  <a:latin typeface="Public Sans SemiBold"/>
                  <a:ea typeface="Public Sans SemiBold"/>
                  <a:cs typeface="Public Sans SemiBold"/>
                  <a:sym typeface="Public Sans SemiBold"/>
                </a:rPr>
                <a:t>Click a card, then click its matching classification bin.</a:t>
              </a:r>
              <a:endParaRPr b="0" sz="1400">
                <a:solidFill>
                  <a:srgbClr val="64748B"/>
                </a:solidFill>
                <a:latin typeface="Public Sans SemiBold"/>
                <a:ea typeface="Public Sans SemiBold"/>
                <a:cs typeface="Public Sans SemiBold"/>
                <a:sym typeface="Public Sans SemiBold"/>
              </a:endParaRPr>
            </a:p>
          </p:txBody>
        </p:sp>
      </p:grpSp>
      <p:sp>
        <p:nvSpPr>
          <p:cNvPr id="386" name="Google Shape;386;g3ecdd0eb50c_0_255"/>
          <p:cNvSpPr/>
          <p:nvPr/>
        </p:nvSpPr>
        <p:spPr>
          <a:xfrm>
            <a:off x="11715750" y="9382125"/>
            <a:ext cx="2381400" cy="666900"/>
          </a:xfrm>
          <a:prstGeom prst="roundRect">
            <a:avLst>
              <a:gd fmla="val 17142"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64748B"/>
                </a:solidFill>
                <a:latin typeface="Public Sans"/>
                <a:ea typeface="Public Sans"/>
                <a:cs typeface="Public Sans"/>
                <a:sym typeface="Public Sans"/>
              </a:rPr>
              <a:t>Reset Board</a:t>
            </a:r>
            <a:endParaRPr b="1" sz="1800">
              <a:solidFill>
                <a:srgbClr val="64748B"/>
              </a:solidFill>
              <a:latin typeface="Public Sans"/>
              <a:ea typeface="Public Sans"/>
              <a:cs typeface="Public Sans"/>
              <a:sym typeface="Public Sans"/>
            </a:endParaRPr>
          </a:p>
        </p:txBody>
      </p:sp>
      <p:sp>
        <p:nvSpPr>
          <p:cNvPr id="387" name="Google Shape;387;g3ecdd0eb50c_0_255"/>
          <p:cNvSpPr/>
          <p:nvPr/>
        </p:nvSpPr>
        <p:spPr>
          <a:xfrm>
            <a:off x="14287500" y="9382125"/>
            <a:ext cx="3048000" cy="666900"/>
          </a:xfrm>
          <a:prstGeom prst="roundRect">
            <a:avLst>
              <a:gd fmla="val 17142" name="adj"/>
            </a:avLst>
          </a:prstGeom>
          <a:solidFill>
            <a:srgbClr val="FA632A"/>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FFFFFF"/>
                </a:solidFill>
                <a:latin typeface="Public Sans"/>
                <a:ea typeface="Public Sans"/>
                <a:cs typeface="Public Sans"/>
                <a:sym typeface="Public Sans"/>
              </a:rPr>
              <a:t>Submit Classification</a:t>
            </a:r>
            <a:endParaRPr b="1" sz="1800">
              <a:solidFill>
                <a:srgbClr val="FFFFFF"/>
              </a:solidFill>
              <a:latin typeface="Public Sans"/>
              <a:ea typeface="Public Sans"/>
              <a:cs typeface="Public Sans"/>
              <a:sym typeface="Public Sans"/>
            </a:endParaRPr>
          </a:p>
        </p:txBody>
      </p:sp>
      <p:sp>
        <p:nvSpPr>
          <p:cNvPr id="388" name="Google Shape;388;g3ecdd0eb50c_0_255"/>
          <p:cNvSpPr/>
          <p:nvPr/>
        </p:nvSpPr>
        <p:spPr>
          <a:xfrm>
            <a:off x="-6980475" y="-704175"/>
            <a:ext cx="6796800" cy="1141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&amp; Layout Strategy</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Dynamic gamified interface mock-up with distinct droppable target zones. Icon Style: Simple drag handles and status check indicators. Infographic Type: Classification tracking board. Layout Structure: Interactive 4-category drop box array filling the lower two-thirds of the screen layout.</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Structure: A 4-box card grid container representing the bins, with an active matching item container highlighted by the #FF727A brand accent color.</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Strategic Rationale: This interactive design transforms raw classification facts into a hands-on parsing challenge, cementing definitions through active decision-making.</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Fully interactive drag-and-drop mechanism with a 'Submit' button and immediate dynamic feedback pop-ups.</a:t>
            </a:r>
            <a:endParaRPr sz="2800">
              <a:latin typeface="Calibri"/>
              <a:ea typeface="Calibri"/>
              <a:cs typeface="Calibri"/>
              <a:sym typeface="Calibri"/>
            </a:endParaRPr>
          </a:p>
        </p:txBody>
      </p:sp>
      <p:sp>
        <p:nvSpPr>
          <p:cNvPr id="389" name="Google Shape;389;g3ecdd0eb50c_0_255"/>
          <p:cNvSpPr txBox="1"/>
          <p:nvPr/>
        </p:nvSpPr>
        <p:spPr>
          <a:xfrm>
            <a:off x="17449800" y="9838592"/>
            <a:ext cx="8394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7</a:t>
            </a:r>
            <a:endParaRPr b="1" sz="2000">
              <a:solidFill>
                <a:srgbClr val="FA632A"/>
              </a:solidFill>
              <a:latin typeface="Public Sans"/>
              <a:ea typeface="Public Sans"/>
              <a:cs typeface="Public Sans"/>
              <a:sym typeface="Public Sans"/>
            </a:endParaRPr>
          </a:p>
        </p:txBody>
      </p:sp>
      <p:pic>
        <p:nvPicPr>
          <p:cNvPr id="390" name="Google Shape;390;g3ecdd0eb50c_0_255" title="genpact_Logo.png"/>
          <p:cNvPicPr preferRelativeResize="0"/>
          <p:nvPr/>
        </p:nvPicPr>
        <p:blipFill rotWithShape="1">
          <a:blip r:embed="rId9">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ecdd0eb50c_13_200"/>
          <p:cNvSpPr txBox="1"/>
          <p:nvPr/>
        </p:nvSpPr>
        <p:spPr>
          <a:xfrm>
            <a:off x="17449800" y="9391650"/>
            <a:ext cx="4782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000">
                <a:solidFill>
                  <a:srgbClr val="FA632A"/>
                </a:solidFill>
                <a:latin typeface="Public Sans"/>
                <a:ea typeface="Public Sans"/>
                <a:cs typeface="Public Sans"/>
                <a:sym typeface="Public Sans"/>
              </a:rPr>
              <a:t>8</a:t>
            </a:r>
            <a:endParaRPr/>
          </a:p>
        </p:txBody>
      </p:sp>
      <p:grpSp>
        <p:nvGrpSpPr>
          <p:cNvPr id="396" name="Google Shape;396;g3ecdd0eb50c_13_200"/>
          <p:cNvGrpSpPr/>
          <p:nvPr/>
        </p:nvGrpSpPr>
        <p:grpSpPr>
          <a:xfrm>
            <a:off x="574913" y="3228900"/>
            <a:ext cx="8001000" cy="5257800"/>
            <a:chOff x="571500" y="2762250"/>
            <a:chExt cx="8001000" cy="5257800"/>
          </a:xfrm>
        </p:grpSpPr>
        <p:sp>
          <p:nvSpPr>
            <p:cNvPr id="397" name="Google Shape;397;g3ecdd0eb50c_13_200"/>
            <p:cNvSpPr/>
            <p:nvPr/>
          </p:nvSpPr>
          <p:spPr>
            <a:xfrm>
              <a:off x="571500" y="2762250"/>
              <a:ext cx="8001000" cy="5257800"/>
            </a:xfrm>
            <a:prstGeom prst="roundRect">
              <a:avLst>
                <a:gd fmla="val 5882"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98" name="Google Shape;398;g3ecdd0eb50c_13_200"/>
            <p:cNvPicPr preferRelativeResize="0"/>
            <p:nvPr/>
          </p:nvPicPr>
          <p:blipFill rotWithShape="1">
            <a:blip r:embed="rId3">
              <a:alphaModFix/>
            </a:blip>
            <a:srcRect b="0" l="475" r="466" t="0"/>
            <a:stretch/>
          </p:blipFill>
          <p:spPr>
            <a:xfrm>
              <a:off x="952500" y="3238500"/>
              <a:ext cx="7239000" cy="4095900"/>
            </a:xfrm>
            <a:prstGeom prst="rect">
              <a:avLst/>
            </a:prstGeom>
            <a:noFill/>
            <a:ln>
              <a:noFill/>
            </a:ln>
          </p:spPr>
        </p:pic>
        <p:grpSp>
          <p:nvGrpSpPr>
            <p:cNvPr id="399" name="Google Shape;399;g3ecdd0eb50c_13_200"/>
            <p:cNvGrpSpPr/>
            <p:nvPr/>
          </p:nvGrpSpPr>
          <p:grpSpPr>
            <a:xfrm>
              <a:off x="1428750" y="3810000"/>
              <a:ext cx="6000750" cy="1657500"/>
              <a:chOff x="1428750" y="3810000"/>
              <a:chExt cx="6000750" cy="1657500"/>
            </a:xfrm>
          </p:grpSpPr>
          <p:pic>
            <p:nvPicPr>
              <p:cNvPr id="400" name="Google Shape;400;g3ecdd0eb50c_13_200"/>
              <p:cNvPicPr preferRelativeResize="0"/>
              <p:nvPr/>
            </p:nvPicPr>
            <p:blipFill rotWithShape="1">
              <a:blip r:embed="rId4">
                <a:alphaModFix/>
              </a:blip>
              <a:srcRect b="269" l="0" r="0" t="259"/>
              <a:stretch/>
            </p:blipFill>
            <p:spPr>
              <a:xfrm>
                <a:off x="7048500" y="4572000"/>
                <a:ext cx="381000" cy="514500"/>
              </a:xfrm>
              <a:prstGeom prst="rect">
                <a:avLst/>
              </a:prstGeom>
              <a:noFill/>
              <a:ln>
                <a:noFill/>
              </a:ln>
            </p:spPr>
          </p:pic>
          <p:pic>
            <p:nvPicPr>
              <p:cNvPr id="401" name="Google Shape;401;g3ecdd0eb50c_13_200"/>
              <p:cNvPicPr preferRelativeResize="0"/>
              <p:nvPr/>
            </p:nvPicPr>
            <p:blipFill rotWithShape="1">
              <a:blip r:embed="rId5">
                <a:alphaModFix/>
              </a:blip>
              <a:srcRect b="0" l="2588" r="2598" t="0"/>
              <a:stretch/>
            </p:blipFill>
            <p:spPr>
              <a:xfrm>
                <a:off x="1428750" y="4953000"/>
                <a:ext cx="381000" cy="514500"/>
              </a:xfrm>
              <a:prstGeom prst="rect">
                <a:avLst/>
              </a:prstGeom>
              <a:noFill/>
              <a:ln>
                <a:noFill/>
              </a:ln>
            </p:spPr>
          </p:pic>
          <p:pic>
            <p:nvPicPr>
              <p:cNvPr id="402" name="Google Shape;402;g3ecdd0eb50c_13_200"/>
              <p:cNvPicPr preferRelativeResize="0"/>
              <p:nvPr/>
            </p:nvPicPr>
            <p:blipFill rotWithShape="1">
              <a:blip r:embed="rId5">
                <a:alphaModFix/>
              </a:blip>
              <a:srcRect b="0" l="2588" r="2598" t="0"/>
              <a:stretch/>
            </p:blipFill>
            <p:spPr>
              <a:xfrm>
                <a:off x="6858000" y="3810000"/>
                <a:ext cx="381000" cy="514500"/>
              </a:xfrm>
              <a:prstGeom prst="rect">
                <a:avLst/>
              </a:prstGeom>
              <a:noFill/>
              <a:ln>
                <a:noFill/>
              </a:ln>
            </p:spPr>
          </p:pic>
        </p:grpSp>
      </p:grpSp>
      <p:sp>
        <p:nvSpPr>
          <p:cNvPr id="403" name="Google Shape;403;g3ecdd0eb50c_13_200"/>
          <p:cNvSpPr txBox="1"/>
          <p:nvPr/>
        </p:nvSpPr>
        <p:spPr>
          <a:xfrm>
            <a:off x="571500" y="1387355"/>
            <a:ext cx="10527600" cy="985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6400">
                <a:solidFill>
                  <a:srgbClr val="191919"/>
                </a:solidFill>
                <a:latin typeface="Public Sans"/>
                <a:ea typeface="Public Sans"/>
                <a:cs typeface="Public Sans"/>
                <a:sym typeface="Public Sans"/>
              </a:rPr>
              <a:t>Geographic </a:t>
            </a:r>
            <a:r>
              <a:rPr b="1" i="0" lang="en-US" sz="6400">
                <a:solidFill>
                  <a:srgbClr val="FA632A"/>
                </a:solidFill>
                <a:latin typeface="Public Sans"/>
                <a:ea typeface="Public Sans"/>
                <a:cs typeface="Public Sans"/>
                <a:sym typeface="Public Sans"/>
              </a:rPr>
              <a:t>Market Hubs</a:t>
            </a:r>
            <a:endParaRPr b="1" i="0" sz="6400">
              <a:solidFill>
                <a:srgbClr val="191919"/>
              </a:solidFill>
              <a:latin typeface="Public Sans"/>
              <a:ea typeface="Public Sans"/>
              <a:cs typeface="Public Sans"/>
              <a:sym typeface="Public Sans"/>
            </a:endParaRPr>
          </a:p>
        </p:txBody>
      </p:sp>
      <p:grpSp>
        <p:nvGrpSpPr>
          <p:cNvPr id="404" name="Google Shape;404;g3ecdd0eb50c_13_200"/>
          <p:cNvGrpSpPr/>
          <p:nvPr/>
        </p:nvGrpSpPr>
        <p:grpSpPr>
          <a:xfrm>
            <a:off x="9334500" y="2857500"/>
            <a:ext cx="8382000" cy="6000600"/>
            <a:chOff x="9334500" y="2857500"/>
            <a:chExt cx="8382000" cy="6000600"/>
          </a:xfrm>
        </p:grpSpPr>
        <p:grpSp>
          <p:nvGrpSpPr>
            <p:cNvPr id="405" name="Google Shape;405;g3ecdd0eb50c_13_200"/>
            <p:cNvGrpSpPr/>
            <p:nvPr/>
          </p:nvGrpSpPr>
          <p:grpSpPr>
            <a:xfrm>
              <a:off x="9334500" y="2857500"/>
              <a:ext cx="8382000" cy="1809600"/>
              <a:chOff x="9334500" y="2857500"/>
              <a:chExt cx="8382000" cy="1809600"/>
            </a:xfrm>
          </p:grpSpPr>
          <p:sp>
            <p:nvSpPr>
              <p:cNvPr id="406" name="Google Shape;406;g3ecdd0eb50c_13_200"/>
              <p:cNvSpPr/>
              <p:nvPr/>
            </p:nvSpPr>
            <p:spPr>
              <a:xfrm>
                <a:off x="9334500" y="2857500"/>
                <a:ext cx="8382000" cy="1809600"/>
              </a:xfrm>
              <a:prstGeom prst="roundRect">
                <a:avLst>
                  <a:gd fmla="val 10526"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g3ecdd0eb50c_13_200"/>
              <p:cNvSpPr/>
              <p:nvPr/>
            </p:nvSpPr>
            <p:spPr>
              <a:xfrm>
                <a:off x="9334500" y="2857500"/>
                <a:ext cx="114300" cy="1809600"/>
              </a:xfrm>
              <a:prstGeom prst="rect">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g3ecdd0eb50c_13_200"/>
              <p:cNvSpPr txBox="1"/>
              <p:nvPr/>
            </p:nvSpPr>
            <p:spPr>
              <a:xfrm>
                <a:off x="9715500" y="3048000"/>
                <a:ext cx="7810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FA632A"/>
                    </a:solidFill>
                    <a:latin typeface="Public Sans ExtraBold"/>
                    <a:ea typeface="Public Sans ExtraBold"/>
                    <a:cs typeface="Public Sans ExtraBold"/>
                    <a:sym typeface="Public Sans ExtraBold"/>
                  </a:rPr>
                  <a:t>GLOBAL EPICENTER</a:t>
                </a:r>
                <a:endParaRPr>
                  <a:solidFill>
                    <a:srgbClr val="FFFFFF"/>
                  </a:solidFill>
                  <a:latin typeface="Public Sans"/>
                  <a:ea typeface="Public Sans"/>
                  <a:cs typeface="Public Sans"/>
                  <a:sym typeface="Public Sans"/>
                </a:endParaRPr>
              </a:p>
              <a:p>
                <a:pPr indent="0" lvl="0" marL="0" rtl="0" algn="l">
                  <a:spcBef>
                    <a:spcPts val="600"/>
                  </a:spcBef>
                  <a:spcAft>
                    <a:spcPts val="0"/>
                  </a:spcAft>
                  <a:buNone/>
                </a:pPr>
                <a:r>
                  <a:rPr b="1" lang="en-US" sz="2200">
                    <a:solidFill>
                      <a:srgbClr val="FFFFFF"/>
                    </a:solidFill>
                    <a:latin typeface="Public Sans"/>
                    <a:ea typeface="Public Sans"/>
                    <a:cs typeface="Public Sans"/>
                    <a:sym typeface="Public Sans"/>
                  </a:rPr>
                  <a:t>Northern Virginia (Ashburn)</a:t>
                </a:r>
                <a:endParaRPr>
                  <a:solidFill>
                    <a:srgbClr val="FFFFFF"/>
                  </a:solidFill>
                  <a:latin typeface="Public Sans"/>
                  <a:ea typeface="Public Sans"/>
                  <a:cs typeface="Public Sans"/>
                  <a:sym typeface="Public Sans"/>
                </a:endParaRPr>
              </a:p>
              <a:p>
                <a:pPr indent="0" lvl="0" marL="0" rtl="0" algn="l">
                  <a:spcBef>
                    <a:spcPts val="900"/>
                  </a:spcBef>
                  <a:spcAft>
                    <a:spcPts val="0"/>
                  </a:spcAft>
                  <a:buNone/>
                </a:pPr>
                <a:r>
                  <a:rPr b="0" lang="en-US" sz="1500">
                    <a:solidFill>
                      <a:srgbClr val="CBD5E1"/>
                    </a:solidFill>
                    <a:latin typeface="Public Sans"/>
                    <a:ea typeface="Public Sans"/>
                    <a:cs typeface="Public Sans"/>
                    <a:sym typeface="Public Sans"/>
                  </a:rPr>
                  <a:t>The largest data center market in the world. Backed by extensive physical fiber paths and immediate proximity to critical internet exchange points.</a:t>
                </a:r>
                <a:endParaRPr b="0" sz="1500">
                  <a:solidFill>
                    <a:srgbClr val="CBD5E1"/>
                  </a:solidFill>
                  <a:latin typeface="Public Sans"/>
                  <a:ea typeface="Public Sans"/>
                  <a:cs typeface="Public Sans"/>
                  <a:sym typeface="Public Sans"/>
                </a:endParaRPr>
              </a:p>
            </p:txBody>
          </p:sp>
        </p:grpSp>
        <p:grpSp>
          <p:nvGrpSpPr>
            <p:cNvPr id="409" name="Google Shape;409;g3ecdd0eb50c_13_200"/>
            <p:cNvGrpSpPr/>
            <p:nvPr/>
          </p:nvGrpSpPr>
          <p:grpSpPr>
            <a:xfrm>
              <a:off x="9334500" y="4953000"/>
              <a:ext cx="8382000" cy="1809600"/>
              <a:chOff x="9334500" y="4953000"/>
              <a:chExt cx="8382000" cy="1809600"/>
            </a:xfrm>
          </p:grpSpPr>
          <p:sp>
            <p:nvSpPr>
              <p:cNvPr id="410" name="Google Shape;410;g3ecdd0eb50c_13_200"/>
              <p:cNvSpPr/>
              <p:nvPr/>
            </p:nvSpPr>
            <p:spPr>
              <a:xfrm>
                <a:off x="9334500" y="4953000"/>
                <a:ext cx="8382000" cy="1809600"/>
              </a:xfrm>
              <a:prstGeom prst="roundRect">
                <a:avLst>
                  <a:gd fmla="val 1052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g3ecdd0eb50c_13_200"/>
              <p:cNvSpPr/>
              <p:nvPr/>
            </p:nvSpPr>
            <p:spPr>
              <a:xfrm>
                <a:off x="9334500" y="4953000"/>
                <a:ext cx="114300" cy="1809600"/>
              </a:xfrm>
              <a:prstGeom prst="rect">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g3ecdd0eb50c_13_200"/>
              <p:cNvSpPr txBox="1"/>
              <p:nvPr/>
            </p:nvSpPr>
            <p:spPr>
              <a:xfrm>
                <a:off x="9715500" y="5143500"/>
                <a:ext cx="7810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64748B"/>
                    </a:solidFill>
                    <a:latin typeface="Public Sans ExtraBold"/>
                    <a:ea typeface="Public Sans ExtraBold"/>
                    <a:cs typeface="Public Sans ExtraBold"/>
                    <a:sym typeface="Public Sans ExtraBold"/>
                  </a:rPr>
                  <a:t>INNOVATION CORE</a:t>
                </a:r>
                <a:endParaRPr>
                  <a:solidFill>
                    <a:srgbClr val="1E293B"/>
                  </a:solidFill>
                  <a:latin typeface="Public Sans"/>
                  <a:ea typeface="Public Sans"/>
                  <a:cs typeface="Public Sans"/>
                  <a:sym typeface="Public Sans"/>
                </a:endParaRPr>
              </a:p>
              <a:p>
                <a:pPr indent="0" lvl="0" marL="0" rtl="0" algn="l">
                  <a:spcBef>
                    <a:spcPts val="600"/>
                  </a:spcBef>
                  <a:spcAft>
                    <a:spcPts val="0"/>
                  </a:spcAft>
                  <a:buNone/>
                </a:pPr>
                <a:r>
                  <a:rPr b="1" lang="en-US" sz="2200">
                    <a:solidFill>
                      <a:srgbClr val="1E293B"/>
                    </a:solidFill>
                    <a:latin typeface="Public Sans"/>
                    <a:ea typeface="Public Sans"/>
                    <a:cs typeface="Public Sans"/>
                    <a:sym typeface="Public Sans"/>
                  </a:rPr>
                  <a:t>Northern California (Silicon Valley)</a:t>
                </a:r>
                <a:endParaRPr>
                  <a:solidFill>
                    <a:srgbClr val="1E293B"/>
                  </a:solidFill>
                  <a:latin typeface="Public Sans"/>
                  <a:ea typeface="Public Sans"/>
                  <a:cs typeface="Public Sans"/>
                  <a:sym typeface="Public Sans"/>
                </a:endParaRPr>
              </a:p>
              <a:p>
                <a:pPr indent="0" lvl="0" marL="0" rtl="0" algn="l">
                  <a:spcBef>
                    <a:spcPts val="900"/>
                  </a:spcBef>
                  <a:spcAft>
                    <a:spcPts val="0"/>
                  </a:spcAft>
                  <a:buNone/>
                </a:pPr>
                <a:r>
                  <a:rPr b="0" lang="en-US" sz="1500">
                    <a:solidFill>
                      <a:srgbClr val="475569"/>
                    </a:solidFill>
                    <a:latin typeface="Public Sans"/>
                    <a:ea typeface="Public Sans"/>
                    <a:cs typeface="Public Sans"/>
                    <a:sym typeface="Public Sans"/>
                  </a:rPr>
                  <a:t>A prime location for global software ecosystems and AI training environments. Hosts a vast density of facilities tightly integrated into the VC hub.</a:t>
                </a:r>
                <a:endParaRPr b="0" sz="1500">
                  <a:solidFill>
                    <a:srgbClr val="475569"/>
                  </a:solidFill>
                  <a:latin typeface="Public Sans"/>
                  <a:ea typeface="Public Sans"/>
                  <a:cs typeface="Public Sans"/>
                  <a:sym typeface="Public Sans"/>
                </a:endParaRPr>
              </a:p>
            </p:txBody>
          </p:sp>
        </p:grpSp>
        <p:grpSp>
          <p:nvGrpSpPr>
            <p:cNvPr id="413" name="Google Shape;413;g3ecdd0eb50c_13_200"/>
            <p:cNvGrpSpPr/>
            <p:nvPr/>
          </p:nvGrpSpPr>
          <p:grpSpPr>
            <a:xfrm>
              <a:off x="9334500" y="7048500"/>
              <a:ext cx="8382000" cy="1809600"/>
              <a:chOff x="9334500" y="7048500"/>
              <a:chExt cx="8382000" cy="1809600"/>
            </a:xfrm>
          </p:grpSpPr>
          <p:sp>
            <p:nvSpPr>
              <p:cNvPr id="414" name="Google Shape;414;g3ecdd0eb50c_13_200"/>
              <p:cNvSpPr/>
              <p:nvPr/>
            </p:nvSpPr>
            <p:spPr>
              <a:xfrm>
                <a:off x="9334500" y="7048500"/>
                <a:ext cx="8382000" cy="1809600"/>
              </a:xfrm>
              <a:prstGeom prst="roundRect">
                <a:avLst>
                  <a:gd fmla="val 1052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g3ecdd0eb50c_13_200"/>
              <p:cNvSpPr/>
              <p:nvPr/>
            </p:nvSpPr>
            <p:spPr>
              <a:xfrm>
                <a:off x="9334500" y="7048500"/>
                <a:ext cx="114300" cy="1809600"/>
              </a:xfrm>
              <a:prstGeom prst="rect">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g3ecdd0eb50c_13_200"/>
              <p:cNvSpPr txBox="1"/>
              <p:nvPr/>
            </p:nvSpPr>
            <p:spPr>
              <a:xfrm>
                <a:off x="9715500" y="7239000"/>
                <a:ext cx="7810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64748B"/>
                    </a:solidFill>
                    <a:latin typeface="Public Sans ExtraBold"/>
                    <a:ea typeface="Public Sans ExtraBold"/>
                    <a:cs typeface="Public Sans ExtraBold"/>
                    <a:sym typeface="Public Sans ExtraBold"/>
                  </a:rPr>
                  <a:t>STRATEGIC ANCHORS</a:t>
                </a:r>
                <a:endParaRPr>
                  <a:solidFill>
                    <a:srgbClr val="1E293B"/>
                  </a:solidFill>
                  <a:latin typeface="Public Sans"/>
                  <a:ea typeface="Public Sans"/>
                  <a:cs typeface="Public Sans"/>
                  <a:sym typeface="Public Sans"/>
                </a:endParaRPr>
              </a:p>
              <a:p>
                <a:pPr indent="0" lvl="0" marL="0" rtl="0" algn="l">
                  <a:spcBef>
                    <a:spcPts val="600"/>
                  </a:spcBef>
                  <a:spcAft>
                    <a:spcPts val="0"/>
                  </a:spcAft>
                  <a:buNone/>
                </a:pPr>
                <a:r>
                  <a:rPr b="1" lang="en-US" sz="2200">
                    <a:solidFill>
                      <a:srgbClr val="1E293B"/>
                    </a:solidFill>
                    <a:latin typeface="Public Sans"/>
                    <a:ea typeface="Public Sans"/>
                    <a:cs typeface="Public Sans"/>
                    <a:sym typeface="Public Sans"/>
                  </a:rPr>
                  <a:t>Illinois &amp; New Jersey</a:t>
                </a:r>
                <a:endParaRPr>
                  <a:solidFill>
                    <a:srgbClr val="1E293B"/>
                  </a:solidFill>
                  <a:latin typeface="Public Sans"/>
                  <a:ea typeface="Public Sans"/>
                  <a:cs typeface="Public Sans"/>
                  <a:sym typeface="Public Sans"/>
                </a:endParaRPr>
              </a:p>
              <a:p>
                <a:pPr indent="0" lvl="0" marL="0" rtl="0" algn="l">
                  <a:spcBef>
                    <a:spcPts val="900"/>
                  </a:spcBef>
                  <a:spcAft>
                    <a:spcPts val="0"/>
                  </a:spcAft>
                  <a:buNone/>
                </a:pPr>
                <a:r>
                  <a:rPr b="0" lang="en-US" sz="1500">
                    <a:solidFill>
                      <a:srgbClr val="475569"/>
                    </a:solidFill>
                    <a:latin typeface="Public Sans"/>
                    <a:ea typeface="Public Sans"/>
                    <a:cs typeface="Public Sans"/>
                    <a:sym typeface="Public Sans"/>
                  </a:rPr>
                  <a:t>Vital secondary hubs supporting high-speed financial transaction switches in Chicago and security-focused disaster recovery sites across New Jersey.</a:t>
                </a:r>
                <a:endParaRPr b="0" sz="1500">
                  <a:solidFill>
                    <a:srgbClr val="475569"/>
                  </a:solidFill>
                  <a:latin typeface="Public Sans"/>
                  <a:ea typeface="Public Sans"/>
                  <a:cs typeface="Public Sans"/>
                  <a:sym typeface="Public Sans"/>
                </a:endParaRPr>
              </a:p>
            </p:txBody>
          </p:sp>
        </p:grpSp>
      </p:grpSp>
      <p:sp>
        <p:nvSpPr>
          <p:cNvPr id="417" name="Google Shape;417;g3ecdd0eb50c_13_200"/>
          <p:cNvSpPr/>
          <p:nvPr/>
        </p:nvSpPr>
        <p:spPr>
          <a:xfrm>
            <a:off x="-6980475" y="-704175"/>
            <a:ext cx="6796800" cy="1141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&amp; Layout Strategy</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Vector silhouette outline map of the United States pinpointing data center hubs. Icon Style: Geometric location marker pins highlighted in accent colors. Infographic Type: Highlighted regional regional map chart. Layout Structure: Asymmetrical layout with a dominant map visual on the left and descriptive region cards stacked on the right.</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Structure: Asymmetrical layout with a dominant map visual on the left, balanced by structured regional descriptor cards stacked vertically along the right-hand margin.</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Strategic Rationale: Linking Northern Virginia directly to fiber networks and Silicon Valley to tech innovation explains the strategic geographical concentration of the U.S. data center market.</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Click on geographical markers (Virginia, California, Illinois, New Jersey) to view regional hub details.</a:t>
            </a:r>
            <a:endParaRPr sz="2800">
              <a:latin typeface="Calibri"/>
              <a:ea typeface="Calibri"/>
              <a:cs typeface="Calibri"/>
              <a:sym typeface="Calibri"/>
            </a:endParaRPr>
          </a:p>
          <a:p>
            <a:pPr indent="0" lvl="0" marL="0" rtl="0" algn="l">
              <a:spcBef>
                <a:spcPts val="0"/>
              </a:spcBef>
              <a:spcAft>
                <a:spcPts val="0"/>
              </a:spcAft>
              <a:buNone/>
            </a:pPr>
            <a:r>
              <a:t/>
            </a:r>
            <a:endParaRPr sz="2800">
              <a:latin typeface="Calibri"/>
              <a:ea typeface="Calibri"/>
              <a:cs typeface="Calibri"/>
              <a:sym typeface="Calibri"/>
            </a:endParaRPr>
          </a:p>
        </p:txBody>
      </p:sp>
      <p:pic>
        <p:nvPicPr>
          <p:cNvPr descr="image.png" id="418" name="Google Shape;418;g3ecdd0eb50c_13_200"/>
          <p:cNvPicPr preferRelativeResize="0"/>
          <p:nvPr/>
        </p:nvPicPr>
        <p:blipFill rotWithShape="1">
          <a:blip r:embed="rId5">
            <a:alphaModFix/>
          </a:blip>
          <a:srcRect b="0" l="0" r="0" t="0"/>
          <a:stretch/>
        </p:blipFill>
        <p:spPr>
          <a:xfrm>
            <a:off x="5201750" y="4549914"/>
            <a:ext cx="478044" cy="637400"/>
          </a:xfrm>
          <a:prstGeom prst="rect">
            <a:avLst/>
          </a:prstGeom>
          <a:noFill/>
          <a:ln>
            <a:noFill/>
          </a:ln>
        </p:spPr>
      </p:pic>
      <p:pic>
        <p:nvPicPr>
          <p:cNvPr id="419" name="Google Shape;419;g3ecdd0eb50c_13_200" title="genpact_Logo.png"/>
          <p:cNvPicPr preferRelativeResize="0"/>
          <p:nvPr/>
        </p:nvPicPr>
        <p:blipFill rotWithShape="1">
          <a:blip r:embed="rId6">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ecdd0eb50c_13_327"/>
          <p:cNvSpPr txBox="1"/>
          <p:nvPr/>
        </p:nvSpPr>
        <p:spPr>
          <a:xfrm>
            <a:off x="17449800" y="9391650"/>
            <a:ext cx="4779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000">
                <a:solidFill>
                  <a:srgbClr val="FA632A"/>
                </a:solidFill>
                <a:latin typeface="Public Sans"/>
                <a:ea typeface="Public Sans"/>
                <a:cs typeface="Public Sans"/>
                <a:sym typeface="Public Sans"/>
              </a:rPr>
              <a:t>8</a:t>
            </a:r>
            <a:endParaRPr/>
          </a:p>
        </p:txBody>
      </p:sp>
      <p:sp>
        <p:nvSpPr>
          <p:cNvPr id="425" name="Google Shape;425;g3ecdd0eb50c_13_327"/>
          <p:cNvSpPr/>
          <p:nvPr/>
        </p:nvSpPr>
        <p:spPr>
          <a:xfrm>
            <a:off x="571500" y="3228900"/>
            <a:ext cx="8001000" cy="5257800"/>
          </a:xfrm>
          <a:prstGeom prst="roundRect">
            <a:avLst>
              <a:gd fmla="val 5882"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26" name="Google Shape;426;g3ecdd0eb50c_13_327" title="genpact_Logo.png"/>
          <p:cNvPicPr preferRelativeResize="0"/>
          <p:nvPr/>
        </p:nvPicPr>
        <p:blipFill rotWithShape="1">
          <a:blip r:embed="rId3">
            <a:alphaModFix/>
          </a:blip>
          <a:srcRect b="0" l="377" r="377" t="0"/>
          <a:stretch/>
        </p:blipFill>
        <p:spPr>
          <a:xfrm>
            <a:off x="258175" y="245275"/>
            <a:ext cx="2128500" cy="1128069"/>
          </a:xfrm>
          <a:prstGeom prst="rect">
            <a:avLst/>
          </a:prstGeom>
          <a:noFill/>
          <a:ln>
            <a:noFill/>
          </a:ln>
        </p:spPr>
      </p:pic>
      <p:grpSp>
        <p:nvGrpSpPr>
          <p:cNvPr id="427" name="Google Shape;427;g3ecdd0eb50c_13_327"/>
          <p:cNvGrpSpPr/>
          <p:nvPr/>
        </p:nvGrpSpPr>
        <p:grpSpPr>
          <a:xfrm>
            <a:off x="9334500" y="2857500"/>
            <a:ext cx="8382000" cy="6000600"/>
            <a:chOff x="9334500" y="2857500"/>
            <a:chExt cx="8382000" cy="6000600"/>
          </a:xfrm>
        </p:grpSpPr>
        <p:grpSp>
          <p:nvGrpSpPr>
            <p:cNvPr id="428" name="Google Shape;428;g3ecdd0eb50c_13_327"/>
            <p:cNvGrpSpPr/>
            <p:nvPr/>
          </p:nvGrpSpPr>
          <p:grpSpPr>
            <a:xfrm>
              <a:off x="9334500" y="2857500"/>
              <a:ext cx="8382000" cy="1809600"/>
              <a:chOff x="9334500" y="2857500"/>
              <a:chExt cx="8382000" cy="1809600"/>
            </a:xfrm>
          </p:grpSpPr>
          <p:sp>
            <p:nvSpPr>
              <p:cNvPr id="429" name="Google Shape;429;g3ecdd0eb50c_13_327"/>
              <p:cNvSpPr/>
              <p:nvPr/>
            </p:nvSpPr>
            <p:spPr>
              <a:xfrm>
                <a:off x="9334500" y="2857500"/>
                <a:ext cx="8382000" cy="1809600"/>
              </a:xfrm>
              <a:prstGeom prst="roundRect">
                <a:avLst>
                  <a:gd fmla="val 1052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g3ecdd0eb50c_13_327"/>
              <p:cNvSpPr/>
              <p:nvPr/>
            </p:nvSpPr>
            <p:spPr>
              <a:xfrm>
                <a:off x="9334500" y="2857500"/>
                <a:ext cx="114300" cy="180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g3ecdd0eb50c_13_327"/>
              <p:cNvSpPr txBox="1"/>
              <p:nvPr/>
            </p:nvSpPr>
            <p:spPr>
              <a:xfrm>
                <a:off x="9715500" y="3048000"/>
                <a:ext cx="7810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solidFill>
                      <a:srgbClr val="64748B"/>
                    </a:solidFill>
                    <a:latin typeface="Public Sans ExtraBold"/>
                    <a:ea typeface="Public Sans ExtraBold"/>
                    <a:cs typeface="Public Sans ExtraBold"/>
                    <a:sym typeface="Public Sans ExtraBold"/>
                  </a:rPr>
                  <a:t>GLOBAL EPICENTER</a:t>
                </a:r>
                <a:endParaRPr>
                  <a:solidFill>
                    <a:srgbClr val="64748B"/>
                  </a:solidFill>
                  <a:latin typeface="Public Sans ExtraBold"/>
                  <a:ea typeface="Public Sans ExtraBold"/>
                  <a:cs typeface="Public Sans ExtraBold"/>
                  <a:sym typeface="Public Sans ExtraBold"/>
                </a:endParaRPr>
              </a:p>
              <a:p>
                <a:pPr indent="0" lvl="0" marL="0" rtl="0" algn="l">
                  <a:spcBef>
                    <a:spcPts val="600"/>
                  </a:spcBef>
                  <a:spcAft>
                    <a:spcPts val="0"/>
                  </a:spcAft>
                  <a:buNone/>
                </a:pPr>
                <a:r>
                  <a:rPr b="1" lang="en-US" sz="2200">
                    <a:solidFill>
                      <a:srgbClr val="1E293B"/>
                    </a:solidFill>
                    <a:latin typeface="Public Sans"/>
                    <a:ea typeface="Public Sans"/>
                    <a:cs typeface="Public Sans"/>
                    <a:sym typeface="Public Sans"/>
                  </a:rPr>
                  <a:t>Northern Virginia (Ashburn)</a:t>
                </a:r>
                <a:endParaRPr>
                  <a:solidFill>
                    <a:srgbClr val="FFFFFF"/>
                  </a:solidFill>
                  <a:latin typeface="Public Sans"/>
                  <a:ea typeface="Public Sans"/>
                  <a:cs typeface="Public Sans"/>
                  <a:sym typeface="Public Sans"/>
                </a:endParaRPr>
              </a:p>
              <a:p>
                <a:pPr indent="0" lvl="0" marL="0" rtl="0" algn="l">
                  <a:spcBef>
                    <a:spcPts val="900"/>
                  </a:spcBef>
                  <a:spcAft>
                    <a:spcPts val="0"/>
                  </a:spcAft>
                  <a:buNone/>
                </a:pPr>
                <a:r>
                  <a:rPr lang="en-US" sz="1500">
                    <a:solidFill>
                      <a:srgbClr val="475569"/>
                    </a:solidFill>
                    <a:latin typeface="Public Sans"/>
                    <a:ea typeface="Public Sans"/>
                    <a:cs typeface="Public Sans"/>
                    <a:sym typeface="Public Sans"/>
                  </a:rPr>
                  <a:t>The largest data center market in the world. Backed by extensive physical fiber paths and immediate proximity to critical internet exchange points.</a:t>
                </a:r>
                <a:endParaRPr sz="1500">
                  <a:solidFill>
                    <a:srgbClr val="475569"/>
                  </a:solidFill>
                  <a:latin typeface="Public Sans"/>
                  <a:ea typeface="Public Sans"/>
                  <a:cs typeface="Public Sans"/>
                  <a:sym typeface="Public Sans"/>
                </a:endParaRPr>
              </a:p>
            </p:txBody>
          </p:sp>
        </p:grpSp>
        <p:grpSp>
          <p:nvGrpSpPr>
            <p:cNvPr id="432" name="Google Shape;432;g3ecdd0eb50c_13_327"/>
            <p:cNvGrpSpPr/>
            <p:nvPr/>
          </p:nvGrpSpPr>
          <p:grpSpPr>
            <a:xfrm>
              <a:off x="9334500" y="4953000"/>
              <a:ext cx="8382000" cy="1809600"/>
              <a:chOff x="9334500" y="4953000"/>
              <a:chExt cx="8382000" cy="1809600"/>
            </a:xfrm>
          </p:grpSpPr>
          <p:sp>
            <p:nvSpPr>
              <p:cNvPr id="433" name="Google Shape;433;g3ecdd0eb50c_13_327"/>
              <p:cNvSpPr/>
              <p:nvPr/>
            </p:nvSpPr>
            <p:spPr>
              <a:xfrm>
                <a:off x="9334500" y="4953000"/>
                <a:ext cx="8382000" cy="1809600"/>
              </a:xfrm>
              <a:prstGeom prst="roundRect">
                <a:avLst>
                  <a:gd fmla="val 10526"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g3ecdd0eb50c_13_327"/>
              <p:cNvSpPr/>
              <p:nvPr/>
            </p:nvSpPr>
            <p:spPr>
              <a:xfrm>
                <a:off x="9334500" y="4953000"/>
                <a:ext cx="114300" cy="1809600"/>
              </a:xfrm>
              <a:prstGeom prst="rect">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g3ecdd0eb50c_13_327"/>
              <p:cNvSpPr txBox="1"/>
              <p:nvPr/>
            </p:nvSpPr>
            <p:spPr>
              <a:xfrm>
                <a:off x="9715500" y="5143500"/>
                <a:ext cx="7810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solidFill>
                      <a:srgbClr val="FA632A"/>
                    </a:solidFill>
                    <a:latin typeface="Public Sans ExtraBold"/>
                    <a:ea typeface="Public Sans ExtraBold"/>
                    <a:cs typeface="Public Sans ExtraBold"/>
                    <a:sym typeface="Public Sans ExtraBold"/>
                  </a:rPr>
                  <a:t>INNOVATION CORE</a:t>
                </a:r>
                <a:endParaRPr>
                  <a:solidFill>
                    <a:srgbClr val="1E293B"/>
                  </a:solidFill>
                  <a:latin typeface="Public Sans"/>
                  <a:ea typeface="Public Sans"/>
                  <a:cs typeface="Public Sans"/>
                  <a:sym typeface="Public Sans"/>
                </a:endParaRPr>
              </a:p>
              <a:p>
                <a:pPr indent="0" lvl="0" marL="0" rtl="0" algn="l">
                  <a:spcBef>
                    <a:spcPts val="600"/>
                  </a:spcBef>
                  <a:spcAft>
                    <a:spcPts val="0"/>
                  </a:spcAft>
                  <a:buNone/>
                </a:pPr>
                <a:r>
                  <a:rPr b="1" lang="en-US" sz="2200">
                    <a:solidFill>
                      <a:srgbClr val="FFFFFF"/>
                    </a:solidFill>
                    <a:latin typeface="Public Sans"/>
                    <a:ea typeface="Public Sans"/>
                    <a:cs typeface="Public Sans"/>
                    <a:sym typeface="Public Sans"/>
                  </a:rPr>
                  <a:t>Northern California (Silicon Valley)</a:t>
                </a:r>
                <a:endParaRPr b="1" sz="2200">
                  <a:solidFill>
                    <a:srgbClr val="FFFFFF"/>
                  </a:solidFill>
                  <a:latin typeface="Public Sans"/>
                  <a:ea typeface="Public Sans"/>
                  <a:cs typeface="Public Sans"/>
                  <a:sym typeface="Public Sans"/>
                </a:endParaRPr>
              </a:p>
              <a:p>
                <a:pPr indent="0" lvl="0" marL="0" rtl="0" algn="l">
                  <a:spcBef>
                    <a:spcPts val="900"/>
                  </a:spcBef>
                  <a:spcAft>
                    <a:spcPts val="0"/>
                  </a:spcAft>
                  <a:buNone/>
                </a:pPr>
                <a:r>
                  <a:rPr lang="en-US" sz="1500">
                    <a:solidFill>
                      <a:srgbClr val="CBD5E1"/>
                    </a:solidFill>
                    <a:latin typeface="Public Sans"/>
                    <a:ea typeface="Public Sans"/>
                    <a:cs typeface="Public Sans"/>
                    <a:sym typeface="Public Sans"/>
                  </a:rPr>
                  <a:t>A prime location for global software ecosystems and AI training environments. Hosts a vast density of facilities tightly integrated into the VC hub.</a:t>
                </a:r>
                <a:endParaRPr sz="1500">
                  <a:solidFill>
                    <a:srgbClr val="CBD5E1"/>
                  </a:solidFill>
                  <a:latin typeface="Public Sans"/>
                  <a:ea typeface="Public Sans"/>
                  <a:cs typeface="Public Sans"/>
                  <a:sym typeface="Public Sans"/>
                </a:endParaRPr>
              </a:p>
            </p:txBody>
          </p:sp>
        </p:grpSp>
        <p:grpSp>
          <p:nvGrpSpPr>
            <p:cNvPr id="436" name="Google Shape;436;g3ecdd0eb50c_13_327"/>
            <p:cNvGrpSpPr/>
            <p:nvPr/>
          </p:nvGrpSpPr>
          <p:grpSpPr>
            <a:xfrm>
              <a:off x="9334500" y="7048500"/>
              <a:ext cx="8382000" cy="1809600"/>
              <a:chOff x="9334500" y="7048500"/>
              <a:chExt cx="8382000" cy="1809600"/>
            </a:xfrm>
          </p:grpSpPr>
          <p:sp>
            <p:nvSpPr>
              <p:cNvPr id="437" name="Google Shape;437;g3ecdd0eb50c_13_327"/>
              <p:cNvSpPr/>
              <p:nvPr/>
            </p:nvSpPr>
            <p:spPr>
              <a:xfrm>
                <a:off x="9334500" y="7048500"/>
                <a:ext cx="8382000" cy="1809600"/>
              </a:xfrm>
              <a:prstGeom prst="roundRect">
                <a:avLst>
                  <a:gd fmla="val 1052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g3ecdd0eb50c_13_327"/>
              <p:cNvSpPr/>
              <p:nvPr/>
            </p:nvSpPr>
            <p:spPr>
              <a:xfrm>
                <a:off x="9334500" y="7048500"/>
                <a:ext cx="114300" cy="1809600"/>
              </a:xfrm>
              <a:prstGeom prst="rect">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g3ecdd0eb50c_13_327"/>
              <p:cNvSpPr txBox="1"/>
              <p:nvPr/>
            </p:nvSpPr>
            <p:spPr>
              <a:xfrm>
                <a:off x="9715500" y="7239000"/>
                <a:ext cx="7810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64748B"/>
                    </a:solidFill>
                    <a:latin typeface="Public Sans ExtraBold"/>
                    <a:ea typeface="Public Sans ExtraBold"/>
                    <a:cs typeface="Public Sans ExtraBold"/>
                    <a:sym typeface="Public Sans ExtraBold"/>
                  </a:rPr>
                  <a:t>STRATEGIC ANCHORS</a:t>
                </a:r>
                <a:endParaRPr>
                  <a:solidFill>
                    <a:srgbClr val="1E293B"/>
                  </a:solidFill>
                  <a:latin typeface="Public Sans"/>
                  <a:ea typeface="Public Sans"/>
                  <a:cs typeface="Public Sans"/>
                  <a:sym typeface="Public Sans"/>
                </a:endParaRPr>
              </a:p>
              <a:p>
                <a:pPr indent="0" lvl="0" marL="0" rtl="0" algn="l">
                  <a:spcBef>
                    <a:spcPts val="600"/>
                  </a:spcBef>
                  <a:spcAft>
                    <a:spcPts val="0"/>
                  </a:spcAft>
                  <a:buNone/>
                </a:pPr>
                <a:r>
                  <a:rPr b="1" lang="en-US" sz="2200">
                    <a:solidFill>
                      <a:srgbClr val="1E293B"/>
                    </a:solidFill>
                    <a:latin typeface="Public Sans"/>
                    <a:ea typeface="Public Sans"/>
                    <a:cs typeface="Public Sans"/>
                    <a:sym typeface="Public Sans"/>
                  </a:rPr>
                  <a:t>Illinois &amp; New Jersey</a:t>
                </a:r>
                <a:endParaRPr>
                  <a:solidFill>
                    <a:srgbClr val="1E293B"/>
                  </a:solidFill>
                  <a:latin typeface="Public Sans"/>
                  <a:ea typeface="Public Sans"/>
                  <a:cs typeface="Public Sans"/>
                  <a:sym typeface="Public Sans"/>
                </a:endParaRPr>
              </a:p>
              <a:p>
                <a:pPr indent="0" lvl="0" marL="0" rtl="0" algn="l">
                  <a:spcBef>
                    <a:spcPts val="900"/>
                  </a:spcBef>
                  <a:spcAft>
                    <a:spcPts val="0"/>
                  </a:spcAft>
                  <a:buNone/>
                </a:pPr>
                <a:r>
                  <a:rPr b="0" lang="en-US" sz="1500">
                    <a:solidFill>
                      <a:srgbClr val="475569"/>
                    </a:solidFill>
                    <a:latin typeface="Public Sans"/>
                    <a:ea typeface="Public Sans"/>
                    <a:cs typeface="Public Sans"/>
                    <a:sym typeface="Public Sans"/>
                  </a:rPr>
                  <a:t>Vital secondary hubs supporting high-speed financial transaction switches in Chicago and security-focused disaster recovery sites across New Jersey.</a:t>
                </a:r>
                <a:endParaRPr b="0" sz="1500">
                  <a:solidFill>
                    <a:srgbClr val="475569"/>
                  </a:solidFill>
                  <a:latin typeface="Public Sans"/>
                  <a:ea typeface="Public Sans"/>
                  <a:cs typeface="Public Sans"/>
                  <a:sym typeface="Public Sans"/>
                </a:endParaRPr>
              </a:p>
            </p:txBody>
          </p:sp>
        </p:grpSp>
      </p:grpSp>
      <p:pic>
        <p:nvPicPr>
          <p:cNvPr id="440" name="Google Shape;440;g3ecdd0eb50c_13_327"/>
          <p:cNvPicPr preferRelativeResize="0"/>
          <p:nvPr/>
        </p:nvPicPr>
        <p:blipFill rotWithShape="1">
          <a:blip r:embed="rId4">
            <a:alphaModFix/>
          </a:blip>
          <a:srcRect b="5674" l="6247" r="7464" t="7301"/>
          <a:stretch/>
        </p:blipFill>
        <p:spPr>
          <a:xfrm>
            <a:off x="1063138" y="3924467"/>
            <a:ext cx="6903424" cy="3901930"/>
          </a:xfrm>
          <a:prstGeom prst="rect">
            <a:avLst/>
          </a:prstGeom>
          <a:solidFill>
            <a:srgbClr val="FA632A"/>
          </a:solidFill>
          <a:ln>
            <a:noFill/>
          </a:ln>
        </p:spPr>
      </p:pic>
      <p:pic>
        <p:nvPicPr>
          <p:cNvPr descr="image.png" id="441" name="Google Shape;441;g3ecdd0eb50c_13_327"/>
          <p:cNvPicPr preferRelativeResize="0"/>
          <p:nvPr/>
        </p:nvPicPr>
        <p:blipFill rotWithShape="1">
          <a:blip r:embed="rId5">
            <a:alphaModFix/>
          </a:blip>
          <a:srcRect b="0" l="0" r="0" t="0"/>
          <a:stretch/>
        </p:blipFill>
        <p:spPr>
          <a:xfrm>
            <a:off x="7053126" y="4232585"/>
            <a:ext cx="478044" cy="637393"/>
          </a:xfrm>
          <a:prstGeom prst="rect">
            <a:avLst/>
          </a:prstGeom>
          <a:noFill/>
          <a:ln>
            <a:noFill/>
          </a:ln>
        </p:spPr>
      </p:pic>
      <p:pic>
        <p:nvPicPr>
          <p:cNvPr descr="image.png" id="442" name="Google Shape;442;g3ecdd0eb50c_13_327"/>
          <p:cNvPicPr preferRelativeResize="0"/>
          <p:nvPr/>
        </p:nvPicPr>
        <p:blipFill rotWithShape="1">
          <a:blip r:embed="rId5">
            <a:alphaModFix/>
          </a:blip>
          <a:srcRect b="0" l="0" r="0" t="0"/>
          <a:stretch/>
        </p:blipFill>
        <p:spPr>
          <a:xfrm>
            <a:off x="5201750" y="4549914"/>
            <a:ext cx="478044" cy="637400"/>
          </a:xfrm>
          <a:prstGeom prst="rect">
            <a:avLst/>
          </a:prstGeom>
          <a:noFill/>
          <a:ln>
            <a:noFill/>
          </a:ln>
        </p:spPr>
      </p:pic>
      <p:pic>
        <p:nvPicPr>
          <p:cNvPr descr="image.png" id="443" name="Google Shape;443;g3ecdd0eb50c_13_327"/>
          <p:cNvPicPr preferRelativeResize="0"/>
          <p:nvPr/>
        </p:nvPicPr>
        <p:blipFill rotWithShape="1">
          <a:blip r:embed="rId5">
            <a:alphaModFix/>
          </a:blip>
          <a:srcRect b="0" l="0" r="0" t="0"/>
          <a:stretch/>
        </p:blipFill>
        <p:spPr>
          <a:xfrm>
            <a:off x="7048360" y="5270537"/>
            <a:ext cx="478044" cy="637393"/>
          </a:xfrm>
          <a:prstGeom prst="rect">
            <a:avLst/>
          </a:prstGeom>
          <a:noFill/>
          <a:ln>
            <a:noFill/>
          </a:ln>
        </p:spPr>
      </p:pic>
      <p:pic>
        <p:nvPicPr>
          <p:cNvPr descr="image.png" id="444" name="Google Shape;444;g3ecdd0eb50c_13_327"/>
          <p:cNvPicPr preferRelativeResize="0"/>
          <p:nvPr/>
        </p:nvPicPr>
        <p:blipFill rotWithShape="1">
          <a:blip r:embed="rId6">
            <a:alphaModFix/>
          </a:blip>
          <a:srcRect b="0" l="0" r="0" t="0"/>
          <a:stretch/>
        </p:blipFill>
        <p:spPr>
          <a:xfrm>
            <a:off x="1227970" y="5243330"/>
            <a:ext cx="478044" cy="637437"/>
          </a:xfrm>
          <a:prstGeom prst="rect">
            <a:avLst/>
          </a:prstGeom>
          <a:noFill/>
          <a:ln>
            <a:noFill/>
          </a:ln>
        </p:spPr>
      </p:pic>
      <p:sp>
        <p:nvSpPr>
          <p:cNvPr id="445" name="Google Shape;445;g3ecdd0eb50c_13_327"/>
          <p:cNvSpPr txBox="1"/>
          <p:nvPr/>
        </p:nvSpPr>
        <p:spPr>
          <a:xfrm>
            <a:off x="571500" y="1387355"/>
            <a:ext cx="10527600" cy="985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6400">
                <a:solidFill>
                  <a:srgbClr val="191919"/>
                </a:solidFill>
                <a:latin typeface="Public Sans"/>
                <a:ea typeface="Public Sans"/>
                <a:cs typeface="Public Sans"/>
                <a:sym typeface="Public Sans"/>
              </a:rPr>
              <a:t>Geographic </a:t>
            </a:r>
            <a:r>
              <a:rPr b="1" i="0" lang="en-US" sz="6400">
                <a:solidFill>
                  <a:srgbClr val="FA632A"/>
                </a:solidFill>
                <a:latin typeface="Public Sans"/>
                <a:ea typeface="Public Sans"/>
                <a:cs typeface="Public Sans"/>
                <a:sym typeface="Public Sans"/>
              </a:rPr>
              <a:t>Market Hubs</a:t>
            </a:r>
            <a:endParaRPr b="1" i="0" sz="6400">
              <a:solidFill>
                <a:srgbClr val="191919"/>
              </a:solidFill>
              <a:latin typeface="Public Sans"/>
              <a:ea typeface="Public Sans"/>
              <a:cs typeface="Public Sans"/>
              <a:sym typeface="Public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ecdd0eb50c_13_372"/>
          <p:cNvSpPr txBox="1"/>
          <p:nvPr/>
        </p:nvSpPr>
        <p:spPr>
          <a:xfrm>
            <a:off x="17449800" y="9391650"/>
            <a:ext cx="8382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000">
                <a:solidFill>
                  <a:srgbClr val="FA632A"/>
                </a:solidFill>
                <a:latin typeface="Public Sans"/>
                <a:ea typeface="Public Sans"/>
                <a:cs typeface="Public Sans"/>
                <a:sym typeface="Public Sans"/>
              </a:rPr>
              <a:t>8</a:t>
            </a:r>
            <a:endParaRPr/>
          </a:p>
        </p:txBody>
      </p:sp>
      <p:sp>
        <p:nvSpPr>
          <p:cNvPr id="451" name="Google Shape;451;g3ecdd0eb50c_13_372"/>
          <p:cNvSpPr/>
          <p:nvPr/>
        </p:nvSpPr>
        <p:spPr>
          <a:xfrm>
            <a:off x="571500" y="3228900"/>
            <a:ext cx="8001000" cy="5257800"/>
          </a:xfrm>
          <a:prstGeom prst="roundRect">
            <a:avLst>
              <a:gd fmla="val 5882"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52" name="Google Shape;452;g3ecdd0eb50c_13_372" title="genpact_Logo.png"/>
          <p:cNvPicPr preferRelativeResize="0"/>
          <p:nvPr/>
        </p:nvPicPr>
        <p:blipFill rotWithShape="1">
          <a:blip r:embed="rId3">
            <a:alphaModFix/>
          </a:blip>
          <a:srcRect b="0" l="377" r="377" t="0"/>
          <a:stretch/>
        </p:blipFill>
        <p:spPr>
          <a:xfrm>
            <a:off x="258175" y="245275"/>
            <a:ext cx="2128500" cy="1128069"/>
          </a:xfrm>
          <a:prstGeom prst="rect">
            <a:avLst/>
          </a:prstGeom>
          <a:noFill/>
          <a:ln>
            <a:noFill/>
          </a:ln>
        </p:spPr>
      </p:pic>
      <p:grpSp>
        <p:nvGrpSpPr>
          <p:cNvPr id="453" name="Google Shape;453;g3ecdd0eb50c_13_372"/>
          <p:cNvGrpSpPr/>
          <p:nvPr/>
        </p:nvGrpSpPr>
        <p:grpSpPr>
          <a:xfrm>
            <a:off x="9334500" y="2857500"/>
            <a:ext cx="8382000" cy="6000600"/>
            <a:chOff x="9334500" y="2857500"/>
            <a:chExt cx="8382000" cy="6000600"/>
          </a:xfrm>
        </p:grpSpPr>
        <p:grpSp>
          <p:nvGrpSpPr>
            <p:cNvPr id="454" name="Google Shape;454;g3ecdd0eb50c_13_372"/>
            <p:cNvGrpSpPr/>
            <p:nvPr/>
          </p:nvGrpSpPr>
          <p:grpSpPr>
            <a:xfrm>
              <a:off x="9334500" y="2857500"/>
              <a:ext cx="8382000" cy="1809600"/>
              <a:chOff x="9334500" y="2857500"/>
              <a:chExt cx="8382000" cy="1809600"/>
            </a:xfrm>
          </p:grpSpPr>
          <p:sp>
            <p:nvSpPr>
              <p:cNvPr id="455" name="Google Shape;455;g3ecdd0eb50c_13_372"/>
              <p:cNvSpPr/>
              <p:nvPr/>
            </p:nvSpPr>
            <p:spPr>
              <a:xfrm>
                <a:off x="9334500" y="2857500"/>
                <a:ext cx="8382000" cy="1809600"/>
              </a:xfrm>
              <a:prstGeom prst="roundRect">
                <a:avLst>
                  <a:gd fmla="val 1052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g3ecdd0eb50c_13_372"/>
              <p:cNvSpPr/>
              <p:nvPr/>
            </p:nvSpPr>
            <p:spPr>
              <a:xfrm>
                <a:off x="9334500" y="2857500"/>
                <a:ext cx="114300" cy="180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g3ecdd0eb50c_13_372"/>
              <p:cNvSpPr txBox="1"/>
              <p:nvPr/>
            </p:nvSpPr>
            <p:spPr>
              <a:xfrm>
                <a:off x="9715500" y="3048000"/>
                <a:ext cx="7810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solidFill>
                      <a:srgbClr val="64748B"/>
                    </a:solidFill>
                    <a:latin typeface="Public Sans ExtraBold"/>
                    <a:ea typeface="Public Sans ExtraBold"/>
                    <a:cs typeface="Public Sans ExtraBold"/>
                    <a:sym typeface="Public Sans ExtraBold"/>
                  </a:rPr>
                  <a:t>GLOBAL EPICENTER</a:t>
                </a:r>
                <a:endParaRPr>
                  <a:solidFill>
                    <a:srgbClr val="64748B"/>
                  </a:solidFill>
                  <a:latin typeface="Public Sans ExtraBold"/>
                  <a:ea typeface="Public Sans ExtraBold"/>
                  <a:cs typeface="Public Sans ExtraBold"/>
                  <a:sym typeface="Public Sans ExtraBold"/>
                </a:endParaRPr>
              </a:p>
              <a:p>
                <a:pPr indent="0" lvl="0" marL="0" rtl="0" algn="l">
                  <a:spcBef>
                    <a:spcPts val="600"/>
                  </a:spcBef>
                  <a:spcAft>
                    <a:spcPts val="0"/>
                  </a:spcAft>
                  <a:buNone/>
                </a:pPr>
                <a:r>
                  <a:rPr b="1" lang="en-US" sz="2200">
                    <a:solidFill>
                      <a:srgbClr val="1E293B"/>
                    </a:solidFill>
                    <a:latin typeface="Public Sans"/>
                    <a:ea typeface="Public Sans"/>
                    <a:cs typeface="Public Sans"/>
                    <a:sym typeface="Public Sans"/>
                  </a:rPr>
                  <a:t>Northern Virginia (Ashburn)</a:t>
                </a:r>
                <a:endParaRPr>
                  <a:solidFill>
                    <a:srgbClr val="FFFFFF"/>
                  </a:solidFill>
                  <a:latin typeface="Public Sans"/>
                  <a:ea typeface="Public Sans"/>
                  <a:cs typeface="Public Sans"/>
                  <a:sym typeface="Public Sans"/>
                </a:endParaRPr>
              </a:p>
              <a:p>
                <a:pPr indent="0" lvl="0" marL="0" rtl="0" algn="l">
                  <a:spcBef>
                    <a:spcPts val="900"/>
                  </a:spcBef>
                  <a:spcAft>
                    <a:spcPts val="0"/>
                  </a:spcAft>
                  <a:buNone/>
                </a:pPr>
                <a:r>
                  <a:rPr lang="en-US" sz="1500">
                    <a:solidFill>
                      <a:srgbClr val="475569"/>
                    </a:solidFill>
                    <a:latin typeface="Public Sans"/>
                    <a:ea typeface="Public Sans"/>
                    <a:cs typeface="Public Sans"/>
                    <a:sym typeface="Public Sans"/>
                  </a:rPr>
                  <a:t>The largest data center market in the world. Backed by extensive physical fiber paths and immediate proximity to critical internet exchange points.</a:t>
                </a:r>
                <a:endParaRPr sz="1500">
                  <a:solidFill>
                    <a:srgbClr val="475569"/>
                  </a:solidFill>
                  <a:latin typeface="Public Sans"/>
                  <a:ea typeface="Public Sans"/>
                  <a:cs typeface="Public Sans"/>
                  <a:sym typeface="Public Sans"/>
                </a:endParaRPr>
              </a:p>
            </p:txBody>
          </p:sp>
        </p:grpSp>
        <p:grpSp>
          <p:nvGrpSpPr>
            <p:cNvPr id="458" name="Google Shape;458;g3ecdd0eb50c_13_372"/>
            <p:cNvGrpSpPr/>
            <p:nvPr/>
          </p:nvGrpSpPr>
          <p:grpSpPr>
            <a:xfrm>
              <a:off x="9334500" y="4953000"/>
              <a:ext cx="8382000" cy="1809600"/>
              <a:chOff x="9334500" y="4953000"/>
              <a:chExt cx="8382000" cy="1809600"/>
            </a:xfrm>
          </p:grpSpPr>
          <p:sp>
            <p:nvSpPr>
              <p:cNvPr id="459" name="Google Shape;459;g3ecdd0eb50c_13_372"/>
              <p:cNvSpPr/>
              <p:nvPr/>
            </p:nvSpPr>
            <p:spPr>
              <a:xfrm>
                <a:off x="9334500" y="4953000"/>
                <a:ext cx="8382000" cy="1809600"/>
              </a:xfrm>
              <a:prstGeom prst="roundRect">
                <a:avLst>
                  <a:gd fmla="val 1052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g3ecdd0eb50c_13_372"/>
              <p:cNvSpPr/>
              <p:nvPr/>
            </p:nvSpPr>
            <p:spPr>
              <a:xfrm>
                <a:off x="9334500" y="4953000"/>
                <a:ext cx="114300" cy="180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g3ecdd0eb50c_13_372"/>
              <p:cNvSpPr txBox="1"/>
              <p:nvPr/>
            </p:nvSpPr>
            <p:spPr>
              <a:xfrm>
                <a:off x="9715500" y="5143500"/>
                <a:ext cx="7810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solidFill>
                      <a:srgbClr val="64748B"/>
                    </a:solidFill>
                    <a:latin typeface="Public Sans ExtraBold"/>
                    <a:ea typeface="Public Sans ExtraBold"/>
                    <a:cs typeface="Public Sans ExtraBold"/>
                    <a:sym typeface="Public Sans ExtraBold"/>
                  </a:rPr>
                  <a:t>INNOVATION CORE</a:t>
                </a:r>
                <a:endParaRPr>
                  <a:solidFill>
                    <a:srgbClr val="1E293B"/>
                  </a:solidFill>
                  <a:latin typeface="Public Sans"/>
                  <a:ea typeface="Public Sans"/>
                  <a:cs typeface="Public Sans"/>
                  <a:sym typeface="Public Sans"/>
                </a:endParaRPr>
              </a:p>
              <a:p>
                <a:pPr indent="0" lvl="0" marL="0" rtl="0" algn="l">
                  <a:spcBef>
                    <a:spcPts val="600"/>
                  </a:spcBef>
                  <a:spcAft>
                    <a:spcPts val="0"/>
                  </a:spcAft>
                  <a:buNone/>
                </a:pPr>
                <a:r>
                  <a:rPr b="1" lang="en-US" sz="2200">
                    <a:solidFill>
                      <a:srgbClr val="1E293B"/>
                    </a:solidFill>
                    <a:latin typeface="Public Sans"/>
                    <a:ea typeface="Public Sans"/>
                    <a:cs typeface="Public Sans"/>
                    <a:sym typeface="Public Sans"/>
                  </a:rPr>
                  <a:t>Northern California (Silicon Valley)</a:t>
                </a:r>
                <a:endParaRPr b="1" sz="2200">
                  <a:solidFill>
                    <a:srgbClr val="1E293B"/>
                  </a:solidFill>
                  <a:latin typeface="Public Sans"/>
                  <a:ea typeface="Public Sans"/>
                  <a:cs typeface="Public Sans"/>
                  <a:sym typeface="Public Sans"/>
                </a:endParaRPr>
              </a:p>
              <a:p>
                <a:pPr indent="0" lvl="0" marL="0" rtl="0" algn="l">
                  <a:spcBef>
                    <a:spcPts val="900"/>
                  </a:spcBef>
                  <a:spcAft>
                    <a:spcPts val="0"/>
                  </a:spcAft>
                  <a:buNone/>
                </a:pPr>
                <a:r>
                  <a:rPr lang="en-US" sz="1500">
                    <a:solidFill>
                      <a:srgbClr val="475569"/>
                    </a:solidFill>
                    <a:latin typeface="Public Sans"/>
                    <a:ea typeface="Public Sans"/>
                    <a:cs typeface="Public Sans"/>
                    <a:sym typeface="Public Sans"/>
                  </a:rPr>
                  <a:t>A prime location for global software ecosystems and AI training environments. Hosts a vast density of facilities tightly integrated into the VC hub.</a:t>
                </a:r>
                <a:endParaRPr sz="1500">
                  <a:solidFill>
                    <a:srgbClr val="475569"/>
                  </a:solidFill>
                  <a:latin typeface="Public Sans"/>
                  <a:ea typeface="Public Sans"/>
                  <a:cs typeface="Public Sans"/>
                  <a:sym typeface="Public Sans"/>
                </a:endParaRPr>
              </a:p>
            </p:txBody>
          </p:sp>
        </p:grpSp>
        <p:grpSp>
          <p:nvGrpSpPr>
            <p:cNvPr id="462" name="Google Shape;462;g3ecdd0eb50c_13_372"/>
            <p:cNvGrpSpPr/>
            <p:nvPr/>
          </p:nvGrpSpPr>
          <p:grpSpPr>
            <a:xfrm>
              <a:off x="9334500" y="7048500"/>
              <a:ext cx="8382000" cy="1809600"/>
              <a:chOff x="9334500" y="7048500"/>
              <a:chExt cx="8382000" cy="1809600"/>
            </a:xfrm>
          </p:grpSpPr>
          <p:sp>
            <p:nvSpPr>
              <p:cNvPr id="463" name="Google Shape;463;g3ecdd0eb50c_13_372"/>
              <p:cNvSpPr/>
              <p:nvPr/>
            </p:nvSpPr>
            <p:spPr>
              <a:xfrm>
                <a:off x="9334500" y="7048500"/>
                <a:ext cx="8382000" cy="1809600"/>
              </a:xfrm>
              <a:prstGeom prst="roundRect">
                <a:avLst>
                  <a:gd fmla="val 10526"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g3ecdd0eb50c_13_372"/>
              <p:cNvSpPr/>
              <p:nvPr/>
            </p:nvSpPr>
            <p:spPr>
              <a:xfrm>
                <a:off x="9334500" y="7048500"/>
                <a:ext cx="114300" cy="1809600"/>
              </a:xfrm>
              <a:prstGeom prst="rect">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g3ecdd0eb50c_13_372"/>
              <p:cNvSpPr txBox="1"/>
              <p:nvPr/>
            </p:nvSpPr>
            <p:spPr>
              <a:xfrm>
                <a:off x="9715500" y="7239000"/>
                <a:ext cx="7810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solidFill>
                      <a:srgbClr val="FA632A"/>
                    </a:solidFill>
                    <a:latin typeface="Public Sans ExtraBold"/>
                    <a:ea typeface="Public Sans ExtraBold"/>
                    <a:cs typeface="Public Sans ExtraBold"/>
                    <a:sym typeface="Public Sans ExtraBold"/>
                  </a:rPr>
                  <a:t>STRATEGIC ANCHORS</a:t>
                </a:r>
                <a:endParaRPr>
                  <a:solidFill>
                    <a:srgbClr val="FA632A"/>
                  </a:solidFill>
                  <a:latin typeface="Public Sans ExtraBold"/>
                  <a:ea typeface="Public Sans ExtraBold"/>
                  <a:cs typeface="Public Sans ExtraBold"/>
                  <a:sym typeface="Public Sans ExtraBold"/>
                </a:endParaRPr>
              </a:p>
              <a:p>
                <a:pPr indent="0" lvl="0" marL="0" rtl="0" algn="l">
                  <a:spcBef>
                    <a:spcPts val="600"/>
                  </a:spcBef>
                  <a:spcAft>
                    <a:spcPts val="0"/>
                  </a:spcAft>
                  <a:buNone/>
                </a:pPr>
                <a:r>
                  <a:rPr b="1" lang="en-US" sz="2200">
                    <a:solidFill>
                      <a:srgbClr val="FFFFFF"/>
                    </a:solidFill>
                    <a:latin typeface="Public Sans"/>
                    <a:ea typeface="Public Sans"/>
                    <a:cs typeface="Public Sans"/>
                    <a:sym typeface="Public Sans"/>
                  </a:rPr>
                  <a:t>Illinois &amp; New Jersey</a:t>
                </a:r>
                <a:endParaRPr b="1" sz="2200">
                  <a:solidFill>
                    <a:srgbClr val="FFFFFF"/>
                  </a:solidFill>
                  <a:latin typeface="Public Sans"/>
                  <a:ea typeface="Public Sans"/>
                  <a:cs typeface="Public Sans"/>
                  <a:sym typeface="Public Sans"/>
                </a:endParaRPr>
              </a:p>
              <a:p>
                <a:pPr indent="0" lvl="0" marL="0" rtl="0" algn="l">
                  <a:spcBef>
                    <a:spcPts val="900"/>
                  </a:spcBef>
                  <a:spcAft>
                    <a:spcPts val="0"/>
                  </a:spcAft>
                  <a:buNone/>
                </a:pPr>
                <a:r>
                  <a:rPr lang="en-US" sz="1500">
                    <a:solidFill>
                      <a:srgbClr val="CBD5E1"/>
                    </a:solidFill>
                    <a:latin typeface="Public Sans"/>
                    <a:ea typeface="Public Sans"/>
                    <a:cs typeface="Public Sans"/>
                    <a:sym typeface="Public Sans"/>
                  </a:rPr>
                  <a:t>Vital secondary hubs supporting high-speed financial transaction switches in Chicago and security-focused disaster recovery sites across New Jersey.</a:t>
                </a:r>
                <a:endParaRPr sz="1500">
                  <a:solidFill>
                    <a:srgbClr val="CBD5E1"/>
                  </a:solidFill>
                  <a:latin typeface="Public Sans"/>
                  <a:ea typeface="Public Sans"/>
                  <a:cs typeface="Public Sans"/>
                  <a:sym typeface="Public Sans"/>
                </a:endParaRPr>
              </a:p>
            </p:txBody>
          </p:sp>
        </p:grpSp>
      </p:grpSp>
      <p:pic>
        <p:nvPicPr>
          <p:cNvPr id="466" name="Google Shape;466;g3ecdd0eb50c_13_372"/>
          <p:cNvPicPr preferRelativeResize="0"/>
          <p:nvPr/>
        </p:nvPicPr>
        <p:blipFill rotWithShape="1">
          <a:blip r:embed="rId4">
            <a:alphaModFix/>
          </a:blip>
          <a:srcRect b="5674" l="6247" r="7464" t="7301"/>
          <a:stretch/>
        </p:blipFill>
        <p:spPr>
          <a:xfrm>
            <a:off x="1071613" y="3906742"/>
            <a:ext cx="6903726" cy="3902102"/>
          </a:xfrm>
          <a:prstGeom prst="rect">
            <a:avLst/>
          </a:prstGeom>
          <a:solidFill>
            <a:srgbClr val="FA632A"/>
          </a:solidFill>
          <a:ln>
            <a:noFill/>
          </a:ln>
        </p:spPr>
      </p:pic>
      <p:pic>
        <p:nvPicPr>
          <p:cNvPr descr="image.png" id="467" name="Google Shape;467;g3ecdd0eb50c_13_372"/>
          <p:cNvPicPr preferRelativeResize="0"/>
          <p:nvPr/>
        </p:nvPicPr>
        <p:blipFill rotWithShape="1">
          <a:blip r:embed="rId5">
            <a:alphaModFix/>
          </a:blip>
          <a:srcRect b="0" l="0" r="0" t="0"/>
          <a:stretch/>
        </p:blipFill>
        <p:spPr>
          <a:xfrm>
            <a:off x="7138651" y="4355737"/>
            <a:ext cx="478065" cy="637465"/>
          </a:xfrm>
          <a:prstGeom prst="rect">
            <a:avLst/>
          </a:prstGeom>
          <a:noFill/>
          <a:ln>
            <a:noFill/>
          </a:ln>
        </p:spPr>
      </p:pic>
      <p:pic>
        <p:nvPicPr>
          <p:cNvPr descr="image.png" id="468" name="Google Shape;468;g3ecdd0eb50c_13_372"/>
          <p:cNvPicPr preferRelativeResize="0"/>
          <p:nvPr/>
        </p:nvPicPr>
        <p:blipFill rotWithShape="1">
          <a:blip r:embed="rId6">
            <a:alphaModFix/>
          </a:blip>
          <a:srcRect b="0" l="0" r="0" t="0"/>
          <a:stretch/>
        </p:blipFill>
        <p:spPr>
          <a:xfrm>
            <a:off x="7003038" y="5225691"/>
            <a:ext cx="478065" cy="637420"/>
          </a:xfrm>
          <a:prstGeom prst="rect">
            <a:avLst/>
          </a:prstGeom>
          <a:noFill/>
          <a:ln>
            <a:noFill/>
          </a:ln>
        </p:spPr>
      </p:pic>
      <p:pic>
        <p:nvPicPr>
          <p:cNvPr descr="image.png" id="469" name="Google Shape;469;g3ecdd0eb50c_13_372"/>
          <p:cNvPicPr preferRelativeResize="0"/>
          <p:nvPr/>
        </p:nvPicPr>
        <p:blipFill rotWithShape="1">
          <a:blip r:embed="rId6">
            <a:alphaModFix/>
          </a:blip>
          <a:srcRect b="0" l="0" r="0" t="0"/>
          <a:stretch/>
        </p:blipFill>
        <p:spPr>
          <a:xfrm>
            <a:off x="5210405" y="4532215"/>
            <a:ext cx="478065" cy="637427"/>
          </a:xfrm>
          <a:prstGeom prst="rect">
            <a:avLst/>
          </a:prstGeom>
          <a:noFill/>
          <a:ln>
            <a:noFill/>
          </a:ln>
        </p:spPr>
      </p:pic>
      <p:pic>
        <p:nvPicPr>
          <p:cNvPr descr="image.png" id="470" name="Google Shape;470;g3ecdd0eb50c_13_372"/>
          <p:cNvPicPr preferRelativeResize="0"/>
          <p:nvPr/>
        </p:nvPicPr>
        <p:blipFill rotWithShape="1">
          <a:blip r:embed="rId6">
            <a:alphaModFix/>
          </a:blip>
          <a:srcRect b="0" l="0" r="0" t="0"/>
          <a:stretch/>
        </p:blipFill>
        <p:spPr>
          <a:xfrm>
            <a:off x="1236447" y="5127134"/>
            <a:ext cx="478065" cy="637420"/>
          </a:xfrm>
          <a:prstGeom prst="rect">
            <a:avLst/>
          </a:prstGeom>
          <a:noFill/>
          <a:ln>
            <a:noFill/>
          </a:ln>
        </p:spPr>
      </p:pic>
      <p:pic>
        <p:nvPicPr>
          <p:cNvPr descr="image.png" id="471" name="Google Shape;471;g3ecdd0eb50c_13_372"/>
          <p:cNvPicPr preferRelativeResize="0"/>
          <p:nvPr/>
        </p:nvPicPr>
        <p:blipFill rotWithShape="1">
          <a:blip r:embed="rId5">
            <a:alphaModFix/>
          </a:blip>
          <a:srcRect b="0" l="0" r="0" t="0"/>
          <a:stretch/>
        </p:blipFill>
        <p:spPr>
          <a:xfrm>
            <a:off x="5160943" y="4505007"/>
            <a:ext cx="478065" cy="637465"/>
          </a:xfrm>
          <a:prstGeom prst="rect">
            <a:avLst/>
          </a:prstGeom>
          <a:noFill/>
          <a:ln>
            <a:noFill/>
          </a:ln>
        </p:spPr>
      </p:pic>
      <p:sp>
        <p:nvSpPr>
          <p:cNvPr id="472" name="Google Shape;472;g3ecdd0eb50c_13_372"/>
          <p:cNvSpPr txBox="1"/>
          <p:nvPr/>
        </p:nvSpPr>
        <p:spPr>
          <a:xfrm>
            <a:off x="571500" y="1387355"/>
            <a:ext cx="10527600" cy="985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6400">
                <a:solidFill>
                  <a:srgbClr val="191919"/>
                </a:solidFill>
                <a:latin typeface="Public Sans"/>
                <a:ea typeface="Public Sans"/>
                <a:cs typeface="Public Sans"/>
                <a:sym typeface="Public Sans"/>
              </a:rPr>
              <a:t>Geographic </a:t>
            </a:r>
            <a:r>
              <a:rPr b="1" i="0" lang="en-US" sz="6400">
                <a:solidFill>
                  <a:srgbClr val="FA632A"/>
                </a:solidFill>
                <a:latin typeface="Public Sans"/>
                <a:ea typeface="Public Sans"/>
                <a:cs typeface="Public Sans"/>
                <a:sym typeface="Public Sans"/>
              </a:rPr>
              <a:t>Market Hubs</a:t>
            </a:r>
            <a:endParaRPr b="1" i="0" sz="6400">
              <a:solidFill>
                <a:srgbClr val="191919"/>
              </a:solidFill>
              <a:latin typeface="Public Sans"/>
              <a:ea typeface="Public Sans"/>
              <a:cs typeface="Public Sans"/>
              <a:sym typeface="Public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6" name="Shape 476"/>
        <p:cNvGrpSpPr/>
        <p:nvPr/>
      </p:nvGrpSpPr>
      <p:grpSpPr>
        <a:xfrm>
          <a:off x="0" y="0"/>
          <a:ext cx="0" cy="0"/>
          <a:chOff x="0" y="0"/>
          <a:chExt cx="0" cy="0"/>
        </a:xfrm>
      </p:grpSpPr>
      <p:pic>
        <p:nvPicPr>
          <p:cNvPr id="477" name="Google Shape;477;g3ecdd0eb50c_0_438" title="genpact_Logo.png"/>
          <p:cNvPicPr preferRelativeResize="0"/>
          <p:nvPr/>
        </p:nvPicPr>
        <p:blipFill rotWithShape="1">
          <a:blip r:embed="rId4">
            <a:alphaModFix/>
          </a:blip>
          <a:srcRect b="0" l="377" r="377" t="0"/>
          <a:stretch/>
        </p:blipFill>
        <p:spPr>
          <a:xfrm>
            <a:off x="258175" y="245275"/>
            <a:ext cx="2128500" cy="1128069"/>
          </a:xfrm>
          <a:prstGeom prst="rect">
            <a:avLst/>
          </a:prstGeom>
          <a:noFill/>
          <a:ln>
            <a:noFill/>
          </a:ln>
        </p:spPr>
      </p:pic>
      <p:sp>
        <p:nvSpPr>
          <p:cNvPr id="478" name="Google Shape;478;g3ecdd0eb50c_0_438"/>
          <p:cNvSpPr txBox="1"/>
          <p:nvPr/>
        </p:nvSpPr>
        <p:spPr>
          <a:xfrm>
            <a:off x="571500" y="1586279"/>
            <a:ext cx="17145000" cy="985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6400">
                <a:solidFill>
                  <a:srgbClr val="FA632A"/>
                </a:solidFill>
                <a:latin typeface="Public Sans"/>
                <a:ea typeface="Public Sans"/>
                <a:cs typeface="Public Sans"/>
                <a:sym typeface="Public Sans"/>
              </a:rPr>
              <a:t>Summary</a:t>
            </a:r>
            <a:endParaRPr b="1" i="0" sz="6400">
              <a:solidFill>
                <a:srgbClr val="191919"/>
              </a:solidFill>
              <a:latin typeface="Public Sans"/>
              <a:ea typeface="Public Sans"/>
              <a:cs typeface="Public Sans"/>
              <a:sym typeface="Public Sans"/>
            </a:endParaRPr>
          </a:p>
        </p:txBody>
      </p:sp>
      <p:sp>
        <p:nvSpPr>
          <p:cNvPr id="479" name="Google Shape;479;g3ecdd0eb50c_0_438"/>
          <p:cNvSpPr txBox="1"/>
          <p:nvPr/>
        </p:nvSpPr>
        <p:spPr>
          <a:xfrm>
            <a:off x="571500" y="2824529"/>
            <a:ext cx="171450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lang="en-US" sz="2400">
                <a:solidFill>
                  <a:srgbClr val="475569"/>
                </a:solidFill>
                <a:latin typeface="Public Sans"/>
                <a:ea typeface="Public Sans"/>
                <a:cs typeface="Public Sans"/>
                <a:sym typeface="Public Sans"/>
              </a:rPr>
              <a:t>A quick recap of the foundational pillars covered in this data center overview:</a:t>
            </a:r>
            <a:endParaRPr b="0" i="0" sz="2400">
              <a:solidFill>
                <a:srgbClr val="64748B"/>
              </a:solidFill>
              <a:latin typeface="Public Sans"/>
              <a:ea typeface="Public Sans"/>
              <a:cs typeface="Public Sans"/>
              <a:sym typeface="Public Sans"/>
            </a:endParaRPr>
          </a:p>
        </p:txBody>
      </p:sp>
      <p:grpSp>
        <p:nvGrpSpPr>
          <p:cNvPr id="480" name="Google Shape;480;g3ecdd0eb50c_0_438"/>
          <p:cNvGrpSpPr/>
          <p:nvPr/>
        </p:nvGrpSpPr>
        <p:grpSpPr>
          <a:xfrm>
            <a:off x="762000" y="3707423"/>
            <a:ext cx="16764000" cy="4762500"/>
            <a:chOff x="762000" y="3048000"/>
            <a:chExt cx="16764000" cy="4762500"/>
          </a:xfrm>
        </p:grpSpPr>
        <p:sp>
          <p:nvSpPr>
            <p:cNvPr id="481" name="Google Shape;481;g3ecdd0eb50c_0_438"/>
            <p:cNvSpPr/>
            <p:nvPr/>
          </p:nvSpPr>
          <p:spPr>
            <a:xfrm>
              <a:off x="762000" y="3048000"/>
              <a:ext cx="5334000" cy="4762500"/>
            </a:xfrm>
            <a:prstGeom prst="roundRect">
              <a:avLst>
                <a:gd fmla="val 40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g3ecdd0eb50c_0_438"/>
            <p:cNvSpPr txBox="1"/>
            <p:nvPr/>
          </p:nvSpPr>
          <p:spPr>
            <a:xfrm>
              <a:off x="1047750" y="3333750"/>
              <a:ext cx="4762500" cy="419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FA632A"/>
                  </a:solidFill>
                  <a:latin typeface="Material Icons"/>
                  <a:ea typeface="Material Icons"/>
                  <a:cs typeface="Material Icons"/>
                  <a:sym typeface="Material Icons"/>
                </a:rPr>
                <a:t>storage</a:t>
              </a:r>
              <a:endParaRPr sz="4800">
                <a:solidFill>
                  <a:srgbClr val="FA632A"/>
                </a:solidFill>
                <a:latin typeface="Material Icons"/>
                <a:ea typeface="Material Icons"/>
                <a:cs typeface="Material Icons"/>
                <a:sym typeface="Material Icons"/>
              </a:endParaRPr>
            </a:p>
            <a:p>
              <a:pPr indent="0" lvl="0" marL="0" rtl="0" algn="l">
                <a:spcBef>
                  <a:spcPts val="1500"/>
                </a:spcBef>
                <a:spcAft>
                  <a:spcPts val="0"/>
                </a:spcAft>
                <a:buNone/>
              </a:pPr>
              <a:r>
                <a:rPr b="1" lang="en-US" sz="2800">
                  <a:solidFill>
                    <a:srgbClr val="191919"/>
                  </a:solidFill>
                  <a:latin typeface="Public Sans"/>
                  <a:ea typeface="Public Sans"/>
                  <a:cs typeface="Public Sans"/>
                  <a:sym typeface="Public Sans"/>
                </a:rPr>
                <a:t>Computing Backbone</a:t>
              </a:r>
              <a:endParaRPr b="1" sz="2800">
                <a:solidFill>
                  <a:srgbClr val="191919"/>
                </a:solidFill>
                <a:latin typeface="Public Sans"/>
                <a:ea typeface="Public Sans"/>
                <a:cs typeface="Public Sans"/>
                <a:sym typeface="Public Sans"/>
              </a:endParaRPr>
            </a:p>
            <a:p>
              <a:pPr indent="0" lvl="0" marL="0" rtl="0" algn="l">
                <a:spcBef>
                  <a:spcPts val="1125"/>
                </a:spcBef>
                <a:spcAft>
                  <a:spcPts val="0"/>
                </a:spcAft>
                <a:buNone/>
              </a:pPr>
              <a:r>
                <a:rPr b="0" lang="en-US" sz="1800">
                  <a:solidFill>
                    <a:srgbClr val="475569"/>
                  </a:solidFill>
                  <a:latin typeface="Public Sans"/>
                  <a:ea typeface="Public Sans"/>
                  <a:cs typeface="Public Sans"/>
                  <a:sym typeface="Public Sans"/>
                </a:rPr>
                <a:t>Data centers act as the physical container and vital foundation for critical cloud applications, machine learning systems, and digital services.</a:t>
              </a:r>
              <a:endParaRPr b="0" sz="1800">
                <a:solidFill>
                  <a:srgbClr val="475569"/>
                </a:solidFill>
                <a:latin typeface="Public Sans"/>
                <a:ea typeface="Public Sans"/>
                <a:cs typeface="Public Sans"/>
                <a:sym typeface="Public Sans"/>
              </a:endParaRPr>
            </a:p>
          </p:txBody>
        </p:sp>
        <p:sp>
          <p:nvSpPr>
            <p:cNvPr id="483" name="Google Shape;483;g3ecdd0eb50c_0_438"/>
            <p:cNvSpPr/>
            <p:nvPr/>
          </p:nvSpPr>
          <p:spPr>
            <a:xfrm>
              <a:off x="6477000" y="3048000"/>
              <a:ext cx="5334000" cy="4762500"/>
            </a:xfrm>
            <a:prstGeom prst="roundRect">
              <a:avLst>
                <a:gd fmla="val 4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g3ecdd0eb50c_0_438"/>
            <p:cNvSpPr txBox="1"/>
            <p:nvPr/>
          </p:nvSpPr>
          <p:spPr>
            <a:xfrm>
              <a:off x="6762750" y="3333750"/>
              <a:ext cx="4762500" cy="419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FA632A"/>
                  </a:solidFill>
                  <a:latin typeface="Material Icons"/>
                  <a:ea typeface="Material Icons"/>
                  <a:cs typeface="Material Icons"/>
                  <a:sym typeface="Material Icons"/>
                </a:rPr>
                <a:t>layers</a:t>
              </a:r>
              <a:endParaRPr sz="4800">
                <a:solidFill>
                  <a:srgbClr val="FA632A"/>
                </a:solidFill>
                <a:latin typeface="Material Icons"/>
                <a:ea typeface="Material Icons"/>
                <a:cs typeface="Material Icons"/>
                <a:sym typeface="Material Icons"/>
              </a:endParaRPr>
            </a:p>
            <a:p>
              <a:pPr indent="0" lvl="0" marL="0" rtl="0" algn="l">
                <a:spcBef>
                  <a:spcPts val="1500"/>
                </a:spcBef>
                <a:spcAft>
                  <a:spcPts val="0"/>
                </a:spcAft>
                <a:buNone/>
              </a:pPr>
              <a:r>
                <a:rPr b="1" lang="en-US" sz="2800">
                  <a:solidFill>
                    <a:srgbClr val="FFFFFF"/>
                  </a:solidFill>
                  <a:latin typeface="Public Sans"/>
                  <a:ea typeface="Public Sans"/>
                  <a:cs typeface="Public Sans"/>
                  <a:sym typeface="Public Sans"/>
                </a:rPr>
                <a:t>Architectural Tiers</a:t>
              </a:r>
              <a:endParaRPr b="1" sz="2800">
                <a:solidFill>
                  <a:srgbClr val="FFFFFF"/>
                </a:solidFill>
                <a:latin typeface="Public Sans"/>
                <a:ea typeface="Public Sans"/>
                <a:cs typeface="Public Sans"/>
                <a:sym typeface="Public Sans"/>
              </a:endParaRPr>
            </a:p>
            <a:p>
              <a:pPr indent="0" lvl="0" marL="0" rtl="0" algn="l">
                <a:spcBef>
                  <a:spcPts val="1125"/>
                </a:spcBef>
                <a:spcAft>
                  <a:spcPts val="0"/>
                </a:spcAft>
                <a:buNone/>
              </a:pPr>
              <a:r>
                <a:rPr b="0" lang="en-US" sz="1800">
                  <a:solidFill>
                    <a:srgbClr val="CBD5E1"/>
                  </a:solidFill>
                  <a:latin typeface="Public Sans"/>
                  <a:ea typeface="Public Sans"/>
                  <a:cs typeface="Public Sans"/>
                  <a:sym typeface="Public Sans"/>
                </a:rPr>
                <a:t>Facilities span four distinct models (Hyperscale, Colocation, Enterprise, and Edge) optimized for scale, security, and latency.</a:t>
              </a:r>
              <a:endParaRPr b="0" sz="1800">
                <a:solidFill>
                  <a:srgbClr val="CBD5E1"/>
                </a:solidFill>
                <a:latin typeface="Public Sans"/>
                <a:ea typeface="Public Sans"/>
                <a:cs typeface="Public Sans"/>
                <a:sym typeface="Public Sans"/>
              </a:endParaRPr>
            </a:p>
          </p:txBody>
        </p:sp>
        <p:sp>
          <p:nvSpPr>
            <p:cNvPr id="485" name="Google Shape;485;g3ecdd0eb50c_0_438"/>
            <p:cNvSpPr/>
            <p:nvPr/>
          </p:nvSpPr>
          <p:spPr>
            <a:xfrm>
              <a:off x="12192000" y="3048000"/>
              <a:ext cx="5334000" cy="4762500"/>
            </a:xfrm>
            <a:prstGeom prst="roundRect">
              <a:avLst>
                <a:gd fmla="val 4000"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g3ecdd0eb50c_0_438"/>
            <p:cNvSpPr txBox="1"/>
            <p:nvPr/>
          </p:nvSpPr>
          <p:spPr>
            <a:xfrm>
              <a:off x="12477750" y="3333750"/>
              <a:ext cx="4762500" cy="419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FA632A"/>
                  </a:solidFill>
                  <a:latin typeface="Material Icons"/>
                  <a:ea typeface="Material Icons"/>
                  <a:cs typeface="Material Icons"/>
                  <a:sym typeface="Material Icons"/>
                </a:rPr>
                <a:t>trending_up</a:t>
              </a:r>
              <a:endParaRPr sz="4800">
                <a:solidFill>
                  <a:srgbClr val="FA632A"/>
                </a:solidFill>
                <a:latin typeface="Material Icons"/>
                <a:ea typeface="Material Icons"/>
                <a:cs typeface="Material Icons"/>
                <a:sym typeface="Material Icons"/>
              </a:endParaRPr>
            </a:p>
            <a:p>
              <a:pPr indent="0" lvl="0" marL="0" rtl="0" algn="l">
                <a:spcBef>
                  <a:spcPts val="1500"/>
                </a:spcBef>
                <a:spcAft>
                  <a:spcPts val="0"/>
                </a:spcAft>
                <a:buNone/>
              </a:pPr>
              <a:r>
                <a:rPr b="1" lang="en-US" sz="2800">
                  <a:solidFill>
                    <a:srgbClr val="191919"/>
                  </a:solidFill>
                  <a:latin typeface="Public Sans"/>
                  <a:ea typeface="Public Sans"/>
                  <a:cs typeface="Public Sans"/>
                  <a:sym typeface="Public Sans"/>
                </a:rPr>
                <a:t>Drivers &amp; Challenges</a:t>
              </a:r>
              <a:endParaRPr b="1" sz="2800">
                <a:solidFill>
                  <a:srgbClr val="191919"/>
                </a:solidFill>
                <a:latin typeface="Public Sans"/>
                <a:ea typeface="Public Sans"/>
                <a:cs typeface="Public Sans"/>
                <a:sym typeface="Public Sans"/>
              </a:endParaRPr>
            </a:p>
            <a:p>
              <a:pPr indent="0" lvl="0" marL="0" rtl="0" algn="l">
                <a:spcBef>
                  <a:spcPts val="1125"/>
                </a:spcBef>
                <a:spcAft>
                  <a:spcPts val="0"/>
                </a:spcAft>
                <a:buNone/>
              </a:pPr>
              <a:r>
                <a:rPr b="0" lang="en-US" sz="1800">
                  <a:solidFill>
                    <a:srgbClr val="475569"/>
                  </a:solidFill>
                  <a:latin typeface="Public Sans"/>
                  <a:ea typeface="Public Sans"/>
                  <a:cs typeface="Public Sans"/>
                  <a:sym typeface="Public Sans"/>
                </a:rPr>
                <a:t>Clustered across fiber routes but constrained by cooling needs, land availability, and physical perimeter threats.</a:t>
              </a:r>
              <a:endParaRPr b="0" sz="1800">
                <a:solidFill>
                  <a:srgbClr val="475569"/>
                </a:solidFill>
                <a:latin typeface="Public Sans"/>
                <a:ea typeface="Public Sans"/>
                <a:cs typeface="Public Sans"/>
                <a:sym typeface="Public Sans"/>
              </a:endParaRPr>
            </a:p>
          </p:txBody>
        </p:sp>
      </p:grpSp>
      <p:grpSp>
        <p:nvGrpSpPr>
          <p:cNvPr id="487" name="Google Shape;487;g3ecdd0eb50c_0_438"/>
          <p:cNvGrpSpPr/>
          <p:nvPr/>
        </p:nvGrpSpPr>
        <p:grpSpPr>
          <a:xfrm>
            <a:off x="13430250" y="8953500"/>
            <a:ext cx="4286400" cy="762000"/>
            <a:chOff x="13430250" y="8953500"/>
            <a:chExt cx="4286400" cy="762000"/>
          </a:xfrm>
        </p:grpSpPr>
        <p:sp>
          <p:nvSpPr>
            <p:cNvPr id="488" name="Google Shape;488;g3ecdd0eb50c_0_438"/>
            <p:cNvSpPr/>
            <p:nvPr/>
          </p:nvSpPr>
          <p:spPr>
            <a:xfrm>
              <a:off x="13430250" y="8953500"/>
              <a:ext cx="4286400" cy="7620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g3ecdd0eb50c_0_438"/>
            <p:cNvSpPr txBox="1"/>
            <p:nvPr/>
          </p:nvSpPr>
          <p:spPr>
            <a:xfrm>
              <a:off x="13430250" y="8953500"/>
              <a:ext cx="42864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FFFFFF"/>
                  </a:solidFill>
                  <a:latin typeface="Public Sans"/>
                  <a:ea typeface="Public Sans"/>
                  <a:cs typeface="Public Sans"/>
                  <a:sym typeface="Public Sans"/>
                </a:rPr>
                <a:t>Proceed to Assessment </a:t>
              </a:r>
              <a:r>
                <a:rPr b="1" lang="en-US" sz="2400">
                  <a:solidFill>
                    <a:srgbClr val="FFFFFF"/>
                  </a:solidFill>
                  <a:latin typeface="Material Icons"/>
                  <a:ea typeface="Material Icons"/>
                  <a:cs typeface="Material Icons"/>
                  <a:sym typeface="Material Icons"/>
                </a:rPr>
                <a:t>arrow_forward</a:t>
              </a:r>
              <a:endParaRPr b="1" sz="2000">
                <a:solidFill>
                  <a:srgbClr val="FFFFFF"/>
                </a:solidFill>
                <a:latin typeface="Public Sans"/>
                <a:ea typeface="Public Sans"/>
                <a:cs typeface="Public Sans"/>
                <a:sym typeface="Public Sans"/>
              </a:endParaRPr>
            </a:p>
          </p:txBody>
        </p:sp>
      </p:grpSp>
      <p:sp>
        <p:nvSpPr>
          <p:cNvPr id="490" name="Google Shape;490;g3ecdd0eb50c_0_438"/>
          <p:cNvSpPr txBox="1"/>
          <p:nvPr/>
        </p:nvSpPr>
        <p:spPr>
          <a:xfrm>
            <a:off x="17721263" y="9628823"/>
            <a:ext cx="3810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9</a:t>
            </a:r>
            <a:endParaRPr b="1" sz="2000">
              <a:solidFill>
                <a:srgbClr val="FA632A"/>
              </a:solidFill>
              <a:latin typeface="Public Sans"/>
              <a:ea typeface="Public Sans"/>
              <a:cs typeface="Public Sans"/>
              <a:sym typeface="Public Sans"/>
            </a:endParaRPr>
          </a:p>
        </p:txBody>
      </p:sp>
      <p:sp>
        <p:nvSpPr>
          <p:cNvPr id="491" name="Google Shape;491;g3ecdd0eb50c_0_438"/>
          <p:cNvSpPr/>
          <p:nvPr/>
        </p:nvSpPr>
        <p:spPr>
          <a:xfrm>
            <a:off x="-7112025" y="-1420800"/>
            <a:ext cx="6796800" cy="1455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2800">
              <a:latin typeface="Calibri"/>
              <a:ea typeface="Calibri"/>
              <a:cs typeface="Calibri"/>
              <a:sym typeface="Calibri"/>
            </a:endParaRPr>
          </a:p>
          <a:p>
            <a:pPr indent="0" lvl="0" marL="0" rtl="0" algn="l">
              <a:spcBef>
                <a:spcPts val="0"/>
              </a:spcBef>
              <a:spcAft>
                <a:spcPts val="0"/>
              </a:spcAft>
              <a:buNone/>
            </a:pPr>
            <a:r>
              <a:t/>
            </a:r>
            <a:endParaRPr b="1" sz="2800">
              <a:latin typeface="Calibri"/>
              <a:ea typeface="Calibri"/>
              <a:cs typeface="Calibri"/>
              <a:sym typeface="Calibri"/>
            </a:endParaRPr>
          </a:p>
          <a:p>
            <a:pPr indent="0" lvl="0" marL="0" rtl="0" algn="l">
              <a:spcBef>
                <a:spcPts val="0"/>
              </a:spcBef>
              <a:spcAft>
                <a:spcPts val="0"/>
              </a:spcAft>
              <a:buNone/>
            </a:pPr>
            <a:r>
              <a:rPr b="1" lang="en-US" sz="2800">
                <a:latin typeface="Calibri"/>
                <a:ea typeface="Calibri"/>
                <a:cs typeface="Calibri"/>
                <a:sym typeface="Calibri"/>
              </a:rPr>
              <a:t>                </a:t>
            </a: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&amp; Layout Strategy</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None. The layout relies on clean, high-contrast typography, distinct structural cards, and ample white space instead of heavy background graphics or photographs. In image_8a6f85.png, these are rendered in the signature orange brand color to signify the theme of each core takeaway (e.g., list icon for infrastructure, layered rhombuses for architectural tiers, and an upward trend line for drivers/challenges).</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Structure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Three-Column Horizontal Grid: The slide utilizes a beautifully balanced, three-column card grid across a clean white background layout.</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Strategic Rationale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Dividing the synthesis into three distinct visual pillars blocks the text into highly digestible, scannable units. By changing the background fill of the middle card, the design prevents standard layout fatigue and signals to the learner that the course is transitioning into a concluding phase before the assessment.</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None (Linear Navigation - 'Proceed to Assessment' Button)</a:t>
            </a:r>
            <a:endParaRPr sz="28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5" name="Shape 495"/>
        <p:cNvGrpSpPr/>
        <p:nvPr/>
      </p:nvGrpSpPr>
      <p:grpSpPr>
        <a:xfrm>
          <a:off x="0" y="0"/>
          <a:ext cx="0" cy="0"/>
          <a:chOff x="0" y="0"/>
          <a:chExt cx="0" cy="0"/>
        </a:xfrm>
      </p:grpSpPr>
      <p:sp>
        <p:nvSpPr>
          <p:cNvPr id="496" name="Google Shape;496;g3ecdd0eb50c_13_403"/>
          <p:cNvSpPr txBox="1"/>
          <p:nvPr/>
        </p:nvSpPr>
        <p:spPr>
          <a:xfrm>
            <a:off x="571500" y="1428750"/>
            <a:ext cx="17145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6400">
                <a:solidFill>
                  <a:srgbClr val="191919"/>
                </a:solidFill>
                <a:latin typeface="Public Sans"/>
                <a:ea typeface="Public Sans"/>
                <a:cs typeface="Public Sans"/>
                <a:sym typeface="Public Sans"/>
              </a:rPr>
              <a:t>Knowledge</a:t>
            </a:r>
            <a:r>
              <a:rPr b="1" lang="en-US" sz="6400">
                <a:solidFill>
                  <a:srgbClr val="191919"/>
                </a:solidFill>
                <a:latin typeface="Public Sans"/>
                <a:ea typeface="Public Sans"/>
                <a:cs typeface="Public Sans"/>
                <a:sym typeface="Public Sans"/>
              </a:rPr>
              <a:t> </a:t>
            </a:r>
            <a:r>
              <a:rPr b="1" lang="en-US" sz="6400">
                <a:solidFill>
                  <a:srgbClr val="FA632A"/>
                </a:solidFill>
                <a:latin typeface="Public Sans"/>
                <a:ea typeface="Public Sans"/>
                <a:cs typeface="Public Sans"/>
                <a:sym typeface="Public Sans"/>
              </a:rPr>
              <a:t>Assessment</a:t>
            </a:r>
            <a:endParaRPr b="1" sz="6400">
              <a:solidFill>
                <a:srgbClr val="191919"/>
              </a:solidFill>
              <a:latin typeface="Public Sans"/>
              <a:ea typeface="Public Sans"/>
              <a:cs typeface="Public Sans"/>
              <a:sym typeface="Public Sans"/>
            </a:endParaRPr>
          </a:p>
        </p:txBody>
      </p:sp>
      <p:grpSp>
        <p:nvGrpSpPr>
          <p:cNvPr id="497" name="Google Shape;497;g3ecdd0eb50c_13_403"/>
          <p:cNvGrpSpPr/>
          <p:nvPr/>
        </p:nvGrpSpPr>
        <p:grpSpPr>
          <a:xfrm>
            <a:off x="571500" y="2667000"/>
            <a:ext cx="17145000" cy="1143000"/>
            <a:chOff x="571500" y="2667000"/>
            <a:chExt cx="17145000" cy="1143000"/>
          </a:xfrm>
        </p:grpSpPr>
        <p:sp>
          <p:nvSpPr>
            <p:cNvPr id="498" name="Google Shape;498;g3ecdd0eb50c_13_403"/>
            <p:cNvSpPr/>
            <p:nvPr/>
          </p:nvSpPr>
          <p:spPr>
            <a:xfrm>
              <a:off x="571500" y="2667000"/>
              <a:ext cx="17145000" cy="1143000"/>
            </a:xfrm>
            <a:prstGeom prst="roundRect">
              <a:avLst>
                <a:gd fmla="val 16666"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g3ecdd0eb50c_13_403"/>
            <p:cNvSpPr txBox="1"/>
            <p:nvPr/>
          </p:nvSpPr>
          <p:spPr>
            <a:xfrm>
              <a:off x="857250" y="2667000"/>
              <a:ext cx="16573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800">
                  <a:solidFill>
                    <a:srgbClr val="1E293B"/>
                  </a:solidFill>
                  <a:latin typeface="Public Sans"/>
                  <a:ea typeface="Public Sans"/>
                  <a:cs typeface="Public Sans"/>
                  <a:sym typeface="Public Sans"/>
                </a:rPr>
                <a:t>Q1. </a:t>
              </a:r>
              <a:r>
                <a:rPr b="0" lang="en-US" sz="2800">
                  <a:solidFill>
                    <a:srgbClr val="1E293B"/>
                  </a:solidFill>
                  <a:latin typeface="Public Sans"/>
                  <a:ea typeface="Public Sans"/>
                  <a:cs typeface="Public Sans"/>
                  <a:sym typeface="Public Sans"/>
                </a:rPr>
                <a:t>Which of the following describes a </a:t>
              </a:r>
              <a:r>
                <a:rPr b="1" lang="en-US" sz="2800">
                  <a:solidFill>
                    <a:srgbClr val="1E293B"/>
                  </a:solidFill>
                  <a:latin typeface="Public Sans"/>
                  <a:ea typeface="Public Sans"/>
                  <a:cs typeface="Public Sans"/>
                  <a:sym typeface="Public Sans"/>
                </a:rPr>
                <a:t>core physical requirement</a:t>
              </a:r>
              <a:r>
                <a:rPr b="0" lang="en-US" sz="2800">
                  <a:solidFill>
                    <a:srgbClr val="1E293B"/>
                  </a:solidFill>
                  <a:latin typeface="Public Sans"/>
                  <a:ea typeface="Public Sans"/>
                  <a:cs typeface="Public Sans"/>
                  <a:sym typeface="Public Sans"/>
                </a:rPr>
                <a:t> of a data center as specified in the source text?</a:t>
              </a:r>
              <a:endParaRPr b="0" sz="2800">
                <a:solidFill>
                  <a:srgbClr val="1E293B"/>
                </a:solidFill>
                <a:latin typeface="Public Sans"/>
                <a:ea typeface="Public Sans"/>
                <a:cs typeface="Public Sans"/>
                <a:sym typeface="Public Sans"/>
              </a:endParaRPr>
            </a:p>
          </p:txBody>
        </p:sp>
      </p:grpSp>
      <p:grpSp>
        <p:nvGrpSpPr>
          <p:cNvPr id="500" name="Google Shape;500;g3ecdd0eb50c_13_403"/>
          <p:cNvGrpSpPr/>
          <p:nvPr/>
        </p:nvGrpSpPr>
        <p:grpSpPr>
          <a:xfrm>
            <a:off x="571500" y="4095750"/>
            <a:ext cx="17145000" cy="1238400"/>
            <a:chOff x="571500" y="4095750"/>
            <a:chExt cx="17145000" cy="1238400"/>
          </a:xfrm>
        </p:grpSpPr>
        <p:sp>
          <p:nvSpPr>
            <p:cNvPr id="501" name="Google Shape;501;g3ecdd0eb50c_13_403"/>
            <p:cNvSpPr/>
            <p:nvPr/>
          </p:nvSpPr>
          <p:spPr>
            <a:xfrm>
              <a:off x="571500" y="4095750"/>
              <a:ext cx="17145000" cy="1238400"/>
            </a:xfrm>
            <a:prstGeom prst="roundRect">
              <a:avLst>
                <a:gd fmla="val 11538"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2" name="Google Shape;502;g3ecdd0eb50c_13_403"/>
            <p:cNvSpPr/>
            <p:nvPr/>
          </p:nvSpPr>
          <p:spPr>
            <a:xfrm>
              <a:off x="571500" y="4095750"/>
              <a:ext cx="114300" cy="1238400"/>
            </a:xfrm>
            <a:prstGeom prst="rect">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g3ecdd0eb50c_13_403"/>
            <p:cNvSpPr txBox="1"/>
            <p:nvPr/>
          </p:nvSpPr>
          <p:spPr>
            <a:xfrm>
              <a:off x="952500" y="4095750"/>
              <a:ext cx="16478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200">
                  <a:solidFill>
                    <a:srgbClr val="FFFFFF"/>
                  </a:solidFill>
                  <a:latin typeface="Public Sans"/>
                  <a:ea typeface="Public Sans"/>
                  <a:cs typeface="Public Sans"/>
                  <a:sym typeface="Public Sans"/>
                </a:rPr>
                <a:t>Significant power, robust cooling systems to prevent overheating, and extensive network connectivity.</a:t>
              </a:r>
              <a:endParaRPr sz="2200">
                <a:solidFill>
                  <a:srgbClr val="FFFFFF"/>
                </a:solidFill>
                <a:latin typeface="Public Sans"/>
                <a:ea typeface="Public Sans"/>
                <a:cs typeface="Public Sans"/>
                <a:sym typeface="Public Sans"/>
              </a:endParaRPr>
            </a:p>
          </p:txBody>
        </p:sp>
      </p:grpSp>
      <p:grpSp>
        <p:nvGrpSpPr>
          <p:cNvPr id="504" name="Google Shape;504;g3ecdd0eb50c_13_403"/>
          <p:cNvGrpSpPr/>
          <p:nvPr/>
        </p:nvGrpSpPr>
        <p:grpSpPr>
          <a:xfrm>
            <a:off x="571500" y="5524500"/>
            <a:ext cx="17145000" cy="1238400"/>
            <a:chOff x="571500" y="5524500"/>
            <a:chExt cx="17145000" cy="1238400"/>
          </a:xfrm>
        </p:grpSpPr>
        <p:sp>
          <p:nvSpPr>
            <p:cNvPr id="505" name="Google Shape;505;g3ecdd0eb50c_13_403"/>
            <p:cNvSpPr/>
            <p:nvPr/>
          </p:nvSpPr>
          <p:spPr>
            <a:xfrm>
              <a:off x="571500" y="5524500"/>
              <a:ext cx="17145000" cy="1238400"/>
            </a:xfrm>
            <a:prstGeom prst="roundRect">
              <a:avLst>
                <a:gd fmla="val 11538"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6" name="Google Shape;506;g3ecdd0eb50c_13_403"/>
            <p:cNvSpPr/>
            <p:nvPr/>
          </p:nvSpPr>
          <p:spPr>
            <a:xfrm>
              <a:off x="571500" y="5524500"/>
              <a:ext cx="114300" cy="12384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7" name="Google Shape;507;g3ecdd0eb50c_13_403"/>
            <p:cNvSpPr txBox="1"/>
            <p:nvPr/>
          </p:nvSpPr>
          <p:spPr>
            <a:xfrm>
              <a:off x="952500" y="5524500"/>
              <a:ext cx="16478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200">
                  <a:solidFill>
                    <a:srgbClr val="475569"/>
                  </a:solidFill>
                  <a:latin typeface="Public Sans"/>
                  <a:ea typeface="Public Sans"/>
                  <a:cs typeface="Public Sans"/>
                  <a:sym typeface="Public Sans"/>
                </a:rPr>
                <a:t>Decentralized software layers managed exclusively via global open-source automation protocols.</a:t>
              </a:r>
              <a:endParaRPr sz="2200">
                <a:solidFill>
                  <a:srgbClr val="475569"/>
                </a:solidFill>
                <a:latin typeface="Public Sans"/>
                <a:ea typeface="Public Sans"/>
                <a:cs typeface="Public Sans"/>
                <a:sym typeface="Public Sans"/>
              </a:endParaRPr>
            </a:p>
          </p:txBody>
        </p:sp>
      </p:grpSp>
      <p:grpSp>
        <p:nvGrpSpPr>
          <p:cNvPr id="508" name="Google Shape;508;g3ecdd0eb50c_13_403"/>
          <p:cNvGrpSpPr/>
          <p:nvPr/>
        </p:nvGrpSpPr>
        <p:grpSpPr>
          <a:xfrm>
            <a:off x="571500" y="6953250"/>
            <a:ext cx="17145000" cy="1238400"/>
            <a:chOff x="571500" y="6953250"/>
            <a:chExt cx="17145000" cy="1238400"/>
          </a:xfrm>
        </p:grpSpPr>
        <p:sp>
          <p:nvSpPr>
            <p:cNvPr id="509" name="Google Shape;509;g3ecdd0eb50c_13_403"/>
            <p:cNvSpPr/>
            <p:nvPr/>
          </p:nvSpPr>
          <p:spPr>
            <a:xfrm>
              <a:off x="571500" y="6953250"/>
              <a:ext cx="17145000" cy="1238400"/>
            </a:xfrm>
            <a:prstGeom prst="roundRect">
              <a:avLst>
                <a:gd fmla="val 11538"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0" name="Google Shape;510;g3ecdd0eb50c_13_403"/>
            <p:cNvSpPr/>
            <p:nvPr/>
          </p:nvSpPr>
          <p:spPr>
            <a:xfrm>
              <a:off x="571500" y="6953250"/>
              <a:ext cx="114300" cy="12384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g3ecdd0eb50c_13_403"/>
            <p:cNvSpPr txBox="1"/>
            <p:nvPr/>
          </p:nvSpPr>
          <p:spPr>
            <a:xfrm>
              <a:off x="952500" y="6953250"/>
              <a:ext cx="16478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200">
                  <a:solidFill>
                    <a:srgbClr val="475569"/>
                  </a:solidFill>
                  <a:latin typeface="Public Sans"/>
                  <a:ea typeface="Public Sans"/>
                  <a:cs typeface="Public Sans"/>
                  <a:sym typeface="Public Sans"/>
                </a:rPr>
                <a:t>Automated public grid systems that function independently of localized hardware storage arrays.</a:t>
              </a:r>
              <a:endParaRPr sz="2200">
                <a:solidFill>
                  <a:srgbClr val="475569"/>
                </a:solidFill>
                <a:latin typeface="Public Sans"/>
                <a:ea typeface="Public Sans"/>
                <a:cs typeface="Public Sans"/>
                <a:sym typeface="Public Sans"/>
              </a:endParaRPr>
            </a:p>
          </p:txBody>
        </p:sp>
      </p:grpSp>
      <p:grpSp>
        <p:nvGrpSpPr>
          <p:cNvPr id="512" name="Google Shape;512;g3ecdd0eb50c_13_403"/>
          <p:cNvGrpSpPr/>
          <p:nvPr/>
        </p:nvGrpSpPr>
        <p:grpSpPr>
          <a:xfrm>
            <a:off x="571500" y="8382000"/>
            <a:ext cx="17145000" cy="1238400"/>
            <a:chOff x="571500" y="8382000"/>
            <a:chExt cx="17145000" cy="1238400"/>
          </a:xfrm>
        </p:grpSpPr>
        <p:sp>
          <p:nvSpPr>
            <p:cNvPr id="513" name="Google Shape;513;g3ecdd0eb50c_13_403"/>
            <p:cNvSpPr/>
            <p:nvPr/>
          </p:nvSpPr>
          <p:spPr>
            <a:xfrm>
              <a:off x="571500" y="8382000"/>
              <a:ext cx="17145000" cy="1238400"/>
            </a:xfrm>
            <a:prstGeom prst="roundRect">
              <a:avLst>
                <a:gd fmla="val 11538"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4" name="Google Shape;514;g3ecdd0eb50c_13_403"/>
            <p:cNvSpPr/>
            <p:nvPr/>
          </p:nvSpPr>
          <p:spPr>
            <a:xfrm>
              <a:off x="571500" y="8382000"/>
              <a:ext cx="114300" cy="12384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g3ecdd0eb50c_13_403"/>
            <p:cNvSpPr txBox="1"/>
            <p:nvPr/>
          </p:nvSpPr>
          <p:spPr>
            <a:xfrm>
              <a:off x="952500" y="8382000"/>
              <a:ext cx="16478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200">
                  <a:solidFill>
                    <a:srgbClr val="475569"/>
                  </a:solidFill>
                  <a:latin typeface="Public Sans"/>
                  <a:ea typeface="Public Sans"/>
                  <a:cs typeface="Public Sans"/>
                  <a:sym typeface="Public Sans"/>
                </a:rPr>
                <a:t>Virtual software solutions designed to replace on-premises hardware networking components.</a:t>
              </a:r>
              <a:endParaRPr sz="2200">
                <a:solidFill>
                  <a:srgbClr val="475569"/>
                </a:solidFill>
                <a:latin typeface="Public Sans"/>
                <a:ea typeface="Public Sans"/>
                <a:cs typeface="Public Sans"/>
                <a:sym typeface="Public Sans"/>
              </a:endParaRPr>
            </a:p>
          </p:txBody>
        </p:sp>
      </p:grpSp>
      <p:sp>
        <p:nvSpPr>
          <p:cNvPr id="516" name="Google Shape;516;g3ecdd0eb50c_13_403"/>
          <p:cNvSpPr txBox="1"/>
          <p:nvPr/>
        </p:nvSpPr>
        <p:spPr>
          <a:xfrm>
            <a:off x="17335500" y="9963150"/>
            <a:ext cx="3810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10</a:t>
            </a:r>
            <a:endParaRPr b="1" sz="2000">
              <a:solidFill>
                <a:srgbClr val="FA632A"/>
              </a:solidFill>
              <a:latin typeface="Public Sans"/>
              <a:ea typeface="Public Sans"/>
              <a:cs typeface="Public Sans"/>
              <a:sym typeface="Public Sans"/>
            </a:endParaRPr>
          </a:p>
        </p:txBody>
      </p:sp>
      <p:sp>
        <p:nvSpPr>
          <p:cNvPr id="517" name="Google Shape;517;g3ecdd0eb50c_13_403"/>
          <p:cNvSpPr/>
          <p:nvPr/>
        </p:nvSpPr>
        <p:spPr>
          <a:xfrm>
            <a:off x="-6980475" y="-704175"/>
            <a:ext cx="6796800" cy="11419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latin typeface="Calibri"/>
                <a:ea typeface="Calibri"/>
                <a:cs typeface="Calibri"/>
                <a:sym typeface="Calibri"/>
              </a:rPr>
              <a:t>Notes to Media Team</a:t>
            </a:r>
            <a:endParaRPr b="1" sz="2800">
              <a:latin typeface="Calibri"/>
              <a:ea typeface="Calibri"/>
              <a:cs typeface="Calibri"/>
              <a:sym typeface="Calibri"/>
            </a:endParaRPr>
          </a:p>
          <a:p>
            <a:pPr indent="0" lvl="0" marL="0" rtl="0" algn="ctr">
              <a:spcBef>
                <a:spcPts val="0"/>
              </a:spcBef>
              <a:spcAft>
                <a:spcPts val="0"/>
              </a:spcAft>
              <a:buNone/>
            </a:pPr>
            <a:r>
              <a:t/>
            </a:r>
            <a:endParaRPr b="1"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&amp; Layout Strategy</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Visual Recommendation: Image Type: Clean corporate checkmark summary banner. Icon Style: Clean confirmation checks. Infographic Type: Core takeaways milestone path. Layout Structure: Single structured summary sheet card with clear spacing and a highlighted banner header.</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Layout Structure: A single premium summary box framed with generous white space and an accent header banner to mark successful content completion.</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Strategic Rationale: This comprehensive, high-level summary ties components, classifications, and regional challenges back together, preparing learners for the final assessment.</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Interaction Type</a:t>
            </a:r>
            <a:endParaRPr sz="2800">
              <a:latin typeface="Calibri"/>
              <a:ea typeface="Calibri"/>
              <a:cs typeface="Calibri"/>
              <a:sym typeface="Calibri"/>
            </a:endParaRPr>
          </a:p>
          <a:p>
            <a:pPr indent="0" lvl="0" marL="0" rtl="0" algn="ctr">
              <a:spcBef>
                <a:spcPts val="0"/>
              </a:spcBef>
              <a:spcAft>
                <a:spcPts val="0"/>
              </a:spcAft>
              <a:buNone/>
            </a:pPr>
            <a:r>
              <a:rPr lang="en-US" sz="2800">
                <a:latin typeface="Calibri"/>
                <a:ea typeface="Calibri"/>
                <a:cs typeface="Calibri"/>
                <a:sym typeface="Calibri"/>
              </a:rPr>
              <a:t>None (Linear Navigation - 'Proceed to Assessment' Button)</a:t>
            </a:r>
            <a:endParaRPr sz="2800">
              <a:latin typeface="Calibri"/>
              <a:ea typeface="Calibri"/>
              <a:cs typeface="Calibri"/>
              <a:sym typeface="Calibri"/>
            </a:endParaRPr>
          </a:p>
          <a:p>
            <a:pPr indent="0" lvl="0" marL="0" rtl="0" algn="l">
              <a:spcBef>
                <a:spcPts val="0"/>
              </a:spcBef>
              <a:spcAft>
                <a:spcPts val="0"/>
              </a:spcAft>
              <a:buNone/>
            </a:pPr>
            <a:r>
              <a:t/>
            </a:r>
            <a:endParaRPr sz="2800">
              <a:latin typeface="Calibri"/>
              <a:ea typeface="Calibri"/>
              <a:cs typeface="Calibri"/>
              <a:sym typeface="Calibri"/>
            </a:endParaRPr>
          </a:p>
        </p:txBody>
      </p:sp>
      <p:pic>
        <p:nvPicPr>
          <p:cNvPr id="518" name="Google Shape;518;g3ecdd0eb50c_13_403" title="genpact_Logo.png"/>
          <p:cNvPicPr preferRelativeResize="0"/>
          <p:nvPr/>
        </p:nvPicPr>
        <p:blipFill rotWithShape="1">
          <a:blip r:embed="rId4">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2" name="Shape 522"/>
        <p:cNvGrpSpPr/>
        <p:nvPr/>
      </p:nvGrpSpPr>
      <p:grpSpPr>
        <a:xfrm>
          <a:off x="0" y="0"/>
          <a:ext cx="0" cy="0"/>
          <a:chOff x="0" y="0"/>
          <a:chExt cx="0" cy="0"/>
        </a:xfrm>
      </p:grpSpPr>
      <p:grpSp>
        <p:nvGrpSpPr>
          <p:cNvPr id="523" name="Google Shape;523;g3ecdd0eb50c_13_622"/>
          <p:cNvGrpSpPr/>
          <p:nvPr/>
        </p:nvGrpSpPr>
        <p:grpSpPr>
          <a:xfrm>
            <a:off x="571500" y="2476500"/>
            <a:ext cx="17145000" cy="1333500"/>
            <a:chOff x="571500" y="2476500"/>
            <a:chExt cx="17145000" cy="1333500"/>
          </a:xfrm>
        </p:grpSpPr>
        <p:sp>
          <p:nvSpPr>
            <p:cNvPr id="524" name="Google Shape;524;g3ecdd0eb50c_13_622"/>
            <p:cNvSpPr/>
            <p:nvPr/>
          </p:nvSpPr>
          <p:spPr>
            <a:xfrm>
              <a:off x="571500" y="2476500"/>
              <a:ext cx="17145000" cy="1333500"/>
            </a:xfrm>
            <a:prstGeom prst="roundRect">
              <a:avLst>
                <a:gd fmla="val 14285"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5" name="Google Shape;525;g3ecdd0eb50c_13_622"/>
            <p:cNvSpPr txBox="1"/>
            <p:nvPr/>
          </p:nvSpPr>
          <p:spPr>
            <a:xfrm>
              <a:off x="857250" y="2476500"/>
              <a:ext cx="165735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US" sz="2800">
                  <a:solidFill>
                    <a:srgbClr val="1E293B"/>
                  </a:solidFill>
                  <a:latin typeface="Public Sans"/>
                  <a:ea typeface="Public Sans"/>
                  <a:cs typeface="Public Sans"/>
                  <a:sym typeface="Public Sans"/>
                </a:rPr>
                <a:t>Q2. A multi-billion-dollar cloud infrastructure provider is establishing vast, centralized campuses to handle massive, scalable cloud and AI workloads. According to the source content, what type of data center configuration does this describe?</a:t>
              </a:r>
              <a:endParaRPr b="0" i="0" sz="2800">
                <a:solidFill>
                  <a:srgbClr val="1E293B"/>
                </a:solidFill>
                <a:latin typeface="Public Sans"/>
                <a:ea typeface="Public Sans"/>
                <a:cs typeface="Public Sans"/>
                <a:sym typeface="Public Sans"/>
              </a:endParaRPr>
            </a:p>
          </p:txBody>
        </p:sp>
      </p:grpSp>
      <p:grpSp>
        <p:nvGrpSpPr>
          <p:cNvPr id="526" name="Google Shape;526;g3ecdd0eb50c_13_622"/>
          <p:cNvGrpSpPr/>
          <p:nvPr/>
        </p:nvGrpSpPr>
        <p:grpSpPr>
          <a:xfrm>
            <a:off x="571500" y="4191000"/>
            <a:ext cx="17145000" cy="1143000"/>
            <a:chOff x="571500" y="4191000"/>
            <a:chExt cx="17145000" cy="1143000"/>
          </a:xfrm>
        </p:grpSpPr>
        <p:sp>
          <p:nvSpPr>
            <p:cNvPr id="527" name="Google Shape;527;g3ecdd0eb50c_13_622"/>
            <p:cNvSpPr/>
            <p:nvPr/>
          </p:nvSpPr>
          <p:spPr>
            <a:xfrm>
              <a:off x="571500" y="4191000"/>
              <a:ext cx="17145000" cy="1143000"/>
            </a:xfrm>
            <a:prstGeom prst="roundRect">
              <a:avLst>
                <a:gd fmla="val 125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g3ecdd0eb50c_13_622"/>
            <p:cNvSpPr/>
            <p:nvPr/>
          </p:nvSpPr>
          <p:spPr>
            <a:xfrm>
              <a:off x="571500" y="4191000"/>
              <a:ext cx="114300" cy="11430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9" name="Google Shape;529;g3ecdd0eb50c_13_622"/>
            <p:cNvSpPr txBox="1"/>
            <p:nvPr/>
          </p:nvSpPr>
          <p:spPr>
            <a:xfrm>
              <a:off x="952500" y="4191000"/>
              <a:ext cx="1638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475569"/>
                  </a:solidFill>
                  <a:latin typeface="Public Sans"/>
                  <a:ea typeface="Public Sans"/>
                  <a:cs typeface="Public Sans"/>
                  <a:sym typeface="Public Sans"/>
                </a:rPr>
                <a:t>Edge Data Centers</a:t>
              </a:r>
              <a:endParaRPr sz="2400">
                <a:solidFill>
                  <a:srgbClr val="475569"/>
                </a:solidFill>
                <a:latin typeface="Public Sans"/>
                <a:ea typeface="Public Sans"/>
                <a:cs typeface="Public Sans"/>
                <a:sym typeface="Public Sans"/>
              </a:endParaRPr>
            </a:p>
          </p:txBody>
        </p:sp>
      </p:grpSp>
      <p:grpSp>
        <p:nvGrpSpPr>
          <p:cNvPr id="530" name="Google Shape;530;g3ecdd0eb50c_13_622"/>
          <p:cNvGrpSpPr/>
          <p:nvPr/>
        </p:nvGrpSpPr>
        <p:grpSpPr>
          <a:xfrm>
            <a:off x="571500" y="5524500"/>
            <a:ext cx="17145000" cy="1143000"/>
            <a:chOff x="571500" y="5524500"/>
            <a:chExt cx="17145000" cy="1143000"/>
          </a:xfrm>
        </p:grpSpPr>
        <p:sp>
          <p:nvSpPr>
            <p:cNvPr id="531" name="Google Shape;531;g3ecdd0eb50c_13_622"/>
            <p:cNvSpPr/>
            <p:nvPr/>
          </p:nvSpPr>
          <p:spPr>
            <a:xfrm>
              <a:off x="571500" y="5524500"/>
              <a:ext cx="17145000" cy="1143000"/>
            </a:xfrm>
            <a:prstGeom prst="roundRect">
              <a:avLst>
                <a:gd fmla="val 125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2" name="Google Shape;532;g3ecdd0eb50c_13_622"/>
            <p:cNvSpPr/>
            <p:nvPr/>
          </p:nvSpPr>
          <p:spPr>
            <a:xfrm>
              <a:off x="571500" y="5524500"/>
              <a:ext cx="114300" cy="11430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3" name="Google Shape;533;g3ecdd0eb50c_13_622"/>
            <p:cNvSpPr txBox="1"/>
            <p:nvPr/>
          </p:nvSpPr>
          <p:spPr>
            <a:xfrm>
              <a:off x="952500" y="5524500"/>
              <a:ext cx="1638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475569"/>
                  </a:solidFill>
                  <a:latin typeface="Public Sans"/>
                  <a:ea typeface="Public Sans"/>
                  <a:cs typeface="Public Sans"/>
                  <a:sym typeface="Public Sans"/>
                </a:rPr>
                <a:t>Enterprise Data Centers</a:t>
              </a:r>
              <a:endParaRPr sz="2400">
                <a:solidFill>
                  <a:srgbClr val="475569"/>
                </a:solidFill>
                <a:latin typeface="Public Sans"/>
                <a:ea typeface="Public Sans"/>
                <a:cs typeface="Public Sans"/>
                <a:sym typeface="Public Sans"/>
              </a:endParaRPr>
            </a:p>
          </p:txBody>
        </p:sp>
      </p:grpSp>
      <p:grpSp>
        <p:nvGrpSpPr>
          <p:cNvPr id="534" name="Google Shape;534;g3ecdd0eb50c_13_622"/>
          <p:cNvGrpSpPr/>
          <p:nvPr/>
        </p:nvGrpSpPr>
        <p:grpSpPr>
          <a:xfrm>
            <a:off x="571500" y="6858000"/>
            <a:ext cx="17145000" cy="1143000"/>
            <a:chOff x="571500" y="6858000"/>
            <a:chExt cx="17145000" cy="1143000"/>
          </a:xfrm>
        </p:grpSpPr>
        <p:sp>
          <p:nvSpPr>
            <p:cNvPr id="535" name="Google Shape;535;g3ecdd0eb50c_13_622"/>
            <p:cNvSpPr/>
            <p:nvPr/>
          </p:nvSpPr>
          <p:spPr>
            <a:xfrm>
              <a:off x="571500" y="6858000"/>
              <a:ext cx="17145000" cy="1143000"/>
            </a:xfrm>
            <a:prstGeom prst="roundRect">
              <a:avLst>
                <a:gd fmla="val 125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6" name="Google Shape;536;g3ecdd0eb50c_13_622"/>
            <p:cNvSpPr/>
            <p:nvPr/>
          </p:nvSpPr>
          <p:spPr>
            <a:xfrm>
              <a:off x="571500" y="6858000"/>
              <a:ext cx="114300" cy="1143000"/>
            </a:xfrm>
            <a:prstGeom prst="rect">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7" name="Google Shape;537;g3ecdd0eb50c_13_622"/>
            <p:cNvSpPr txBox="1"/>
            <p:nvPr/>
          </p:nvSpPr>
          <p:spPr>
            <a:xfrm>
              <a:off x="952500" y="6858000"/>
              <a:ext cx="1638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FFFFF"/>
                  </a:solidFill>
                  <a:latin typeface="Public Sans"/>
                  <a:ea typeface="Public Sans"/>
                  <a:cs typeface="Public Sans"/>
                  <a:sym typeface="Public Sans"/>
                </a:rPr>
                <a:t>Hyperscale Data Centers</a:t>
              </a:r>
              <a:endParaRPr b="1" sz="2400">
                <a:solidFill>
                  <a:srgbClr val="FFFFFF"/>
                </a:solidFill>
                <a:latin typeface="Public Sans"/>
                <a:ea typeface="Public Sans"/>
                <a:cs typeface="Public Sans"/>
                <a:sym typeface="Public Sans"/>
              </a:endParaRPr>
            </a:p>
          </p:txBody>
        </p:sp>
      </p:grpSp>
      <p:grpSp>
        <p:nvGrpSpPr>
          <p:cNvPr id="538" name="Google Shape;538;g3ecdd0eb50c_13_622"/>
          <p:cNvGrpSpPr/>
          <p:nvPr/>
        </p:nvGrpSpPr>
        <p:grpSpPr>
          <a:xfrm>
            <a:off x="571500" y="8191500"/>
            <a:ext cx="17145000" cy="1143000"/>
            <a:chOff x="571500" y="8191500"/>
            <a:chExt cx="17145000" cy="1143000"/>
          </a:xfrm>
        </p:grpSpPr>
        <p:sp>
          <p:nvSpPr>
            <p:cNvPr id="539" name="Google Shape;539;g3ecdd0eb50c_13_622"/>
            <p:cNvSpPr/>
            <p:nvPr/>
          </p:nvSpPr>
          <p:spPr>
            <a:xfrm>
              <a:off x="571500" y="8191500"/>
              <a:ext cx="17145000" cy="1143000"/>
            </a:xfrm>
            <a:prstGeom prst="roundRect">
              <a:avLst>
                <a:gd fmla="val 125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0" name="Google Shape;540;g3ecdd0eb50c_13_622"/>
            <p:cNvSpPr/>
            <p:nvPr/>
          </p:nvSpPr>
          <p:spPr>
            <a:xfrm>
              <a:off x="571500" y="8191500"/>
              <a:ext cx="114300" cy="11430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g3ecdd0eb50c_13_622"/>
            <p:cNvSpPr txBox="1"/>
            <p:nvPr/>
          </p:nvSpPr>
          <p:spPr>
            <a:xfrm>
              <a:off x="952500" y="8191500"/>
              <a:ext cx="1638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475569"/>
                  </a:solidFill>
                  <a:latin typeface="Public Sans"/>
                  <a:ea typeface="Public Sans"/>
                  <a:cs typeface="Public Sans"/>
                  <a:sym typeface="Public Sans"/>
                </a:rPr>
                <a:t>Colocation Data Centers</a:t>
              </a:r>
              <a:endParaRPr sz="2400">
                <a:solidFill>
                  <a:srgbClr val="475569"/>
                </a:solidFill>
                <a:latin typeface="Public Sans"/>
                <a:ea typeface="Public Sans"/>
                <a:cs typeface="Public Sans"/>
                <a:sym typeface="Public Sans"/>
              </a:endParaRPr>
            </a:p>
          </p:txBody>
        </p:sp>
      </p:grpSp>
      <p:sp>
        <p:nvSpPr>
          <p:cNvPr id="542" name="Google Shape;542;g3ecdd0eb50c_13_622"/>
          <p:cNvSpPr txBox="1"/>
          <p:nvPr/>
        </p:nvSpPr>
        <p:spPr>
          <a:xfrm>
            <a:off x="571500" y="1333500"/>
            <a:ext cx="17145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6400">
                <a:solidFill>
                  <a:srgbClr val="191919"/>
                </a:solidFill>
                <a:latin typeface="Public Sans"/>
                <a:ea typeface="Public Sans"/>
                <a:cs typeface="Public Sans"/>
                <a:sym typeface="Public Sans"/>
              </a:rPr>
              <a:t>Knowledge </a:t>
            </a:r>
            <a:r>
              <a:rPr b="1" lang="en-US" sz="6400">
                <a:solidFill>
                  <a:srgbClr val="FA632A"/>
                </a:solidFill>
                <a:latin typeface="Public Sans"/>
                <a:ea typeface="Public Sans"/>
                <a:cs typeface="Public Sans"/>
                <a:sym typeface="Public Sans"/>
              </a:rPr>
              <a:t>Assessment</a:t>
            </a:r>
            <a:endParaRPr b="1" sz="6400">
              <a:solidFill>
                <a:srgbClr val="191919"/>
              </a:solidFill>
              <a:latin typeface="Public Sans"/>
              <a:ea typeface="Public Sans"/>
              <a:cs typeface="Public Sans"/>
              <a:sym typeface="Public Sans"/>
            </a:endParaRPr>
          </a:p>
        </p:txBody>
      </p:sp>
      <p:sp>
        <p:nvSpPr>
          <p:cNvPr id="543" name="Google Shape;543;g3ecdd0eb50c_13_622"/>
          <p:cNvSpPr txBox="1"/>
          <p:nvPr/>
        </p:nvSpPr>
        <p:spPr>
          <a:xfrm>
            <a:off x="17335500" y="9963150"/>
            <a:ext cx="3810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11</a:t>
            </a:r>
            <a:endParaRPr b="1" sz="2000">
              <a:solidFill>
                <a:srgbClr val="FA632A"/>
              </a:solidFill>
              <a:latin typeface="Public Sans"/>
              <a:ea typeface="Public Sans"/>
              <a:cs typeface="Public Sans"/>
              <a:sym typeface="Public Sans"/>
            </a:endParaRPr>
          </a:p>
        </p:txBody>
      </p:sp>
      <p:pic>
        <p:nvPicPr>
          <p:cNvPr id="544" name="Google Shape;544;g3ecdd0eb50c_13_622" title="genpact_Logo.png"/>
          <p:cNvPicPr preferRelativeResize="0"/>
          <p:nvPr/>
        </p:nvPicPr>
        <p:blipFill rotWithShape="1">
          <a:blip r:embed="rId4">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8" name="Shape 548"/>
        <p:cNvGrpSpPr/>
        <p:nvPr/>
      </p:nvGrpSpPr>
      <p:grpSpPr>
        <a:xfrm>
          <a:off x="0" y="0"/>
          <a:ext cx="0" cy="0"/>
          <a:chOff x="0" y="0"/>
          <a:chExt cx="0" cy="0"/>
        </a:xfrm>
      </p:grpSpPr>
      <p:sp>
        <p:nvSpPr>
          <p:cNvPr id="549" name="Google Shape;549;g3ecdd0eb50c_13_843"/>
          <p:cNvSpPr txBox="1"/>
          <p:nvPr/>
        </p:nvSpPr>
        <p:spPr>
          <a:xfrm>
            <a:off x="571500" y="1333500"/>
            <a:ext cx="17145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6400">
                <a:solidFill>
                  <a:srgbClr val="191919"/>
                </a:solidFill>
                <a:latin typeface="Public Sans"/>
                <a:ea typeface="Public Sans"/>
                <a:cs typeface="Public Sans"/>
                <a:sym typeface="Public Sans"/>
              </a:rPr>
              <a:t>Knowledge </a:t>
            </a:r>
            <a:r>
              <a:rPr b="1" lang="en-US" sz="6400">
                <a:solidFill>
                  <a:srgbClr val="FA632A"/>
                </a:solidFill>
                <a:latin typeface="Public Sans"/>
                <a:ea typeface="Public Sans"/>
                <a:cs typeface="Public Sans"/>
                <a:sym typeface="Public Sans"/>
              </a:rPr>
              <a:t>Assessment</a:t>
            </a:r>
            <a:endParaRPr b="1" sz="6400">
              <a:solidFill>
                <a:srgbClr val="191919"/>
              </a:solidFill>
              <a:latin typeface="Public Sans"/>
              <a:ea typeface="Public Sans"/>
              <a:cs typeface="Public Sans"/>
              <a:sym typeface="Public Sans"/>
            </a:endParaRPr>
          </a:p>
        </p:txBody>
      </p:sp>
      <p:grpSp>
        <p:nvGrpSpPr>
          <p:cNvPr id="550" name="Google Shape;550;g3ecdd0eb50c_13_843"/>
          <p:cNvGrpSpPr/>
          <p:nvPr/>
        </p:nvGrpSpPr>
        <p:grpSpPr>
          <a:xfrm>
            <a:off x="571500" y="2286000"/>
            <a:ext cx="17145000" cy="1714500"/>
            <a:chOff x="571500" y="2286000"/>
            <a:chExt cx="17145000" cy="1714500"/>
          </a:xfrm>
        </p:grpSpPr>
        <p:sp>
          <p:nvSpPr>
            <p:cNvPr id="551" name="Google Shape;551;g3ecdd0eb50c_13_843"/>
            <p:cNvSpPr/>
            <p:nvPr/>
          </p:nvSpPr>
          <p:spPr>
            <a:xfrm>
              <a:off x="571500" y="2286000"/>
              <a:ext cx="17145000" cy="1714500"/>
            </a:xfrm>
            <a:prstGeom prst="roundRect">
              <a:avLst>
                <a:gd fmla="val 11111"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g3ecdd0eb50c_13_843"/>
            <p:cNvSpPr txBox="1"/>
            <p:nvPr/>
          </p:nvSpPr>
          <p:spPr>
            <a:xfrm>
              <a:off x="952500" y="2286000"/>
              <a:ext cx="16383000" cy="171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US" sz="2800">
                  <a:solidFill>
                    <a:srgbClr val="1E293B"/>
                  </a:solidFill>
                  <a:latin typeface="Public Sans"/>
                  <a:ea typeface="Public Sans"/>
                  <a:cs typeface="Public Sans"/>
                  <a:sym typeface="Public Sans"/>
                </a:rPr>
                <a:t>Q3. </a:t>
              </a:r>
              <a:r>
                <a:rPr b="0" lang="en-US" sz="2800">
                  <a:solidFill>
                    <a:srgbClr val="1E293B"/>
                  </a:solidFill>
                  <a:latin typeface="Public Sans"/>
                  <a:ea typeface="Public Sans"/>
                  <a:cs typeface="Public Sans"/>
                  <a:sym typeface="Public Sans"/>
                </a:rPr>
                <a:t>Which U.S. data center hub is recognized specifically for its </a:t>
              </a:r>
              <a:r>
                <a:rPr b="1" lang="en-US" sz="2800">
                  <a:solidFill>
                    <a:srgbClr val="1E293B"/>
                  </a:solidFill>
                  <a:latin typeface="Public Sans"/>
                  <a:ea typeface="Public Sans"/>
                  <a:cs typeface="Public Sans"/>
                  <a:sym typeface="Public Sans"/>
                </a:rPr>
                <a:t>extensive fiber networks</a:t>
              </a:r>
              <a:r>
                <a:rPr b="0" lang="en-US" sz="2800">
                  <a:solidFill>
                    <a:srgbClr val="1E293B"/>
                  </a:solidFill>
                  <a:latin typeface="Public Sans"/>
                  <a:ea typeface="Public Sans"/>
                  <a:cs typeface="Public Sans"/>
                  <a:sym typeface="Public Sans"/>
                </a:rPr>
                <a:t> and </a:t>
              </a:r>
              <a:r>
                <a:rPr b="1" lang="en-US" sz="2800">
                  <a:solidFill>
                    <a:srgbClr val="1E293B"/>
                  </a:solidFill>
                  <a:latin typeface="Public Sans"/>
                  <a:ea typeface="Public Sans"/>
                  <a:cs typeface="Public Sans"/>
                  <a:sym typeface="Public Sans"/>
                </a:rPr>
                <a:t>close proximity</a:t>
              </a:r>
              <a:r>
                <a:rPr b="0" lang="en-US" sz="2800">
                  <a:solidFill>
                    <a:srgbClr val="1E293B"/>
                  </a:solidFill>
                  <a:latin typeface="Public Sans"/>
                  <a:ea typeface="Public Sans"/>
                  <a:cs typeface="Public Sans"/>
                  <a:sym typeface="Public Sans"/>
                </a:rPr>
                <a:t> to major population centers?</a:t>
              </a:r>
              <a:endParaRPr b="0" sz="2800">
                <a:solidFill>
                  <a:srgbClr val="1E293B"/>
                </a:solidFill>
                <a:latin typeface="Public Sans"/>
                <a:ea typeface="Public Sans"/>
                <a:cs typeface="Public Sans"/>
                <a:sym typeface="Public Sans"/>
              </a:endParaRPr>
            </a:p>
          </p:txBody>
        </p:sp>
      </p:grpSp>
      <p:grpSp>
        <p:nvGrpSpPr>
          <p:cNvPr id="553" name="Google Shape;553;g3ecdd0eb50c_13_843"/>
          <p:cNvGrpSpPr/>
          <p:nvPr/>
        </p:nvGrpSpPr>
        <p:grpSpPr>
          <a:xfrm>
            <a:off x="571500" y="4191000"/>
            <a:ext cx="17145000" cy="1143000"/>
            <a:chOff x="571500" y="4191000"/>
            <a:chExt cx="17145000" cy="1143000"/>
          </a:xfrm>
        </p:grpSpPr>
        <p:sp>
          <p:nvSpPr>
            <p:cNvPr id="554" name="Google Shape;554;g3ecdd0eb50c_13_843"/>
            <p:cNvSpPr/>
            <p:nvPr/>
          </p:nvSpPr>
          <p:spPr>
            <a:xfrm>
              <a:off x="571500" y="4191000"/>
              <a:ext cx="17145000" cy="1143000"/>
            </a:xfrm>
            <a:prstGeom prst="roundRect">
              <a:avLst>
                <a:gd fmla="val 125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5" name="Google Shape;555;g3ecdd0eb50c_13_843"/>
            <p:cNvSpPr/>
            <p:nvPr/>
          </p:nvSpPr>
          <p:spPr>
            <a:xfrm>
              <a:off x="571500" y="4191000"/>
              <a:ext cx="114300" cy="11430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6" name="Google Shape;556;g3ecdd0eb50c_13_843"/>
            <p:cNvSpPr txBox="1"/>
            <p:nvPr/>
          </p:nvSpPr>
          <p:spPr>
            <a:xfrm>
              <a:off x="952500" y="4191000"/>
              <a:ext cx="16383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475569"/>
                  </a:solidFill>
                  <a:latin typeface="Public Sans"/>
                  <a:ea typeface="Public Sans"/>
                  <a:cs typeface="Public Sans"/>
                  <a:sym typeface="Public Sans"/>
                </a:rPr>
                <a:t>Silicon Valley (Northern California)</a:t>
              </a:r>
              <a:endParaRPr b="0" sz="2400">
                <a:solidFill>
                  <a:srgbClr val="475569"/>
                </a:solidFill>
                <a:latin typeface="Public Sans"/>
                <a:ea typeface="Public Sans"/>
                <a:cs typeface="Public Sans"/>
                <a:sym typeface="Public Sans"/>
              </a:endParaRPr>
            </a:p>
          </p:txBody>
        </p:sp>
      </p:grpSp>
      <p:grpSp>
        <p:nvGrpSpPr>
          <p:cNvPr id="557" name="Google Shape;557;g3ecdd0eb50c_13_843"/>
          <p:cNvGrpSpPr/>
          <p:nvPr/>
        </p:nvGrpSpPr>
        <p:grpSpPr>
          <a:xfrm>
            <a:off x="571500" y="6858000"/>
            <a:ext cx="17145000" cy="1143000"/>
            <a:chOff x="571500" y="6858000"/>
            <a:chExt cx="17145000" cy="1143000"/>
          </a:xfrm>
        </p:grpSpPr>
        <p:sp>
          <p:nvSpPr>
            <p:cNvPr id="558" name="Google Shape;558;g3ecdd0eb50c_13_843"/>
            <p:cNvSpPr/>
            <p:nvPr/>
          </p:nvSpPr>
          <p:spPr>
            <a:xfrm>
              <a:off x="571500" y="6858000"/>
              <a:ext cx="17145000" cy="1143000"/>
            </a:xfrm>
            <a:prstGeom prst="roundRect">
              <a:avLst>
                <a:gd fmla="val 125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9" name="Google Shape;559;g3ecdd0eb50c_13_843"/>
            <p:cNvSpPr/>
            <p:nvPr/>
          </p:nvSpPr>
          <p:spPr>
            <a:xfrm>
              <a:off x="571500" y="6858000"/>
              <a:ext cx="114300" cy="11430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0" name="Google Shape;560;g3ecdd0eb50c_13_843"/>
            <p:cNvSpPr txBox="1"/>
            <p:nvPr/>
          </p:nvSpPr>
          <p:spPr>
            <a:xfrm>
              <a:off x="952500" y="6858000"/>
              <a:ext cx="16383000" cy="11430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rPr lang="en-US" sz="2400">
                  <a:solidFill>
                    <a:srgbClr val="475569"/>
                  </a:solidFill>
                  <a:latin typeface="Public Sans"/>
                  <a:ea typeface="Public Sans"/>
                  <a:cs typeface="Public Sans"/>
                  <a:sym typeface="Public Sans"/>
                </a:rPr>
                <a:t>New Jersey Region</a:t>
              </a:r>
              <a:endParaRPr sz="2400">
                <a:solidFill>
                  <a:srgbClr val="475569"/>
                </a:solidFill>
                <a:latin typeface="Public Sans"/>
                <a:ea typeface="Public Sans"/>
                <a:cs typeface="Public Sans"/>
                <a:sym typeface="Public Sans"/>
              </a:endParaRPr>
            </a:p>
          </p:txBody>
        </p:sp>
      </p:grpSp>
      <p:grpSp>
        <p:nvGrpSpPr>
          <p:cNvPr id="561" name="Google Shape;561;g3ecdd0eb50c_13_843"/>
          <p:cNvGrpSpPr/>
          <p:nvPr/>
        </p:nvGrpSpPr>
        <p:grpSpPr>
          <a:xfrm>
            <a:off x="571500" y="8191500"/>
            <a:ext cx="17145000" cy="1143000"/>
            <a:chOff x="571500" y="8191500"/>
            <a:chExt cx="17145000" cy="1143000"/>
          </a:xfrm>
        </p:grpSpPr>
        <p:sp>
          <p:nvSpPr>
            <p:cNvPr id="562" name="Google Shape;562;g3ecdd0eb50c_13_843"/>
            <p:cNvSpPr/>
            <p:nvPr/>
          </p:nvSpPr>
          <p:spPr>
            <a:xfrm>
              <a:off x="571500" y="8191500"/>
              <a:ext cx="17145000" cy="1143000"/>
            </a:xfrm>
            <a:prstGeom prst="roundRect">
              <a:avLst>
                <a:gd fmla="val 125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3" name="Google Shape;563;g3ecdd0eb50c_13_843"/>
            <p:cNvSpPr/>
            <p:nvPr/>
          </p:nvSpPr>
          <p:spPr>
            <a:xfrm>
              <a:off x="571500" y="8191500"/>
              <a:ext cx="114300" cy="11430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4" name="Google Shape;564;g3ecdd0eb50c_13_843"/>
            <p:cNvSpPr txBox="1"/>
            <p:nvPr/>
          </p:nvSpPr>
          <p:spPr>
            <a:xfrm>
              <a:off x="952500" y="8191500"/>
              <a:ext cx="16383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475569"/>
                  </a:solidFill>
                  <a:latin typeface="Public Sans"/>
                  <a:ea typeface="Public Sans"/>
                  <a:cs typeface="Public Sans"/>
                  <a:sym typeface="Public Sans"/>
                </a:rPr>
                <a:t>Illinois Region</a:t>
              </a:r>
              <a:endParaRPr b="0" sz="2400">
                <a:solidFill>
                  <a:srgbClr val="475569"/>
                </a:solidFill>
                <a:latin typeface="Public Sans"/>
                <a:ea typeface="Public Sans"/>
                <a:cs typeface="Public Sans"/>
                <a:sym typeface="Public Sans"/>
              </a:endParaRPr>
            </a:p>
          </p:txBody>
        </p:sp>
      </p:grpSp>
      <p:grpSp>
        <p:nvGrpSpPr>
          <p:cNvPr id="565" name="Google Shape;565;g3ecdd0eb50c_13_843"/>
          <p:cNvGrpSpPr/>
          <p:nvPr/>
        </p:nvGrpSpPr>
        <p:grpSpPr>
          <a:xfrm>
            <a:off x="571500" y="5524500"/>
            <a:ext cx="17145000" cy="1143000"/>
            <a:chOff x="571500" y="6858000"/>
            <a:chExt cx="17145000" cy="1143000"/>
          </a:xfrm>
        </p:grpSpPr>
        <p:sp>
          <p:nvSpPr>
            <p:cNvPr id="566" name="Google Shape;566;g3ecdd0eb50c_13_843"/>
            <p:cNvSpPr/>
            <p:nvPr/>
          </p:nvSpPr>
          <p:spPr>
            <a:xfrm>
              <a:off x="571500" y="6858000"/>
              <a:ext cx="17145000" cy="1143000"/>
            </a:xfrm>
            <a:prstGeom prst="roundRect">
              <a:avLst>
                <a:gd fmla="val 125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7" name="Google Shape;567;g3ecdd0eb50c_13_843"/>
            <p:cNvSpPr/>
            <p:nvPr/>
          </p:nvSpPr>
          <p:spPr>
            <a:xfrm>
              <a:off x="571500" y="6858000"/>
              <a:ext cx="114300" cy="1143000"/>
            </a:xfrm>
            <a:prstGeom prst="rect">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g3ecdd0eb50c_13_843"/>
            <p:cNvSpPr txBox="1"/>
            <p:nvPr/>
          </p:nvSpPr>
          <p:spPr>
            <a:xfrm>
              <a:off x="952500" y="6858000"/>
              <a:ext cx="16383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chemeClr val="lt1"/>
                  </a:solidFill>
                  <a:latin typeface="Public Sans"/>
                  <a:ea typeface="Public Sans"/>
                  <a:cs typeface="Public Sans"/>
                  <a:sym typeface="Public Sans"/>
                </a:rPr>
                <a:t>Ashburn (Northern Virginia)</a:t>
              </a:r>
              <a:endParaRPr b="1" sz="2400">
                <a:solidFill>
                  <a:srgbClr val="FFFFFF"/>
                </a:solidFill>
                <a:latin typeface="Public Sans"/>
                <a:ea typeface="Public Sans"/>
                <a:cs typeface="Public Sans"/>
                <a:sym typeface="Public Sans"/>
              </a:endParaRPr>
            </a:p>
          </p:txBody>
        </p:sp>
      </p:grpSp>
      <p:sp>
        <p:nvSpPr>
          <p:cNvPr id="569" name="Google Shape;569;g3ecdd0eb50c_13_843"/>
          <p:cNvSpPr txBox="1"/>
          <p:nvPr/>
        </p:nvSpPr>
        <p:spPr>
          <a:xfrm>
            <a:off x="17335500" y="9963150"/>
            <a:ext cx="3810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12</a:t>
            </a:r>
            <a:endParaRPr b="1" sz="2000">
              <a:solidFill>
                <a:srgbClr val="FA632A"/>
              </a:solidFill>
              <a:latin typeface="Public Sans"/>
              <a:ea typeface="Public Sans"/>
              <a:cs typeface="Public Sans"/>
              <a:sym typeface="Public Sans"/>
            </a:endParaRPr>
          </a:p>
        </p:txBody>
      </p:sp>
      <p:pic>
        <p:nvPicPr>
          <p:cNvPr id="570" name="Google Shape;570;g3ecdd0eb50c_13_843" title="genpact_Logo.png"/>
          <p:cNvPicPr preferRelativeResize="0"/>
          <p:nvPr/>
        </p:nvPicPr>
        <p:blipFill rotWithShape="1">
          <a:blip r:embed="rId4">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4" name="Shape 574"/>
        <p:cNvGrpSpPr/>
        <p:nvPr/>
      </p:nvGrpSpPr>
      <p:grpSpPr>
        <a:xfrm>
          <a:off x="0" y="0"/>
          <a:ext cx="0" cy="0"/>
          <a:chOff x="0" y="0"/>
          <a:chExt cx="0" cy="0"/>
        </a:xfrm>
      </p:grpSpPr>
      <p:sp>
        <p:nvSpPr>
          <p:cNvPr id="575" name="Google Shape;575;g3ecdd0eb50c_13_1052"/>
          <p:cNvSpPr txBox="1"/>
          <p:nvPr/>
        </p:nvSpPr>
        <p:spPr>
          <a:xfrm>
            <a:off x="571500" y="1333500"/>
            <a:ext cx="17145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6400">
                <a:solidFill>
                  <a:srgbClr val="191919"/>
                </a:solidFill>
                <a:latin typeface="Public Sans"/>
                <a:ea typeface="Public Sans"/>
                <a:cs typeface="Public Sans"/>
                <a:sym typeface="Public Sans"/>
              </a:rPr>
              <a:t>Knowledge </a:t>
            </a:r>
            <a:r>
              <a:rPr b="1" lang="en-US" sz="6400">
                <a:solidFill>
                  <a:srgbClr val="FA632A"/>
                </a:solidFill>
                <a:latin typeface="Public Sans"/>
                <a:ea typeface="Public Sans"/>
                <a:cs typeface="Public Sans"/>
                <a:sym typeface="Public Sans"/>
              </a:rPr>
              <a:t>Assessment</a:t>
            </a:r>
            <a:endParaRPr b="1" sz="6400">
              <a:solidFill>
                <a:srgbClr val="191919"/>
              </a:solidFill>
              <a:latin typeface="Public Sans"/>
              <a:ea typeface="Public Sans"/>
              <a:cs typeface="Public Sans"/>
              <a:sym typeface="Public Sans"/>
            </a:endParaRPr>
          </a:p>
        </p:txBody>
      </p:sp>
      <p:grpSp>
        <p:nvGrpSpPr>
          <p:cNvPr id="576" name="Google Shape;576;g3ecdd0eb50c_13_1052"/>
          <p:cNvGrpSpPr/>
          <p:nvPr/>
        </p:nvGrpSpPr>
        <p:grpSpPr>
          <a:xfrm>
            <a:off x="571500" y="2476500"/>
            <a:ext cx="17145000" cy="1333500"/>
            <a:chOff x="571500" y="2476500"/>
            <a:chExt cx="17145000" cy="1333500"/>
          </a:xfrm>
        </p:grpSpPr>
        <p:sp>
          <p:nvSpPr>
            <p:cNvPr id="577" name="Google Shape;577;g3ecdd0eb50c_13_1052"/>
            <p:cNvSpPr/>
            <p:nvPr/>
          </p:nvSpPr>
          <p:spPr>
            <a:xfrm>
              <a:off x="571500" y="2476500"/>
              <a:ext cx="17145000" cy="1333500"/>
            </a:xfrm>
            <a:prstGeom prst="roundRect">
              <a:avLst>
                <a:gd fmla="val 14285" name="adj"/>
              </a:avLst>
            </a:prstGeom>
            <a:solidFill>
              <a:srgbClr val="F8FAFC"/>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g3ecdd0eb50c_13_1052"/>
            <p:cNvSpPr txBox="1"/>
            <p:nvPr/>
          </p:nvSpPr>
          <p:spPr>
            <a:xfrm>
              <a:off x="857250" y="2476500"/>
              <a:ext cx="165735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US" sz="2800">
                  <a:solidFill>
                    <a:srgbClr val="1E293B"/>
                  </a:solidFill>
                  <a:latin typeface="Public Sans"/>
                  <a:ea typeface="Public Sans"/>
                  <a:cs typeface="Public Sans"/>
                  <a:sym typeface="Public Sans"/>
                </a:rPr>
                <a:t>Q4. </a:t>
              </a:r>
              <a:r>
                <a:rPr b="0" lang="en-US" sz="2800">
                  <a:solidFill>
                    <a:srgbClr val="1E293B"/>
                  </a:solidFill>
                  <a:latin typeface="Public Sans"/>
                  <a:ea typeface="Public Sans"/>
                  <a:cs typeface="Public Sans"/>
                  <a:sym typeface="Public Sans"/>
                </a:rPr>
                <a:t>What are two distinct, growing resource challenges currently facing established data center markets?</a:t>
              </a:r>
              <a:endParaRPr b="0" sz="2800">
                <a:solidFill>
                  <a:srgbClr val="1E293B"/>
                </a:solidFill>
                <a:latin typeface="Public Sans"/>
                <a:ea typeface="Public Sans"/>
                <a:cs typeface="Public Sans"/>
                <a:sym typeface="Public Sans"/>
              </a:endParaRPr>
            </a:p>
          </p:txBody>
        </p:sp>
      </p:grpSp>
      <p:grpSp>
        <p:nvGrpSpPr>
          <p:cNvPr id="579" name="Google Shape;579;g3ecdd0eb50c_13_1052"/>
          <p:cNvGrpSpPr/>
          <p:nvPr/>
        </p:nvGrpSpPr>
        <p:grpSpPr>
          <a:xfrm>
            <a:off x="571500" y="4191000"/>
            <a:ext cx="17145000" cy="1143000"/>
            <a:chOff x="571500" y="4191000"/>
            <a:chExt cx="17145000" cy="1143000"/>
          </a:xfrm>
        </p:grpSpPr>
        <p:sp>
          <p:nvSpPr>
            <p:cNvPr id="580" name="Google Shape;580;g3ecdd0eb50c_13_1052"/>
            <p:cNvSpPr/>
            <p:nvPr/>
          </p:nvSpPr>
          <p:spPr>
            <a:xfrm>
              <a:off x="571500" y="4191000"/>
              <a:ext cx="17145000" cy="1143000"/>
            </a:xfrm>
            <a:prstGeom prst="roundRect">
              <a:avLst>
                <a:gd fmla="val 125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g3ecdd0eb50c_13_1052"/>
            <p:cNvSpPr/>
            <p:nvPr/>
          </p:nvSpPr>
          <p:spPr>
            <a:xfrm>
              <a:off x="571500" y="4191000"/>
              <a:ext cx="114300" cy="1143000"/>
            </a:xfrm>
            <a:prstGeom prst="rect">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g3ecdd0eb50c_13_1052"/>
            <p:cNvSpPr txBox="1"/>
            <p:nvPr/>
          </p:nvSpPr>
          <p:spPr>
            <a:xfrm>
              <a:off x="952500" y="4191000"/>
              <a:ext cx="16383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FFFFF"/>
                  </a:solidFill>
                  <a:latin typeface="Public Sans"/>
                  <a:ea typeface="Public Sans"/>
                  <a:cs typeface="Public Sans"/>
                  <a:sym typeface="Public Sans"/>
                </a:rPr>
                <a:t>Lack of sufficient power supply and available land.</a:t>
              </a:r>
              <a:endParaRPr b="1" sz="2400">
                <a:solidFill>
                  <a:srgbClr val="FFFFFF"/>
                </a:solidFill>
                <a:latin typeface="Public Sans"/>
                <a:ea typeface="Public Sans"/>
                <a:cs typeface="Public Sans"/>
                <a:sym typeface="Public Sans"/>
              </a:endParaRPr>
            </a:p>
          </p:txBody>
        </p:sp>
      </p:grpSp>
      <p:grpSp>
        <p:nvGrpSpPr>
          <p:cNvPr id="583" name="Google Shape;583;g3ecdd0eb50c_13_1052"/>
          <p:cNvGrpSpPr/>
          <p:nvPr/>
        </p:nvGrpSpPr>
        <p:grpSpPr>
          <a:xfrm>
            <a:off x="571500" y="5524500"/>
            <a:ext cx="17145000" cy="1143000"/>
            <a:chOff x="571500" y="6858000"/>
            <a:chExt cx="17145000" cy="1143000"/>
          </a:xfrm>
        </p:grpSpPr>
        <p:sp>
          <p:nvSpPr>
            <p:cNvPr id="584" name="Google Shape;584;g3ecdd0eb50c_13_1052"/>
            <p:cNvSpPr/>
            <p:nvPr/>
          </p:nvSpPr>
          <p:spPr>
            <a:xfrm>
              <a:off x="571500" y="6858000"/>
              <a:ext cx="17145000" cy="1143000"/>
            </a:xfrm>
            <a:prstGeom prst="roundRect">
              <a:avLst>
                <a:gd fmla="val 125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5" name="Google Shape;585;g3ecdd0eb50c_13_1052"/>
            <p:cNvSpPr/>
            <p:nvPr/>
          </p:nvSpPr>
          <p:spPr>
            <a:xfrm>
              <a:off x="571500" y="6858000"/>
              <a:ext cx="114300" cy="11430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6" name="Google Shape;586;g3ecdd0eb50c_13_1052"/>
            <p:cNvSpPr txBox="1"/>
            <p:nvPr/>
          </p:nvSpPr>
          <p:spPr>
            <a:xfrm>
              <a:off x="952500" y="6858000"/>
              <a:ext cx="16383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475569"/>
                  </a:solidFill>
                  <a:latin typeface="Public Sans"/>
                  <a:ea typeface="Public Sans"/>
                  <a:cs typeface="Public Sans"/>
                  <a:sym typeface="Public Sans"/>
                </a:rPr>
                <a:t>Overabundance of local data storage networks and fiber connections.</a:t>
              </a:r>
              <a:endParaRPr b="0" sz="2400">
                <a:solidFill>
                  <a:srgbClr val="475569"/>
                </a:solidFill>
                <a:latin typeface="Public Sans"/>
                <a:ea typeface="Public Sans"/>
                <a:cs typeface="Public Sans"/>
                <a:sym typeface="Public Sans"/>
              </a:endParaRPr>
            </a:p>
          </p:txBody>
        </p:sp>
      </p:grpSp>
      <p:grpSp>
        <p:nvGrpSpPr>
          <p:cNvPr id="587" name="Google Shape;587;g3ecdd0eb50c_13_1052"/>
          <p:cNvGrpSpPr/>
          <p:nvPr/>
        </p:nvGrpSpPr>
        <p:grpSpPr>
          <a:xfrm>
            <a:off x="571500" y="6858000"/>
            <a:ext cx="17145000" cy="1143000"/>
            <a:chOff x="571500" y="6858000"/>
            <a:chExt cx="17145000" cy="1143000"/>
          </a:xfrm>
        </p:grpSpPr>
        <p:sp>
          <p:nvSpPr>
            <p:cNvPr id="588" name="Google Shape;588;g3ecdd0eb50c_13_1052"/>
            <p:cNvSpPr/>
            <p:nvPr/>
          </p:nvSpPr>
          <p:spPr>
            <a:xfrm>
              <a:off x="571500" y="6858000"/>
              <a:ext cx="17145000" cy="1143000"/>
            </a:xfrm>
            <a:prstGeom prst="roundRect">
              <a:avLst>
                <a:gd fmla="val 125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9" name="Google Shape;589;g3ecdd0eb50c_13_1052"/>
            <p:cNvSpPr/>
            <p:nvPr/>
          </p:nvSpPr>
          <p:spPr>
            <a:xfrm>
              <a:off x="571500" y="6858000"/>
              <a:ext cx="114300" cy="11430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g3ecdd0eb50c_13_1052"/>
            <p:cNvSpPr txBox="1"/>
            <p:nvPr/>
          </p:nvSpPr>
          <p:spPr>
            <a:xfrm>
              <a:off x="952500" y="6858000"/>
              <a:ext cx="16383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475569"/>
                  </a:solidFill>
                  <a:latin typeface="Public Sans"/>
                  <a:ea typeface="Public Sans"/>
                  <a:cs typeface="Public Sans"/>
                  <a:sym typeface="Public Sans"/>
                </a:rPr>
                <a:t>Shortage of global automated replication software protocols.</a:t>
              </a:r>
              <a:endParaRPr b="0" sz="2400">
                <a:solidFill>
                  <a:srgbClr val="475569"/>
                </a:solidFill>
                <a:latin typeface="Public Sans"/>
                <a:ea typeface="Public Sans"/>
                <a:cs typeface="Public Sans"/>
                <a:sym typeface="Public Sans"/>
              </a:endParaRPr>
            </a:p>
          </p:txBody>
        </p:sp>
      </p:grpSp>
      <p:grpSp>
        <p:nvGrpSpPr>
          <p:cNvPr id="591" name="Google Shape;591;g3ecdd0eb50c_13_1052"/>
          <p:cNvGrpSpPr/>
          <p:nvPr/>
        </p:nvGrpSpPr>
        <p:grpSpPr>
          <a:xfrm>
            <a:off x="571500" y="8191500"/>
            <a:ext cx="17145000" cy="1143000"/>
            <a:chOff x="571500" y="8191500"/>
            <a:chExt cx="17145000" cy="1143000"/>
          </a:xfrm>
        </p:grpSpPr>
        <p:sp>
          <p:nvSpPr>
            <p:cNvPr id="592" name="Google Shape;592;g3ecdd0eb50c_13_1052"/>
            <p:cNvSpPr/>
            <p:nvPr/>
          </p:nvSpPr>
          <p:spPr>
            <a:xfrm>
              <a:off x="571500" y="8191500"/>
              <a:ext cx="17145000" cy="1143000"/>
            </a:xfrm>
            <a:prstGeom prst="roundRect">
              <a:avLst>
                <a:gd fmla="val 125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3" name="Google Shape;593;g3ecdd0eb50c_13_1052"/>
            <p:cNvSpPr/>
            <p:nvPr/>
          </p:nvSpPr>
          <p:spPr>
            <a:xfrm>
              <a:off x="571500" y="8191500"/>
              <a:ext cx="114300" cy="11430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g3ecdd0eb50c_13_1052"/>
            <p:cNvSpPr txBox="1"/>
            <p:nvPr/>
          </p:nvSpPr>
          <p:spPr>
            <a:xfrm>
              <a:off x="952500" y="8191500"/>
              <a:ext cx="16383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475569"/>
                  </a:solidFill>
                  <a:latin typeface="Public Sans"/>
                  <a:ea typeface="Public Sans"/>
                  <a:cs typeface="Public Sans"/>
                  <a:sym typeface="Public Sans"/>
                </a:rPr>
                <a:t>Absence of private cloud deployment frameworks and corporate servers.</a:t>
              </a:r>
              <a:endParaRPr b="0" sz="2400">
                <a:solidFill>
                  <a:srgbClr val="475569"/>
                </a:solidFill>
                <a:latin typeface="Public Sans"/>
                <a:ea typeface="Public Sans"/>
                <a:cs typeface="Public Sans"/>
                <a:sym typeface="Public Sans"/>
              </a:endParaRPr>
            </a:p>
          </p:txBody>
        </p:sp>
      </p:grpSp>
      <p:sp>
        <p:nvSpPr>
          <p:cNvPr id="595" name="Google Shape;595;g3ecdd0eb50c_13_1052"/>
          <p:cNvSpPr txBox="1"/>
          <p:nvPr/>
        </p:nvSpPr>
        <p:spPr>
          <a:xfrm>
            <a:off x="17335500" y="9963150"/>
            <a:ext cx="3810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13</a:t>
            </a:r>
            <a:endParaRPr b="1" sz="2000">
              <a:solidFill>
                <a:srgbClr val="FA632A"/>
              </a:solidFill>
              <a:latin typeface="Public Sans"/>
              <a:ea typeface="Public Sans"/>
              <a:cs typeface="Public Sans"/>
              <a:sym typeface="Public Sans"/>
            </a:endParaRPr>
          </a:p>
        </p:txBody>
      </p:sp>
      <p:pic>
        <p:nvPicPr>
          <p:cNvPr id="596" name="Google Shape;596;g3ecdd0eb50c_13_1052" title="genpact_Logo.png"/>
          <p:cNvPicPr preferRelativeResize="0"/>
          <p:nvPr/>
        </p:nvPicPr>
        <p:blipFill rotWithShape="1">
          <a:blip r:embed="rId4">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0" name="Shape 600"/>
        <p:cNvGrpSpPr/>
        <p:nvPr/>
      </p:nvGrpSpPr>
      <p:grpSpPr>
        <a:xfrm>
          <a:off x="0" y="0"/>
          <a:ext cx="0" cy="0"/>
          <a:chOff x="0" y="0"/>
          <a:chExt cx="0" cy="0"/>
        </a:xfrm>
      </p:grpSpPr>
      <p:pic>
        <p:nvPicPr>
          <p:cNvPr id="601" name="Google Shape;601;g3ece1f4b49a_0_287"/>
          <p:cNvPicPr preferRelativeResize="0"/>
          <p:nvPr/>
        </p:nvPicPr>
        <p:blipFill rotWithShape="1">
          <a:blip r:embed="rId4">
            <a:alphaModFix/>
          </a:blip>
          <a:srcRect b="0" l="0" r="0" t="0"/>
          <a:stretch/>
        </p:blipFill>
        <p:spPr>
          <a:xfrm>
            <a:off x="-26789" y="0"/>
            <a:ext cx="18288000" cy="10287000"/>
          </a:xfrm>
          <a:prstGeom prst="rect">
            <a:avLst/>
          </a:prstGeom>
          <a:noFill/>
          <a:ln>
            <a:noFill/>
          </a:ln>
        </p:spPr>
      </p:pic>
      <p:pic>
        <p:nvPicPr>
          <p:cNvPr descr="A professional, high-quality photograph of a modern, high-tech data center interior with rows of server racks and blue ambient lighting. Shallow depth of field." id="602" name="Google Shape;602;g3ece1f4b49a_0_287"/>
          <p:cNvPicPr preferRelativeResize="0"/>
          <p:nvPr/>
        </p:nvPicPr>
        <p:blipFill rotWithShape="1">
          <a:blip r:embed="rId5">
            <a:alphaModFix/>
          </a:blip>
          <a:srcRect b="2901" l="0" r="0" t="2910"/>
          <a:stretch/>
        </p:blipFill>
        <p:spPr>
          <a:xfrm>
            <a:off x="10072681" y="53575"/>
            <a:ext cx="8191500" cy="10287000"/>
          </a:xfrm>
          <a:prstGeom prst="roundRect">
            <a:avLst>
              <a:gd fmla="val 0" name="adj"/>
            </a:avLst>
          </a:prstGeom>
          <a:noFill/>
          <a:ln>
            <a:noFill/>
          </a:ln>
        </p:spPr>
      </p:pic>
      <p:sp>
        <p:nvSpPr>
          <p:cNvPr id="603" name="Google Shape;603;g3ece1f4b49a_0_287"/>
          <p:cNvSpPr/>
          <p:nvPr/>
        </p:nvSpPr>
        <p:spPr>
          <a:xfrm>
            <a:off x="1080492" y="4572000"/>
            <a:ext cx="7620000" cy="114300"/>
          </a:xfrm>
          <a:prstGeom prst="rect">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4" name="Google Shape;604;g3ece1f4b49a_0_287"/>
          <p:cNvSpPr txBox="1"/>
          <p:nvPr/>
        </p:nvSpPr>
        <p:spPr>
          <a:xfrm>
            <a:off x="1080492" y="3048000"/>
            <a:ext cx="76200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0">
                <a:solidFill>
                  <a:srgbClr val="191919"/>
                </a:solidFill>
                <a:latin typeface="Public Sans"/>
                <a:ea typeface="Public Sans"/>
                <a:cs typeface="Public Sans"/>
                <a:sym typeface="Public Sans"/>
              </a:rPr>
              <a:t>Thank you!</a:t>
            </a:r>
            <a:endParaRPr b="1" sz="9000">
              <a:solidFill>
                <a:srgbClr val="191919"/>
              </a:solidFill>
              <a:latin typeface="Public Sans"/>
              <a:ea typeface="Public Sans"/>
              <a:cs typeface="Public Sans"/>
              <a:sym typeface="Public Sans"/>
            </a:endParaRPr>
          </a:p>
        </p:txBody>
      </p:sp>
      <p:sp>
        <p:nvSpPr>
          <p:cNvPr id="605" name="Google Shape;605;g3ece1f4b49a_0_287"/>
          <p:cNvSpPr txBox="1"/>
          <p:nvPr/>
        </p:nvSpPr>
        <p:spPr>
          <a:xfrm>
            <a:off x="1080492" y="4953000"/>
            <a:ext cx="7620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000">
                <a:solidFill>
                  <a:srgbClr val="475569"/>
                </a:solidFill>
                <a:latin typeface="Public Sans"/>
                <a:ea typeface="Public Sans"/>
                <a:cs typeface="Public Sans"/>
                <a:sym typeface="Public Sans"/>
              </a:rPr>
              <a:t>Thanks for visiting this course!</a:t>
            </a:r>
            <a:endParaRPr b="0" sz="3000">
              <a:solidFill>
                <a:srgbClr val="475569"/>
              </a:solidFill>
              <a:latin typeface="Public Sans"/>
              <a:ea typeface="Public Sans"/>
              <a:cs typeface="Public Sans"/>
              <a:sym typeface="Public Sans"/>
            </a:endParaRPr>
          </a:p>
        </p:txBody>
      </p:sp>
      <p:sp>
        <p:nvSpPr>
          <p:cNvPr id="606" name="Google Shape;606;g3ece1f4b49a_0_287"/>
          <p:cNvSpPr txBox="1"/>
          <p:nvPr/>
        </p:nvSpPr>
        <p:spPr>
          <a:xfrm>
            <a:off x="17335500" y="9963150"/>
            <a:ext cx="3810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14</a:t>
            </a:r>
            <a:endParaRPr b="1" sz="2000">
              <a:solidFill>
                <a:srgbClr val="FA632A"/>
              </a:solidFill>
              <a:latin typeface="Public Sans"/>
              <a:ea typeface="Public Sans"/>
              <a:cs typeface="Public Sans"/>
              <a:sym typeface="Public Sans"/>
            </a:endParaRPr>
          </a:p>
        </p:txBody>
      </p:sp>
      <p:pic>
        <p:nvPicPr>
          <p:cNvPr id="607" name="Google Shape;607;g3ece1f4b49a_0_287" title="genpact_Logo.png"/>
          <p:cNvPicPr preferRelativeResize="0"/>
          <p:nvPr/>
        </p:nvPicPr>
        <p:blipFill rotWithShape="1">
          <a:blip r:embed="rId6">
            <a:alphaModFix/>
          </a:blip>
          <a:srcRect b="0" l="377" r="377" t="0"/>
          <a:stretch/>
        </p:blipFill>
        <p:spPr>
          <a:xfrm>
            <a:off x="258175" y="245275"/>
            <a:ext cx="2128500" cy="112806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1" name="Shape 611"/>
        <p:cNvGrpSpPr/>
        <p:nvPr/>
      </p:nvGrpSpPr>
      <p:grpSpPr>
        <a:xfrm>
          <a:off x="0" y="0"/>
          <a:ext cx="0" cy="0"/>
          <a:chOff x="0" y="0"/>
          <a:chExt cx="0" cy="0"/>
        </a:xfrm>
      </p:grpSpPr>
      <p:sp>
        <p:nvSpPr>
          <p:cNvPr id="612" name="Google Shape;612;g3ece1f4b49a_0_1333"/>
          <p:cNvSpPr txBox="1"/>
          <p:nvPr/>
        </p:nvSpPr>
        <p:spPr>
          <a:xfrm>
            <a:off x="571500" y="1333500"/>
            <a:ext cx="171450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6400">
                <a:solidFill>
                  <a:srgbClr val="191919"/>
                </a:solidFill>
                <a:latin typeface="Public Sans"/>
                <a:ea typeface="Public Sans"/>
                <a:cs typeface="Public Sans"/>
                <a:sym typeface="Public Sans"/>
              </a:rPr>
              <a:t>    </a:t>
            </a:r>
            <a:r>
              <a:rPr b="1" lang="en-US" sz="6400">
                <a:solidFill>
                  <a:srgbClr val="FA632A"/>
                </a:solidFill>
                <a:latin typeface="Public Sans"/>
                <a:ea typeface="Public Sans"/>
                <a:cs typeface="Public Sans"/>
                <a:sym typeface="Public Sans"/>
              </a:rPr>
              <a:t>Resources</a:t>
            </a:r>
            <a:endParaRPr b="1" sz="6400">
              <a:solidFill>
                <a:srgbClr val="191919"/>
              </a:solidFill>
              <a:latin typeface="Public Sans"/>
              <a:ea typeface="Public Sans"/>
              <a:cs typeface="Public Sans"/>
              <a:sym typeface="Public Sans"/>
            </a:endParaRPr>
          </a:p>
        </p:txBody>
      </p:sp>
      <p:grpSp>
        <p:nvGrpSpPr>
          <p:cNvPr id="613" name="Google Shape;613;g3ece1f4b49a_0_1333"/>
          <p:cNvGrpSpPr/>
          <p:nvPr/>
        </p:nvGrpSpPr>
        <p:grpSpPr>
          <a:xfrm>
            <a:off x="571500" y="3000375"/>
            <a:ext cx="17145000" cy="1333500"/>
            <a:chOff x="0" y="0"/>
            <a:chExt cx="17145000" cy="1333500"/>
          </a:xfrm>
        </p:grpSpPr>
        <p:sp>
          <p:nvSpPr>
            <p:cNvPr id="614" name="Google Shape;614;g3ece1f4b49a_0_1333"/>
            <p:cNvSpPr/>
            <p:nvPr/>
          </p:nvSpPr>
          <p:spPr>
            <a:xfrm>
              <a:off x="0" y="0"/>
              <a:ext cx="17145000" cy="1333500"/>
            </a:xfrm>
            <a:prstGeom prst="roundRect">
              <a:avLst>
                <a:gd fmla="val 10714"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g3ece1f4b49a_0_1333"/>
            <p:cNvSpPr/>
            <p:nvPr/>
          </p:nvSpPr>
          <p:spPr>
            <a:xfrm>
              <a:off x="0" y="0"/>
              <a:ext cx="114300" cy="13335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g3ece1f4b49a_0_1333"/>
            <p:cNvSpPr txBox="1"/>
            <p:nvPr/>
          </p:nvSpPr>
          <p:spPr>
            <a:xfrm>
              <a:off x="571500" y="0"/>
              <a:ext cx="161925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293B"/>
                  </a:solidFill>
                  <a:latin typeface="Public Sans"/>
                  <a:ea typeface="Public Sans"/>
                  <a:cs typeface="Public Sans"/>
                  <a:sym typeface="Public Sans"/>
                </a:rPr>
                <a:t>https://www.istockphoto.com/search/2/image-film?phrase=data+center+abstract</a:t>
              </a:r>
              <a:endParaRPr b="0" sz="1800">
                <a:solidFill>
                  <a:srgbClr val="475569"/>
                </a:solidFill>
                <a:latin typeface="Public Sans"/>
                <a:ea typeface="Public Sans"/>
                <a:cs typeface="Public Sans"/>
                <a:sym typeface="Public Sans"/>
              </a:endParaRPr>
            </a:p>
          </p:txBody>
        </p:sp>
      </p:grpSp>
      <p:grpSp>
        <p:nvGrpSpPr>
          <p:cNvPr id="617" name="Google Shape;617;g3ece1f4b49a_0_1333"/>
          <p:cNvGrpSpPr/>
          <p:nvPr/>
        </p:nvGrpSpPr>
        <p:grpSpPr>
          <a:xfrm>
            <a:off x="571500" y="4619625"/>
            <a:ext cx="17145000" cy="1333500"/>
            <a:chOff x="0" y="0"/>
            <a:chExt cx="17145000" cy="1333500"/>
          </a:xfrm>
        </p:grpSpPr>
        <p:sp>
          <p:nvSpPr>
            <p:cNvPr id="618" name="Google Shape;618;g3ece1f4b49a_0_1333"/>
            <p:cNvSpPr/>
            <p:nvPr/>
          </p:nvSpPr>
          <p:spPr>
            <a:xfrm>
              <a:off x="0" y="0"/>
              <a:ext cx="17145000" cy="1333500"/>
            </a:xfrm>
            <a:prstGeom prst="roundRect">
              <a:avLst>
                <a:gd fmla="val 10714"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9" name="Google Shape;619;g3ece1f4b49a_0_1333"/>
            <p:cNvSpPr/>
            <p:nvPr/>
          </p:nvSpPr>
          <p:spPr>
            <a:xfrm>
              <a:off x="0" y="0"/>
              <a:ext cx="114300" cy="13335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0" name="Google Shape;620;g3ece1f4b49a_0_1333"/>
            <p:cNvSpPr txBox="1"/>
            <p:nvPr/>
          </p:nvSpPr>
          <p:spPr>
            <a:xfrm>
              <a:off x="571500" y="0"/>
              <a:ext cx="161925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293B"/>
                  </a:solidFill>
                  <a:latin typeface="Public Sans"/>
                  <a:ea typeface="Public Sans"/>
                  <a:cs typeface="Public Sans"/>
                  <a:sym typeface="Public Sans"/>
                </a:rPr>
                <a:t>https://stockcake.com/i/illuminated-network-map_585952_853798</a:t>
              </a:r>
              <a:endParaRPr b="0" sz="1800">
                <a:solidFill>
                  <a:srgbClr val="475569"/>
                </a:solidFill>
                <a:latin typeface="Public Sans"/>
                <a:ea typeface="Public Sans"/>
                <a:cs typeface="Public Sans"/>
                <a:sym typeface="Public Sans"/>
              </a:endParaRPr>
            </a:p>
          </p:txBody>
        </p:sp>
      </p:grpSp>
      <p:grpSp>
        <p:nvGrpSpPr>
          <p:cNvPr id="621" name="Google Shape;621;g3ece1f4b49a_0_1333"/>
          <p:cNvGrpSpPr/>
          <p:nvPr/>
        </p:nvGrpSpPr>
        <p:grpSpPr>
          <a:xfrm>
            <a:off x="571500" y="6238875"/>
            <a:ext cx="17145000" cy="1333500"/>
            <a:chOff x="0" y="0"/>
            <a:chExt cx="17145000" cy="1333500"/>
          </a:xfrm>
        </p:grpSpPr>
        <p:sp>
          <p:nvSpPr>
            <p:cNvPr id="622" name="Google Shape;622;g3ece1f4b49a_0_1333"/>
            <p:cNvSpPr/>
            <p:nvPr/>
          </p:nvSpPr>
          <p:spPr>
            <a:xfrm>
              <a:off x="0" y="0"/>
              <a:ext cx="17145000" cy="1333500"/>
            </a:xfrm>
            <a:prstGeom prst="roundRect">
              <a:avLst>
                <a:gd fmla="val 10714"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3" name="Google Shape;623;g3ece1f4b49a_0_1333"/>
            <p:cNvSpPr/>
            <p:nvPr/>
          </p:nvSpPr>
          <p:spPr>
            <a:xfrm>
              <a:off x="0" y="0"/>
              <a:ext cx="114300" cy="1333500"/>
            </a:xfrm>
            <a:prstGeom prst="roundRect">
              <a:avLst>
                <a:gd fmla="val 50000" name="adj"/>
              </a:avLst>
            </a:prstGeom>
            <a:solidFill>
              <a:srgbClr val="FA63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g3ece1f4b49a_0_1333"/>
            <p:cNvSpPr txBox="1"/>
            <p:nvPr/>
          </p:nvSpPr>
          <p:spPr>
            <a:xfrm>
              <a:off x="571500" y="0"/>
              <a:ext cx="161925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E293B"/>
                  </a:solidFill>
                  <a:latin typeface="Public Sans"/>
                  <a:ea typeface="Public Sans"/>
                  <a:cs typeface="Public Sans"/>
                  <a:sym typeface="Public Sans"/>
                </a:rPr>
                <a:t>https://www.cnet.com/home/internet/low-income-internet-guide-for-all-50-states/</a:t>
              </a:r>
              <a:endParaRPr b="0" sz="1800">
                <a:solidFill>
                  <a:srgbClr val="475569"/>
                </a:solidFill>
                <a:latin typeface="Public Sans"/>
                <a:ea typeface="Public Sans"/>
                <a:cs typeface="Public Sans"/>
                <a:sym typeface="Public Sans"/>
              </a:endParaRPr>
            </a:p>
          </p:txBody>
        </p:sp>
      </p:grpSp>
      <p:sp>
        <p:nvSpPr>
          <p:cNvPr id="625" name="Google Shape;625;g3ece1f4b49a_0_1333"/>
          <p:cNvSpPr txBox="1"/>
          <p:nvPr/>
        </p:nvSpPr>
        <p:spPr>
          <a:xfrm>
            <a:off x="17335500" y="9963150"/>
            <a:ext cx="3810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000">
                <a:solidFill>
                  <a:srgbClr val="FA632A"/>
                </a:solidFill>
                <a:latin typeface="Public Sans"/>
                <a:ea typeface="Public Sans"/>
                <a:cs typeface="Public Sans"/>
                <a:sym typeface="Public Sans"/>
              </a:rPr>
              <a:t>15</a:t>
            </a:r>
            <a:endParaRPr b="1" sz="2000">
              <a:solidFill>
                <a:srgbClr val="FA632A"/>
              </a:solidFill>
              <a:latin typeface="Public Sans"/>
              <a:ea typeface="Public Sans"/>
              <a:cs typeface="Public Sans"/>
              <a:sym typeface="Public Sans"/>
            </a:endParaRPr>
          </a:p>
        </p:txBody>
      </p:sp>
      <p:pic>
        <p:nvPicPr>
          <p:cNvPr id="626" name="Google Shape;626;g3ece1f4b49a_0_1333" title="genpact_Logo.png"/>
          <p:cNvPicPr preferRelativeResize="0"/>
          <p:nvPr/>
        </p:nvPicPr>
        <p:blipFill rotWithShape="1">
          <a:blip r:embed="rId4">
            <a:alphaModFix/>
          </a:blip>
          <a:srcRect b="0" l="377" r="377" t="0"/>
          <a:stretch/>
        </p:blipFill>
        <p:spPr>
          <a:xfrm>
            <a:off x="258175" y="245275"/>
            <a:ext cx="2128500" cy="112806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